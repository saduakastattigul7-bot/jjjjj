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іріспе" id="{e9de488c-658c-9b14-b760-899baa6a8ce8}">
          <p14:sldIdLst>
            <p14:sldId id="256"/>
            <p14:sldId id="257"/>
            <p14:sldId id="258"/>
          </p14:sldIdLst>
        </p14:section>
        <p14:section name="Әдістеме" id="{be23f3d7-fa43-c1a6-2dc3-66212d97d7ba}">
          <p14:sldIdLst>
            <p14:sldId id="259"/>
          </p14:sldIdLst>
        </p14:section>
        <p14:section name="Нәтижелер" id="{6145896a-eb90-61be-b22f-089b0140e02d}">
          <p14:sldIdLst>
            <p14:sldId id="260"/>
            <p14:sldId id="261"/>
            <p14:sldId id="262"/>
            <p14:sldId id="263"/>
            <p14:sldId id="264"/>
            <p14:sldId id="265"/>
          </p14:sldIdLst>
        </p14:section>
        <p14:section name="Қорытынды" id="{067bce79-c217-5b5b-b19d-32db7984aeac}">
          <p14:sldIdLst>
            <p14:sldId id="266"/>
            <p14:sldId id="267"/>
            <p14:sldId id="268"/>
            <p14:sldId id="269"/>
          </p14:sldIdLst>
        </p14:section>
        <p14:section name="Сұрақтарға арналған қосымша" id="{3d846678-9144-ba48-da01-9226d38df2b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B33"/>
                </a:solidFill>
                <a:latin typeface="+mn-lt"/>
              </a:defRPr>
            </a:pPr>
            <a:r>
              <a:rPr sz="1400" b="0" i="0" u="none" strike="noStrike">
                <a:solidFill>
                  <a:srgbClr val="1C2B33"/>
                </a:solidFill>
                <a:latin typeface="+mn-lt"/>
              </a:rPr>
              <a:t>Эпизод саны</a:t>
            </a:r>
          </a:p>
        </c:rich>
      </c:tx>
      <c:layout/>
      <c:overlay val="0"/>
    </c:title>
    <c:autoTitleDeleted val="0"/>
    <c:plotArea>
      <c:layout/>
      <c:barChart>
        <c:barDir val="bar"/>
        <c:grouping val="stacked"/>
        <c:varyColors val="0"/>
        <c:ser>
          <c:idx val="0"/>
          <c:order val="0"/>
          <c:tx>
            <c:strRef>
              <c:f>Sheet1!$B$1</c:f>
              <c:strCache>
                <c:ptCount val="1"/>
                <c:pt idx="0">
                  <c:v>Ертегі</c:v>
                </c:pt>
              </c:strCache>
            </c:strRef>
          </c:tx>
          <c:spPr>
            <a:solidFill>
              <a:srgbClr val="B5532F"/>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Көкпар</c:v>
                  </c:pt>
                  <c:pt idx="1">
                    <c:v>Жамбы ату</c:v>
                  </c:pt>
                  <c:pt idx="2">
                    <c:v>Аударыспақ</c:v>
                  </c:pt>
                  <c:pt idx="3">
                    <c:v>Күрес</c:v>
                  </c:pt>
                  <c:pt idx="4">
                    <c:v>Бәйге</c:v>
                  </c:pt>
                  <c:pt idx="5">
                    <c:v>Асық</c:v>
                  </c:pt>
                  <c:pt idx="6">
                    <c:v>Жаяу бәйге</c:v>
                  </c:pt>
                </c:lvl>
              </c:multiLvlStrCache>
            </c:multiLvlStrRef>
          </c:cat>
          <c:val>
            <c:numRef>
              <c:f>Sheet1!$B$2:$B$8</c:f>
              <c:numCache>
                <c:formatCode>General</c:formatCode>
                <c:ptCount val="7"/>
                <c:pt idx="0">
                  <c:v>0</c:v>
                </c:pt>
                <c:pt idx="1">
                  <c:v>0</c:v>
                </c:pt>
                <c:pt idx="2">
                  <c:v>0</c:v>
                </c:pt>
                <c:pt idx="3">
                  <c:v>3</c:v>
                </c:pt>
                <c:pt idx="4">
                  <c:v>1</c:v>
                </c:pt>
                <c:pt idx="5">
                  <c:v>2</c:v>
                </c:pt>
                <c:pt idx="6">
                  <c:v>1</c:v>
                </c:pt>
              </c:numCache>
            </c:numRef>
          </c:val>
        </c:ser>
        <c:ser>
          <c:idx val="1"/>
          <c:order val="1"/>
          <c:tx>
            <c:strRef>
              <c:f>Sheet1!$C$1</c:f>
              <c:strCache>
                <c:ptCount val="1"/>
                <c:pt idx="0">
                  <c:v>Жыр</c:v>
                </c:pt>
              </c:strCache>
            </c:strRef>
          </c:tx>
          <c:spPr>
            <a:solidFill>
              <a:srgbClr val="0092B0"/>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Көкпар</c:v>
                  </c:pt>
                  <c:pt idx="1">
                    <c:v>Жамбы ату</c:v>
                  </c:pt>
                  <c:pt idx="2">
                    <c:v>Аударыспақ</c:v>
                  </c:pt>
                  <c:pt idx="3">
                    <c:v>Күрес</c:v>
                  </c:pt>
                  <c:pt idx="4">
                    <c:v>Бәйге</c:v>
                  </c:pt>
                  <c:pt idx="5">
                    <c:v>Асық</c:v>
                  </c:pt>
                  <c:pt idx="6">
                    <c:v>Жаяу бәйге</c:v>
                  </c:pt>
                </c:lvl>
              </c:multiLvlStrCache>
            </c:multiLvlStrRef>
          </c:cat>
          <c:val>
            <c:numRef>
              <c:f>Sheet1!$C$2:$C$8</c:f>
              <c:numCache>
                <c:formatCode>General</c:formatCode>
                <c:ptCount val="7"/>
                <c:pt idx="0">
                  <c:v>1</c:v>
                </c:pt>
                <c:pt idx="1">
                  <c:v>1</c:v>
                </c:pt>
                <c:pt idx="2">
                  <c:v>2</c:v>
                </c:pt>
                <c:pt idx="3">
                  <c:v>0</c:v>
                </c:pt>
                <c:pt idx="4">
                  <c:v>3</c:v>
                </c:pt>
                <c:pt idx="5">
                  <c:v>2</c:v>
                </c:pt>
                <c:pt idx="6">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2B33"/>
                </a:solidFill>
                <a:latin typeface="+mn-lt"/>
              </a:defRPr>
            </a:pPr>
            <a:endParaRPr lang="en-US"/>
          </a:p>
        </c:txPr>
        <c:crossAx val="2094734552"/>
        <c:crosses val="autoZero"/>
        <c:auto val="1"/>
        <c:lblAlgn val="ctr"/>
        <c:noMultiLvlLbl val="1"/>
      </c:catAx>
      <c:valAx>
        <c:axId val="2094734552"/>
        <c:scaling>
          <c:orientation val="minMax"/>
          <c:max val="4"/>
        </c:scaling>
        <c:delete val="0"/>
        <c:axPos val="b"/>
        <c:majorGridlines>
          <c:spPr>
            <a:ln w="9525" cap="flat">
              <a:solidFill>
                <a:srgbClr val="D9E4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E75"/>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300">
              <a:solidFill>
                <a:srgbClr val="1C2B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B33"/>
                </a:solidFill>
                <a:latin typeface="+mn-lt"/>
              </a:defRPr>
            </a:pPr>
            <a:r>
              <a:rPr sz="1400" b="0" i="0" u="none" strike="noStrike">
                <a:solidFill>
                  <a:srgbClr val="1C2B33"/>
                </a:solidFill>
                <a:latin typeface="+mn-lt"/>
              </a:rPr>
              <a:t>Эпизод саны (Т және Ш қызметі кездеспеді)</a:t>
            </a:r>
          </a:p>
        </c:rich>
      </c:tx>
      <c:layout/>
      <c:overlay val="0"/>
    </c:title>
    <c:autoTitleDeleted val="0"/>
    <c:plotArea>
      <c:layout/>
      <c:barChart>
        <c:barDir val="col"/>
        <c:grouping val="clustered"/>
        <c:varyColors val="0"/>
        <c:ser>
          <c:idx val="0"/>
          <c:order val="0"/>
          <c:tx>
            <c:strRef>
              <c:f>Sheet1!$B$1</c:f>
              <c:strCache>
                <c:ptCount val="1"/>
                <c:pt idx="0">
                  <c:v>Ертегі</c:v>
                </c:pt>
              </c:strCache>
            </c:strRef>
          </c:tx>
          <c:spPr>
            <a:solidFill>
              <a:srgbClr val="B5532F"/>
            </a:solidFill>
            <a:effectLst/>
          </c:spPr>
          <c:invertIfNegative val="0"/>
          <c:dLbls>
            <c:numFmt formatCode="#,##0" sourceLinked="0"/>
            <c:txPr>
              <a:bodyPr/>
              <a:lstStyle/>
              <a:p>
                <a:pPr>
                  <a:defRPr b="0" i="0" strike="noStrike" sz="1200" u="none">
                    <a:solidFill>
                      <a:srgbClr val="1C2B33"/>
                    </a:solidFill>
                    <a:latin typeface="+mn-lt"/>
                  </a:defRPr>
                </a:pPr>
              </a:p>
            </c:txPr>
            <c:showLegendKey val="0"/>
            <c:showVal val="1"/>
            <c:showCatName val="0"/>
            <c:showSerName val="0"/>
            <c:showPercent val="0"/>
            <c:showBubbleSize val="0"/>
            <c:showLeaderLines val="0"/>
          </c:dLbls>
          <c:cat>
            <c:multiLvlStrRef>
              <c:f>Sheet1!$A$2:$A$4</c:f>
              <c:multiLvlStrCache>
                <c:ptCount val="3"/>
                <c:lvl>
                  <c:pt idx="0">
                    <c:v>Сынақ</c:v>
                  </c:pt>
                  <c:pt idx="1">
                    <c:v>Сюжетті бастау</c:v>
                  </c:pt>
                  <c:pt idx="2">
                    <c:v>Қасиетін көрсету</c:v>
                  </c:pt>
                </c:lvl>
              </c:multiLvlStrCache>
            </c:multiLvlStrRef>
          </c:cat>
          <c:val>
            <c:numRef>
              <c:f>Sheet1!$B$2:$B$4</c:f>
              <c:numCache>
                <c:formatCode>General</c:formatCode>
                <c:ptCount val="3"/>
                <c:pt idx="0">
                  <c:v>3</c:v>
                </c:pt>
                <c:pt idx="1">
                  <c:v>3</c:v>
                </c:pt>
                <c:pt idx="2">
                  <c:v>1</c:v>
                </c:pt>
              </c:numCache>
            </c:numRef>
          </c:val>
        </c:ser>
        <c:ser>
          <c:idx val="1"/>
          <c:order val="1"/>
          <c:tx>
            <c:strRef>
              <c:f>Sheet1!$C$1</c:f>
              <c:strCache>
                <c:ptCount val="1"/>
                <c:pt idx="0">
                  <c:v>Жыр</c:v>
                </c:pt>
              </c:strCache>
            </c:strRef>
          </c:tx>
          <c:spPr>
            <a:solidFill>
              <a:srgbClr val="0092B0"/>
            </a:solidFill>
            <a:effectLst/>
          </c:spPr>
          <c:invertIfNegative val="0"/>
          <c:dLbls>
            <c:numFmt formatCode="#,##0" sourceLinked="0"/>
            <c:txPr>
              <a:bodyPr/>
              <a:lstStyle/>
              <a:p>
                <a:pPr>
                  <a:defRPr b="0" i="0" strike="noStrike" sz="1200" u="none">
                    <a:solidFill>
                      <a:srgbClr val="1C2B33"/>
                    </a:solidFill>
                    <a:latin typeface="+mn-lt"/>
                  </a:defRPr>
                </a:pPr>
              </a:p>
            </c:txPr>
            <c:showLegendKey val="0"/>
            <c:showVal val="1"/>
            <c:showCatName val="0"/>
            <c:showSerName val="0"/>
            <c:showPercent val="0"/>
            <c:showBubbleSize val="0"/>
            <c:showLeaderLines val="0"/>
          </c:dLbls>
          <c:cat>
            <c:multiLvlStrRef>
              <c:f>Sheet1!$A$2:$A$4</c:f>
              <c:multiLvlStrCache>
                <c:ptCount val="3"/>
                <c:lvl>
                  <c:pt idx="0">
                    <c:v>Сынақ</c:v>
                  </c:pt>
                  <c:pt idx="1">
                    <c:v>Сюжетті бастау</c:v>
                  </c:pt>
                  <c:pt idx="2">
                    <c:v>Қасиетін көрсету</c:v>
                  </c:pt>
                </c:lvl>
              </c:multiLvlStrCache>
            </c:multiLvlStrRef>
          </c:cat>
          <c:val>
            <c:numRef>
              <c:f>Sheet1!$C$2:$C$4</c:f>
              <c:numCache>
                <c:formatCode>General</c:formatCode>
                <c:ptCount val="3"/>
                <c:pt idx="0">
                  <c:v>1</c:v>
                </c:pt>
                <c:pt idx="1">
                  <c:v>3</c:v>
                </c:pt>
                <c:pt idx="2">
                  <c:v>5</c:v>
                </c:pt>
              </c:numCache>
            </c:numRef>
          </c:val>
        </c:ser>
        <c:dLbls>
          <c:numFmt formatCode="#,##0" sourceLinked="0"/>
          <c:txPr>
            <a:bodyPr/>
            <a:lstStyle/>
            <a:p>
              <a:pPr>
                <a:defRPr b="0" i="0" strike="noStrike" sz="1200" u="none">
                  <a:solidFill>
                    <a:srgbClr val="1C2B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C2B33"/>
                </a:solidFill>
                <a:latin typeface="+mn-lt"/>
              </a:defRPr>
            </a:pPr>
            <a:endParaRPr lang="en-US"/>
          </a:p>
        </c:txPr>
        <c:crossAx val="2094734552"/>
        <c:crosses val="autoZero"/>
        <c:auto val="1"/>
        <c:lblAlgn val="ctr"/>
        <c:noMultiLvlLbl val="1"/>
      </c:catAx>
      <c:valAx>
        <c:axId val="2094734552"/>
        <c:scaling>
          <c:orientation val="minMax"/>
          <c:max val="6"/>
        </c:scaling>
        <c:delete val="0"/>
        <c:axPos val="l"/>
        <c:majorGridlines>
          <c:spPr>
            <a:ln w="9525" cap="flat">
              <a:solidFill>
                <a:srgbClr val="D9E4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E75"/>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300">
              <a:solidFill>
                <a:srgbClr val="1C2B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B33"/>
                </a:solidFill>
                <a:latin typeface="+mn-lt"/>
              </a:defRPr>
            </a:pPr>
            <a:r>
              <a:rPr sz="1400" b="0" i="0" u="none" strike="noStrike">
                <a:solidFill>
                  <a:srgbClr val="1C2B33"/>
                </a:solidFill>
                <a:latin typeface="+mn-lt"/>
              </a:rPr>
              <a:t>Оқушылар үлесі, % (n = 19)</a:t>
            </a:r>
          </a:p>
        </c:rich>
      </c:tx>
      <c:layout/>
      <c:overlay val="0"/>
    </c:title>
    <c:autoTitleDeleted val="0"/>
    <c:plotArea>
      <c:layout/>
      <c:barChart>
        <c:barDir val="bar"/>
        <c:grouping val="clustered"/>
        <c:varyColors val="0"/>
        <c:ser>
          <c:idx val="0"/>
          <c:order val="0"/>
          <c:tx>
            <c:strRef>
              <c:f>Sheet1!$B$1</c:f>
              <c:strCache>
                <c:ptCount val="1"/>
                <c:pt idx="0">
                  <c:v>Біледі</c:v>
                </c:pt>
              </c:strCache>
            </c:strRef>
          </c:tx>
          <c:spPr>
            <a:solidFill>
              <a:srgbClr val="B9D3D9"/>
            </a:solidFill>
            <a:effectLst/>
          </c:spPr>
          <c:invertIfNegative val="0"/>
          <c:dLbls>
            <c:numFmt formatCode="#,##0" sourceLinked="0"/>
            <c:txPr>
              <a:bodyPr/>
              <a:lstStyle/>
              <a:p>
                <a:pPr>
                  <a:defRPr b="0" i="0" strike="noStrike" sz="1200" u="none">
                    <a:solidFill>
                      <a:srgbClr val="1C2B33"/>
                    </a:solidFill>
                    <a:latin typeface="+mn-lt"/>
                  </a:defRPr>
                </a:pPr>
              </a:p>
            </c:txPr>
            <c:showLegendKey val="0"/>
            <c:showVal val="0"/>
            <c:showCatName val="0"/>
            <c:showSerName val="0"/>
            <c:showPercent val="0"/>
            <c:showBubbleSize val="0"/>
            <c:showLeaderLines val="0"/>
          </c:dLbls>
          <c:cat>
            <c:multiLvlStrRef>
              <c:f>Sheet1!$A$2:$A$13</c:f>
              <c:multiLvlStrCache>
                <c:ptCount val="12"/>
                <c:lvl>
                  <c:pt idx="0">
                    <c:v>Көкпар</c:v>
                  </c:pt>
                  <c:pt idx="1">
                    <c:v>Бәйге</c:v>
                  </c:pt>
                  <c:pt idx="2">
                    <c:v>Қыз қуу</c:v>
                  </c:pt>
                  <c:pt idx="3">
                    <c:v>Теңге алу</c:v>
                  </c:pt>
                  <c:pt idx="4">
                    <c:v>Аударыспақ</c:v>
                  </c:pt>
                  <c:pt idx="5">
                    <c:v>Жамбы ату</c:v>
                  </c:pt>
                  <c:pt idx="6">
                    <c:v>Жұмбақ айтысу</c:v>
                  </c:pt>
                  <c:pt idx="7">
                    <c:v>Ақсүйек</c:v>
                  </c:pt>
                  <c:pt idx="8">
                    <c:v>Күрес</c:v>
                  </c:pt>
                  <c:pt idx="9">
                    <c:v>Тоғызқұмалақ</c:v>
                  </c:pt>
                  <c:pt idx="10">
                    <c:v>Алтыбақан</c:v>
                  </c:pt>
                  <c:pt idx="11">
                    <c:v>Асық</c:v>
                  </c:pt>
                </c:lvl>
              </c:multiLvlStrCache>
            </c:multiLvlStrRef>
          </c:cat>
          <c:val>
            <c:numRef>
              <c:f>Sheet1!$B$2:$B$13</c:f>
              <c:numCache>
                <c:formatCode>General</c:formatCode>
                <c:ptCount val="12"/>
                <c:pt idx="0">
                  <c:v>100</c:v>
                </c:pt>
                <c:pt idx="1">
                  <c:v>94.7</c:v>
                </c:pt>
                <c:pt idx="2">
                  <c:v>73.7</c:v>
                </c:pt>
                <c:pt idx="3">
                  <c:v>78.9</c:v>
                </c:pt>
                <c:pt idx="4">
                  <c:v>78.9</c:v>
                </c:pt>
                <c:pt idx="5">
                  <c:v>73.7</c:v>
                </c:pt>
                <c:pt idx="6">
                  <c:v>78.9</c:v>
                </c:pt>
                <c:pt idx="7">
                  <c:v>73.7</c:v>
                </c:pt>
                <c:pt idx="8">
                  <c:v>94.7</c:v>
                </c:pt>
                <c:pt idx="9">
                  <c:v>100</c:v>
                </c:pt>
                <c:pt idx="10">
                  <c:v>94.7</c:v>
                </c:pt>
                <c:pt idx="11">
                  <c:v>100</c:v>
                </c:pt>
              </c:numCache>
            </c:numRef>
          </c:val>
        </c:ser>
        <c:ser>
          <c:idx val="1"/>
          <c:order val="1"/>
          <c:tx>
            <c:strRef>
              <c:f>Sheet1!$C$1</c:f>
              <c:strCache>
                <c:ptCount val="1"/>
                <c:pt idx="0">
                  <c:v>Ойнаған не көрген</c:v>
                </c:pt>
              </c:strCache>
            </c:strRef>
          </c:tx>
          <c:spPr>
            <a:solidFill>
              <a:srgbClr val="E3A400"/>
            </a:solidFill>
            <a:effectLst/>
          </c:spPr>
          <c:invertIfNegative val="0"/>
          <c:dLbls>
            <c:numFmt formatCode="#,##0" sourceLinked="0"/>
            <c:txPr>
              <a:bodyPr/>
              <a:lstStyle/>
              <a:p>
                <a:pPr>
                  <a:defRPr b="0" i="0" strike="noStrike" sz="1200" u="none">
                    <a:solidFill>
                      <a:srgbClr val="1C2B33"/>
                    </a:solidFill>
                    <a:latin typeface="+mn-lt"/>
                  </a:defRPr>
                </a:pPr>
              </a:p>
            </c:txPr>
            <c:showLegendKey val="0"/>
            <c:showVal val="0"/>
            <c:showCatName val="0"/>
            <c:showSerName val="0"/>
            <c:showPercent val="0"/>
            <c:showBubbleSize val="0"/>
            <c:showLeaderLines val="0"/>
          </c:dLbls>
          <c:cat>
            <c:multiLvlStrRef>
              <c:f>Sheet1!$A$2:$A$13</c:f>
              <c:multiLvlStrCache>
                <c:ptCount val="12"/>
                <c:lvl>
                  <c:pt idx="0">
                    <c:v>Көкпар</c:v>
                  </c:pt>
                  <c:pt idx="1">
                    <c:v>Бәйге</c:v>
                  </c:pt>
                  <c:pt idx="2">
                    <c:v>Қыз қуу</c:v>
                  </c:pt>
                  <c:pt idx="3">
                    <c:v>Теңге алу</c:v>
                  </c:pt>
                  <c:pt idx="4">
                    <c:v>Аударыспақ</c:v>
                  </c:pt>
                  <c:pt idx="5">
                    <c:v>Жамбы ату</c:v>
                  </c:pt>
                  <c:pt idx="6">
                    <c:v>Жұмбақ айтысу</c:v>
                  </c:pt>
                  <c:pt idx="7">
                    <c:v>Ақсүйек</c:v>
                  </c:pt>
                  <c:pt idx="8">
                    <c:v>Күрес</c:v>
                  </c:pt>
                  <c:pt idx="9">
                    <c:v>Тоғызқұмалақ</c:v>
                  </c:pt>
                  <c:pt idx="10">
                    <c:v>Алтыбақан</c:v>
                  </c:pt>
                  <c:pt idx="11">
                    <c:v>Асық</c:v>
                  </c:pt>
                </c:lvl>
              </c:multiLvlStrCache>
            </c:multiLvlStrRef>
          </c:cat>
          <c:val>
            <c:numRef>
              <c:f>Sheet1!$C$2:$C$13</c:f>
              <c:numCache>
                <c:formatCode>General</c:formatCode>
                <c:ptCount val="12"/>
                <c:pt idx="0">
                  <c:v>10.5</c:v>
                </c:pt>
                <c:pt idx="1">
                  <c:v>15.8</c:v>
                </c:pt>
                <c:pt idx="2">
                  <c:v>15.8</c:v>
                </c:pt>
                <c:pt idx="3">
                  <c:v>15.8</c:v>
                </c:pt>
                <c:pt idx="4">
                  <c:v>21.1</c:v>
                </c:pt>
                <c:pt idx="5">
                  <c:v>21.1</c:v>
                </c:pt>
                <c:pt idx="6">
                  <c:v>21.1</c:v>
                </c:pt>
                <c:pt idx="7">
                  <c:v>21.1</c:v>
                </c:pt>
                <c:pt idx="8">
                  <c:v>31.6</c:v>
                </c:pt>
                <c:pt idx="9">
                  <c:v>57.9</c:v>
                </c:pt>
                <c:pt idx="10">
                  <c:v>57.9</c:v>
                </c:pt>
                <c:pt idx="11">
                  <c:v>63.2</c:v>
                </c:pt>
              </c:numCache>
            </c:numRef>
          </c:val>
        </c:ser>
        <c:dLbls>
          <c:numFmt formatCode="#,##0" sourceLinked="0"/>
          <c:txPr>
            <a:bodyPr/>
            <a:lstStyle/>
            <a:p>
              <a:pPr>
                <a:defRPr b="0" i="0" strike="noStrike" sz="1200" u="none">
                  <a:solidFill>
                    <a:srgbClr val="1C2B33"/>
                  </a:solidFill>
                  <a:latin typeface="+mn-lt"/>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B33"/>
                </a:solidFill>
                <a:latin typeface="+mn-lt"/>
              </a:defRPr>
            </a:pPr>
            <a:endParaRPr lang="en-US"/>
          </a:p>
        </c:txPr>
        <c:crossAx val="2094734552"/>
        <c:crosses val="autoZero"/>
        <c:auto val="1"/>
        <c:lblAlgn val="ctr"/>
        <c:noMultiLvlLbl val="1"/>
      </c:catAx>
      <c:valAx>
        <c:axId val="2094734552"/>
        <c:scaling>
          <c:orientation val="minMax"/>
          <c:max val="100"/>
        </c:scaling>
        <c:delete val="0"/>
        <c:axPos val="b"/>
        <c:majorGridlines>
          <c:spPr>
            <a:ln w="9525" cap="flat">
              <a:solidFill>
                <a:srgbClr val="D9E4E7"/>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E75"/>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300">
              <a:solidFill>
                <a:srgbClr val="1C2B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Құрметті қазылар алқасы! Менің жобамның тақырыбы – «Ертегілер мен жырлардағы ұлттық ойындар». Мен 11 ертегі мен жырды оқып, ұлттық ойын кездесетін 16 эпизод таптым, ал сыныптастарымның ойындарды қаншалықты білетінін сауалнама арқылы анықтадым. (15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Бәрі «Ер Төстік» ертегісінен басталды. Төстік асық ойнап жүріп кемпірдің баласын ұрып қалады да, сол оқиғадан кейін ағаларын іздеп жолға шығады. Яғни асық ойнамаса, ертегі басталмас еді. Мен ертегі мен жырларда ойындар жай ғана көрініс пе, әлде оқиғаның маңызды бөлігі ме – соны білгім келді. Сонымен қатар бүгінгі оқушылар бұл ойындарды біле ме – соны да тексердім.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зерттеу сұрағым: ертегі мен жырда қандай ұлттық ойындар кездеседі, олар оқиғада қандай рөл атқарады және сыныптастарым оларды біле ме? Болжамым мынадай болды: ертегіде балалар ойындары, ал жырда ат ойындары мен күш сынасу ойындары жиі кездеседі, ал жырда ойын көбіне батырды сынайды.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 үш қадамнан тұрды. Бірінші – оқыдым: 4 ертегі мен 7 жырды басынан аяғына дейін оқып, ойын кездескен әр эпизодты кестеге жаздым – шығарманы, ойынды, кейіпкерді және мәтіннен үзіндіні. Екінші – кодтадым: 12 ойынды бес түрге бөлдім, ал әр эпизодтағы ойынның қызметін бес кодпен белгіледім. Мысалы, С – сынақ, Б – сюжетті бастау. Күмәнді эпизодтарды жетекшім екеуміз бірге қарадық. Үшінші – сұрадым: жетекшім екеуміз Google Forms-та сауалнама жасадық, оған ата-анасы келісім берген 19 сыныптасым қатысты.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шығарманың бәрінде кемінде бір ойын кездесті, барлығы 16 эпизод. Ең жиі кездескен ойындар – бәйге мен асық, әрқайсысы 4 реттен. Одан кейін күрес – 3 рет. Ал мені таңғалдырғаны: 12 ойынның жартысы – тоғызқұмалақ, алтыбақан, қыз қуу, теңге алу, жұмбақ айтысу және ақсүйек – бірде-бір шығармада кездеспеді. Есесіне «Күн астындағы Күнікей қыз» ертегісінен тізімде жоқ ойынды таптым – жаяу бәйгені.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Ертегі мен жырды салыстырғанда айқын айырмашылық көрдім. Жырларда 9 эпизодтың 6-уы – ат ойындары: бәйге, аударыспақ, көкпар. Бұл заңды, өйткені батырдың ең жақын серігі – оның тұлпары. Ал ертегілерде ең жиі кездескені – күрес: балуандар мен дәулер күш сынасады. Асық ертегіде де, жырда да екі реттен кездесті.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Ойынның оқиғадағы рөлі де әртүрлі болып шықты. Ертегілерде ойын көбіне сынақ: 7 эпизодтың 3-еуі. Мысалы, «Күн астындағы Күнікей қыз» ертегісінде хан қызын жаяу бәйгеде, кейін күресте жеңгенге береді. Бұл В.Я. Пропп жазған «қаһарманды сынау» функциясына дәл келеді. Ал жырларда ойын көбіне батырдың немесе оның атының қасиетін көрсетеді: 9 эпизодтың 5-еуі. Той-думан мен шешуші сәт қызметі бірде-бір рет кездеспеді.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 ең қызық жаңалығым асыққа қатысты болды. Асық кездескен төрт эпизодтың төртеуін де мен «сюжетті бастау» деп белгіледім. «Ер Төстікте» Төстік асық ойнап жүріп кемпірдің баласын ұрып қалады да, жолға шығады. «Алтын сақада» бала жұртта қалған сақасын алуға қайтып барып, жалмауыз кемпірге кездеседі. «Қозы Көрпеште» Қозы тазша баланың сақасын тартып алғанда, «жарыңды іздеп тапсайшы» деген сөз естиді. Яғни асық баланы үйден алып шығып, үлкен оқиғаның басына айналады.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Сауалнамаға 22 оқушы жауап берді, бірақ үшеуінің ата-анасы келісім бермегендіктен, олардың жауабын есепке алмадым. Сонымен 5–8-сыныптардың 19 оқушысы қатысты. Сыныптастарым ойындардың атын жақсы біледі: бір оқушы орта есеппен 12 ойынның 10-ын біледі. Бірақ білу мен ойнау – екі түрлі нәрсе. Ең көп ойналатыны – асық, 63,2%. Ал көкпарды барлығы білсе де, оны тек екі оқушы көрген. Ең ұнайтын ойын ретінде де асықты атады. Бір сыныптасым: «Асық ату ұнайды, ол әділдікке, сабырлыққа үйретеді» деп жазды.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Сауалнама мен мәтін талдауын салыстырдым. Асық екеуінде де бірінші орында: шығармаларда ең жиі кездеседі, сыныптастарым оны ең көп ойнайды. Бәйге шығармаларда да 4 рет кездесті, бірақ оны өз көзімен көрген оқушы аз. Ал мені ең таңғалдырғаны – тоғызқұмалақ: мен оқыған 11 шығарманың бірде-бірінде жоқ, ал сыныптастарымның 84,2%-ы ол туралы ертегіден оқыдым деді. Олар мен оқымаған басқа шығармаларды оқыған болуы мүмкін, немесе ойынды жақсы білгендіктен, ертегіден де оқыдым деп ойлаған. Төрт оқушы 12 ойынның бәрін «оқыдым» деп белгіледі, сондықтан бұл сұрақтың жауабына толық сенуге болмайды.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Болжамымды үш бөлік бойынша тексердім. Бірінші бөлігі расталмады: ертегіде балалар ойындарынан гөрі күрес жиі кездесті. Екінші бөлігі расталды: жырларда ат ойындары басым. Үшінші бөлігі де расталмады: сынақ жырда емес, ертегіде жиірек болды, ал жырда ойын батырдың қасиетін көрсетеді. Сондықтан болжамым ішінара расталды. Бірақ расталмаған бөлігі одан да қызық нәтиже берді.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 нәтижесіне сүйеніп, «Ертегі-ойын» карточкаларын жасадым. Әр карточкада ойынның атауы мен түрі, қысқаша ережесі және сол ойын кездесетін ертегі немесе жыр эпизоды бар. Мысалы, мына карточка – асық. Карточкаларды әдебиет сабағында, сынып сағатында, үзілісте немесе жазғы лагерьде пайдалануға болады: алдымен ертегіден эпизодты оқисың, сосын ойынды өзің ойнап көресің. Осылай ертегі де, ойын да есте жақсы сақталады.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Қорытындылай келе: бірінші – 11 шығарманың бәрінде ұлттық ойын бар, ең жиісі – бәйге мен асық. Екінші – жырда ат ойындары, ертегіде күрес басым, ал 12 ойынның жартысы мүлде кездеспеді. Үшінші – ертегіде ойын сынақ болады, жырда батырдың қасиетін көрсетеді, ал асық оқиғаны бастайды. Төртінші – сыныптастарым ойындардың атын біледі, бірақ көбін ойнамаған. Жұмыстың шектеулері бар: мен 11 шығарманы ғана оқыдым, сауалнамаға бір мектептің 19 оқушысы қатысты. Келешекте көбірек ертегі оқып, ата-әжелерімнен олардың бала кезгі ойындары туралы сұхбат алғым келеді.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басты түйінім: ойын – ертегінің жүрегі. Ол батырды сынайды, күшін көрсетеді және оны жолға шығарады. Назарларыңызға рахмет!
ЫҚТИМАЛ СҰРАҚТАР:
1) Неге осы 11 шығарма? – Мектеп бағдарламасына енген, белгілі және маған қолжетімді шығармаларды алдым. Көбін Ұлттық электрондық кітапханадан (kazneb.kz) оқыдым, басылымдары дереккөздер тізімінде бар.
2) Ойынның қызметін қалай анықтадың? – Алдын ала жазылған бес код бойынша (С, Б, Қ, Т, Ш). Бір эпизод бірнеше қызмет атқаруы мүмкін, мен ең негізгісін таңдадым. Күмәнді жағдайларды жетекшім екеуміз талқылап шештік.
3) Тоғызқұмалақ неге кездеспеді? – Мен оқыған шығармаларда жоқ. Мүмкін ол басқа ертегілерде немесе басқа нұсқаларда бар. Бұл – келесі зерттеуге бағыт.
4) Сауалнамадағы этика қалай сақталды? – Есім мен пошта сұралмады, алғашқы сұрақ ата-ананың келісімі туралы болды. Келісімі жоқ 3 жауапты алып тастадым.
5) Жаяу бәйгені неге қостың? – Ол тізімде жоқ еді, бірақ «Күнікей қызда» нақты кездесті, сондықтан «Басқа» ойын ретінде жаздым.
6) Сауалнамаға қаншалықты сенуге болады? – Білу мен ойнау туралы жауаптар нақты. Ал «ертегіден оқыдың ба?» деген сұраққа оқушылар естеріне сүйеніп жауап берді, сондықтан келесі жолы «қай шығармадан?» деп нақты сұрар едім.
7) ЖИ пайдаландың ба? – Иә, декларацияда ашық көрсеттім: жұмыстың құрылымын жоспарлауға, менің деректерім бойынша мәтінді жазу мен редакциялауға, кесте мен диаграмма жасауға. Шығармаларды өзім оқыдым, эпизодтарды өзім тауып кодтадым, сауалнаманы өзім жүргіздім.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Сұрақ қойылса: шығармалардан табылған барлық эпизод және әрқайсысының қызмет коды. Толық үзінділер жұмыстың А қосымшасында.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675120" cy="24688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6675120" cy="822960"/>
          </a:xfrm>
          <a:prstGeom prst="rect">
            <a:avLst/>
          </a:prstGeom>
          <a:noFill/>
          <a:ln/>
        </p:spPr>
        <p:txBody>
          <a:bodyPr wrap="square" rtlCol="0"/>
          <a:lstStyle>
            <a:lvl1pPr algn="l" indent="0" marL="0">
              <a:buNone/>
              <a:defRPr lang="en-US" sz="1800" i="1" dirty="0">
                <a:solidFill>
                  <a:schemeClr val="accent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«Зерде» · Қазақ тілі және әдебиеті</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548640"/>
            <a:ext cx="10515600" cy="365760"/>
          </a:xfrm>
          <a:prstGeom prst="rect">
            <a:avLst/>
          </a:prstGeom>
          <a:noFill/>
          <a:ln/>
        </p:spPr>
        <p:txBody>
          <a:bodyPr wrap="square" lIns="0" tIns="0" rIns="0" bIns="0" rtlCol="0" anchor="ctr"/>
          <a:lstStyle/>
          <a:p>
            <a:pPr indent="0" marL="0">
              <a:buNone/>
            </a:pPr>
            <a:r>
              <a:rPr lang="en-US" sz="1400" dirty="0">
                <a:solidFill>
                  <a:schemeClr val="accent1"/>
                </a:solidFill>
              </a:rPr>
              <a:t>«Зерде» республикалық конкурсы  ·  Қазақ тілі және әдебиеті  ·  «Орта буын»</a:t>
            </a:r>
            <a:endParaRPr lang="en-US" sz="1400" dirty="0"/>
          </a:p>
        </p:txBody>
      </p:sp>
      <p:sp>
        <p:nvSpPr>
          <p:cNvPr id="3" name="Text 0"/>
          <p:cNvSpPr/>
          <p:nvPr>
            <p:ph idx="100" type="title" hasCustomPrompt="1"/>
          </p:nvPr>
        </p:nvSpPr>
        <p:spPr>
          <a:xfrm>
            <a:off x="731520" y="1417320"/>
            <a:ext cx="6675120" cy="2468880"/>
          </a:xfrm>
          <a:prstGeom prst="rect">
            <a:avLst/>
          </a:prstGeom>
          <a:noFill/>
          <a:ln/>
        </p:spPr>
        <p:txBody>
          <a:bodyPr wrap="square" lIns="0" tIns="0" rIns="0" bIns="0" rtlCol="0" anchor="t"/>
          <a:lstStyle/>
          <a:p>
            <a:pPr algn="l" indent="0" marL="0">
              <a:buNone/>
            </a:pPr>
            <a:r>
              <a:rPr lang="en-US" sz="4000" b="1" dirty="0">
                <a:solidFill>
                  <a:schemeClr val="bg1"/>
                </a:solidFill>
              </a:rPr>
              <a:t>Ертегілер мен жырлардағы ұлттық ойындар</a:t>
            </a:r>
            <a:endParaRPr lang="en-US" sz="4000" dirty="0"/>
          </a:p>
        </p:txBody>
      </p:sp>
      <p:sp>
        <p:nvSpPr>
          <p:cNvPr id="4" name="Text 0"/>
          <p:cNvSpPr/>
          <p:nvPr>
            <p:ph idx="101" type="body" hasCustomPrompt="1"/>
          </p:nvPr>
        </p:nvSpPr>
        <p:spPr>
          <a:xfrm>
            <a:off x="731520" y="4023360"/>
            <a:ext cx="6675120" cy="822960"/>
          </a:xfrm>
          <a:prstGeom prst="rect">
            <a:avLst/>
          </a:prstGeom>
          <a:noFill/>
          <a:ln/>
        </p:spPr>
        <p:txBody>
          <a:bodyPr wrap="square" lIns="0" tIns="0" rIns="0" bIns="0" rtlCol="0" anchor="t"/>
          <a:lstStyle/>
          <a:p>
            <a:pPr algn="l" indent="0" marL="0">
              <a:buNone/>
            </a:pPr>
            <a:r>
              <a:rPr lang="en-US" sz="1800" i="1" dirty="0">
                <a:solidFill>
                  <a:schemeClr val="accent2"/>
                </a:solidFill>
              </a:rPr>
              <a:t>11 шығарма, 16 эпизод және 19 сыныптасымның жауабы</a:t>
            </a:r>
            <a:endParaRPr lang="en-US" sz="1800" dirty="0"/>
          </a:p>
        </p:txBody>
      </p:sp>
      <p:sp>
        <p:nvSpPr>
          <p:cNvPr id="5" name="cipher"/>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bg2"/>
                </a:solidFill>
              </a:rPr>
              <a:t>Тіркеу коды (шифр): ______________</a:t>
            </a:r>
            <a:endParaRPr lang="en-US" sz="1400" dirty="0"/>
          </a:p>
        </p:txBody>
      </p:sp>
      <p:sp>
        <p:nvSpPr>
          <p:cNvPr id="6" name="title-chip-0"/>
          <p:cNvSpPr/>
          <p:nvPr/>
        </p:nvSpPr>
        <p:spPr>
          <a:xfrm>
            <a:off x="8138160" y="1554480"/>
            <a:ext cx="1600200" cy="1051560"/>
          </a:xfrm>
          <a:prstGeom prst="roundRect">
            <a:avLst>
              <a:gd name="adj" fmla="val 10435"/>
            </a:avLst>
          </a:prstGeom>
          <a:solidFill>
            <a:schemeClr val="bg1"/>
          </a:solidFill>
          <a:ln w="15875">
            <a:solidFill>
              <a:schemeClr val="accent2"/>
            </a:solidFill>
            <a:prstDash val="solid"/>
          </a:ln>
        </p:spPr>
      </p:sp>
      <p:sp>
        <p:nvSpPr>
          <p:cNvPr id="7" name="title-chip-0-text"/>
          <p:cNvSpPr txBox="1"/>
          <p:nvPr/>
        </p:nvSpPr>
        <p:spPr>
          <a:xfrm>
            <a:off x="8247888" y="1554480"/>
            <a:ext cx="1380744" cy="105156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Бәйге</a:t>
            </a:r>
            <a:endParaRPr lang="en-US" sz="2000" dirty="0"/>
          </a:p>
        </p:txBody>
      </p:sp>
      <p:sp>
        <p:nvSpPr>
          <p:cNvPr id="8" name="title-chip-1"/>
          <p:cNvSpPr/>
          <p:nvPr/>
        </p:nvSpPr>
        <p:spPr>
          <a:xfrm>
            <a:off x="9921240" y="1554480"/>
            <a:ext cx="1600200" cy="1051560"/>
          </a:xfrm>
          <a:prstGeom prst="roundRect">
            <a:avLst>
              <a:gd name="adj" fmla="val 10435"/>
            </a:avLst>
          </a:prstGeom>
          <a:solidFill>
            <a:schemeClr val="bg1"/>
          </a:solidFill>
          <a:ln w="15875">
            <a:solidFill>
              <a:schemeClr val="accent2"/>
            </a:solidFill>
            <a:prstDash val="solid"/>
          </a:ln>
        </p:spPr>
      </p:sp>
      <p:sp>
        <p:nvSpPr>
          <p:cNvPr id="9" name="title-chip-1-text"/>
          <p:cNvSpPr txBox="1"/>
          <p:nvPr/>
        </p:nvSpPr>
        <p:spPr>
          <a:xfrm>
            <a:off x="10030968" y="1554480"/>
            <a:ext cx="1380744" cy="105156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Асық</a:t>
            </a:r>
            <a:endParaRPr lang="en-US" sz="2000" dirty="0"/>
          </a:p>
        </p:txBody>
      </p:sp>
      <p:sp>
        <p:nvSpPr>
          <p:cNvPr id="10" name="title-chip-2"/>
          <p:cNvSpPr/>
          <p:nvPr/>
        </p:nvSpPr>
        <p:spPr>
          <a:xfrm>
            <a:off x="8138160" y="2880360"/>
            <a:ext cx="1600200" cy="1051560"/>
          </a:xfrm>
          <a:prstGeom prst="roundRect">
            <a:avLst>
              <a:gd name="adj" fmla="val 10435"/>
            </a:avLst>
          </a:prstGeom>
          <a:solidFill>
            <a:schemeClr val="bg1"/>
          </a:solidFill>
          <a:ln w="15875">
            <a:solidFill>
              <a:schemeClr val="accent2"/>
            </a:solidFill>
            <a:prstDash val="solid"/>
          </a:ln>
        </p:spPr>
      </p:sp>
      <p:sp>
        <p:nvSpPr>
          <p:cNvPr id="11" name="title-chip-2-text"/>
          <p:cNvSpPr txBox="1"/>
          <p:nvPr/>
        </p:nvSpPr>
        <p:spPr>
          <a:xfrm>
            <a:off x="8247888" y="2880360"/>
            <a:ext cx="1380744" cy="105156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Күрес</a:t>
            </a:r>
            <a:endParaRPr lang="en-US" sz="2000" dirty="0"/>
          </a:p>
        </p:txBody>
      </p:sp>
      <p:sp>
        <p:nvSpPr>
          <p:cNvPr id="12" name="title-chip-3"/>
          <p:cNvSpPr/>
          <p:nvPr/>
        </p:nvSpPr>
        <p:spPr>
          <a:xfrm>
            <a:off x="9921240" y="2880360"/>
            <a:ext cx="1600200" cy="1051560"/>
          </a:xfrm>
          <a:prstGeom prst="roundRect">
            <a:avLst>
              <a:gd name="adj" fmla="val 10435"/>
            </a:avLst>
          </a:prstGeom>
          <a:solidFill>
            <a:schemeClr val="bg1"/>
          </a:solidFill>
          <a:ln w="15875">
            <a:solidFill>
              <a:schemeClr val="accent2"/>
            </a:solidFill>
            <a:prstDash val="solid"/>
          </a:ln>
        </p:spPr>
      </p:sp>
      <p:sp>
        <p:nvSpPr>
          <p:cNvPr id="13" name="title-chip-3-text"/>
          <p:cNvSpPr txBox="1"/>
          <p:nvPr/>
        </p:nvSpPr>
        <p:spPr>
          <a:xfrm>
            <a:off x="10030968" y="2880360"/>
            <a:ext cx="1380744" cy="105156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Аударыспақ</a:t>
            </a:r>
            <a:endParaRPr lang="en-US" sz="1500" dirty="0"/>
          </a:p>
        </p:txBody>
      </p:sp>
      <p:sp>
        <p:nvSpPr>
          <p:cNvPr id="14" name="title-horse-circle"/>
          <p:cNvSpPr/>
          <p:nvPr/>
        </p:nvSpPr>
        <p:spPr>
          <a:xfrm>
            <a:off x="8732520" y="4343400"/>
            <a:ext cx="1051560" cy="1051560"/>
          </a:xfrm>
          <a:prstGeom prst="ellipse">
            <a:avLst/>
          </a:prstGeom>
          <a:solidFill>
            <a:schemeClr val="accent2"/>
          </a:solidFill>
          <a:ln/>
        </p:spPr>
      </p:sp>
      <p:pic>
        <p:nvPicPr>
          <p:cNvPr id="15" name="title-horse-icon" descr="preencoded.png">    </p:cNvPr>
          <p:cNvPicPr>
            <a:picLocks noChangeAspect="1"/>
          </p:cNvPicPr>
          <p:nvPr/>
        </p:nvPicPr>
        <p:blipFill>
          <a:blip r:embed="rId1"/>
          <a:stretch>
            <a:fillRect/>
          </a:stretch>
        </p:blipFill>
        <p:spPr>
          <a:xfrm>
            <a:off x="8984894" y="4595774"/>
            <a:ext cx="546811" cy="546811"/>
          </a:xfrm>
          <a:prstGeom prst="rect">
            <a:avLst/>
          </a:prstGeom>
        </p:spPr>
      </p:pic>
      <p:sp>
        <p:nvSpPr>
          <p:cNvPr id="16" name="title-book-circle"/>
          <p:cNvSpPr/>
          <p:nvPr/>
        </p:nvSpPr>
        <p:spPr>
          <a:xfrm>
            <a:off x="10058400" y="4343400"/>
            <a:ext cx="1051560" cy="1051560"/>
          </a:xfrm>
          <a:prstGeom prst="ellipse">
            <a:avLst/>
          </a:prstGeom>
          <a:solidFill>
            <a:schemeClr val="accent1"/>
          </a:solidFill>
          <a:ln/>
        </p:spPr>
      </p:sp>
      <p:pic>
        <p:nvPicPr>
          <p:cNvPr id="17" name="title-book-icon" descr="preencoded.png">    </p:cNvPr>
          <p:cNvPicPr>
            <a:picLocks noChangeAspect="1"/>
          </p:cNvPicPr>
          <p:nvPr/>
        </p:nvPicPr>
        <p:blipFill>
          <a:blip r:embed="rId2"/>
          <a:stretch>
            <a:fillRect/>
          </a:stretch>
        </p:blipFill>
        <p:spPr>
          <a:xfrm>
            <a:off x="10310774" y="4595774"/>
            <a:ext cx="546811" cy="5468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Төстік асық ойнамаса, ертегі басталмас еді</a:t>
            </a:r>
            <a:endParaRPr lang="en-US" sz="3200" dirty="0"/>
          </a:p>
        </p:txBody>
      </p:sp>
      <p:sp>
        <p:nvSpPr>
          <p:cNvPr id="3" name="hook-quote-card"/>
          <p:cNvSpPr/>
          <p:nvPr/>
        </p:nvSpPr>
        <p:spPr>
          <a:xfrm>
            <a:off x="548640" y="1417320"/>
            <a:ext cx="6583680" cy="2926080"/>
          </a:xfrm>
          <a:prstGeom prst="roundRect">
            <a:avLst>
              <a:gd name="adj" fmla="val 3750"/>
            </a:avLst>
          </a:prstGeom>
          <a:solidFill>
            <a:schemeClr val="bg2"/>
          </a:solidFill>
          <a:ln/>
        </p:spPr>
      </p:sp>
      <p:sp>
        <p:nvSpPr>
          <p:cNvPr id="4" name="hook-quote-circle"/>
          <p:cNvSpPr/>
          <p:nvPr/>
        </p:nvSpPr>
        <p:spPr>
          <a:xfrm>
            <a:off x="868680" y="1691640"/>
            <a:ext cx="685800" cy="685800"/>
          </a:xfrm>
          <a:prstGeom prst="ellipse">
            <a:avLst/>
          </a:prstGeom>
          <a:solidFill>
            <a:schemeClr val="accent3"/>
          </a:solidFill>
          <a:ln/>
        </p:spPr>
      </p:sp>
      <p:pic>
        <p:nvPicPr>
          <p:cNvPr id="5" name="hook-quote-icon" descr="preencoded.png">    </p:cNvPr>
          <p:cNvPicPr>
            <a:picLocks noChangeAspect="1"/>
          </p:cNvPicPr>
          <p:nvPr/>
        </p:nvPicPr>
        <p:blipFill>
          <a:blip r:embed="rId1"/>
          <a:stretch>
            <a:fillRect/>
          </a:stretch>
        </p:blipFill>
        <p:spPr>
          <a:xfrm>
            <a:off x="1033272" y="1856232"/>
            <a:ext cx="356616" cy="356616"/>
          </a:xfrm>
          <a:prstGeom prst="rect">
            <a:avLst/>
          </a:prstGeom>
        </p:spPr>
      </p:pic>
      <p:sp>
        <p:nvSpPr>
          <p:cNvPr id="6" name="hook-quote-text"/>
          <p:cNvSpPr txBox="1"/>
          <p:nvPr/>
        </p:nvSpPr>
        <p:spPr>
          <a:xfrm>
            <a:off x="1783080" y="1645920"/>
            <a:ext cx="5120640" cy="1828800"/>
          </a:xfrm>
          <a:prstGeom prst="rect">
            <a:avLst/>
          </a:prstGeom>
          <a:noFill/>
          <a:ln/>
        </p:spPr>
        <p:txBody>
          <a:bodyPr wrap="square" lIns="0" tIns="0" rIns="0" bIns="0" rtlCol="0" anchor="t"/>
          <a:lstStyle/>
          <a:p>
            <a:pPr indent="0" marL="0">
              <a:buNone/>
            </a:pPr>
            <a:r>
              <a:rPr lang="en-US" sz="2000" i="1" dirty="0">
                <a:solidFill>
                  <a:schemeClr val="tx1"/>
                </a:solidFill>
              </a:rPr>
              <a:t>Төстік асық ойнап жүріп, кемпірдің баласын ұрып қалады. Кемпірдің ызалы сөзінен кейін ол ағаларын іздеп жолға шығады.</a:t>
            </a:r>
            <a:endParaRPr lang="en-US" sz="2000" dirty="0"/>
          </a:p>
        </p:txBody>
      </p:sp>
      <p:sp>
        <p:nvSpPr>
          <p:cNvPr id="7" name="hook-quote-src"/>
          <p:cNvSpPr txBox="1"/>
          <p:nvPr/>
        </p:nvSpPr>
        <p:spPr>
          <a:xfrm>
            <a:off x="1783080" y="3611880"/>
            <a:ext cx="5120640" cy="411480"/>
          </a:xfrm>
          <a:prstGeom prst="rect">
            <a:avLst/>
          </a:prstGeom>
          <a:noFill/>
          <a:ln/>
        </p:spPr>
        <p:txBody>
          <a:bodyPr wrap="square" lIns="0" tIns="0" rIns="0" bIns="0" rtlCol="0" anchor="ctr"/>
          <a:lstStyle/>
          <a:p>
            <a:pPr indent="0" marL="0">
              <a:buNone/>
            </a:pPr>
            <a:r>
              <a:rPr lang="en-US" sz="1500" b="1" dirty="0">
                <a:solidFill>
                  <a:schemeClr val="accent3"/>
                </a:solidFill>
              </a:rPr>
              <a:t>«Ер Төстік» ертегісі</a:t>
            </a:r>
            <a:endParaRPr lang="en-US" sz="1500" dirty="0"/>
          </a:p>
        </p:txBody>
      </p:sp>
      <p:sp>
        <p:nvSpPr>
          <p:cNvPr id="8" name="hook-12-value"/>
          <p:cNvSpPr txBox="1"/>
          <p:nvPr/>
        </p:nvSpPr>
        <p:spPr>
          <a:xfrm>
            <a:off x="7589520" y="1463040"/>
            <a:ext cx="4023360" cy="7772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12</a:t>
            </a:r>
            <a:endParaRPr lang="en-US" sz="5400" dirty="0"/>
          </a:p>
        </p:txBody>
      </p:sp>
      <p:sp>
        <p:nvSpPr>
          <p:cNvPr id="9" name="hook-12-label"/>
          <p:cNvSpPr txBox="1"/>
          <p:nvPr/>
        </p:nvSpPr>
        <p:spPr>
          <a:xfrm>
            <a:off x="7589520" y="2267712"/>
            <a:ext cx="4023360" cy="685800"/>
          </a:xfrm>
          <a:prstGeom prst="rect">
            <a:avLst/>
          </a:prstGeom>
          <a:noFill/>
          <a:ln/>
        </p:spPr>
        <p:txBody>
          <a:bodyPr wrap="square" lIns="0" tIns="0" rIns="0" bIns="0" rtlCol="0" anchor="t"/>
          <a:lstStyle/>
          <a:p>
            <a:pPr indent="0" marL="0">
              <a:buNone/>
            </a:pPr>
            <a:r>
              <a:rPr lang="en-US" sz="1400" dirty="0">
                <a:solidFill>
                  <a:schemeClr val="tx1"/>
                </a:solidFill>
              </a:rPr>
              <a:t>ұлттық ойынды зерттедім – ат ойындарынан бастап асық пен алтыбақанға дейін</a:t>
            </a:r>
            <a:endParaRPr lang="en-US" sz="1400" dirty="0"/>
          </a:p>
        </p:txBody>
      </p:sp>
      <p:sp>
        <p:nvSpPr>
          <p:cNvPr id="10" name="hook-63-value"/>
          <p:cNvSpPr txBox="1"/>
          <p:nvPr/>
        </p:nvSpPr>
        <p:spPr>
          <a:xfrm>
            <a:off x="7589520" y="2971800"/>
            <a:ext cx="4023360" cy="7772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63%</a:t>
            </a:r>
            <a:endParaRPr lang="en-US" sz="5400" dirty="0"/>
          </a:p>
        </p:txBody>
      </p:sp>
      <p:sp>
        <p:nvSpPr>
          <p:cNvPr id="11" name="hook-63-label"/>
          <p:cNvSpPr txBox="1"/>
          <p:nvPr/>
        </p:nvSpPr>
        <p:spPr>
          <a:xfrm>
            <a:off x="7589520" y="3776472"/>
            <a:ext cx="4023360" cy="685800"/>
          </a:xfrm>
          <a:prstGeom prst="rect">
            <a:avLst/>
          </a:prstGeom>
          <a:noFill/>
          <a:ln/>
        </p:spPr>
        <p:txBody>
          <a:bodyPr wrap="square" lIns="0" tIns="0" rIns="0" bIns="0" rtlCol="0" anchor="t"/>
          <a:lstStyle/>
          <a:p>
            <a:pPr indent="0" marL="0">
              <a:buNone/>
            </a:pPr>
            <a:r>
              <a:rPr lang="en-US" sz="1400" dirty="0">
                <a:solidFill>
                  <a:schemeClr val="tx1"/>
                </a:solidFill>
              </a:rPr>
              <a:t>сыныптастарымның ғана асық ойнағаны бар</a:t>
            </a:r>
            <a:endParaRPr lang="en-US" sz="1400" dirty="0"/>
          </a:p>
        </p:txBody>
      </p:sp>
      <p:sp>
        <p:nvSpPr>
          <p:cNvPr id="12" name="hook-question"/>
          <p:cNvSpPr/>
          <p:nvPr/>
        </p:nvSpPr>
        <p:spPr>
          <a:xfrm>
            <a:off x="548640" y="4709160"/>
            <a:ext cx="11064240" cy="1280160"/>
          </a:xfrm>
          <a:prstGeom prst="roundRect">
            <a:avLst>
              <a:gd name="adj" fmla="val 8571"/>
            </a:avLst>
          </a:prstGeom>
          <a:solidFill>
            <a:schemeClr val="tx2"/>
          </a:solidFill>
          <a:ln/>
        </p:spPr>
      </p:sp>
      <p:sp>
        <p:nvSpPr>
          <p:cNvPr id="13" name="hook-question-text"/>
          <p:cNvSpPr txBox="1"/>
          <p:nvPr/>
        </p:nvSpPr>
        <p:spPr>
          <a:xfrm>
            <a:off x="914400" y="4709160"/>
            <a:ext cx="10332720" cy="1280160"/>
          </a:xfrm>
          <a:prstGeom prst="rect">
            <a:avLst/>
          </a:prstGeom>
          <a:noFill/>
          <a:ln/>
        </p:spPr>
        <p:txBody>
          <a:bodyPr wrap="square" lIns="0" tIns="0" rIns="0" bIns="0" rtlCol="0" anchor="ctr"/>
          <a:lstStyle/>
          <a:p>
            <a:pPr indent="0" marL="0">
              <a:buNone/>
            </a:pPr>
            <a:r>
              <a:rPr lang="en-US" sz="2200" b="1" dirty="0">
                <a:solidFill>
                  <a:schemeClr val="bg1"/>
                </a:solidFill>
              </a:rPr>
              <a:t>Ертегі мен жырда ойындар не үшін керек – жай көрініс пе, әлде оқиғаның бір бөлігі ме?</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Зерттеу сұрағы мен болжам</a:t>
            </a:r>
            <a:endParaRPr lang="en-US" sz="3200" dirty="0"/>
          </a:p>
        </p:txBody>
      </p:sp>
      <p:sp>
        <p:nvSpPr>
          <p:cNvPr id="3" name="q-card"/>
          <p:cNvSpPr/>
          <p:nvPr/>
        </p:nvSpPr>
        <p:spPr>
          <a:xfrm>
            <a:off x="548640" y="1417320"/>
            <a:ext cx="11064240" cy="1325880"/>
          </a:xfrm>
          <a:prstGeom prst="roundRect">
            <a:avLst>
              <a:gd name="adj" fmla="val 8276"/>
            </a:avLst>
          </a:prstGeom>
          <a:solidFill>
            <a:schemeClr val="bg2"/>
          </a:solidFill>
          <a:ln/>
        </p:spPr>
      </p:sp>
      <p:sp>
        <p:nvSpPr>
          <p:cNvPr id="4" name="q-circle"/>
          <p:cNvSpPr/>
          <p:nvPr/>
        </p:nvSpPr>
        <p:spPr>
          <a:xfrm>
            <a:off x="868680" y="1691640"/>
            <a:ext cx="777240" cy="777240"/>
          </a:xfrm>
          <a:prstGeom prst="ellipse">
            <a:avLst/>
          </a:prstGeom>
          <a:solidFill>
            <a:schemeClr val="accent1"/>
          </a:solidFill>
          <a:ln/>
        </p:spPr>
      </p:sp>
      <p:pic>
        <p:nvPicPr>
          <p:cNvPr id="5" name="q-icon" descr="preencoded.png">    </p:cNvPr>
          <p:cNvPicPr>
            <a:picLocks noChangeAspect="1"/>
          </p:cNvPicPr>
          <p:nvPr/>
        </p:nvPicPr>
        <p:blipFill>
          <a:blip r:embed="rId1"/>
          <a:stretch>
            <a:fillRect/>
          </a:stretch>
        </p:blipFill>
        <p:spPr>
          <a:xfrm>
            <a:off x="1055218" y="1878178"/>
            <a:ext cx="404165" cy="404165"/>
          </a:xfrm>
          <a:prstGeom prst="rect">
            <a:avLst/>
          </a:prstGeom>
        </p:spPr>
      </p:pic>
      <p:sp>
        <p:nvSpPr>
          <p:cNvPr id="6" name="q-text"/>
          <p:cNvSpPr txBox="1"/>
          <p:nvPr/>
        </p:nvSpPr>
        <p:spPr>
          <a:xfrm>
            <a:off x="1920240" y="1417320"/>
            <a:ext cx="9418320" cy="1325880"/>
          </a:xfrm>
          <a:prstGeom prst="rect">
            <a:avLst/>
          </a:prstGeom>
          <a:noFill/>
          <a:ln/>
        </p:spPr>
        <p:txBody>
          <a:bodyPr wrap="square" lIns="0" tIns="0" rIns="0" bIns="0" rtlCol="0" anchor="ctr"/>
          <a:lstStyle/>
          <a:p>
            <a:pPr indent="0" marL="0">
              <a:buNone/>
            </a:pPr>
            <a:r>
              <a:rPr lang="en-US" sz="2100" b="1" dirty="0">
                <a:solidFill>
                  <a:schemeClr val="tx2"/>
                </a:solidFill>
              </a:rPr>
              <a:t>Ертегі мен жырда қандай ұлттық ойындар кездеседі, олар оқиғада қандай рөл атқарады және сыныптастарым оларды біле ме?</a:t>
            </a:r>
            <a:endParaRPr lang="en-US" sz="2100" dirty="0"/>
          </a:p>
        </p:txBody>
      </p:sp>
      <p:sp>
        <p:nvSpPr>
          <p:cNvPr id="7" name="aim-card-0"/>
          <p:cNvSpPr/>
          <p:nvPr/>
        </p:nvSpPr>
        <p:spPr>
          <a:xfrm>
            <a:off x="548640" y="3063240"/>
            <a:ext cx="5349240" cy="3017520"/>
          </a:xfrm>
          <a:prstGeom prst="roundRect">
            <a:avLst>
              <a:gd name="adj" fmla="val 3636"/>
            </a:avLst>
          </a:prstGeom>
          <a:solidFill>
            <a:schemeClr val="bg1"/>
          </a:solidFill>
          <a:ln w="15875">
            <a:solidFill>
              <a:srgbClr val="C9DDE2"/>
            </a:solidFill>
            <a:prstDash val="solid"/>
          </a:ln>
        </p:spPr>
      </p:sp>
      <p:sp>
        <p:nvSpPr>
          <p:cNvPr id="8" name="aim-0-circle"/>
          <p:cNvSpPr/>
          <p:nvPr/>
        </p:nvSpPr>
        <p:spPr>
          <a:xfrm>
            <a:off x="868680" y="3337560"/>
            <a:ext cx="685800" cy="685800"/>
          </a:xfrm>
          <a:prstGeom prst="ellipse">
            <a:avLst/>
          </a:prstGeom>
          <a:solidFill>
            <a:schemeClr val="accent1"/>
          </a:solidFill>
          <a:ln/>
        </p:spPr>
      </p:sp>
      <p:pic>
        <p:nvPicPr>
          <p:cNvPr id="9" name="aim-0-icon" descr="preencoded.png">    </p:cNvPr>
          <p:cNvPicPr>
            <a:picLocks noChangeAspect="1"/>
          </p:cNvPicPr>
          <p:nvPr/>
        </p:nvPicPr>
        <p:blipFill>
          <a:blip r:embed="rId2"/>
          <a:stretch>
            <a:fillRect/>
          </a:stretch>
        </p:blipFill>
        <p:spPr>
          <a:xfrm>
            <a:off x="1033272" y="3502152"/>
            <a:ext cx="356616" cy="356616"/>
          </a:xfrm>
          <a:prstGeom prst="rect">
            <a:avLst/>
          </a:prstGeom>
        </p:spPr>
      </p:pic>
      <p:sp>
        <p:nvSpPr>
          <p:cNvPr id="10" name="aim-title-0"/>
          <p:cNvSpPr txBox="1"/>
          <p:nvPr/>
        </p:nvSpPr>
        <p:spPr>
          <a:xfrm>
            <a:off x="1737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Мақсаты</a:t>
            </a:r>
            <a:endParaRPr lang="en-US" sz="2200" dirty="0"/>
          </a:p>
        </p:txBody>
      </p:sp>
      <p:sp>
        <p:nvSpPr>
          <p:cNvPr id="11" name="aim-text-0"/>
          <p:cNvSpPr txBox="1"/>
          <p:nvPr/>
        </p:nvSpPr>
        <p:spPr>
          <a:xfrm>
            <a:off x="868680" y="4206240"/>
            <a:ext cx="4754880" cy="1737360"/>
          </a:xfrm>
          <a:prstGeom prst="rect">
            <a:avLst/>
          </a:prstGeom>
          <a:noFill/>
          <a:ln/>
        </p:spPr>
        <p:txBody>
          <a:bodyPr wrap="square" lIns="0" tIns="0" rIns="0" bIns="0" rtlCol="0" anchor="t"/>
          <a:lstStyle/>
          <a:p>
            <a:pPr indent="0" marL="0">
              <a:buNone/>
            </a:pPr>
            <a:r>
              <a:rPr lang="en-US" sz="1700" dirty="0">
                <a:solidFill>
                  <a:schemeClr val="tx1"/>
                </a:solidFill>
              </a:rPr>
              <a:t>Ертегі мен жырлардағы ұлттық ойындарды анықтап, олардың шығармадағы қызметін талдау және сыныптастарымның оларды білу деңгейін зерттеу</a:t>
            </a:r>
            <a:endParaRPr lang="en-US" sz="1700" dirty="0"/>
          </a:p>
        </p:txBody>
      </p:sp>
      <p:sp>
        <p:nvSpPr>
          <p:cNvPr id="12" name="aim-card-1"/>
          <p:cNvSpPr/>
          <p:nvPr/>
        </p:nvSpPr>
        <p:spPr>
          <a:xfrm>
            <a:off x="6263640" y="3063240"/>
            <a:ext cx="5349240" cy="3017520"/>
          </a:xfrm>
          <a:prstGeom prst="roundRect">
            <a:avLst>
              <a:gd name="adj" fmla="val 3636"/>
            </a:avLst>
          </a:prstGeom>
          <a:solidFill>
            <a:schemeClr val="bg1"/>
          </a:solidFill>
          <a:ln w="15875">
            <a:solidFill>
              <a:srgbClr val="C9DDE2"/>
            </a:solidFill>
            <a:prstDash val="solid"/>
          </a:ln>
        </p:spPr>
      </p:sp>
      <p:sp>
        <p:nvSpPr>
          <p:cNvPr id="13" name="aim-1-circle"/>
          <p:cNvSpPr/>
          <p:nvPr/>
        </p:nvSpPr>
        <p:spPr>
          <a:xfrm>
            <a:off x="6583680" y="3337560"/>
            <a:ext cx="685800" cy="685800"/>
          </a:xfrm>
          <a:prstGeom prst="ellipse">
            <a:avLst/>
          </a:prstGeom>
          <a:solidFill>
            <a:schemeClr val="accent2"/>
          </a:solidFill>
          <a:ln/>
        </p:spPr>
      </p:sp>
      <p:pic>
        <p:nvPicPr>
          <p:cNvPr id="14" name="aim-1-icon" descr="preencoded.png">    </p:cNvPr>
          <p:cNvPicPr>
            <a:picLocks noChangeAspect="1"/>
          </p:cNvPicPr>
          <p:nvPr/>
        </p:nvPicPr>
        <p:blipFill>
          <a:blip r:embed="rId3"/>
          <a:stretch>
            <a:fillRect/>
          </a:stretch>
        </p:blipFill>
        <p:spPr>
          <a:xfrm>
            <a:off x="6748272" y="3502152"/>
            <a:ext cx="356616" cy="356616"/>
          </a:xfrm>
          <a:prstGeom prst="rect">
            <a:avLst/>
          </a:prstGeom>
        </p:spPr>
      </p:pic>
      <p:sp>
        <p:nvSpPr>
          <p:cNvPr id="15" name="aim-title-1"/>
          <p:cNvSpPr txBox="1"/>
          <p:nvPr/>
        </p:nvSpPr>
        <p:spPr>
          <a:xfrm>
            <a:off x="7452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Болжам</a:t>
            </a:r>
            <a:endParaRPr lang="en-US" sz="2200" dirty="0"/>
          </a:p>
        </p:txBody>
      </p:sp>
      <p:sp>
        <p:nvSpPr>
          <p:cNvPr id="16" name="aim-text-1"/>
          <p:cNvSpPr txBox="1"/>
          <p:nvPr/>
        </p:nvSpPr>
        <p:spPr>
          <a:xfrm>
            <a:off x="6583680" y="4206240"/>
            <a:ext cx="4754880" cy="1737360"/>
          </a:xfrm>
          <a:prstGeom prst="rect">
            <a:avLst/>
          </a:prstGeom>
          <a:noFill/>
          <a:ln/>
        </p:spPr>
        <p:txBody>
          <a:bodyPr wrap="square" lIns="0" tIns="0" rIns="0" bIns="0" rtlCol="0" anchor="t"/>
          <a:lstStyle/>
          <a:p>
            <a:pPr indent="0" marL="0">
              <a:buNone/>
            </a:pPr>
            <a:r>
              <a:rPr lang="en-US" sz="1700" dirty="0">
                <a:solidFill>
                  <a:schemeClr val="tx1"/>
                </a:solidFill>
              </a:rPr>
              <a:t>Ертегіде балалар ойындары, жырда ат ойындары мен күш сынасу ойындары жиі кездеседі; жырда ойын көбіне қаһарманды сынайды</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Қалай зерттедім: үш қадам</a:t>
            </a:r>
            <a:endParaRPr lang="en-US" sz="3200" dirty="0"/>
          </a:p>
        </p:txBody>
      </p:sp>
      <p:sp>
        <p:nvSpPr>
          <p:cNvPr id="3" name="step-card-0"/>
          <p:cNvSpPr/>
          <p:nvPr/>
        </p:nvSpPr>
        <p:spPr>
          <a:xfrm>
            <a:off x="548640" y="1463040"/>
            <a:ext cx="3429000" cy="3657600"/>
          </a:xfrm>
          <a:prstGeom prst="roundRect">
            <a:avLst>
              <a:gd name="adj" fmla="val 3200"/>
            </a:avLst>
          </a:prstGeom>
          <a:solidFill>
            <a:schemeClr val="bg2"/>
          </a:solidFill>
          <a:ln/>
        </p:spPr>
      </p:sp>
      <p:sp>
        <p:nvSpPr>
          <p:cNvPr id="4" name="step-0-circle"/>
          <p:cNvSpPr/>
          <p:nvPr/>
        </p:nvSpPr>
        <p:spPr>
          <a:xfrm>
            <a:off x="868680" y="1737360"/>
            <a:ext cx="868680" cy="868680"/>
          </a:xfrm>
          <a:prstGeom prst="ellipse">
            <a:avLst/>
          </a:prstGeom>
          <a:solidFill>
            <a:schemeClr val="accent3"/>
          </a:solidFill>
          <a:ln/>
        </p:spPr>
      </p:sp>
      <p:pic>
        <p:nvPicPr>
          <p:cNvPr id="5" name="step-0-icon" descr="preencoded.png">    </p:cNvPr>
          <p:cNvPicPr>
            <a:picLocks noChangeAspect="1"/>
          </p:cNvPicPr>
          <p:nvPr/>
        </p:nvPicPr>
        <p:blipFill>
          <a:blip r:embed="rId1"/>
          <a:stretch>
            <a:fillRect/>
          </a:stretch>
        </p:blipFill>
        <p:spPr>
          <a:xfrm>
            <a:off x="1077163" y="1945843"/>
            <a:ext cx="451714" cy="451714"/>
          </a:xfrm>
          <a:prstGeom prst="rect">
            <a:avLst/>
          </a:prstGeom>
        </p:spPr>
      </p:pic>
      <p:sp>
        <p:nvSpPr>
          <p:cNvPr id="6" name="step-num-0"/>
          <p:cNvSpPr txBox="1"/>
          <p:nvPr/>
        </p:nvSpPr>
        <p:spPr>
          <a:xfrm>
            <a:off x="2926080" y="1691640"/>
            <a:ext cx="822960" cy="914400"/>
          </a:xfrm>
          <a:prstGeom prst="rect">
            <a:avLst/>
          </a:prstGeom>
          <a:noFill/>
          <a:ln/>
        </p:spPr>
        <p:txBody>
          <a:bodyPr wrap="square" lIns="0" tIns="0" rIns="0" bIns="0" rtlCol="0" anchor="ctr"/>
          <a:lstStyle/>
          <a:p>
            <a:pPr algn="r" indent="0" marL="0">
              <a:buNone/>
            </a:pPr>
            <a:r>
              <a:rPr lang="en-US" sz="4400" b="1" dirty="0">
                <a:solidFill>
                  <a:srgbClr val="B9D3D9"/>
                </a:solidFill>
                <a:latin typeface="Cambria" pitchFamily="34" charset="0"/>
                <a:ea typeface="Cambria" pitchFamily="34" charset="-122"/>
                <a:cs typeface="Cambria" pitchFamily="34" charset="-120"/>
              </a:rPr>
              <a:t>1</a:t>
            </a:r>
            <a:endParaRPr lang="en-US" sz="4400" dirty="0"/>
          </a:p>
        </p:txBody>
      </p:sp>
      <p:sp>
        <p:nvSpPr>
          <p:cNvPr id="7" name="step-title-0"/>
          <p:cNvSpPr txBox="1"/>
          <p:nvPr/>
        </p:nvSpPr>
        <p:spPr>
          <a:xfrm>
            <a:off x="86868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Оқыдым</a:t>
            </a:r>
            <a:endParaRPr lang="en-US" sz="2200" dirty="0"/>
          </a:p>
        </p:txBody>
      </p:sp>
      <p:sp>
        <p:nvSpPr>
          <p:cNvPr id="8" name="step-text-0"/>
          <p:cNvSpPr txBox="1"/>
          <p:nvPr/>
        </p:nvSpPr>
        <p:spPr>
          <a:xfrm>
            <a:off x="868680" y="3383280"/>
            <a:ext cx="2834640" cy="1645920"/>
          </a:xfrm>
          <a:prstGeom prst="rect">
            <a:avLst/>
          </a:prstGeom>
          <a:noFill/>
          <a:ln/>
        </p:spPr>
        <p:txBody>
          <a:bodyPr wrap="square" lIns="0" tIns="0" rIns="0" bIns="0" rtlCol="0" anchor="t"/>
          <a:lstStyle/>
          <a:p>
            <a:pPr indent="0" marL="0">
              <a:buNone/>
            </a:pPr>
            <a:r>
              <a:rPr lang="en-US" sz="1500" dirty="0">
                <a:solidFill>
                  <a:schemeClr val="tx1"/>
                </a:solidFill>
              </a:rPr>
              <a:t>11 шығарма: 4 ертегі және 7 батырлар мен ғашықтық жыры. Ойын кездесетін әр эпизодты кестеге жаздым</a:t>
            </a:r>
            <a:endParaRPr lang="en-US" sz="1500" dirty="0"/>
          </a:p>
        </p:txBody>
      </p:sp>
      <p:sp>
        <p:nvSpPr>
          <p:cNvPr id="9" name="step-arrow-0"/>
          <p:cNvSpPr/>
          <p:nvPr/>
        </p:nvSpPr>
        <p:spPr>
          <a:xfrm>
            <a:off x="4023360" y="3108960"/>
            <a:ext cx="274320" cy="365760"/>
          </a:xfrm>
          <a:prstGeom prst="rightArrow">
            <a:avLst/>
          </a:prstGeom>
          <a:solidFill>
            <a:schemeClr val="accent5"/>
          </a:solidFill>
          <a:ln/>
        </p:spPr>
      </p:sp>
      <p:sp>
        <p:nvSpPr>
          <p:cNvPr id="10" name="step-card-1"/>
          <p:cNvSpPr/>
          <p:nvPr/>
        </p:nvSpPr>
        <p:spPr>
          <a:xfrm>
            <a:off x="4343400" y="1463040"/>
            <a:ext cx="3429000" cy="3657600"/>
          </a:xfrm>
          <a:prstGeom prst="roundRect">
            <a:avLst>
              <a:gd name="adj" fmla="val 3200"/>
            </a:avLst>
          </a:prstGeom>
          <a:solidFill>
            <a:schemeClr val="bg2"/>
          </a:solidFill>
          <a:ln/>
        </p:spPr>
      </p:sp>
      <p:sp>
        <p:nvSpPr>
          <p:cNvPr id="11" name="step-1-circle"/>
          <p:cNvSpPr/>
          <p:nvPr/>
        </p:nvSpPr>
        <p:spPr>
          <a:xfrm>
            <a:off x="4663440" y="1737360"/>
            <a:ext cx="868680" cy="868680"/>
          </a:xfrm>
          <a:prstGeom prst="ellipse">
            <a:avLst/>
          </a:prstGeom>
          <a:solidFill>
            <a:schemeClr val="accent2"/>
          </a:solidFill>
          <a:ln/>
        </p:spPr>
      </p:sp>
      <p:pic>
        <p:nvPicPr>
          <p:cNvPr id="12" name="step-1-icon" descr="preencoded.png">    </p:cNvPr>
          <p:cNvPicPr>
            <a:picLocks noChangeAspect="1"/>
          </p:cNvPicPr>
          <p:nvPr/>
        </p:nvPicPr>
        <p:blipFill>
          <a:blip r:embed="rId2"/>
          <a:stretch>
            <a:fillRect/>
          </a:stretch>
        </p:blipFill>
        <p:spPr>
          <a:xfrm>
            <a:off x="4871923" y="1945843"/>
            <a:ext cx="451714" cy="451714"/>
          </a:xfrm>
          <a:prstGeom prst="rect">
            <a:avLst/>
          </a:prstGeom>
        </p:spPr>
      </p:pic>
      <p:sp>
        <p:nvSpPr>
          <p:cNvPr id="13" name="step-num-1"/>
          <p:cNvSpPr txBox="1"/>
          <p:nvPr/>
        </p:nvSpPr>
        <p:spPr>
          <a:xfrm>
            <a:off x="6720840" y="1691640"/>
            <a:ext cx="822960" cy="914400"/>
          </a:xfrm>
          <a:prstGeom prst="rect">
            <a:avLst/>
          </a:prstGeom>
          <a:noFill/>
          <a:ln/>
        </p:spPr>
        <p:txBody>
          <a:bodyPr wrap="square" lIns="0" tIns="0" rIns="0" bIns="0" rtlCol="0" anchor="ctr"/>
          <a:lstStyle/>
          <a:p>
            <a:pPr algn="r" indent="0" marL="0">
              <a:buNone/>
            </a:pPr>
            <a:r>
              <a:rPr lang="en-US" sz="4400" b="1" dirty="0">
                <a:solidFill>
                  <a:srgbClr val="B9D3D9"/>
                </a:solidFill>
                <a:latin typeface="Cambria" pitchFamily="34" charset="0"/>
                <a:ea typeface="Cambria" pitchFamily="34" charset="-122"/>
                <a:cs typeface="Cambria" pitchFamily="34" charset="-120"/>
              </a:rPr>
              <a:t>2</a:t>
            </a:r>
            <a:endParaRPr lang="en-US" sz="4400" dirty="0"/>
          </a:p>
        </p:txBody>
      </p:sp>
      <p:sp>
        <p:nvSpPr>
          <p:cNvPr id="14" name="step-title-1"/>
          <p:cNvSpPr txBox="1"/>
          <p:nvPr/>
        </p:nvSpPr>
        <p:spPr>
          <a:xfrm>
            <a:off x="466344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Кодтадым</a:t>
            </a:r>
            <a:endParaRPr lang="en-US" sz="2200" dirty="0"/>
          </a:p>
        </p:txBody>
      </p:sp>
      <p:sp>
        <p:nvSpPr>
          <p:cNvPr id="15" name="step-text-1"/>
          <p:cNvSpPr txBox="1"/>
          <p:nvPr/>
        </p:nvSpPr>
        <p:spPr>
          <a:xfrm>
            <a:off x="4663440" y="3383280"/>
            <a:ext cx="2834640" cy="1645920"/>
          </a:xfrm>
          <a:prstGeom prst="rect">
            <a:avLst/>
          </a:prstGeom>
          <a:noFill/>
          <a:ln/>
        </p:spPr>
        <p:txBody>
          <a:bodyPr wrap="square" lIns="0" tIns="0" rIns="0" bIns="0" rtlCol="0" anchor="t"/>
          <a:lstStyle/>
          <a:p>
            <a:pPr indent="0" marL="0">
              <a:buNone/>
            </a:pPr>
            <a:r>
              <a:rPr lang="en-US" sz="1500" dirty="0">
                <a:solidFill>
                  <a:schemeClr val="tx1"/>
                </a:solidFill>
              </a:rPr>
              <a:t>12 ойынды 5 түрге бөлдім. Ойынның оқиғадағы қызметін 5 кодпен белгіледім: С, Б, Қ, Т, Ш</a:t>
            </a:r>
            <a:endParaRPr lang="en-US" sz="1500" dirty="0"/>
          </a:p>
        </p:txBody>
      </p:sp>
      <p:sp>
        <p:nvSpPr>
          <p:cNvPr id="16" name="step-arrow-1"/>
          <p:cNvSpPr/>
          <p:nvPr/>
        </p:nvSpPr>
        <p:spPr>
          <a:xfrm>
            <a:off x="7818120" y="3108960"/>
            <a:ext cx="274320" cy="365760"/>
          </a:xfrm>
          <a:prstGeom prst="rightArrow">
            <a:avLst/>
          </a:prstGeom>
          <a:solidFill>
            <a:schemeClr val="accent5"/>
          </a:solidFill>
          <a:ln/>
        </p:spPr>
      </p:sp>
      <p:sp>
        <p:nvSpPr>
          <p:cNvPr id="17" name="step-card-2"/>
          <p:cNvSpPr/>
          <p:nvPr/>
        </p:nvSpPr>
        <p:spPr>
          <a:xfrm>
            <a:off x="8138160" y="1463040"/>
            <a:ext cx="3429000" cy="3657600"/>
          </a:xfrm>
          <a:prstGeom prst="roundRect">
            <a:avLst>
              <a:gd name="adj" fmla="val 3200"/>
            </a:avLst>
          </a:prstGeom>
          <a:solidFill>
            <a:schemeClr val="bg2"/>
          </a:solidFill>
          <a:ln/>
        </p:spPr>
      </p:sp>
      <p:sp>
        <p:nvSpPr>
          <p:cNvPr id="18" name="step-2-circle"/>
          <p:cNvSpPr/>
          <p:nvPr/>
        </p:nvSpPr>
        <p:spPr>
          <a:xfrm>
            <a:off x="8458200" y="1737360"/>
            <a:ext cx="868680" cy="868680"/>
          </a:xfrm>
          <a:prstGeom prst="ellipse">
            <a:avLst/>
          </a:prstGeom>
          <a:solidFill>
            <a:schemeClr val="accent1"/>
          </a:solidFill>
          <a:ln/>
        </p:spPr>
      </p:sp>
      <p:pic>
        <p:nvPicPr>
          <p:cNvPr id="19" name="step-2-icon" descr="preencoded.png">    </p:cNvPr>
          <p:cNvPicPr>
            <a:picLocks noChangeAspect="1"/>
          </p:cNvPicPr>
          <p:nvPr/>
        </p:nvPicPr>
        <p:blipFill>
          <a:blip r:embed="rId3"/>
          <a:stretch>
            <a:fillRect/>
          </a:stretch>
        </p:blipFill>
        <p:spPr>
          <a:xfrm>
            <a:off x="8666683" y="1945843"/>
            <a:ext cx="451714" cy="451714"/>
          </a:xfrm>
          <a:prstGeom prst="rect">
            <a:avLst/>
          </a:prstGeom>
        </p:spPr>
      </p:pic>
      <p:sp>
        <p:nvSpPr>
          <p:cNvPr id="20" name="step-num-2"/>
          <p:cNvSpPr txBox="1"/>
          <p:nvPr/>
        </p:nvSpPr>
        <p:spPr>
          <a:xfrm>
            <a:off x="10515600" y="1691640"/>
            <a:ext cx="822960" cy="914400"/>
          </a:xfrm>
          <a:prstGeom prst="rect">
            <a:avLst/>
          </a:prstGeom>
          <a:noFill/>
          <a:ln/>
        </p:spPr>
        <p:txBody>
          <a:bodyPr wrap="square" lIns="0" tIns="0" rIns="0" bIns="0" rtlCol="0" anchor="ctr"/>
          <a:lstStyle/>
          <a:p>
            <a:pPr algn="r" indent="0" marL="0">
              <a:buNone/>
            </a:pPr>
            <a:r>
              <a:rPr lang="en-US" sz="4400" b="1" dirty="0">
                <a:solidFill>
                  <a:srgbClr val="B9D3D9"/>
                </a:solidFill>
                <a:latin typeface="Cambria" pitchFamily="34" charset="0"/>
                <a:ea typeface="Cambria" pitchFamily="34" charset="-122"/>
                <a:cs typeface="Cambria" pitchFamily="34" charset="-120"/>
              </a:rPr>
              <a:t>3</a:t>
            </a:r>
            <a:endParaRPr lang="en-US" sz="4400" dirty="0"/>
          </a:p>
        </p:txBody>
      </p:sp>
      <p:sp>
        <p:nvSpPr>
          <p:cNvPr id="21" name="step-title-2"/>
          <p:cNvSpPr txBox="1"/>
          <p:nvPr/>
        </p:nvSpPr>
        <p:spPr>
          <a:xfrm>
            <a:off x="845820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Сұрадым</a:t>
            </a:r>
            <a:endParaRPr lang="en-US" sz="2200" dirty="0"/>
          </a:p>
        </p:txBody>
      </p:sp>
      <p:sp>
        <p:nvSpPr>
          <p:cNvPr id="22" name="step-text-2"/>
          <p:cNvSpPr txBox="1"/>
          <p:nvPr/>
        </p:nvSpPr>
        <p:spPr>
          <a:xfrm>
            <a:off x="8458200" y="3383280"/>
            <a:ext cx="2834640" cy="1645920"/>
          </a:xfrm>
          <a:prstGeom prst="rect">
            <a:avLst/>
          </a:prstGeom>
          <a:noFill/>
          <a:ln/>
        </p:spPr>
        <p:txBody>
          <a:bodyPr wrap="square" lIns="0" tIns="0" rIns="0" bIns="0" rtlCol="0" anchor="t"/>
          <a:lstStyle/>
          <a:p>
            <a:pPr indent="0" marL="0">
              <a:buNone/>
            </a:pPr>
            <a:r>
              <a:rPr lang="en-US" sz="1500" dirty="0">
                <a:solidFill>
                  <a:schemeClr val="tx1"/>
                </a:solidFill>
              </a:rPr>
              <a:t>Жетекшім екеуміз Google Forms-та сауалнама жасадық. Ата-ана келісімімен 19 сыныптасым қатысты</a:t>
            </a:r>
            <a:endParaRPr lang="en-US" sz="1500" dirty="0"/>
          </a:p>
        </p:txBody>
      </p:sp>
      <p:sp>
        <p:nvSpPr>
          <p:cNvPr id="23" name="code-bg-0"/>
          <p:cNvSpPr/>
          <p:nvPr/>
        </p:nvSpPr>
        <p:spPr>
          <a:xfrm>
            <a:off x="548640" y="5440680"/>
            <a:ext cx="502920" cy="502920"/>
          </a:xfrm>
          <a:prstGeom prst="ellipse">
            <a:avLst/>
          </a:prstGeom>
          <a:solidFill>
            <a:schemeClr val="tx2"/>
          </a:solidFill>
          <a:ln/>
        </p:spPr>
      </p:sp>
      <p:sp>
        <p:nvSpPr>
          <p:cNvPr id="24" name="code-0"/>
          <p:cNvSpPr txBox="1"/>
          <p:nvPr/>
        </p:nvSpPr>
        <p:spPr>
          <a:xfrm>
            <a:off x="548640" y="5440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С</a:t>
            </a:r>
            <a:endParaRPr lang="en-US" sz="1800" dirty="0"/>
          </a:p>
        </p:txBody>
      </p:sp>
      <p:sp>
        <p:nvSpPr>
          <p:cNvPr id="25" name="code-name-0"/>
          <p:cNvSpPr txBox="1"/>
          <p:nvPr/>
        </p:nvSpPr>
        <p:spPr>
          <a:xfrm>
            <a:off x="1143000" y="5440680"/>
            <a:ext cx="1600200" cy="502920"/>
          </a:xfrm>
          <a:prstGeom prst="rect">
            <a:avLst/>
          </a:prstGeom>
          <a:noFill/>
          <a:ln/>
        </p:spPr>
        <p:txBody>
          <a:bodyPr wrap="square" lIns="0" tIns="0" rIns="0" bIns="0" rtlCol="0" anchor="ctr"/>
          <a:lstStyle/>
          <a:p>
            <a:pPr indent="0" marL="0">
              <a:buNone/>
            </a:pPr>
            <a:r>
              <a:rPr lang="en-US" sz="1400" dirty="0">
                <a:solidFill>
                  <a:schemeClr val="tx1"/>
                </a:solidFill>
              </a:rPr>
              <a:t>Сынақ</a:t>
            </a:r>
            <a:endParaRPr lang="en-US" sz="1400" dirty="0"/>
          </a:p>
        </p:txBody>
      </p:sp>
      <p:sp>
        <p:nvSpPr>
          <p:cNvPr id="26" name="code-bg-1"/>
          <p:cNvSpPr/>
          <p:nvPr/>
        </p:nvSpPr>
        <p:spPr>
          <a:xfrm>
            <a:off x="2788920" y="5440680"/>
            <a:ext cx="502920" cy="502920"/>
          </a:xfrm>
          <a:prstGeom prst="ellipse">
            <a:avLst/>
          </a:prstGeom>
          <a:solidFill>
            <a:schemeClr val="tx2"/>
          </a:solidFill>
          <a:ln/>
        </p:spPr>
      </p:sp>
      <p:sp>
        <p:nvSpPr>
          <p:cNvPr id="27" name="code-1"/>
          <p:cNvSpPr txBox="1"/>
          <p:nvPr/>
        </p:nvSpPr>
        <p:spPr>
          <a:xfrm>
            <a:off x="2788920" y="5440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Б</a:t>
            </a:r>
            <a:endParaRPr lang="en-US" sz="1800" dirty="0"/>
          </a:p>
        </p:txBody>
      </p:sp>
      <p:sp>
        <p:nvSpPr>
          <p:cNvPr id="28" name="code-name-1"/>
          <p:cNvSpPr txBox="1"/>
          <p:nvPr/>
        </p:nvSpPr>
        <p:spPr>
          <a:xfrm>
            <a:off x="3383280" y="5440680"/>
            <a:ext cx="1600200" cy="502920"/>
          </a:xfrm>
          <a:prstGeom prst="rect">
            <a:avLst/>
          </a:prstGeom>
          <a:noFill/>
          <a:ln/>
        </p:spPr>
        <p:txBody>
          <a:bodyPr wrap="square" lIns="0" tIns="0" rIns="0" bIns="0" rtlCol="0" anchor="ctr"/>
          <a:lstStyle/>
          <a:p>
            <a:pPr indent="0" marL="0">
              <a:buNone/>
            </a:pPr>
            <a:r>
              <a:rPr lang="en-US" sz="1400" dirty="0">
                <a:solidFill>
                  <a:schemeClr val="tx1"/>
                </a:solidFill>
              </a:rPr>
              <a:t>Сюжетті бастау</a:t>
            </a:r>
            <a:endParaRPr lang="en-US" sz="1400" dirty="0"/>
          </a:p>
        </p:txBody>
      </p:sp>
      <p:sp>
        <p:nvSpPr>
          <p:cNvPr id="29" name="code-bg-2"/>
          <p:cNvSpPr/>
          <p:nvPr/>
        </p:nvSpPr>
        <p:spPr>
          <a:xfrm>
            <a:off x="5029200" y="5440680"/>
            <a:ext cx="502920" cy="502920"/>
          </a:xfrm>
          <a:prstGeom prst="ellipse">
            <a:avLst/>
          </a:prstGeom>
          <a:solidFill>
            <a:schemeClr val="tx2"/>
          </a:solidFill>
          <a:ln/>
        </p:spPr>
      </p:sp>
      <p:sp>
        <p:nvSpPr>
          <p:cNvPr id="30" name="code-2"/>
          <p:cNvSpPr txBox="1"/>
          <p:nvPr/>
        </p:nvSpPr>
        <p:spPr>
          <a:xfrm>
            <a:off x="5029200" y="5440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Қ</a:t>
            </a:r>
            <a:endParaRPr lang="en-US" sz="1800" dirty="0"/>
          </a:p>
        </p:txBody>
      </p:sp>
      <p:sp>
        <p:nvSpPr>
          <p:cNvPr id="31" name="code-name-2"/>
          <p:cNvSpPr txBox="1"/>
          <p:nvPr/>
        </p:nvSpPr>
        <p:spPr>
          <a:xfrm>
            <a:off x="5623560" y="5440680"/>
            <a:ext cx="1600200" cy="502920"/>
          </a:xfrm>
          <a:prstGeom prst="rect">
            <a:avLst/>
          </a:prstGeom>
          <a:noFill/>
          <a:ln/>
        </p:spPr>
        <p:txBody>
          <a:bodyPr wrap="square" lIns="0" tIns="0" rIns="0" bIns="0" rtlCol="0" anchor="ctr"/>
          <a:lstStyle/>
          <a:p>
            <a:pPr indent="0" marL="0">
              <a:buNone/>
            </a:pPr>
            <a:r>
              <a:rPr lang="en-US" sz="1400" dirty="0">
                <a:solidFill>
                  <a:schemeClr val="tx1"/>
                </a:solidFill>
              </a:rPr>
              <a:t>Қасиетін көрсету</a:t>
            </a:r>
            <a:endParaRPr lang="en-US" sz="1400" dirty="0"/>
          </a:p>
        </p:txBody>
      </p:sp>
      <p:sp>
        <p:nvSpPr>
          <p:cNvPr id="32" name="code-bg-3"/>
          <p:cNvSpPr/>
          <p:nvPr/>
        </p:nvSpPr>
        <p:spPr>
          <a:xfrm>
            <a:off x="7269480" y="5440680"/>
            <a:ext cx="502920" cy="502920"/>
          </a:xfrm>
          <a:prstGeom prst="ellipse">
            <a:avLst/>
          </a:prstGeom>
          <a:solidFill>
            <a:schemeClr val="tx2"/>
          </a:solidFill>
          <a:ln/>
        </p:spPr>
      </p:sp>
      <p:sp>
        <p:nvSpPr>
          <p:cNvPr id="33" name="code-3"/>
          <p:cNvSpPr txBox="1"/>
          <p:nvPr/>
        </p:nvSpPr>
        <p:spPr>
          <a:xfrm>
            <a:off x="7269480" y="5440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Т</a:t>
            </a:r>
            <a:endParaRPr lang="en-US" sz="1800" dirty="0"/>
          </a:p>
        </p:txBody>
      </p:sp>
      <p:sp>
        <p:nvSpPr>
          <p:cNvPr id="34" name="code-name-3"/>
          <p:cNvSpPr txBox="1"/>
          <p:nvPr/>
        </p:nvSpPr>
        <p:spPr>
          <a:xfrm>
            <a:off x="7863840" y="5440680"/>
            <a:ext cx="1600200" cy="502920"/>
          </a:xfrm>
          <a:prstGeom prst="rect">
            <a:avLst/>
          </a:prstGeom>
          <a:noFill/>
          <a:ln/>
        </p:spPr>
        <p:txBody>
          <a:bodyPr wrap="square" lIns="0" tIns="0" rIns="0" bIns="0" rtlCol="0" anchor="ctr"/>
          <a:lstStyle/>
          <a:p>
            <a:pPr indent="0" marL="0">
              <a:buNone/>
            </a:pPr>
            <a:r>
              <a:rPr lang="en-US" sz="1400" dirty="0">
                <a:solidFill>
                  <a:schemeClr val="tx1"/>
                </a:solidFill>
              </a:rPr>
              <a:t>Той-думан</a:t>
            </a:r>
            <a:endParaRPr lang="en-US" sz="1400" dirty="0"/>
          </a:p>
        </p:txBody>
      </p:sp>
      <p:sp>
        <p:nvSpPr>
          <p:cNvPr id="35" name="code-bg-4"/>
          <p:cNvSpPr/>
          <p:nvPr/>
        </p:nvSpPr>
        <p:spPr>
          <a:xfrm>
            <a:off x="9509760" y="5440680"/>
            <a:ext cx="502920" cy="502920"/>
          </a:xfrm>
          <a:prstGeom prst="ellipse">
            <a:avLst/>
          </a:prstGeom>
          <a:solidFill>
            <a:schemeClr val="tx2"/>
          </a:solidFill>
          <a:ln/>
        </p:spPr>
      </p:sp>
      <p:sp>
        <p:nvSpPr>
          <p:cNvPr id="36" name="code-4"/>
          <p:cNvSpPr txBox="1"/>
          <p:nvPr/>
        </p:nvSpPr>
        <p:spPr>
          <a:xfrm>
            <a:off x="9509760" y="5440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Ш</a:t>
            </a:r>
            <a:endParaRPr lang="en-US" sz="1800" dirty="0"/>
          </a:p>
        </p:txBody>
      </p:sp>
      <p:sp>
        <p:nvSpPr>
          <p:cNvPr id="37" name="code-name-4"/>
          <p:cNvSpPr txBox="1"/>
          <p:nvPr/>
        </p:nvSpPr>
        <p:spPr>
          <a:xfrm>
            <a:off x="10104120" y="5440680"/>
            <a:ext cx="1600200" cy="502920"/>
          </a:xfrm>
          <a:prstGeom prst="rect">
            <a:avLst/>
          </a:prstGeom>
          <a:noFill/>
          <a:ln/>
        </p:spPr>
        <p:txBody>
          <a:bodyPr wrap="square" lIns="0" tIns="0" rIns="0" bIns="0" rtlCol="0" anchor="ctr"/>
          <a:lstStyle/>
          <a:p>
            <a:pPr indent="0" marL="0">
              <a:buNone/>
            </a:pPr>
            <a:r>
              <a:rPr lang="en-US" sz="1400" dirty="0">
                <a:solidFill>
                  <a:schemeClr val="tx1"/>
                </a:solidFill>
              </a:rPr>
              <a:t>Шешуші сәт</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Ертегі мен жырда қандай ойындар бар?</a:t>
            </a:r>
            <a:endParaRPr lang="en-US" sz="3200" dirty="0"/>
          </a:p>
        </p:txBody>
      </p:sp>
      <p:graphicFrame>
        <p:nvGraphicFramePr>
          <p:cNvPr id="3" name="chart-games"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games-ep-value"/>
          <p:cNvSpPr txBox="1"/>
          <p:nvPr/>
        </p:nvSpPr>
        <p:spPr>
          <a:xfrm>
            <a:off x="7772400" y="1371600"/>
            <a:ext cx="3840480" cy="77724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16</a:t>
            </a:r>
            <a:endParaRPr lang="en-US" sz="4800" dirty="0"/>
          </a:p>
        </p:txBody>
      </p:sp>
      <p:sp>
        <p:nvSpPr>
          <p:cNvPr id="5" name="games-ep-label"/>
          <p:cNvSpPr txBox="1"/>
          <p:nvPr/>
        </p:nvSpPr>
        <p:spPr>
          <a:xfrm>
            <a:off x="7772400" y="2176272"/>
            <a:ext cx="3840480" cy="685800"/>
          </a:xfrm>
          <a:prstGeom prst="rect">
            <a:avLst/>
          </a:prstGeom>
          <a:noFill/>
          <a:ln/>
        </p:spPr>
        <p:txBody>
          <a:bodyPr wrap="square" lIns="0" tIns="0" rIns="0" bIns="0" rtlCol="0" anchor="t"/>
          <a:lstStyle/>
          <a:p>
            <a:pPr indent="0" marL="0">
              <a:buNone/>
            </a:pPr>
            <a:r>
              <a:rPr lang="en-US" sz="1400" dirty="0">
                <a:solidFill>
                  <a:schemeClr val="tx1"/>
                </a:solidFill>
              </a:rPr>
              <a:t>эпизод 11 шығарманың бәрінен табылды</a:t>
            </a:r>
            <a:endParaRPr lang="en-US" sz="1400" dirty="0"/>
          </a:p>
        </p:txBody>
      </p:sp>
      <p:sp>
        <p:nvSpPr>
          <p:cNvPr id="6" name="games-zero-value"/>
          <p:cNvSpPr txBox="1"/>
          <p:nvPr/>
        </p:nvSpPr>
        <p:spPr>
          <a:xfrm>
            <a:off x="7772400" y="2880360"/>
            <a:ext cx="3840480" cy="77724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6 / 12</a:t>
            </a:r>
            <a:endParaRPr lang="en-US" sz="4800" dirty="0"/>
          </a:p>
        </p:txBody>
      </p:sp>
      <p:sp>
        <p:nvSpPr>
          <p:cNvPr id="7" name="games-zero-label"/>
          <p:cNvSpPr txBox="1"/>
          <p:nvPr/>
        </p:nvSpPr>
        <p:spPr>
          <a:xfrm>
            <a:off x="7772400" y="3685032"/>
            <a:ext cx="3840480" cy="685800"/>
          </a:xfrm>
          <a:prstGeom prst="rect">
            <a:avLst/>
          </a:prstGeom>
          <a:noFill/>
          <a:ln/>
        </p:spPr>
        <p:txBody>
          <a:bodyPr wrap="square" lIns="0" tIns="0" rIns="0" bIns="0" rtlCol="0" anchor="t"/>
          <a:lstStyle/>
          <a:p>
            <a:pPr indent="0" marL="0">
              <a:buNone/>
            </a:pPr>
            <a:r>
              <a:rPr lang="en-US" sz="1400" dirty="0">
                <a:solidFill>
                  <a:schemeClr val="tx1"/>
                </a:solidFill>
              </a:rPr>
              <a:t>ойын бірде-бір рет кездеспеді</a:t>
            </a:r>
            <a:endParaRPr lang="en-US" sz="1400" dirty="0"/>
          </a:p>
        </p:txBody>
      </p:sp>
      <p:sp>
        <p:nvSpPr>
          <p:cNvPr id="8" name="games-zero-list"/>
          <p:cNvSpPr txBox="1"/>
          <p:nvPr/>
        </p:nvSpPr>
        <p:spPr>
          <a:xfrm>
            <a:off x="7772400" y="4343400"/>
            <a:ext cx="3840480" cy="731520"/>
          </a:xfrm>
          <a:prstGeom prst="rect">
            <a:avLst/>
          </a:prstGeom>
          <a:noFill/>
          <a:ln/>
        </p:spPr>
        <p:txBody>
          <a:bodyPr wrap="square" lIns="0" tIns="0" rIns="0" bIns="0" rtlCol="0" anchor="t"/>
          <a:lstStyle/>
          <a:p>
            <a:pPr indent="0" marL="0">
              <a:buNone/>
            </a:pPr>
            <a:r>
              <a:rPr lang="en-US" sz="1400" i="1" dirty="0">
                <a:solidFill>
                  <a:schemeClr val="accent5"/>
                </a:solidFill>
              </a:rPr>
              <a:t>қыз қуу, теңге алу, тоғызқұмалақ, жұмбақ айтысу, ақсүйек, алтыбақан</a:t>
            </a:r>
            <a:endParaRPr lang="en-US" sz="1400" dirty="0"/>
          </a:p>
        </p:txBody>
      </p:sp>
      <p:sp>
        <p:nvSpPr>
          <p:cNvPr id="9" name="games-new"/>
          <p:cNvSpPr/>
          <p:nvPr/>
        </p:nvSpPr>
        <p:spPr>
          <a:xfrm>
            <a:off x="7772400" y="5166360"/>
            <a:ext cx="3840480" cy="960120"/>
          </a:xfrm>
          <a:prstGeom prst="roundRect">
            <a:avLst>
              <a:gd name="adj" fmla="val 11429"/>
            </a:avLst>
          </a:prstGeom>
          <a:solidFill>
            <a:schemeClr val="bg2"/>
          </a:solidFill>
          <a:ln/>
        </p:spPr>
      </p:sp>
      <p:sp>
        <p:nvSpPr>
          <p:cNvPr id="10" name="games-new-text"/>
          <p:cNvSpPr txBox="1"/>
          <p:nvPr/>
        </p:nvSpPr>
        <p:spPr>
          <a:xfrm>
            <a:off x="7955280" y="5166360"/>
            <a:ext cx="3520440" cy="960120"/>
          </a:xfrm>
          <a:prstGeom prst="rect">
            <a:avLst/>
          </a:prstGeom>
          <a:noFill/>
          <a:ln/>
        </p:spPr>
        <p:txBody>
          <a:bodyPr wrap="square" lIns="0" tIns="0" rIns="0" bIns="0" rtlCol="0" anchor="ctr"/>
          <a:lstStyle/>
          <a:p>
            <a:pPr indent="0" marL="0">
              <a:buNone/>
            </a:pPr>
            <a:r>
              <a:rPr lang="en-US" sz="1400" b="1" dirty="0">
                <a:solidFill>
                  <a:schemeClr val="tx2"/>
                </a:solidFill>
              </a:rPr>
              <a:t>Жаңа ойын: </a:t>
            </a:r>
            <a:pPr indent="0" marL="0">
              <a:buNone/>
            </a:pPr>
            <a:r>
              <a:rPr lang="en-US" sz="1400" dirty="0">
                <a:solidFill>
                  <a:schemeClr val="tx1"/>
                </a:solidFill>
              </a:rPr>
              <a:t>«Күнікей қызда» жаяу бәйге бар – ол тізімде жоқ еді</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Жырда – ат, ертегіде – күш</a:t>
            </a:r>
            <a:endParaRPr lang="en-US" sz="3200" dirty="0"/>
          </a:p>
        </p:txBody>
      </p:sp>
      <p:sp>
        <p:nvSpPr>
          <p:cNvPr id="3" name="type-card-0"/>
          <p:cNvSpPr/>
          <p:nvPr/>
        </p:nvSpPr>
        <p:spPr>
          <a:xfrm>
            <a:off x="548640" y="1417320"/>
            <a:ext cx="5349240" cy="3749040"/>
          </a:xfrm>
          <a:prstGeom prst="roundRect">
            <a:avLst>
              <a:gd name="adj" fmla="val 2927"/>
            </a:avLst>
          </a:prstGeom>
          <a:solidFill>
            <a:schemeClr val="bg2"/>
          </a:solidFill>
          <a:ln/>
        </p:spPr>
      </p:sp>
      <p:sp>
        <p:nvSpPr>
          <p:cNvPr id="4" name="type-0-circle"/>
          <p:cNvSpPr/>
          <p:nvPr/>
        </p:nvSpPr>
        <p:spPr>
          <a:xfrm>
            <a:off x="868680" y="1691640"/>
            <a:ext cx="822960" cy="822960"/>
          </a:xfrm>
          <a:prstGeom prst="ellipse">
            <a:avLst/>
          </a:prstGeom>
          <a:solidFill>
            <a:srgbClr val="0092B0"/>
          </a:solidFill>
          <a:ln/>
        </p:spPr>
      </p:sp>
      <p:pic>
        <p:nvPicPr>
          <p:cNvPr id="5" name="type-0-icon" descr="preencoded.png">    </p:cNvPr>
          <p:cNvPicPr>
            <a:picLocks noChangeAspect="1"/>
          </p:cNvPicPr>
          <p:nvPr/>
        </p:nvPicPr>
        <p:blipFill>
          <a:blip r:embed="rId1"/>
          <a:stretch>
            <a:fillRect/>
          </a:stretch>
        </p:blipFill>
        <p:spPr>
          <a:xfrm>
            <a:off x="1066190" y="1889150"/>
            <a:ext cx="427939" cy="427939"/>
          </a:xfrm>
          <a:prstGeom prst="rect">
            <a:avLst/>
          </a:prstGeom>
        </p:spPr>
      </p:pic>
      <p:sp>
        <p:nvSpPr>
          <p:cNvPr id="6" name="type-title-0"/>
          <p:cNvSpPr txBox="1"/>
          <p:nvPr/>
        </p:nvSpPr>
        <p:spPr>
          <a:xfrm>
            <a:off x="1874520" y="1691640"/>
            <a:ext cx="3749040" cy="822960"/>
          </a:xfrm>
          <a:prstGeom prst="rect">
            <a:avLst/>
          </a:prstGeom>
          <a:noFill/>
          <a:ln/>
        </p:spPr>
        <p:txBody>
          <a:bodyPr wrap="square" lIns="0" tIns="0" rIns="0" bIns="0" rtlCol="0" anchor="ctr"/>
          <a:lstStyle/>
          <a:p>
            <a:pPr indent="0" marL="0">
              <a:buNone/>
            </a:pPr>
            <a:r>
              <a:rPr lang="en-US" sz="2400" b="1" dirty="0">
                <a:solidFill>
                  <a:schemeClr val="tx2"/>
                </a:solidFill>
              </a:rPr>
              <a:t>Жырларда</a:t>
            </a:r>
            <a:endParaRPr lang="en-US" sz="2400" dirty="0"/>
          </a:p>
        </p:txBody>
      </p:sp>
      <p:sp>
        <p:nvSpPr>
          <p:cNvPr id="7" name="type-value-0"/>
          <p:cNvSpPr txBox="1"/>
          <p:nvPr/>
        </p:nvSpPr>
        <p:spPr>
          <a:xfrm>
            <a:off x="868680" y="2743200"/>
            <a:ext cx="2194560" cy="914400"/>
          </a:xfrm>
          <a:prstGeom prst="rect">
            <a:avLst/>
          </a:prstGeom>
          <a:noFill/>
          <a:ln/>
        </p:spPr>
        <p:txBody>
          <a:bodyPr wrap="square" lIns="0" tIns="0" rIns="0" bIns="0" rtlCol="0" anchor="ctr"/>
          <a:lstStyle/>
          <a:p>
            <a:pPr indent="0" marL="0">
              <a:buNone/>
            </a:pPr>
            <a:r>
              <a:rPr lang="en-US" sz="4800" b="1" dirty="0">
                <a:solidFill>
                  <a:srgbClr val="0092B0"/>
                </a:solidFill>
                <a:latin typeface="Cambria" pitchFamily="34" charset="0"/>
                <a:ea typeface="Cambria" pitchFamily="34" charset="-122"/>
                <a:cs typeface="Cambria" pitchFamily="34" charset="-120"/>
              </a:rPr>
              <a:t>6 / 9</a:t>
            </a:r>
            <a:endParaRPr lang="en-US" sz="4800" dirty="0"/>
          </a:p>
        </p:txBody>
      </p:sp>
      <p:sp>
        <p:nvSpPr>
          <p:cNvPr id="8" name="type-label-0"/>
          <p:cNvSpPr txBox="1"/>
          <p:nvPr/>
        </p:nvSpPr>
        <p:spPr>
          <a:xfrm>
            <a:off x="3063240" y="2743200"/>
            <a:ext cx="2560320" cy="914400"/>
          </a:xfrm>
          <a:prstGeom prst="rect">
            <a:avLst/>
          </a:prstGeom>
          <a:noFill/>
          <a:ln/>
        </p:spPr>
        <p:txBody>
          <a:bodyPr wrap="square" lIns="0" tIns="0" rIns="0" bIns="0" rtlCol="0" anchor="ctr"/>
          <a:lstStyle/>
          <a:p>
            <a:pPr indent="0" marL="0">
              <a:buNone/>
            </a:pPr>
            <a:r>
              <a:rPr lang="en-US" sz="1600" dirty="0">
                <a:solidFill>
                  <a:schemeClr val="tx1"/>
                </a:solidFill>
              </a:rPr>
              <a:t>эпизод – ат ойындары: бәйге, аударыспақ, көкпар</a:t>
            </a:r>
            <a:endParaRPr lang="en-US" sz="1600" dirty="0"/>
          </a:p>
        </p:txBody>
      </p:sp>
      <p:sp>
        <p:nvSpPr>
          <p:cNvPr id="9" name="type-desc-0"/>
          <p:cNvSpPr txBox="1"/>
          <p:nvPr/>
        </p:nvSpPr>
        <p:spPr>
          <a:xfrm>
            <a:off x="868680" y="3840480"/>
            <a:ext cx="4754880" cy="1097280"/>
          </a:xfrm>
          <a:prstGeom prst="rect">
            <a:avLst/>
          </a:prstGeom>
          <a:noFill/>
          <a:ln/>
        </p:spPr>
        <p:txBody>
          <a:bodyPr wrap="square" lIns="0" tIns="0" rIns="0" bIns="0" rtlCol="0" anchor="t"/>
          <a:lstStyle/>
          <a:p>
            <a:pPr indent="0" marL="0">
              <a:buNone/>
            </a:pPr>
            <a:r>
              <a:rPr lang="en-US" sz="1500" i="1" dirty="0">
                <a:solidFill>
                  <a:schemeClr val="accent5"/>
                </a:solidFill>
              </a:rPr>
              <a:t>Батырдың ең жақын серігі – тұлпары: Тайбурыл, Байшұбар, Тарлан</a:t>
            </a:r>
            <a:endParaRPr lang="en-US" sz="1500" dirty="0"/>
          </a:p>
        </p:txBody>
      </p:sp>
      <p:sp>
        <p:nvSpPr>
          <p:cNvPr id="10" name="type-card-1"/>
          <p:cNvSpPr/>
          <p:nvPr/>
        </p:nvSpPr>
        <p:spPr>
          <a:xfrm>
            <a:off x="6263640" y="1417320"/>
            <a:ext cx="5349240" cy="3749040"/>
          </a:xfrm>
          <a:prstGeom prst="roundRect">
            <a:avLst>
              <a:gd name="adj" fmla="val 2927"/>
            </a:avLst>
          </a:prstGeom>
          <a:solidFill>
            <a:schemeClr val="bg2"/>
          </a:solidFill>
          <a:ln/>
        </p:spPr>
      </p:sp>
      <p:sp>
        <p:nvSpPr>
          <p:cNvPr id="11" name="type-1-circle"/>
          <p:cNvSpPr/>
          <p:nvPr/>
        </p:nvSpPr>
        <p:spPr>
          <a:xfrm>
            <a:off x="6583680" y="1691640"/>
            <a:ext cx="822960" cy="822960"/>
          </a:xfrm>
          <a:prstGeom prst="ellipse">
            <a:avLst/>
          </a:prstGeom>
          <a:solidFill>
            <a:srgbClr val="B5532F"/>
          </a:solidFill>
          <a:ln/>
        </p:spPr>
      </p:sp>
      <p:pic>
        <p:nvPicPr>
          <p:cNvPr id="12" name="type-1-icon" descr="preencoded.png">    </p:cNvPr>
          <p:cNvPicPr>
            <a:picLocks noChangeAspect="1"/>
          </p:cNvPicPr>
          <p:nvPr/>
        </p:nvPicPr>
        <p:blipFill>
          <a:blip r:embed="rId2"/>
          <a:stretch>
            <a:fillRect/>
          </a:stretch>
        </p:blipFill>
        <p:spPr>
          <a:xfrm>
            <a:off x="6781190" y="1889150"/>
            <a:ext cx="427939" cy="427939"/>
          </a:xfrm>
          <a:prstGeom prst="rect">
            <a:avLst/>
          </a:prstGeom>
        </p:spPr>
      </p:pic>
      <p:sp>
        <p:nvSpPr>
          <p:cNvPr id="13" name="type-title-1"/>
          <p:cNvSpPr txBox="1"/>
          <p:nvPr/>
        </p:nvSpPr>
        <p:spPr>
          <a:xfrm>
            <a:off x="7589520" y="1691640"/>
            <a:ext cx="3749040" cy="822960"/>
          </a:xfrm>
          <a:prstGeom prst="rect">
            <a:avLst/>
          </a:prstGeom>
          <a:noFill/>
          <a:ln/>
        </p:spPr>
        <p:txBody>
          <a:bodyPr wrap="square" lIns="0" tIns="0" rIns="0" bIns="0" rtlCol="0" anchor="ctr"/>
          <a:lstStyle/>
          <a:p>
            <a:pPr indent="0" marL="0">
              <a:buNone/>
            </a:pPr>
            <a:r>
              <a:rPr lang="en-US" sz="2400" b="1" dirty="0">
                <a:solidFill>
                  <a:schemeClr val="tx2"/>
                </a:solidFill>
              </a:rPr>
              <a:t>Ертегілерде</a:t>
            </a:r>
            <a:endParaRPr lang="en-US" sz="2400" dirty="0"/>
          </a:p>
        </p:txBody>
      </p:sp>
      <p:sp>
        <p:nvSpPr>
          <p:cNvPr id="14" name="type-value-1"/>
          <p:cNvSpPr txBox="1"/>
          <p:nvPr/>
        </p:nvSpPr>
        <p:spPr>
          <a:xfrm>
            <a:off x="6583680" y="2743200"/>
            <a:ext cx="2194560" cy="914400"/>
          </a:xfrm>
          <a:prstGeom prst="rect">
            <a:avLst/>
          </a:prstGeom>
          <a:noFill/>
          <a:ln/>
        </p:spPr>
        <p:txBody>
          <a:bodyPr wrap="square" lIns="0" tIns="0" rIns="0" bIns="0" rtlCol="0" anchor="ctr"/>
          <a:lstStyle/>
          <a:p>
            <a:pPr indent="0" marL="0">
              <a:buNone/>
            </a:pPr>
            <a:r>
              <a:rPr lang="en-US" sz="4800" b="1" dirty="0">
                <a:solidFill>
                  <a:srgbClr val="B5532F"/>
                </a:solidFill>
                <a:latin typeface="Cambria" pitchFamily="34" charset="0"/>
                <a:ea typeface="Cambria" pitchFamily="34" charset="-122"/>
                <a:cs typeface="Cambria" pitchFamily="34" charset="-120"/>
              </a:rPr>
              <a:t>3 / 7</a:t>
            </a:r>
            <a:endParaRPr lang="en-US" sz="4800" dirty="0"/>
          </a:p>
        </p:txBody>
      </p:sp>
      <p:sp>
        <p:nvSpPr>
          <p:cNvPr id="15" name="type-label-1"/>
          <p:cNvSpPr txBox="1"/>
          <p:nvPr/>
        </p:nvSpPr>
        <p:spPr>
          <a:xfrm>
            <a:off x="8778240" y="2743200"/>
            <a:ext cx="2560320" cy="914400"/>
          </a:xfrm>
          <a:prstGeom prst="rect">
            <a:avLst/>
          </a:prstGeom>
          <a:noFill/>
          <a:ln/>
        </p:spPr>
        <p:txBody>
          <a:bodyPr wrap="square" lIns="0" tIns="0" rIns="0" bIns="0" rtlCol="0" anchor="ctr"/>
          <a:lstStyle/>
          <a:p>
            <a:pPr indent="0" marL="0">
              <a:buNone/>
            </a:pPr>
            <a:r>
              <a:rPr lang="en-US" sz="1600" dirty="0">
                <a:solidFill>
                  <a:schemeClr val="tx1"/>
                </a:solidFill>
              </a:rPr>
              <a:t>эпизод – күш сынасу: күрес</a:t>
            </a:r>
            <a:endParaRPr lang="en-US" sz="1600" dirty="0"/>
          </a:p>
        </p:txBody>
      </p:sp>
      <p:sp>
        <p:nvSpPr>
          <p:cNvPr id="16" name="type-desc-1"/>
          <p:cNvSpPr txBox="1"/>
          <p:nvPr/>
        </p:nvSpPr>
        <p:spPr>
          <a:xfrm>
            <a:off x="6583680" y="3840480"/>
            <a:ext cx="4754880" cy="1097280"/>
          </a:xfrm>
          <a:prstGeom prst="rect">
            <a:avLst/>
          </a:prstGeom>
          <a:noFill/>
          <a:ln/>
        </p:spPr>
        <p:txBody>
          <a:bodyPr wrap="square" lIns="0" tIns="0" rIns="0" bIns="0" rtlCol="0" anchor="t"/>
          <a:lstStyle/>
          <a:p>
            <a:pPr indent="0" marL="0">
              <a:buNone/>
            </a:pPr>
            <a:r>
              <a:rPr lang="en-US" sz="1500" i="1" dirty="0">
                <a:solidFill>
                  <a:schemeClr val="accent5"/>
                </a:solidFill>
              </a:rPr>
              <a:t>Балуандар мен дәулер күш сынасады, жеңіс көбіне ғажайып көмекшінің арқасында келеді</a:t>
            </a:r>
            <a:endParaRPr lang="en-US" sz="1500" dirty="0"/>
          </a:p>
        </p:txBody>
      </p:sp>
      <p:sp>
        <p:nvSpPr>
          <p:cNvPr id="17" name="type-asyk"/>
          <p:cNvSpPr/>
          <p:nvPr/>
        </p:nvSpPr>
        <p:spPr>
          <a:xfrm>
            <a:off x="548640" y="5440680"/>
            <a:ext cx="11064240" cy="731520"/>
          </a:xfrm>
          <a:prstGeom prst="roundRect">
            <a:avLst>
              <a:gd name="adj" fmla="val 15000"/>
            </a:avLst>
          </a:prstGeom>
          <a:solidFill>
            <a:schemeClr val="bg1"/>
          </a:solidFill>
          <a:ln w="15875">
            <a:solidFill>
              <a:schemeClr val="accent2"/>
            </a:solidFill>
            <a:prstDash val="solid"/>
          </a:ln>
        </p:spPr>
      </p:sp>
      <p:sp>
        <p:nvSpPr>
          <p:cNvPr id="18" name="type-asyk-text"/>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600" b="1" dirty="0">
                <a:solidFill>
                  <a:schemeClr val="tx2"/>
                </a:solidFill>
              </a:rPr>
              <a:t>Асық екеуінде де бар: </a:t>
            </a:r>
            <a:pPr indent="0" marL="0">
              <a:buNone/>
            </a:pPr>
            <a:r>
              <a:rPr lang="en-US" sz="1600" dirty="0">
                <a:solidFill>
                  <a:schemeClr val="tx1"/>
                </a:solidFill>
              </a:rPr>
              <a:t>ертегіде 2, жырда 2 эпизод. Зияткерлік ойындар мен ойын-сауық мүлде кездеспеді</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Ертегіде – сынақ, жырда – батырдың қасиеті</a:t>
            </a:r>
            <a:endParaRPr lang="en-US" sz="3200" dirty="0"/>
          </a:p>
        </p:txBody>
      </p:sp>
      <p:graphicFrame>
        <p:nvGraphicFramePr>
          <p:cNvPr id="3" name="chart-func" descr=""/>
          <p:cNvGraphicFramePr/>
          <p:nvPr/>
        </p:nvGraphicFramePr>
        <p:xfrm>
          <a:off x="548640" y="1325880"/>
          <a:ext cx="6400800" cy="4846320"/>
        </p:xfrm>
        <a:graphic xmlns:a="http://schemas.openxmlformats.org/drawingml/2006/main">
          <a:graphicData uri="http://schemas.openxmlformats.org/drawingml/2006/chart">
            <c:chart xmlns:c="http://schemas.openxmlformats.org/drawingml/2006/chart" r:id="rId1"/>
          </a:graphicData>
        </a:graphic>
      </p:graphicFrame>
      <p:sp>
        <p:nvSpPr>
          <p:cNvPr id="4" name="func-card-0"/>
          <p:cNvSpPr/>
          <p:nvPr/>
        </p:nvSpPr>
        <p:spPr>
          <a:xfrm>
            <a:off x="7315200" y="1417320"/>
            <a:ext cx="4297680" cy="2148840"/>
          </a:xfrm>
          <a:prstGeom prst="roundRect">
            <a:avLst>
              <a:gd name="adj" fmla="val 5106"/>
            </a:avLst>
          </a:prstGeom>
          <a:solidFill>
            <a:schemeClr val="bg2"/>
          </a:solidFill>
          <a:ln/>
        </p:spPr>
      </p:sp>
      <p:sp>
        <p:nvSpPr>
          <p:cNvPr id="5" name="func-value-0"/>
          <p:cNvSpPr txBox="1"/>
          <p:nvPr/>
        </p:nvSpPr>
        <p:spPr>
          <a:xfrm>
            <a:off x="7589520" y="1600200"/>
            <a:ext cx="1737360" cy="777240"/>
          </a:xfrm>
          <a:prstGeom prst="rect">
            <a:avLst/>
          </a:prstGeom>
          <a:noFill/>
          <a:ln/>
        </p:spPr>
        <p:txBody>
          <a:bodyPr wrap="square" lIns="0" tIns="0" rIns="0" bIns="0" rtlCol="0" anchor="ctr"/>
          <a:lstStyle/>
          <a:p>
            <a:pPr indent="0" marL="0">
              <a:buNone/>
            </a:pPr>
            <a:r>
              <a:rPr lang="en-US" sz="4000" b="1" dirty="0">
                <a:solidFill>
                  <a:srgbClr val="B5532F"/>
                </a:solidFill>
                <a:latin typeface="Cambria" pitchFamily="34" charset="0"/>
                <a:ea typeface="Cambria" pitchFamily="34" charset="-122"/>
                <a:cs typeface="Cambria" pitchFamily="34" charset="-120"/>
              </a:rPr>
              <a:t>3 / 7</a:t>
            </a:r>
            <a:endParaRPr lang="en-US" sz="4000" dirty="0"/>
          </a:p>
        </p:txBody>
      </p:sp>
      <p:sp>
        <p:nvSpPr>
          <p:cNvPr id="6" name="func-label-0"/>
          <p:cNvSpPr txBox="1"/>
          <p:nvPr/>
        </p:nvSpPr>
        <p:spPr>
          <a:xfrm>
            <a:off x="9326880" y="1600200"/>
            <a:ext cx="2148840" cy="777240"/>
          </a:xfrm>
          <a:prstGeom prst="rect">
            <a:avLst/>
          </a:prstGeom>
          <a:noFill/>
          <a:ln/>
        </p:spPr>
        <p:txBody>
          <a:bodyPr wrap="square" lIns="0" tIns="0" rIns="0" bIns="0" rtlCol="0" anchor="ctr"/>
          <a:lstStyle/>
          <a:p>
            <a:pPr indent="0" marL="0">
              <a:buNone/>
            </a:pPr>
            <a:r>
              <a:rPr lang="en-US" sz="1400" dirty="0">
                <a:solidFill>
                  <a:schemeClr val="tx1"/>
                </a:solidFill>
              </a:rPr>
              <a:t>ертегі эпизодында ойын – сынақ</a:t>
            </a:r>
            <a:endParaRPr lang="en-US" sz="1400" dirty="0"/>
          </a:p>
        </p:txBody>
      </p:sp>
      <p:sp>
        <p:nvSpPr>
          <p:cNvPr id="7" name="func-ex-0"/>
          <p:cNvSpPr txBox="1"/>
          <p:nvPr/>
        </p:nvSpPr>
        <p:spPr>
          <a:xfrm>
            <a:off x="7589520" y="2468880"/>
            <a:ext cx="3840480" cy="960120"/>
          </a:xfrm>
          <a:prstGeom prst="rect">
            <a:avLst/>
          </a:prstGeom>
          <a:noFill/>
          <a:ln/>
        </p:spPr>
        <p:txBody>
          <a:bodyPr wrap="square" lIns="0" tIns="0" rIns="0" bIns="0" rtlCol="0" anchor="t"/>
          <a:lstStyle/>
          <a:p>
            <a:pPr indent="0" marL="0">
              <a:buNone/>
            </a:pPr>
            <a:r>
              <a:rPr lang="en-US" sz="1400" i="1" dirty="0">
                <a:solidFill>
                  <a:schemeClr val="accent5"/>
                </a:solidFill>
              </a:rPr>
              <a:t>Хан қызын жаяу бәйге мен күресте жеңгенге береді («Күнікей қыз»)</a:t>
            </a:r>
            <a:endParaRPr lang="en-US" sz="1400" dirty="0"/>
          </a:p>
        </p:txBody>
      </p:sp>
      <p:sp>
        <p:nvSpPr>
          <p:cNvPr id="8" name="func-card-1"/>
          <p:cNvSpPr/>
          <p:nvPr/>
        </p:nvSpPr>
        <p:spPr>
          <a:xfrm>
            <a:off x="7315200" y="3794760"/>
            <a:ext cx="4297680" cy="2148840"/>
          </a:xfrm>
          <a:prstGeom prst="roundRect">
            <a:avLst>
              <a:gd name="adj" fmla="val 5106"/>
            </a:avLst>
          </a:prstGeom>
          <a:solidFill>
            <a:schemeClr val="bg2"/>
          </a:solidFill>
          <a:ln/>
        </p:spPr>
      </p:sp>
      <p:sp>
        <p:nvSpPr>
          <p:cNvPr id="9" name="func-value-1"/>
          <p:cNvSpPr txBox="1"/>
          <p:nvPr/>
        </p:nvSpPr>
        <p:spPr>
          <a:xfrm>
            <a:off x="7589520" y="3977640"/>
            <a:ext cx="1737360" cy="777240"/>
          </a:xfrm>
          <a:prstGeom prst="rect">
            <a:avLst/>
          </a:prstGeom>
          <a:noFill/>
          <a:ln/>
        </p:spPr>
        <p:txBody>
          <a:bodyPr wrap="square" lIns="0" tIns="0" rIns="0" bIns="0" rtlCol="0" anchor="ctr"/>
          <a:lstStyle/>
          <a:p>
            <a:pPr indent="0" marL="0">
              <a:buNone/>
            </a:pPr>
            <a:r>
              <a:rPr lang="en-US" sz="4000" b="1" dirty="0">
                <a:solidFill>
                  <a:srgbClr val="0092B0"/>
                </a:solidFill>
                <a:latin typeface="Cambria" pitchFamily="34" charset="0"/>
                <a:ea typeface="Cambria" pitchFamily="34" charset="-122"/>
                <a:cs typeface="Cambria" pitchFamily="34" charset="-120"/>
              </a:rPr>
              <a:t>5 / 9</a:t>
            </a:r>
            <a:endParaRPr lang="en-US" sz="4000" dirty="0"/>
          </a:p>
        </p:txBody>
      </p:sp>
      <p:sp>
        <p:nvSpPr>
          <p:cNvPr id="10" name="func-label-1"/>
          <p:cNvSpPr txBox="1"/>
          <p:nvPr/>
        </p:nvSpPr>
        <p:spPr>
          <a:xfrm>
            <a:off x="9326880" y="3977640"/>
            <a:ext cx="2148840" cy="777240"/>
          </a:xfrm>
          <a:prstGeom prst="rect">
            <a:avLst/>
          </a:prstGeom>
          <a:noFill/>
          <a:ln/>
        </p:spPr>
        <p:txBody>
          <a:bodyPr wrap="square" lIns="0" tIns="0" rIns="0" bIns="0" rtlCol="0" anchor="ctr"/>
          <a:lstStyle/>
          <a:p>
            <a:pPr indent="0" marL="0">
              <a:buNone/>
            </a:pPr>
            <a:r>
              <a:rPr lang="en-US" sz="1400" dirty="0">
                <a:solidFill>
                  <a:schemeClr val="tx1"/>
                </a:solidFill>
              </a:rPr>
              <a:t>жыр эпизодында ойын батырдың не атының қасиетін көрсетеді</a:t>
            </a:r>
            <a:endParaRPr lang="en-US" sz="1400" dirty="0"/>
          </a:p>
        </p:txBody>
      </p:sp>
      <p:sp>
        <p:nvSpPr>
          <p:cNvPr id="11" name="func-ex-1"/>
          <p:cNvSpPr txBox="1"/>
          <p:nvPr/>
        </p:nvSpPr>
        <p:spPr>
          <a:xfrm>
            <a:off x="7589520" y="4846320"/>
            <a:ext cx="3840480" cy="960120"/>
          </a:xfrm>
          <a:prstGeom prst="rect">
            <a:avLst/>
          </a:prstGeom>
          <a:noFill/>
          <a:ln/>
        </p:spPr>
        <p:txBody>
          <a:bodyPr wrap="square" lIns="0" tIns="0" rIns="0" bIns="0" rtlCol="0" anchor="t"/>
          <a:lstStyle/>
          <a:p>
            <a:pPr indent="0" marL="0">
              <a:buNone/>
            </a:pPr>
            <a:r>
              <a:rPr lang="en-US" sz="1400" i="1" dirty="0">
                <a:solidFill>
                  <a:schemeClr val="accent5"/>
                </a:solidFill>
              </a:rPr>
              <a:t>Тарғын жауға шабуды «Тарлан бәйгесі» дейді («Ер Тарғын»)</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asyk-kicker"/>
          <p:cNvSpPr txBox="1"/>
          <p:nvPr/>
        </p:nvSpPr>
        <p:spPr>
          <a:xfrm>
            <a:off x="731520" y="548640"/>
            <a:ext cx="7315200" cy="411480"/>
          </a:xfrm>
          <a:prstGeom prst="rect">
            <a:avLst/>
          </a:prstGeom>
          <a:noFill/>
          <a:ln/>
        </p:spPr>
        <p:txBody>
          <a:bodyPr wrap="square" lIns="0" tIns="0" rIns="0" bIns="0" rtlCol="0" anchor="ctr"/>
          <a:lstStyle/>
          <a:p>
            <a:pPr indent="0" marL="0">
              <a:buNone/>
            </a:pPr>
            <a:r>
              <a:rPr lang="en-US" sz="1600" dirty="0">
                <a:solidFill>
                  <a:schemeClr val="accent1"/>
                </a:solidFill>
              </a:rPr>
              <a:t>Ең қызық жаңалығым</a:t>
            </a:r>
            <a:endParaRPr lang="en-US" sz="1600" dirty="0"/>
          </a:p>
        </p:txBody>
      </p:sp>
      <p:sp>
        <p:nvSpPr>
          <p:cNvPr id="3" name="asyk-title"/>
          <p:cNvSpPr txBox="1"/>
          <p:nvPr/>
        </p:nvSpPr>
        <p:spPr>
          <a:xfrm>
            <a:off x="731520" y="960120"/>
            <a:ext cx="1069848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Асық – оқиғаның басы</a:t>
            </a:r>
            <a:endParaRPr lang="en-US" sz="3600" dirty="0"/>
          </a:p>
        </p:txBody>
      </p:sp>
      <p:sp>
        <p:nvSpPr>
          <p:cNvPr id="4" name="asyk-stat"/>
          <p:cNvSpPr txBox="1"/>
          <p:nvPr/>
        </p:nvSpPr>
        <p:spPr>
          <a:xfrm>
            <a:off x="731520" y="2103120"/>
            <a:ext cx="3108960" cy="2377440"/>
          </a:xfrm>
          <a:prstGeom prst="rect">
            <a:avLst/>
          </a:prstGeom>
          <a:noFill/>
          <a:ln/>
        </p:spPr>
        <p:txBody>
          <a:bodyPr wrap="square" lIns="0" tIns="0" rIns="0" bIns="0" rtlCol="0" anchor="t"/>
          <a:lstStyle/>
          <a:p>
            <a:pPr indent="0" marL="0">
              <a:buNone/>
            </a:pPr>
            <a:r>
              <a:rPr lang="en-US" sz="6000" b="1" dirty="0">
                <a:solidFill>
                  <a:srgbClr val="E3A400"/>
                </a:solidFill>
                <a:latin typeface="Cambria" pitchFamily="34" charset="0"/>
                <a:ea typeface="Cambria" pitchFamily="34" charset="-122"/>
                <a:cs typeface="Cambria" pitchFamily="34" charset="-120"/>
              </a:rPr>
              <a:t>4 / 4</a:t>
            </a:r>
            <a:endParaRPr lang="en-US" sz="6000" dirty="0"/>
          </a:p>
          <a:p>
            <a:pPr indent="0" marL="0">
              <a:buNone/>
            </a:pPr>
            <a:r>
              <a:rPr lang="en-US" sz="1600" dirty="0">
                <a:solidFill>
                  <a:srgbClr val="EAF4F6"/>
                </a:solidFill>
              </a:rPr>
              <a:t>асық эпизодының бәрін «сюжетті бастау» деп белгіледім</a:t>
            </a:r>
            <a:endParaRPr lang="en-US" sz="6000" dirty="0"/>
          </a:p>
        </p:txBody>
      </p:sp>
      <p:sp>
        <p:nvSpPr>
          <p:cNvPr id="5" name="asyk-card-0"/>
          <p:cNvSpPr/>
          <p:nvPr/>
        </p:nvSpPr>
        <p:spPr>
          <a:xfrm>
            <a:off x="4206240" y="2103120"/>
            <a:ext cx="7406640" cy="1143000"/>
          </a:xfrm>
          <a:prstGeom prst="roundRect">
            <a:avLst>
              <a:gd name="adj" fmla="val 9600"/>
            </a:avLst>
          </a:prstGeom>
          <a:solidFill>
            <a:schemeClr val="bg1"/>
          </a:solidFill>
          <a:ln/>
        </p:spPr>
      </p:sp>
      <p:sp>
        <p:nvSpPr>
          <p:cNvPr id="6" name="asyk-ic-0-circle"/>
          <p:cNvSpPr/>
          <p:nvPr/>
        </p:nvSpPr>
        <p:spPr>
          <a:xfrm>
            <a:off x="4434840" y="2331720"/>
            <a:ext cx="685800" cy="685800"/>
          </a:xfrm>
          <a:prstGeom prst="ellipse">
            <a:avLst/>
          </a:prstGeom>
          <a:solidFill>
            <a:schemeClr val="accent2"/>
          </a:solidFill>
          <a:ln/>
        </p:spPr>
      </p:sp>
      <p:pic>
        <p:nvPicPr>
          <p:cNvPr id="7" name="asyk-ic-0-icon" descr="preencoded.png">    </p:cNvPr>
          <p:cNvPicPr>
            <a:picLocks noChangeAspect="1"/>
          </p:cNvPicPr>
          <p:nvPr/>
        </p:nvPicPr>
        <p:blipFill>
          <a:blip r:embed="rId1"/>
          <a:stretch>
            <a:fillRect/>
          </a:stretch>
        </p:blipFill>
        <p:spPr>
          <a:xfrm>
            <a:off x="4599432" y="2496312"/>
            <a:ext cx="356616" cy="356616"/>
          </a:xfrm>
          <a:prstGeom prst="rect">
            <a:avLst/>
          </a:prstGeom>
        </p:spPr>
      </p:pic>
      <p:sp>
        <p:nvSpPr>
          <p:cNvPr id="8" name="asyk-text-0"/>
          <p:cNvSpPr txBox="1"/>
          <p:nvPr/>
        </p:nvSpPr>
        <p:spPr>
          <a:xfrm>
            <a:off x="5349240" y="2103120"/>
            <a:ext cx="6080760" cy="1143000"/>
          </a:xfrm>
          <a:prstGeom prst="rect">
            <a:avLst/>
          </a:prstGeom>
          <a:noFill/>
          <a:ln/>
        </p:spPr>
        <p:txBody>
          <a:bodyPr wrap="square" lIns="0" tIns="0" rIns="0" bIns="0" rtlCol="0" anchor="ctr"/>
          <a:lstStyle/>
          <a:p>
            <a:pPr indent="0" marL="0">
              <a:buNone/>
            </a:pPr>
            <a:r>
              <a:rPr lang="en-US" sz="1500" b="1" dirty="0">
                <a:solidFill>
                  <a:srgbClr val="0D4A5E"/>
                </a:solidFill>
              </a:rPr>
              <a:t>«Ер Төстік»</a:t>
            </a:r>
            <a:endParaRPr lang="en-US" sz="1500" dirty="0"/>
          </a:p>
          <a:p>
            <a:pPr indent="0" marL="0">
              <a:buNone/>
            </a:pPr>
            <a:r>
              <a:rPr lang="en-US" sz="1500" dirty="0">
                <a:solidFill>
                  <a:srgbClr val="1C2B33"/>
                </a:solidFill>
              </a:rPr>
              <a:t>Асық ойнап жүріп кемпірдің баласын ұрып қалады – ағаларын іздеп жолға шығады</a:t>
            </a:r>
            <a:endParaRPr lang="en-US" sz="1500" dirty="0"/>
          </a:p>
        </p:txBody>
      </p:sp>
      <p:sp>
        <p:nvSpPr>
          <p:cNvPr id="9" name="asyk-card-1"/>
          <p:cNvSpPr/>
          <p:nvPr/>
        </p:nvSpPr>
        <p:spPr>
          <a:xfrm>
            <a:off x="4206240" y="3429000"/>
            <a:ext cx="7406640" cy="1143000"/>
          </a:xfrm>
          <a:prstGeom prst="roundRect">
            <a:avLst>
              <a:gd name="adj" fmla="val 9600"/>
            </a:avLst>
          </a:prstGeom>
          <a:solidFill>
            <a:schemeClr val="bg1"/>
          </a:solidFill>
          <a:ln/>
        </p:spPr>
      </p:sp>
      <p:sp>
        <p:nvSpPr>
          <p:cNvPr id="10" name="asyk-ic-1-circle"/>
          <p:cNvSpPr/>
          <p:nvPr/>
        </p:nvSpPr>
        <p:spPr>
          <a:xfrm>
            <a:off x="4434840" y="3657600"/>
            <a:ext cx="685800" cy="685800"/>
          </a:xfrm>
          <a:prstGeom prst="ellipse">
            <a:avLst/>
          </a:prstGeom>
          <a:solidFill>
            <a:schemeClr val="accent2"/>
          </a:solidFill>
          <a:ln/>
        </p:spPr>
      </p:sp>
      <p:pic>
        <p:nvPicPr>
          <p:cNvPr id="11" name="asyk-ic-1-icon" descr="preencoded.png">    </p:cNvPr>
          <p:cNvPicPr>
            <a:picLocks noChangeAspect="1"/>
          </p:cNvPicPr>
          <p:nvPr/>
        </p:nvPicPr>
        <p:blipFill>
          <a:blip r:embed="rId2"/>
          <a:stretch>
            <a:fillRect/>
          </a:stretch>
        </p:blipFill>
        <p:spPr>
          <a:xfrm>
            <a:off x="4599432" y="3822192"/>
            <a:ext cx="356616" cy="356616"/>
          </a:xfrm>
          <a:prstGeom prst="rect">
            <a:avLst/>
          </a:prstGeom>
        </p:spPr>
      </p:pic>
      <p:sp>
        <p:nvSpPr>
          <p:cNvPr id="12" name="asyk-text-1"/>
          <p:cNvSpPr txBox="1"/>
          <p:nvPr/>
        </p:nvSpPr>
        <p:spPr>
          <a:xfrm>
            <a:off x="5349240" y="3429000"/>
            <a:ext cx="6080760" cy="1143000"/>
          </a:xfrm>
          <a:prstGeom prst="rect">
            <a:avLst/>
          </a:prstGeom>
          <a:noFill/>
          <a:ln/>
        </p:spPr>
        <p:txBody>
          <a:bodyPr wrap="square" lIns="0" tIns="0" rIns="0" bIns="0" rtlCol="0" anchor="ctr"/>
          <a:lstStyle/>
          <a:p>
            <a:pPr indent="0" marL="0">
              <a:buNone/>
            </a:pPr>
            <a:r>
              <a:rPr lang="en-US" sz="1500" b="1" dirty="0">
                <a:solidFill>
                  <a:srgbClr val="0D4A5E"/>
                </a:solidFill>
              </a:rPr>
              <a:t>«Алтын сақа»</a:t>
            </a:r>
            <a:endParaRPr lang="en-US" sz="1500" dirty="0"/>
          </a:p>
          <a:p>
            <a:pPr indent="0" marL="0">
              <a:buNone/>
            </a:pPr>
            <a:r>
              <a:rPr lang="en-US" sz="1500" dirty="0">
                <a:solidFill>
                  <a:srgbClr val="1C2B33"/>
                </a:solidFill>
              </a:rPr>
              <a:t>Жұртта қалған сақасын алуға қайтып барып, жалмауыз кемпірге кездеседі</a:t>
            </a:r>
            <a:endParaRPr lang="en-US" sz="1500" dirty="0"/>
          </a:p>
        </p:txBody>
      </p:sp>
      <p:sp>
        <p:nvSpPr>
          <p:cNvPr id="13" name="asyk-card-2"/>
          <p:cNvSpPr/>
          <p:nvPr/>
        </p:nvSpPr>
        <p:spPr>
          <a:xfrm>
            <a:off x="4206240" y="4754880"/>
            <a:ext cx="7406640" cy="1143000"/>
          </a:xfrm>
          <a:prstGeom prst="roundRect">
            <a:avLst>
              <a:gd name="adj" fmla="val 9600"/>
            </a:avLst>
          </a:prstGeom>
          <a:solidFill>
            <a:schemeClr val="bg1"/>
          </a:solidFill>
          <a:ln/>
        </p:spPr>
      </p:sp>
      <p:sp>
        <p:nvSpPr>
          <p:cNvPr id="14" name="asyk-ic-2-circle"/>
          <p:cNvSpPr/>
          <p:nvPr/>
        </p:nvSpPr>
        <p:spPr>
          <a:xfrm>
            <a:off x="4434840" y="4983480"/>
            <a:ext cx="685800" cy="685800"/>
          </a:xfrm>
          <a:prstGeom prst="ellipse">
            <a:avLst/>
          </a:prstGeom>
          <a:solidFill>
            <a:schemeClr val="accent2"/>
          </a:solidFill>
          <a:ln/>
        </p:spPr>
      </p:sp>
      <p:pic>
        <p:nvPicPr>
          <p:cNvPr id="15" name="asyk-ic-2-icon" descr="preencoded.png">    </p:cNvPr>
          <p:cNvPicPr>
            <a:picLocks noChangeAspect="1"/>
          </p:cNvPicPr>
          <p:nvPr/>
        </p:nvPicPr>
        <p:blipFill>
          <a:blip r:embed="rId3"/>
          <a:stretch>
            <a:fillRect/>
          </a:stretch>
        </p:blipFill>
        <p:spPr>
          <a:xfrm>
            <a:off x="4599432" y="5148072"/>
            <a:ext cx="356616" cy="356616"/>
          </a:xfrm>
          <a:prstGeom prst="rect">
            <a:avLst/>
          </a:prstGeom>
        </p:spPr>
      </p:pic>
      <p:sp>
        <p:nvSpPr>
          <p:cNvPr id="16" name="asyk-text-2"/>
          <p:cNvSpPr txBox="1"/>
          <p:nvPr/>
        </p:nvSpPr>
        <p:spPr>
          <a:xfrm>
            <a:off x="5349240" y="4754880"/>
            <a:ext cx="6080760" cy="1143000"/>
          </a:xfrm>
          <a:prstGeom prst="rect">
            <a:avLst/>
          </a:prstGeom>
          <a:noFill/>
          <a:ln/>
        </p:spPr>
        <p:txBody>
          <a:bodyPr wrap="square" lIns="0" tIns="0" rIns="0" bIns="0" rtlCol="0" anchor="ctr"/>
          <a:lstStyle/>
          <a:p>
            <a:pPr indent="0" marL="0">
              <a:buNone/>
            </a:pPr>
            <a:r>
              <a:rPr lang="en-US" sz="1500" b="1" dirty="0">
                <a:solidFill>
                  <a:srgbClr val="0D4A5E"/>
                </a:solidFill>
              </a:rPr>
              <a:t>«Қозы Көрпеш – Баян сұлу»</a:t>
            </a:r>
            <a:endParaRPr lang="en-US" sz="1500" dirty="0"/>
          </a:p>
          <a:p>
            <a:pPr indent="0" marL="0">
              <a:buNone/>
            </a:pPr>
            <a:r>
              <a:rPr lang="en-US" sz="1500" dirty="0">
                <a:solidFill>
                  <a:srgbClr val="1C2B33"/>
                </a:solidFill>
              </a:rPr>
              <a:t>Тазшаның сақасын тартып алғанда «жарыңды іздеп тапсайшы» деген сөз естиді</a:t>
            </a:r>
            <a:endParaRPr lang="en-US" sz="1500" dirty="0"/>
          </a:p>
        </p:txBody>
      </p:sp>
      <p:sp>
        <p:nvSpPr>
          <p:cNvPr id="17" name="asyk-note"/>
          <p:cNvSpPr txBox="1"/>
          <p:nvPr/>
        </p:nvSpPr>
        <p:spPr>
          <a:xfrm>
            <a:off x="731520" y="5989320"/>
            <a:ext cx="10881360" cy="457200"/>
          </a:xfrm>
          <a:prstGeom prst="rect">
            <a:avLst/>
          </a:prstGeom>
          <a:noFill/>
          <a:ln/>
        </p:spPr>
        <p:txBody>
          <a:bodyPr wrap="square" lIns="0" tIns="0" rIns="0" bIns="0" rtlCol="0" anchor="ctr"/>
          <a:lstStyle/>
          <a:p>
            <a:pPr indent="0" marL="0">
              <a:buNone/>
            </a:pPr>
            <a:r>
              <a:rPr lang="en-US" sz="1600" i="1" dirty="0">
                <a:solidFill>
                  <a:schemeClr val="accent2"/>
                </a:solidFill>
              </a:rPr>
              <a:t>Асық ойыны баланы үйден алып шығып, үлкен оқиғаның бастамасына айналады</a:t>
            </a:r>
            <a:endParaRPr lang="en-US" sz="1600" dirty="0"/>
          </a:p>
        </p:txBody>
      </p:sp>
      <p:sp>
        <p:nvSpPr>
          <p:cNvPr id="19" name="Text 0"/>
          <p:cNvSpPr/>
          <p:nvPr>
            <p:ph idx="100" type="title" hasCustomPrompt="1"/>
          </p:nvPr>
        </p:nvSpPr>
        <p:spPr>
          <a:xfrm>
            <a:off x="731520" y="1417320"/>
            <a:ext cx="6675120" cy="2468880"/>
          </a:xfrm>
          <a:prstGeom prst="rect">
            <a:avLst/>
          </a:prstGeom>
          <a:noFill/>
          <a:ln/>
        </p:spPr>
        <p:txBody>
          <a:bodyPr wrap="square" lIns="0" tIns="0" rIns="0" bIns="0" rtlCol="0" anchor="t"/>
          <a:lstStyle/>
          <a:p>
            <a:pPr algn="l" indent="0" marL="0">
              <a:buNone/>
            </a:pPr>
            <a:endParaRPr lang="en-US" sz="4000" dirty="0"/>
          </a:p>
        </p:txBody>
      </p:sp>
      <p:sp>
        <p:nvSpPr>
          <p:cNvPr id="20" name="Text 0"/>
          <p:cNvSpPr/>
          <p:nvPr>
            <p:ph idx="101" type="body" hasCustomPrompt="1"/>
          </p:nvPr>
        </p:nvSpPr>
        <p:spPr>
          <a:xfrm>
            <a:off x="731520" y="4023360"/>
            <a:ext cx="6675120" cy="82296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Сыныптастарым біледі, бірақ ойнамаған</a:t>
            </a:r>
            <a:endParaRPr lang="en-US" sz="3200" dirty="0"/>
          </a:p>
        </p:txBody>
      </p:sp>
      <p:graphicFrame>
        <p:nvGraphicFramePr>
          <p:cNvPr id="3" name="chart-survey"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sv-know-value"/>
          <p:cNvSpPr txBox="1"/>
          <p:nvPr/>
        </p:nvSpPr>
        <p:spPr>
          <a:xfrm>
            <a:off x="7955280" y="1371600"/>
            <a:ext cx="3657600" cy="777240"/>
          </a:xfrm>
          <a:prstGeom prst="rect">
            <a:avLst/>
          </a:prstGeom>
          <a:noFill/>
          <a:ln/>
        </p:spPr>
        <p:txBody>
          <a:bodyPr wrap="square" lIns="0" tIns="0" rIns="0" bIns="0" rtlCol="0" anchor="ctr"/>
          <a:lstStyle/>
          <a:p>
            <a:pPr indent="0" marL="0">
              <a:buNone/>
            </a:pPr>
            <a:r>
              <a:rPr lang="en-US" sz="4800" b="1" dirty="0">
                <a:solidFill>
                  <a:schemeClr val="tx2"/>
                </a:solidFill>
                <a:latin typeface="Cambria" pitchFamily="34" charset="0"/>
                <a:ea typeface="Cambria" pitchFamily="34" charset="-122"/>
                <a:cs typeface="Cambria" pitchFamily="34" charset="-120"/>
              </a:rPr>
              <a:t>10 / 12</a:t>
            </a:r>
            <a:endParaRPr lang="en-US" sz="4800" dirty="0"/>
          </a:p>
        </p:txBody>
      </p:sp>
      <p:sp>
        <p:nvSpPr>
          <p:cNvPr id="5" name="sv-know-label"/>
          <p:cNvSpPr txBox="1"/>
          <p:nvPr/>
        </p:nvSpPr>
        <p:spPr>
          <a:xfrm>
            <a:off x="7955280" y="2176272"/>
            <a:ext cx="3657600" cy="685800"/>
          </a:xfrm>
          <a:prstGeom prst="rect">
            <a:avLst/>
          </a:prstGeom>
          <a:noFill/>
          <a:ln/>
        </p:spPr>
        <p:txBody>
          <a:bodyPr wrap="square" lIns="0" tIns="0" rIns="0" bIns="0" rtlCol="0" anchor="t"/>
          <a:lstStyle/>
          <a:p>
            <a:pPr indent="0" marL="0">
              <a:buNone/>
            </a:pPr>
            <a:r>
              <a:rPr lang="en-US" sz="1400" dirty="0">
                <a:solidFill>
                  <a:schemeClr val="tx1"/>
                </a:solidFill>
              </a:rPr>
              <a:t>ойынның атын бір оқушы орта есеппен біледі</a:t>
            </a:r>
            <a:endParaRPr lang="en-US" sz="1400" dirty="0"/>
          </a:p>
        </p:txBody>
      </p:sp>
      <p:sp>
        <p:nvSpPr>
          <p:cNvPr id="6" name="sv-asyk-value"/>
          <p:cNvSpPr txBox="1"/>
          <p:nvPr/>
        </p:nvSpPr>
        <p:spPr>
          <a:xfrm>
            <a:off x="7955280" y="2880360"/>
            <a:ext cx="3657600" cy="77724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63,2%</a:t>
            </a:r>
            <a:endParaRPr lang="en-US" sz="4800" dirty="0"/>
          </a:p>
        </p:txBody>
      </p:sp>
      <p:sp>
        <p:nvSpPr>
          <p:cNvPr id="7" name="sv-asyk-label"/>
          <p:cNvSpPr txBox="1"/>
          <p:nvPr/>
        </p:nvSpPr>
        <p:spPr>
          <a:xfrm>
            <a:off x="7955280" y="3685032"/>
            <a:ext cx="3657600" cy="685800"/>
          </a:xfrm>
          <a:prstGeom prst="rect">
            <a:avLst/>
          </a:prstGeom>
          <a:noFill/>
          <a:ln/>
        </p:spPr>
        <p:txBody>
          <a:bodyPr wrap="square" lIns="0" tIns="0" rIns="0" bIns="0" rtlCol="0" anchor="t"/>
          <a:lstStyle/>
          <a:p>
            <a:pPr indent="0" marL="0">
              <a:buNone/>
            </a:pPr>
            <a:r>
              <a:rPr lang="en-US" sz="1400" dirty="0">
                <a:solidFill>
                  <a:schemeClr val="tx1"/>
                </a:solidFill>
              </a:rPr>
              <a:t>асық ойнаған – ең көп ойналатын әрі ең ұнайтын ойын</a:t>
            </a:r>
            <a:endParaRPr lang="en-US" sz="1400" dirty="0"/>
          </a:p>
        </p:txBody>
      </p:sp>
      <p:sp>
        <p:nvSpPr>
          <p:cNvPr id="8" name="sv-kokpar"/>
          <p:cNvSpPr/>
          <p:nvPr/>
        </p:nvSpPr>
        <p:spPr>
          <a:xfrm>
            <a:off x="7955280" y="4480560"/>
            <a:ext cx="3657600" cy="1691640"/>
          </a:xfrm>
          <a:prstGeom prst="roundRect">
            <a:avLst>
              <a:gd name="adj" fmla="val 6486"/>
            </a:avLst>
          </a:prstGeom>
          <a:solidFill>
            <a:schemeClr val="bg2"/>
          </a:solidFill>
          <a:ln/>
        </p:spPr>
      </p:sp>
      <p:sp>
        <p:nvSpPr>
          <p:cNvPr id="9" name="sv-kokpar-text"/>
          <p:cNvSpPr txBox="1"/>
          <p:nvPr/>
        </p:nvSpPr>
        <p:spPr>
          <a:xfrm>
            <a:off x="8183880" y="4480560"/>
            <a:ext cx="3246120" cy="1691640"/>
          </a:xfrm>
          <a:prstGeom prst="rect">
            <a:avLst/>
          </a:prstGeom>
          <a:noFill/>
          <a:ln/>
        </p:spPr>
        <p:txBody>
          <a:bodyPr wrap="square" lIns="0" tIns="0" rIns="0" bIns="0" rtlCol="0" anchor="ctr"/>
          <a:lstStyle/>
          <a:p>
            <a:pPr indent="0" marL="0">
              <a:buNone/>
            </a:pPr>
            <a:r>
              <a:rPr lang="en-US" sz="1600" b="1" dirty="0">
                <a:solidFill>
                  <a:schemeClr val="tx2"/>
                </a:solidFill>
              </a:rPr>
              <a:t>Көкпар: </a:t>
            </a:r>
            <a:pPr indent="0" marL="0">
              <a:buNone/>
            </a:pPr>
            <a:r>
              <a:rPr lang="en-US" sz="1600" dirty="0">
                <a:solidFill>
                  <a:schemeClr val="tx1"/>
                </a:solidFill>
              </a:rPr>
              <a:t>барлығы (100%) біледі, бірақ тек 2 оқушы (10,5%) көрген</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Сауалнама мен мәтінді салыстырдым</a:t>
            </a:r>
            <a:endParaRPr lang="en-US" sz="3200" dirty="0"/>
          </a:p>
        </p:txBody>
      </p:sp>
      <p:sp>
        <p:nvSpPr>
          <p:cNvPr id="3" name="cmp-h1"/>
          <p:cNvSpPr txBox="1"/>
          <p:nvPr/>
        </p:nvSpPr>
        <p:spPr>
          <a:xfrm>
            <a:off x="3246120" y="1325880"/>
            <a:ext cx="2011680" cy="365760"/>
          </a:xfrm>
          <a:prstGeom prst="rect">
            <a:avLst/>
          </a:prstGeom>
          <a:noFill/>
          <a:ln/>
        </p:spPr>
        <p:txBody>
          <a:bodyPr wrap="square" lIns="0" tIns="0" rIns="0" bIns="0" rtlCol="0" anchor="ctr"/>
          <a:lstStyle/>
          <a:p>
            <a:pPr algn="ctr" indent="0" marL="0">
              <a:buNone/>
            </a:pPr>
            <a:r>
              <a:rPr lang="en-US" sz="1400" b="1" dirty="0">
                <a:solidFill>
                  <a:schemeClr val="accent5"/>
                </a:solidFill>
              </a:rPr>
              <a:t>Шығармаларда</a:t>
            </a:r>
            <a:endParaRPr lang="en-US" sz="1400" dirty="0"/>
          </a:p>
        </p:txBody>
      </p:sp>
      <p:sp>
        <p:nvSpPr>
          <p:cNvPr id="4" name="cmp-h2"/>
          <p:cNvSpPr txBox="1"/>
          <p:nvPr/>
        </p:nvSpPr>
        <p:spPr>
          <a:xfrm>
            <a:off x="5532120" y="1325880"/>
            <a:ext cx="2377440" cy="365760"/>
          </a:xfrm>
          <a:prstGeom prst="rect">
            <a:avLst/>
          </a:prstGeom>
          <a:noFill/>
          <a:ln/>
        </p:spPr>
        <p:txBody>
          <a:bodyPr wrap="square" lIns="0" tIns="0" rIns="0" bIns="0" rtlCol="0" anchor="ctr"/>
          <a:lstStyle/>
          <a:p>
            <a:pPr algn="ctr" indent="0" marL="0">
              <a:buNone/>
            </a:pPr>
            <a:r>
              <a:rPr lang="en-US" sz="1400" b="1" dirty="0">
                <a:solidFill>
                  <a:schemeClr val="accent5"/>
                </a:solidFill>
              </a:rPr>
              <a:t>Сауалнамада</a:t>
            </a:r>
            <a:endParaRPr lang="en-US" sz="1400" dirty="0"/>
          </a:p>
        </p:txBody>
      </p:sp>
      <p:sp>
        <p:nvSpPr>
          <p:cNvPr id="5" name="cmp-row-0"/>
          <p:cNvSpPr/>
          <p:nvPr/>
        </p:nvSpPr>
        <p:spPr>
          <a:xfrm>
            <a:off x="548640" y="1783080"/>
            <a:ext cx="11064240" cy="1005840"/>
          </a:xfrm>
          <a:prstGeom prst="roundRect">
            <a:avLst>
              <a:gd name="adj" fmla="val 10909"/>
            </a:avLst>
          </a:prstGeom>
          <a:solidFill>
            <a:schemeClr val="bg2"/>
          </a:solidFill>
          <a:ln/>
        </p:spPr>
      </p:sp>
      <p:sp>
        <p:nvSpPr>
          <p:cNvPr id="6" name="cmp-chip-0"/>
          <p:cNvSpPr/>
          <p:nvPr/>
        </p:nvSpPr>
        <p:spPr>
          <a:xfrm>
            <a:off x="731520" y="1938528"/>
            <a:ext cx="2286000" cy="694944"/>
          </a:xfrm>
          <a:prstGeom prst="roundRect">
            <a:avLst>
              <a:gd name="adj" fmla="val 15789"/>
            </a:avLst>
          </a:prstGeom>
          <a:solidFill>
            <a:schemeClr val="bg1"/>
          </a:solidFill>
          <a:ln w="15875">
            <a:solidFill>
              <a:schemeClr val="accent2"/>
            </a:solidFill>
            <a:prstDash val="solid"/>
          </a:ln>
        </p:spPr>
      </p:sp>
      <p:sp>
        <p:nvSpPr>
          <p:cNvPr id="7" name="cmp-chip-0-text"/>
          <p:cNvSpPr txBox="1"/>
          <p:nvPr/>
        </p:nvSpPr>
        <p:spPr>
          <a:xfrm>
            <a:off x="841248" y="1938528"/>
            <a:ext cx="2066544" cy="694944"/>
          </a:xfrm>
          <a:prstGeom prst="rect">
            <a:avLst/>
          </a:prstGeom>
          <a:noFill/>
          <a:ln/>
        </p:spPr>
        <p:txBody>
          <a:bodyPr wrap="square" lIns="0" tIns="0" rIns="0" bIns="0" rtlCol="0" anchor="ctr"/>
          <a:lstStyle/>
          <a:p>
            <a:pPr algn="ctr" indent="0" marL="0">
              <a:buNone/>
            </a:pPr>
            <a:r>
              <a:rPr lang="en-US" sz="1700" b="1" dirty="0">
                <a:solidFill>
                  <a:schemeClr val="tx2"/>
                </a:solidFill>
                <a:latin typeface="Cambria" pitchFamily="34" charset="0"/>
                <a:ea typeface="Cambria" pitchFamily="34" charset="-122"/>
                <a:cs typeface="Cambria" pitchFamily="34" charset="-120"/>
              </a:rPr>
              <a:t>Асық</a:t>
            </a:r>
            <a:endParaRPr lang="en-US" sz="1700" dirty="0"/>
          </a:p>
        </p:txBody>
      </p:sp>
      <p:sp>
        <p:nvSpPr>
          <p:cNvPr id="8" name="cmp-a-0"/>
          <p:cNvSpPr txBox="1"/>
          <p:nvPr/>
        </p:nvSpPr>
        <p:spPr>
          <a:xfrm>
            <a:off x="3246120" y="1783080"/>
            <a:ext cx="2011680" cy="1005840"/>
          </a:xfrm>
          <a:prstGeom prst="rect">
            <a:avLst/>
          </a:prstGeom>
          <a:noFill/>
          <a:ln/>
        </p:spPr>
        <p:txBody>
          <a:bodyPr wrap="square" lIns="0" tIns="0" rIns="0" bIns="0" rtlCol="0" anchor="ctr"/>
          <a:lstStyle/>
          <a:p>
            <a:pPr algn="ctr" indent="0" marL="0">
              <a:buNone/>
            </a:pPr>
            <a:r>
              <a:rPr lang="en-US" sz="3000" b="1" dirty="0">
                <a:solidFill>
                  <a:srgbClr val="0D4A5E"/>
                </a:solidFill>
                <a:latin typeface="Cambria" pitchFamily="34" charset="0"/>
                <a:ea typeface="Cambria" pitchFamily="34" charset="-122"/>
                <a:cs typeface="Cambria" pitchFamily="34" charset="-120"/>
              </a:rPr>
              <a:t>4 </a:t>
            </a:r>
            <a:pPr algn="ctr" indent="0" marL="0">
              <a:buNone/>
            </a:pPr>
            <a:r>
              <a:rPr lang="en-US" sz="1400" dirty="0">
                <a:solidFill>
                  <a:srgbClr val="1C2B33"/>
                </a:solidFill>
              </a:rPr>
              <a:t>эпизод</a:t>
            </a:r>
            <a:endParaRPr lang="en-US" sz="3000" dirty="0"/>
          </a:p>
        </p:txBody>
      </p:sp>
      <p:sp>
        <p:nvSpPr>
          <p:cNvPr id="9" name="cmp-b-0"/>
          <p:cNvSpPr txBox="1"/>
          <p:nvPr/>
        </p:nvSpPr>
        <p:spPr>
          <a:xfrm>
            <a:off x="5532120" y="1783080"/>
            <a:ext cx="2377440" cy="1005840"/>
          </a:xfrm>
          <a:prstGeom prst="rect">
            <a:avLst/>
          </a:prstGeom>
          <a:noFill/>
          <a:ln/>
        </p:spPr>
        <p:txBody>
          <a:bodyPr wrap="square" lIns="0" tIns="0" rIns="0" bIns="0" rtlCol="0" anchor="ctr"/>
          <a:lstStyle/>
          <a:p>
            <a:pPr algn="ctr" indent="0" marL="0">
              <a:buNone/>
            </a:pPr>
            <a:r>
              <a:rPr lang="en-US" sz="3000" b="1" dirty="0">
                <a:solidFill>
                  <a:schemeClr val="accent4"/>
                </a:solidFill>
                <a:latin typeface="Cambria" pitchFamily="34" charset="0"/>
                <a:ea typeface="Cambria" pitchFamily="34" charset="-122"/>
                <a:cs typeface="Cambria" pitchFamily="34" charset="-120"/>
              </a:rPr>
              <a:t>63,2% </a:t>
            </a:r>
            <a:endParaRPr lang="en-US" sz="3000" dirty="0"/>
          </a:p>
          <a:p>
            <a:pPr algn="ctr" indent="0" marL="0">
              <a:buNone/>
            </a:pPr>
            <a:r>
              <a:rPr lang="en-US" sz="1200" dirty="0">
                <a:solidFill>
                  <a:srgbClr val="1C2B33"/>
                </a:solidFill>
              </a:rPr>
              <a:t>ойнаған</a:t>
            </a:r>
            <a:endParaRPr lang="en-US" sz="3000" dirty="0"/>
          </a:p>
        </p:txBody>
      </p:sp>
      <p:sp>
        <p:nvSpPr>
          <p:cNvPr id="10" name="cmp-note-0"/>
          <p:cNvSpPr txBox="1"/>
          <p:nvPr/>
        </p:nvSpPr>
        <p:spPr>
          <a:xfrm>
            <a:off x="8183880" y="1783080"/>
            <a:ext cx="3246120" cy="1005840"/>
          </a:xfrm>
          <a:prstGeom prst="rect">
            <a:avLst/>
          </a:prstGeom>
          <a:noFill/>
          <a:ln/>
        </p:spPr>
        <p:txBody>
          <a:bodyPr wrap="square" lIns="0" tIns="0" rIns="0" bIns="0" rtlCol="0" anchor="ctr"/>
          <a:lstStyle/>
          <a:p>
            <a:pPr indent="0" marL="0">
              <a:buNone/>
            </a:pPr>
            <a:r>
              <a:rPr lang="en-US" sz="1500" i="1" dirty="0">
                <a:solidFill>
                  <a:schemeClr val="tx1"/>
                </a:solidFill>
              </a:rPr>
              <a:t>Кітапта да, өмірде де бірінші орында</a:t>
            </a:r>
            <a:endParaRPr lang="en-US" sz="1500" dirty="0"/>
          </a:p>
        </p:txBody>
      </p:sp>
      <p:sp>
        <p:nvSpPr>
          <p:cNvPr id="11" name="cmp-row-1"/>
          <p:cNvSpPr/>
          <p:nvPr/>
        </p:nvSpPr>
        <p:spPr>
          <a:xfrm>
            <a:off x="548640" y="2971800"/>
            <a:ext cx="11064240" cy="1005840"/>
          </a:xfrm>
          <a:prstGeom prst="roundRect">
            <a:avLst>
              <a:gd name="adj" fmla="val 10909"/>
            </a:avLst>
          </a:prstGeom>
          <a:solidFill>
            <a:schemeClr val="bg2"/>
          </a:solidFill>
          <a:ln/>
        </p:spPr>
      </p:sp>
      <p:sp>
        <p:nvSpPr>
          <p:cNvPr id="12" name="cmp-chip-1"/>
          <p:cNvSpPr/>
          <p:nvPr/>
        </p:nvSpPr>
        <p:spPr>
          <a:xfrm>
            <a:off x="731520" y="3127248"/>
            <a:ext cx="2286000" cy="694944"/>
          </a:xfrm>
          <a:prstGeom prst="roundRect">
            <a:avLst>
              <a:gd name="adj" fmla="val 15789"/>
            </a:avLst>
          </a:prstGeom>
          <a:solidFill>
            <a:schemeClr val="bg1"/>
          </a:solidFill>
          <a:ln w="15875">
            <a:solidFill>
              <a:schemeClr val="accent2"/>
            </a:solidFill>
            <a:prstDash val="solid"/>
          </a:ln>
        </p:spPr>
      </p:sp>
      <p:sp>
        <p:nvSpPr>
          <p:cNvPr id="13" name="cmp-chip-1-text"/>
          <p:cNvSpPr txBox="1"/>
          <p:nvPr/>
        </p:nvSpPr>
        <p:spPr>
          <a:xfrm>
            <a:off x="841248" y="3127248"/>
            <a:ext cx="2066544" cy="694944"/>
          </a:xfrm>
          <a:prstGeom prst="rect">
            <a:avLst/>
          </a:prstGeom>
          <a:noFill/>
          <a:ln/>
        </p:spPr>
        <p:txBody>
          <a:bodyPr wrap="square" lIns="0" tIns="0" rIns="0" bIns="0" rtlCol="0" anchor="ctr"/>
          <a:lstStyle/>
          <a:p>
            <a:pPr algn="ctr" indent="0" marL="0">
              <a:buNone/>
            </a:pPr>
            <a:r>
              <a:rPr lang="en-US" sz="1700" b="1" dirty="0">
                <a:solidFill>
                  <a:schemeClr val="tx2"/>
                </a:solidFill>
                <a:latin typeface="Cambria" pitchFamily="34" charset="0"/>
                <a:ea typeface="Cambria" pitchFamily="34" charset="-122"/>
                <a:cs typeface="Cambria" pitchFamily="34" charset="-120"/>
              </a:rPr>
              <a:t>Бәйге</a:t>
            </a:r>
            <a:endParaRPr lang="en-US" sz="1700" dirty="0"/>
          </a:p>
        </p:txBody>
      </p:sp>
      <p:sp>
        <p:nvSpPr>
          <p:cNvPr id="14" name="cmp-a-1"/>
          <p:cNvSpPr txBox="1"/>
          <p:nvPr/>
        </p:nvSpPr>
        <p:spPr>
          <a:xfrm>
            <a:off x="3246120" y="2971800"/>
            <a:ext cx="2011680" cy="1005840"/>
          </a:xfrm>
          <a:prstGeom prst="rect">
            <a:avLst/>
          </a:prstGeom>
          <a:noFill/>
          <a:ln/>
        </p:spPr>
        <p:txBody>
          <a:bodyPr wrap="square" lIns="0" tIns="0" rIns="0" bIns="0" rtlCol="0" anchor="ctr"/>
          <a:lstStyle/>
          <a:p>
            <a:pPr algn="ctr" indent="0" marL="0">
              <a:buNone/>
            </a:pPr>
            <a:r>
              <a:rPr lang="en-US" sz="3000" b="1" dirty="0">
                <a:solidFill>
                  <a:srgbClr val="0D4A5E"/>
                </a:solidFill>
                <a:latin typeface="Cambria" pitchFamily="34" charset="0"/>
                <a:ea typeface="Cambria" pitchFamily="34" charset="-122"/>
                <a:cs typeface="Cambria" pitchFamily="34" charset="-120"/>
              </a:rPr>
              <a:t>4 </a:t>
            </a:r>
            <a:pPr algn="ctr" indent="0" marL="0">
              <a:buNone/>
            </a:pPr>
            <a:r>
              <a:rPr lang="en-US" sz="1400" dirty="0">
                <a:solidFill>
                  <a:srgbClr val="1C2B33"/>
                </a:solidFill>
              </a:rPr>
              <a:t>эпизод</a:t>
            </a:r>
            <a:endParaRPr lang="en-US" sz="3000" dirty="0"/>
          </a:p>
        </p:txBody>
      </p:sp>
      <p:sp>
        <p:nvSpPr>
          <p:cNvPr id="15" name="cmp-b-1"/>
          <p:cNvSpPr txBox="1"/>
          <p:nvPr/>
        </p:nvSpPr>
        <p:spPr>
          <a:xfrm>
            <a:off x="5532120" y="2971800"/>
            <a:ext cx="2377440" cy="100584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15,8% </a:t>
            </a:r>
            <a:endParaRPr lang="en-US" sz="3000" dirty="0"/>
          </a:p>
          <a:p>
            <a:pPr algn="ctr" indent="0" marL="0">
              <a:buNone/>
            </a:pPr>
            <a:r>
              <a:rPr lang="en-US" sz="1200" dirty="0">
                <a:solidFill>
                  <a:srgbClr val="1C2B33"/>
                </a:solidFill>
              </a:rPr>
              <a:t>көрген</a:t>
            </a:r>
            <a:endParaRPr lang="en-US" sz="3000" dirty="0"/>
          </a:p>
        </p:txBody>
      </p:sp>
      <p:sp>
        <p:nvSpPr>
          <p:cNvPr id="16" name="cmp-note-1"/>
          <p:cNvSpPr txBox="1"/>
          <p:nvPr/>
        </p:nvSpPr>
        <p:spPr>
          <a:xfrm>
            <a:off x="8183880" y="2971800"/>
            <a:ext cx="3246120" cy="1005840"/>
          </a:xfrm>
          <a:prstGeom prst="rect">
            <a:avLst/>
          </a:prstGeom>
          <a:noFill/>
          <a:ln/>
        </p:spPr>
        <p:txBody>
          <a:bodyPr wrap="square" lIns="0" tIns="0" rIns="0" bIns="0" rtlCol="0" anchor="ctr"/>
          <a:lstStyle/>
          <a:p>
            <a:pPr indent="0" marL="0">
              <a:buNone/>
            </a:pPr>
            <a:r>
              <a:rPr lang="en-US" sz="1500" i="1" dirty="0">
                <a:solidFill>
                  <a:schemeClr val="tx1"/>
                </a:solidFill>
              </a:rPr>
              <a:t>Кітапта жиі, бірақ өмірде сирек</a:t>
            </a:r>
            <a:endParaRPr lang="en-US" sz="1500" dirty="0"/>
          </a:p>
        </p:txBody>
      </p:sp>
      <p:sp>
        <p:nvSpPr>
          <p:cNvPr id="17" name="cmp-row-2"/>
          <p:cNvSpPr/>
          <p:nvPr/>
        </p:nvSpPr>
        <p:spPr>
          <a:xfrm>
            <a:off x="548640" y="4160520"/>
            <a:ext cx="11064240" cy="1005840"/>
          </a:xfrm>
          <a:prstGeom prst="roundRect">
            <a:avLst>
              <a:gd name="adj" fmla="val 10909"/>
            </a:avLst>
          </a:prstGeom>
          <a:solidFill>
            <a:schemeClr val="bg2"/>
          </a:solidFill>
          <a:ln/>
        </p:spPr>
      </p:sp>
      <p:sp>
        <p:nvSpPr>
          <p:cNvPr id="18" name="cmp-chip-2"/>
          <p:cNvSpPr/>
          <p:nvPr/>
        </p:nvSpPr>
        <p:spPr>
          <a:xfrm>
            <a:off x="731520" y="4315968"/>
            <a:ext cx="2286000" cy="694944"/>
          </a:xfrm>
          <a:prstGeom prst="roundRect">
            <a:avLst>
              <a:gd name="adj" fmla="val 15789"/>
            </a:avLst>
          </a:prstGeom>
          <a:solidFill>
            <a:schemeClr val="bg1"/>
          </a:solidFill>
          <a:ln w="15875">
            <a:solidFill>
              <a:schemeClr val="accent2"/>
            </a:solidFill>
            <a:prstDash val="solid"/>
          </a:ln>
        </p:spPr>
      </p:sp>
      <p:sp>
        <p:nvSpPr>
          <p:cNvPr id="19" name="cmp-chip-2-text"/>
          <p:cNvSpPr txBox="1"/>
          <p:nvPr/>
        </p:nvSpPr>
        <p:spPr>
          <a:xfrm>
            <a:off x="841248" y="4315968"/>
            <a:ext cx="2066544" cy="694944"/>
          </a:xfrm>
          <a:prstGeom prst="rect">
            <a:avLst/>
          </a:prstGeom>
          <a:noFill/>
          <a:ln/>
        </p:spPr>
        <p:txBody>
          <a:bodyPr wrap="square" lIns="0" tIns="0" rIns="0" bIns="0" rtlCol="0" anchor="ctr"/>
          <a:lstStyle/>
          <a:p>
            <a:pPr algn="ctr" indent="0" marL="0">
              <a:buNone/>
            </a:pPr>
            <a:r>
              <a:rPr lang="en-US" sz="1700" b="1" dirty="0">
                <a:solidFill>
                  <a:schemeClr val="tx2"/>
                </a:solidFill>
                <a:latin typeface="Cambria" pitchFamily="34" charset="0"/>
                <a:ea typeface="Cambria" pitchFamily="34" charset="-122"/>
                <a:cs typeface="Cambria" pitchFamily="34" charset="-120"/>
              </a:rPr>
              <a:t>Тоғызқұмалақ</a:t>
            </a:r>
            <a:endParaRPr lang="en-US" sz="1700" dirty="0"/>
          </a:p>
        </p:txBody>
      </p:sp>
      <p:sp>
        <p:nvSpPr>
          <p:cNvPr id="20" name="cmp-a-2"/>
          <p:cNvSpPr txBox="1"/>
          <p:nvPr/>
        </p:nvSpPr>
        <p:spPr>
          <a:xfrm>
            <a:off x="3246120" y="4160520"/>
            <a:ext cx="2011680" cy="1005840"/>
          </a:xfrm>
          <a:prstGeom prst="rect">
            <a:avLst/>
          </a:prstGeom>
          <a:noFill/>
          <a:ln/>
        </p:spPr>
        <p:txBody>
          <a:bodyPr wrap="square" lIns="0" tIns="0" rIns="0" bIns="0" rtlCol="0" anchor="ctr"/>
          <a:lstStyle/>
          <a:p>
            <a:pPr algn="ctr" indent="0" marL="0">
              <a:buNone/>
            </a:pPr>
            <a:r>
              <a:rPr lang="en-US" sz="3000" b="1" dirty="0">
                <a:solidFill>
                  <a:srgbClr val="0D4A5E"/>
                </a:solidFill>
                <a:latin typeface="Cambria" pitchFamily="34" charset="0"/>
                <a:ea typeface="Cambria" pitchFamily="34" charset="-122"/>
                <a:cs typeface="Cambria" pitchFamily="34" charset="-120"/>
              </a:rPr>
              <a:t>0 </a:t>
            </a:r>
            <a:pPr algn="ctr" indent="0" marL="0">
              <a:buNone/>
            </a:pPr>
            <a:r>
              <a:rPr lang="en-US" sz="1400" dirty="0">
                <a:solidFill>
                  <a:srgbClr val="1C2B33"/>
                </a:solidFill>
              </a:rPr>
              <a:t>эпизод</a:t>
            </a:r>
            <a:endParaRPr lang="en-US" sz="3000" dirty="0"/>
          </a:p>
        </p:txBody>
      </p:sp>
      <p:sp>
        <p:nvSpPr>
          <p:cNvPr id="21" name="cmp-b-2"/>
          <p:cNvSpPr txBox="1"/>
          <p:nvPr/>
        </p:nvSpPr>
        <p:spPr>
          <a:xfrm>
            <a:off x="5532120" y="4160520"/>
            <a:ext cx="2377440" cy="1005840"/>
          </a:xfrm>
          <a:prstGeom prst="rect">
            <a:avLst/>
          </a:prstGeom>
          <a:noFill/>
          <a:ln/>
        </p:spPr>
        <p:txBody>
          <a:bodyPr wrap="square" lIns="0" tIns="0" rIns="0" bIns="0" rtlCol="0" anchor="ctr"/>
          <a:lstStyle/>
          <a:p>
            <a:pPr algn="ctr" indent="0" marL="0">
              <a:buNone/>
            </a:pPr>
            <a:r>
              <a:rPr lang="en-US" sz="3000" b="1" dirty="0">
                <a:solidFill>
                  <a:schemeClr val="accent3"/>
                </a:solidFill>
                <a:latin typeface="Cambria" pitchFamily="34" charset="0"/>
                <a:ea typeface="Cambria" pitchFamily="34" charset="-122"/>
                <a:cs typeface="Cambria" pitchFamily="34" charset="-120"/>
              </a:rPr>
              <a:t>84,2% </a:t>
            </a:r>
            <a:endParaRPr lang="en-US" sz="3000" dirty="0"/>
          </a:p>
          <a:p>
            <a:pPr algn="ctr" indent="0" marL="0">
              <a:buNone/>
            </a:pPr>
            <a:r>
              <a:rPr lang="en-US" sz="1200" dirty="0">
                <a:solidFill>
                  <a:srgbClr val="1C2B33"/>
                </a:solidFill>
              </a:rPr>
              <a:t>«ертегіден оқыдым» деді</a:t>
            </a:r>
            <a:endParaRPr lang="en-US" sz="3000" dirty="0"/>
          </a:p>
        </p:txBody>
      </p:sp>
      <p:sp>
        <p:nvSpPr>
          <p:cNvPr id="22" name="cmp-note-2"/>
          <p:cNvSpPr txBox="1"/>
          <p:nvPr/>
        </p:nvSpPr>
        <p:spPr>
          <a:xfrm>
            <a:off x="8183880" y="4160520"/>
            <a:ext cx="3246120" cy="1005840"/>
          </a:xfrm>
          <a:prstGeom prst="rect">
            <a:avLst/>
          </a:prstGeom>
          <a:noFill/>
          <a:ln/>
        </p:spPr>
        <p:txBody>
          <a:bodyPr wrap="square" lIns="0" tIns="0" rIns="0" bIns="0" rtlCol="0" anchor="ctr"/>
          <a:lstStyle/>
          <a:p>
            <a:pPr indent="0" marL="0">
              <a:buNone/>
            </a:pPr>
            <a:r>
              <a:rPr lang="en-US" sz="1500" i="1" dirty="0">
                <a:solidFill>
                  <a:schemeClr val="tx1"/>
                </a:solidFill>
              </a:rPr>
              <a:t>Мәтінде жоқ, бірақ «оқыдым» дегендер көп</a:t>
            </a:r>
            <a:endParaRPr lang="en-US" sz="1500" dirty="0"/>
          </a:p>
        </p:txBody>
      </p:sp>
      <p:sp>
        <p:nvSpPr>
          <p:cNvPr id="23" name="cmp-honest"/>
          <p:cNvSpPr/>
          <p:nvPr/>
        </p:nvSpPr>
        <p:spPr>
          <a:xfrm>
            <a:off x="548640" y="5440680"/>
            <a:ext cx="11064240" cy="731520"/>
          </a:xfrm>
          <a:prstGeom prst="roundRect">
            <a:avLst>
              <a:gd name="adj" fmla="val 15000"/>
            </a:avLst>
          </a:prstGeom>
          <a:solidFill>
            <a:schemeClr val="bg1"/>
          </a:solidFill>
          <a:ln w="15875">
            <a:solidFill>
              <a:schemeClr val="accent3"/>
            </a:solidFill>
            <a:prstDash val="solid"/>
          </a:ln>
        </p:spPr>
      </p:sp>
      <p:sp>
        <p:nvSpPr>
          <p:cNvPr id="24" name="cmp-honest-text"/>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500" b="1" dirty="0">
                <a:solidFill>
                  <a:schemeClr val="accent3"/>
                </a:solidFill>
              </a:rPr>
              <a:t>Сыни ой: </a:t>
            </a:r>
            <a:pPr indent="0" marL="0">
              <a:buNone/>
            </a:pPr>
            <a:r>
              <a:rPr lang="en-US" sz="1500" dirty="0">
                <a:solidFill>
                  <a:schemeClr val="tx1"/>
                </a:solidFill>
              </a:rPr>
              <a:t>4 оқушы 12 ойынның бәрін «оқыдым» деді – сондықтан бұл сұрақтың жауабына толық сенуге болмайды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Болжамым ішінара расталды</a:t>
            </a:r>
            <a:endParaRPr lang="en-US" sz="3200" dirty="0"/>
          </a:p>
        </p:txBody>
      </p:sp>
      <p:sp>
        <p:nvSpPr>
          <p:cNvPr id="3" name="hyp-row-0"/>
          <p:cNvSpPr/>
          <p:nvPr/>
        </p:nvSpPr>
        <p:spPr>
          <a:xfrm>
            <a:off x="548640" y="1417320"/>
            <a:ext cx="11064240" cy="1234440"/>
          </a:xfrm>
          <a:prstGeom prst="roundRect">
            <a:avLst>
              <a:gd name="adj" fmla="val 8889"/>
            </a:avLst>
          </a:prstGeom>
          <a:solidFill>
            <a:srgbClr val="F8E9E3"/>
          </a:solidFill>
          <a:ln/>
        </p:spPr>
      </p:sp>
      <p:sp>
        <p:nvSpPr>
          <p:cNvPr id="4" name="hyp-mark-0-circle"/>
          <p:cNvSpPr/>
          <p:nvPr/>
        </p:nvSpPr>
        <p:spPr>
          <a:xfrm>
            <a:off x="822960" y="1691640"/>
            <a:ext cx="685800" cy="685800"/>
          </a:xfrm>
          <a:prstGeom prst="ellipse">
            <a:avLst/>
          </a:prstGeom>
          <a:solidFill>
            <a:schemeClr val="accent3"/>
          </a:solidFill>
          <a:ln/>
        </p:spPr>
      </p:sp>
      <p:pic>
        <p:nvPicPr>
          <p:cNvPr id="5" name="hyp-mark-0-icon"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hyp-h-0"/>
          <p:cNvSpPr txBox="1"/>
          <p:nvPr/>
        </p:nvSpPr>
        <p:spPr>
          <a:xfrm>
            <a:off x="1783080" y="1417320"/>
            <a:ext cx="4206240" cy="1234440"/>
          </a:xfrm>
          <a:prstGeom prst="rect">
            <a:avLst/>
          </a:prstGeom>
          <a:noFill/>
          <a:ln/>
        </p:spPr>
        <p:txBody>
          <a:bodyPr wrap="square" lIns="0" tIns="0" rIns="0" bIns="0" rtlCol="0" anchor="ctr"/>
          <a:lstStyle/>
          <a:p>
            <a:pPr indent="0" marL="0">
              <a:buNone/>
            </a:pPr>
            <a:r>
              <a:rPr lang="en-US" sz="1800" b="1" dirty="0">
                <a:solidFill>
                  <a:schemeClr val="tx2"/>
                </a:solidFill>
              </a:rPr>
              <a:t>Ертегіде балалар ойындары жиі кездеседі</a:t>
            </a:r>
            <a:endParaRPr lang="en-US" sz="1800" dirty="0"/>
          </a:p>
        </p:txBody>
      </p:sp>
      <p:sp>
        <p:nvSpPr>
          <p:cNvPr id="7" name="hyp-r-0"/>
          <p:cNvSpPr txBox="1"/>
          <p:nvPr/>
        </p:nvSpPr>
        <p:spPr>
          <a:xfrm>
            <a:off x="6217920" y="1417320"/>
            <a:ext cx="5212080" cy="1234440"/>
          </a:xfrm>
          <a:prstGeom prst="rect">
            <a:avLst/>
          </a:prstGeom>
          <a:noFill/>
          <a:ln/>
        </p:spPr>
        <p:txBody>
          <a:bodyPr wrap="square" lIns="0" tIns="0" rIns="0" bIns="0" rtlCol="0" anchor="ctr"/>
          <a:lstStyle/>
          <a:p>
            <a:pPr indent="0" marL="0">
              <a:buNone/>
            </a:pPr>
            <a:r>
              <a:rPr lang="en-US" sz="1600" dirty="0">
                <a:solidFill>
                  <a:schemeClr val="tx1"/>
                </a:solidFill>
              </a:rPr>
              <a:t>Расталмады: ертегіде күрес жиірек (3 эпизод), асық – 2</a:t>
            </a:r>
            <a:endParaRPr lang="en-US" sz="1600" dirty="0"/>
          </a:p>
        </p:txBody>
      </p:sp>
      <p:sp>
        <p:nvSpPr>
          <p:cNvPr id="8" name="hyp-row-1"/>
          <p:cNvSpPr/>
          <p:nvPr/>
        </p:nvSpPr>
        <p:spPr>
          <a:xfrm>
            <a:off x="548640" y="2880360"/>
            <a:ext cx="11064240" cy="1234440"/>
          </a:xfrm>
          <a:prstGeom prst="roundRect">
            <a:avLst>
              <a:gd name="adj" fmla="val 8889"/>
            </a:avLst>
          </a:prstGeom>
          <a:solidFill>
            <a:srgbClr val="E3F2EA"/>
          </a:solidFill>
          <a:ln/>
        </p:spPr>
      </p:sp>
      <p:sp>
        <p:nvSpPr>
          <p:cNvPr id="9" name="hyp-mark-1-circle"/>
          <p:cNvSpPr/>
          <p:nvPr/>
        </p:nvSpPr>
        <p:spPr>
          <a:xfrm>
            <a:off x="822960" y="3154680"/>
            <a:ext cx="685800" cy="685800"/>
          </a:xfrm>
          <a:prstGeom prst="ellipse">
            <a:avLst/>
          </a:prstGeom>
          <a:solidFill>
            <a:schemeClr val="accent4"/>
          </a:solidFill>
          <a:ln/>
        </p:spPr>
      </p:sp>
      <p:pic>
        <p:nvPicPr>
          <p:cNvPr id="10" name="hyp-mark-1-icon" descr="preencoded.png">    </p:cNvPr>
          <p:cNvPicPr>
            <a:picLocks noChangeAspect="1"/>
          </p:cNvPicPr>
          <p:nvPr/>
        </p:nvPicPr>
        <p:blipFill>
          <a:blip r:embed="rId2"/>
          <a:stretch>
            <a:fillRect/>
          </a:stretch>
        </p:blipFill>
        <p:spPr>
          <a:xfrm>
            <a:off x="987552" y="3319272"/>
            <a:ext cx="356616" cy="356616"/>
          </a:xfrm>
          <a:prstGeom prst="rect">
            <a:avLst/>
          </a:prstGeom>
        </p:spPr>
      </p:pic>
      <p:sp>
        <p:nvSpPr>
          <p:cNvPr id="11" name="hyp-h-1"/>
          <p:cNvSpPr txBox="1"/>
          <p:nvPr/>
        </p:nvSpPr>
        <p:spPr>
          <a:xfrm>
            <a:off x="1783080" y="2880360"/>
            <a:ext cx="4206240" cy="1234440"/>
          </a:xfrm>
          <a:prstGeom prst="rect">
            <a:avLst/>
          </a:prstGeom>
          <a:noFill/>
          <a:ln/>
        </p:spPr>
        <p:txBody>
          <a:bodyPr wrap="square" lIns="0" tIns="0" rIns="0" bIns="0" rtlCol="0" anchor="ctr"/>
          <a:lstStyle/>
          <a:p>
            <a:pPr indent="0" marL="0">
              <a:buNone/>
            </a:pPr>
            <a:r>
              <a:rPr lang="en-US" sz="1800" b="1" dirty="0">
                <a:solidFill>
                  <a:schemeClr val="tx2"/>
                </a:solidFill>
              </a:rPr>
              <a:t>Жырда ат ойындары мен күш сынасу ойындары жиі</a:t>
            </a:r>
            <a:endParaRPr lang="en-US" sz="1800" dirty="0"/>
          </a:p>
        </p:txBody>
      </p:sp>
      <p:sp>
        <p:nvSpPr>
          <p:cNvPr id="12" name="hyp-r-1"/>
          <p:cNvSpPr txBox="1"/>
          <p:nvPr/>
        </p:nvSpPr>
        <p:spPr>
          <a:xfrm>
            <a:off x="6217920" y="2880360"/>
            <a:ext cx="5212080" cy="1234440"/>
          </a:xfrm>
          <a:prstGeom prst="rect">
            <a:avLst/>
          </a:prstGeom>
          <a:noFill/>
          <a:ln/>
        </p:spPr>
        <p:txBody>
          <a:bodyPr wrap="square" lIns="0" tIns="0" rIns="0" bIns="0" rtlCol="0" anchor="ctr"/>
          <a:lstStyle/>
          <a:p>
            <a:pPr indent="0" marL="0">
              <a:buNone/>
            </a:pPr>
            <a:r>
              <a:rPr lang="en-US" sz="1600" dirty="0">
                <a:solidFill>
                  <a:schemeClr val="tx1"/>
                </a:solidFill>
              </a:rPr>
              <a:t>Расталды: жырдың 9 эпизодының 7-еуі</a:t>
            </a:r>
            <a:endParaRPr lang="en-US" sz="1600" dirty="0"/>
          </a:p>
        </p:txBody>
      </p:sp>
      <p:sp>
        <p:nvSpPr>
          <p:cNvPr id="13" name="hyp-row-2"/>
          <p:cNvSpPr/>
          <p:nvPr/>
        </p:nvSpPr>
        <p:spPr>
          <a:xfrm>
            <a:off x="548640" y="4343400"/>
            <a:ext cx="11064240" cy="1234440"/>
          </a:xfrm>
          <a:prstGeom prst="roundRect">
            <a:avLst>
              <a:gd name="adj" fmla="val 8889"/>
            </a:avLst>
          </a:prstGeom>
          <a:solidFill>
            <a:srgbClr val="F8E9E3"/>
          </a:solidFill>
          <a:ln/>
        </p:spPr>
      </p:sp>
      <p:sp>
        <p:nvSpPr>
          <p:cNvPr id="14" name="hyp-mark-2-circle"/>
          <p:cNvSpPr/>
          <p:nvPr/>
        </p:nvSpPr>
        <p:spPr>
          <a:xfrm>
            <a:off x="822960" y="4617720"/>
            <a:ext cx="685800" cy="685800"/>
          </a:xfrm>
          <a:prstGeom prst="ellipse">
            <a:avLst/>
          </a:prstGeom>
          <a:solidFill>
            <a:schemeClr val="accent3"/>
          </a:solidFill>
          <a:ln/>
        </p:spPr>
      </p:sp>
      <p:pic>
        <p:nvPicPr>
          <p:cNvPr id="15" name="hyp-mark-2-icon" descr="preencoded.png">    </p:cNvPr>
          <p:cNvPicPr>
            <a:picLocks noChangeAspect="1"/>
          </p:cNvPicPr>
          <p:nvPr/>
        </p:nvPicPr>
        <p:blipFill>
          <a:blip r:embed="rId3"/>
          <a:stretch>
            <a:fillRect/>
          </a:stretch>
        </p:blipFill>
        <p:spPr>
          <a:xfrm>
            <a:off x="987552" y="4782312"/>
            <a:ext cx="356616" cy="356616"/>
          </a:xfrm>
          <a:prstGeom prst="rect">
            <a:avLst/>
          </a:prstGeom>
        </p:spPr>
      </p:pic>
      <p:sp>
        <p:nvSpPr>
          <p:cNvPr id="16" name="hyp-h-2"/>
          <p:cNvSpPr txBox="1"/>
          <p:nvPr/>
        </p:nvSpPr>
        <p:spPr>
          <a:xfrm>
            <a:off x="1783080" y="4343400"/>
            <a:ext cx="4206240" cy="1234440"/>
          </a:xfrm>
          <a:prstGeom prst="rect">
            <a:avLst/>
          </a:prstGeom>
          <a:noFill/>
          <a:ln/>
        </p:spPr>
        <p:txBody>
          <a:bodyPr wrap="square" lIns="0" tIns="0" rIns="0" bIns="0" rtlCol="0" anchor="ctr"/>
          <a:lstStyle/>
          <a:p>
            <a:pPr indent="0" marL="0">
              <a:buNone/>
            </a:pPr>
            <a:r>
              <a:rPr lang="en-US" sz="1800" b="1" dirty="0">
                <a:solidFill>
                  <a:schemeClr val="tx2"/>
                </a:solidFill>
              </a:rPr>
              <a:t>Жырда ойын көбіне қаһарманды сынайды</a:t>
            </a:r>
            <a:endParaRPr lang="en-US" sz="1800" dirty="0"/>
          </a:p>
        </p:txBody>
      </p:sp>
      <p:sp>
        <p:nvSpPr>
          <p:cNvPr id="17" name="hyp-r-2"/>
          <p:cNvSpPr txBox="1"/>
          <p:nvPr/>
        </p:nvSpPr>
        <p:spPr>
          <a:xfrm>
            <a:off x="6217920" y="4343400"/>
            <a:ext cx="5212080" cy="1234440"/>
          </a:xfrm>
          <a:prstGeom prst="rect">
            <a:avLst/>
          </a:prstGeom>
          <a:noFill/>
          <a:ln/>
        </p:spPr>
        <p:txBody>
          <a:bodyPr wrap="square" lIns="0" tIns="0" rIns="0" bIns="0" rtlCol="0" anchor="ctr"/>
          <a:lstStyle/>
          <a:p>
            <a:pPr indent="0" marL="0">
              <a:buNone/>
            </a:pPr>
            <a:r>
              <a:rPr lang="en-US" sz="1600" dirty="0">
                <a:solidFill>
                  <a:schemeClr val="tx1"/>
                </a:solidFill>
              </a:rPr>
              <a:t>Расталмады: сынақ ертегіде жиірек, жырда ойын батырдың қасиетін көрсетеді</a:t>
            </a:r>
            <a:endParaRPr lang="en-US" sz="1600" dirty="0"/>
          </a:p>
        </p:txBody>
      </p:sp>
      <p:sp>
        <p:nvSpPr>
          <p:cNvPr id="18" name="hyp-note"/>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600" i="1" dirty="0">
                <a:solidFill>
                  <a:schemeClr val="accent5"/>
                </a:solidFill>
              </a:rPr>
              <a:t>Болжамның расталмаған бөлігі одан да қызық нәтиже берді: ойынның рөлі жанрға қарай өзгереді</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Өнім: «Ертегі-ойын» карточкалары</a:t>
            </a:r>
            <a:endParaRPr lang="en-US" sz="3200" dirty="0"/>
          </a:p>
        </p:txBody>
      </p:sp>
      <p:pic>
        <p:nvPicPr>
          <p:cNvPr id="3" name="card-image" descr="/home/user/jjjjj/Zerde_Ulttyq_oiyndar/source/figs/kartochka.png">    </p:cNvPr>
          <p:cNvPicPr>
            <a:picLocks noChangeAspect="1"/>
          </p:cNvPicPr>
          <p:nvPr/>
        </p:nvPicPr>
        <p:blipFill>
          <a:blip r:embed="rId1"/>
          <a:stretch>
            <a:fillRect/>
          </a:stretch>
        </p:blipFill>
        <p:spPr>
          <a:xfrm>
            <a:off x="548640" y="1371600"/>
            <a:ext cx="6400800" cy="4050506"/>
          </a:xfrm>
          <a:prstGeom prst="rect">
            <a:avLst/>
          </a:prstGeom>
        </p:spPr>
      </p:pic>
      <p:sp>
        <p:nvSpPr>
          <p:cNvPr id="4" name="use-0-circle"/>
          <p:cNvSpPr/>
          <p:nvPr/>
        </p:nvSpPr>
        <p:spPr>
          <a:xfrm>
            <a:off x="7406640" y="1508760"/>
            <a:ext cx="731520" cy="731520"/>
          </a:xfrm>
          <a:prstGeom prst="ellipse">
            <a:avLst/>
          </a:prstGeom>
          <a:solidFill>
            <a:schemeClr val="accent1"/>
          </a:solidFill>
          <a:ln/>
        </p:spPr>
      </p:sp>
      <p:pic>
        <p:nvPicPr>
          <p:cNvPr id="5" name="use-0-icon" descr="preencoded.png">    </p:cNvPr>
          <p:cNvPicPr>
            <a:picLocks noChangeAspect="1"/>
          </p:cNvPicPr>
          <p:nvPr/>
        </p:nvPicPr>
        <p:blipFill>
          <a:blip r:embed="rId2"/>
          <a:stretch>
            <a:fillRect/>
          </a:stretch>
        </p:blipFill>
        <p:spPr>
          <a:xfrm>
            <a:off x="7582205" y="1684325"/>
            <a:ext cx="380390" cy="380390"/>
          </a:xfrm>
          <a:prstGeom prst="rect">
            <a:avLst/>
          </a:prstGeom>
        </p:spPr>
      </p:pic>
      <p:sp>
        <p:nvSpPr>
          <p:cNvPr id="6" name="use-title-0"/>
          <p:cNvSpPr txBox="1"/>
          <p:nvPr/>
        </p:nvSpPr>
        <p:spPr>
          <a:xfrm>
            <a:off x="8321040" y="14173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Әдебиет сабағында</a:t>
            </a:r>
            <a:endParaRPr lang="en-US" sz="1800" dirty="0"/>
          </a:p>
        </p:txBody>
      </p:sp>
      <p:sp>
        <p:nvSpPr>
          <p:cNvPr id="7" name="use-text-0"/>
          <p:cNvSpPr txBox="1"/>
          <p:nvPr/>
        </p:nvSpPr>
        <p:spPr>
          <a:xfrm>
            <a:off x="8321040" y="1920240"/>
            <a:ext cx="3291840" cy="822960"/>
          </a:xfrm>
          <a:prstGeom prst="rect">
            <a:avLst/>
          </a:prstGeom>
          <a:noFill/>
          <a:ln/>
        </p:spPr>
        <p:txBody>
          <a:bodyPr wrap="square" lIns="0" tIns="0" rIns="0" bIns="0" rtlCol="0" anchor="t"/>
          <a:lstStyle/>
          <a:p>
            <a:pPr indent="0" marL="0">
              <a:buNone/>
            </a:pPr>
            <a:r>
              <a:rPr lang="en-US" sz="1500" dirty="0">
                <a:solidFill>
                  <a:schemeClr val="tx1"/>
                </a:solidFill>
              </a:rPr>
              <a:t>Шығарманы талдағанда эпизодты оқып, ойынды талқылау</a:t>
            </a:r>
            <a:endParaRPr lang="en-US" sz="1500" dirty="0"/>
          </a:p>
        </p:txBody>
      </p:sp>
      <p:sp>
        <p:nvSpPr>
          <p:cNvPr id="8" name="use-1-circle"/>
          <p:cNvSpPr/>
          <p:nvPr/>
        </p:nvSpPr>
        <p:spPr>
          <a:xfrm>
            <a:off x="7406640" y="3108960"/>
            <a:ext cx="731520" cy="731520"/>
          </a:xfrm>
          <a:prstGeom prst="ellipse">
            <a:avLst/>
          </a:prstGeom>
          <a:solidFill>
            <a:schemeClr val="accent2"/>
          </a:solidFill>
          <a:ln/>
        </p:spPr>
      </p:sp>
      <p:pic>
        <p:nvPicPr>
          <p:cNvPr id="9" name="use-1-icon" descr="preencoded.png">    </p:cNvPr>
          <p:cNvPicPr>
            <a:picLocks noChangeAspect="1"/>
          </p:cNvPicPr>
          <p:nvPr/>
        </p:nvPicPr>
        <p:blipFill>
          <a:blip r:embed="rId3"/>
          <a:stretch>
            <a:fillRect/>
          </a:stretch>
        </p:blipFill>
        <p:spPr>
          <a:xfrm>
            <a:off x="7582205" y="3284525"/>
            <a:ext cx="380390" cy="380390"/>
          </a:xfrm>
          <a:prstGeom prst="rect">
            <a:avLst/>
          </a:prstGeom>
        </p:spPr>
      </p:pic>
      <p:sp>
        <p:nvSpPr>
          <p:cNvPr id="10" name="use-title-1"/>
          <p:cNvSpPr txBox="1"/>
          <p:nvPr/>
        </p:nvSpPr>
        <p:spPr>
          <a:xfrm>
            <a:off x="8321040" y="30175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Үзілісте және лагерьде</a:t>
            </a:r>
            <a:endParaRPr lang="en-US" sz="1800" dirty="0"/>
          </a:p>
        </p:txBody>
      </p:sp>
      <p:sp>
        <p:nvSpPr>
          <p:cNvPr id="11" name="use-text-1"/>
          <p:cNvSpPr txBox="1"/>
          <p:nvPr/>
        </p:nvSpPr>
        <p:spPr>
          <a:xfrm>
            <a:off x="8321040" y="3520440"/>
            <a:ext cx="3291840" cy="822960"/>
          </a:xfrm>
          <a:prstGeom prst="rect">
            <a:avLst/>
          </a:prstGeom>
          <a:noFill/>
          <a:ln/>
        </p:spPr>
        <p:txBody>
          <a:bodyPr wrap="square" lIns="0" tIns="0" rIns="0" bIns="0" rtlCol="0" anchor="t"/>
          <a:lstStyle/>
          <a:p>
            <a:pPr indent="0" marL="0">
              <a:buNone/>
            </a:pPr>
            <a:r>
              <a:rPr lang="en-US" sz="1500" dirty="0">
                <a:solidFill>
                  <a:schemeClr val="tx1"/>
                </a:solidFill>
              </a:rPr>
              <a:t>Ертегідегі ойынды өзің ойнап көру</a:t>
            </a:r>
            <a:endParaRPr lang="en-US" sz="1500" dirty="0"/>
          </a:p>
        </p:txBody>
      </p:sp>
      <p:sp>
        <p:nvSpPr>
          <p:cNvPr id="12" name="use-2-circle"/>
          <p:cNvSpPr/>
          <p:nvPr/>
        </p:nvSpPr>
        <p:spPr>
          <a:xfrm>
            <a:off x="7406640" y="4709160"/>
            <a:ext cx="731520" cy="731520"/>
          </a:xfrm>
          <a:prstGeom prst="ellipse">
            <a:avLst/>
          </a:prstGeom>
          <a:solidFill>
            <a:schemeClr val="accent3"/>
          </a:solidFill>
          <a:ln/>
        </p:spPr>
      </p:sp>
      <p:pic>
        <p:nvPicPr>
          <p:cNvPr id="13" name="use-2-icon" descr="preencoded.png">    </p:cNvPr>
          <p:cNvPicPr>
            <a:picLocks noChangeAspect="1"/>
          </p:cNvPicPr>
          <p:nvPr/>
        </p:nvPicPr>
        <p:blipFill>
          <a:blip r:embed="rId4"/>
          <a:stretch>
            <a:fillRect/>
          </a:stretch>
        </p:blipFill>
        <p:spPr>
          <a:xfrm>
            <a:off x="7582205" y="4884725"/>
            <a:ext cx="380390" cy="380390"/>
          </a:xfrm>
          <a:prstGeom prst="rect">
            <a:avLst/>
          </a:prstGeom>
        </p:spPr>
      </p:pic>
      <p:sp>
        <p:nvSpPr>
          <p:cNvPr id="14" name="use-title-2"/>
          <p:cNvSpPr txBox="1"/>
          <p:nvPr/>
        </p:nvSpPr>
        <p:spPr>
          <a:xfrm>
            <a:off x="8321040" y="46177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Әр карточкада</a:t>
            </a:r>
            <a:endParaRPr lang="en-US" sz="1800" dirty="0"/>
          </a:p>
        </p:txBody>
      </p:sp>
      <p:sp>
        <p:nvSpPr>
          <p:cNvPr id="15" name="use-text-2"/>
          <p:cNvSpPr txBox="1"/>
          <p:nvPr/>
        </p:nvSpPr>
        <p:spPr>
          <a:xfrm>
            <a:off x="8321040" y="5120640"/>
            <a:ext cx="3291840" cy="822960"/>
          </a:xfrm>
          <a:prstGeom prst="rect">
            <a:avLst/>
          </a:prstGeom>
          <a:noFill/>
          <a:ln/>
        </p:spPr>
        <p:txBody>
          <a:bodyPr wrap="square" lIns="0" tIns="0" rIns="0" bIns="0" rtlCol="0" anchor="t"/>
          <a:lstStyle/>
          <a:p>
            <a:pPr indent="0" marL="0">
              <a:buNone/>
            </a:pPr>
            <a:r>
              <a:rPr lang="en-US" sz="1500" dirty="0">
                <a:solidFill>
                  <a:schemeClr val="tx1"/>
                </a:solidFill>
              </a:rPr>
              <a:t>Ойынның атауы мен түрі, ережесі және ертегі эпизоды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Қорытынды</a:t>
            </a:r>
            <a:endParaRPr lang="en-US" sz="3200" dirty="0"/>
          </a:p>
        </p:txBody>
      </p:sp>
      <p:sp>
        <p:nvSpPr>
          <p:cNvPr id="3" name="concl-num-bg-0"/>
          <p:cNvSpPr/>
          <p:nvPr/>
        </p:nvSpPr>
        <p:spPr>
          <a:xfrm>
            <a:off x="548640" y="1490472"/>
            <a:ext cx="566928" cy="566928"/>
          </a:xfrm>
          <a:prstGeom prst="ellipse">
            <a:avLst/>
          </a:prstGeom>
          <a:solidFill>
            <a:schemeClr val="accent1"/>
          </a:solidFill>
          <a:ln/>
        </p:spPr>
      </p:sp>
      <p:sp>
        <p:nvSpPr>
          <p:cNvPr id="4" name="concl-num-0"/>
          <p:cNvSpPr txBox="1"/>
          <p:nvPr/>
        </p:nvSpPr>
        <p:spPr>
          <a:xfrm>
            <a:off x="548640" y="149047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oncl-text-0"/>
          <p:cNvSpPr txBox="1"/>
          <p:nvPr/>
        </p:nvSpPr>
        <p:spPr>
          <a:xfrm>
            <a:off x="1371600" y="1417320"/>
            <a:ext cx="10241280" cy="731520"/>
          </a:xfrm>
          <a:prstGeom prst="rect">
            <a:avLst/>
          </a:prstGeom>
          <a:noFill/>
          <a:ln/>
        </p:spPr>
        <p:txBody>
          <a:bodyPr wrap="square" lIns="0" tIns="0" rIns="0" bIns="0" rtlCol="0" anchor="ctr"/>
          <a:lstStyle/>
          <a:p>
            <a:pPr indent="0" marL="0">
              <a:buNone/>
            </a:pPr>
            <a:r>
              <a:rPr lang="en-US" sz="1900" dirty="0">
                <a:solidFill>
                  <a:schemeClr val="tx1"/>
                </a:solidFill>
              </a:rPr>
              <a:t>11 шығарманың бәрінде ұлттық ойын бар: 16 эпизод, ең жиісі – бәйге мен асық</a:t>
            </a:r>
            <a:endParaRPr lang="en-US" sz="1900" dirty="0"/>
          </a:p>
        </p:txBody>
      </p:sp>
      <p:sp>
        <p:nvSpPr>
          <p:cNvPr id="6" name="concl-num-bg-1"/>
          <p:cNvSpPr/>
          <p:nvPr/>
        </p:nvSpPr>
        <p:spPr>
          <a:xfrm>
            <a:off x="548640" y="2423160"/>
            <a:ext cx="566928" cy="566928"/>
          </a:xfrm>
          <a:prstGeom prst="ellipse">
            <a:avLst/>
          </a:prstGeom>
          <a:solidFill>
            <a:schemeClr val="accent1"/>
          </a:solidFill>
          <a:ln/>
        </p:spPr>
      </p:sp>
      <p:sp>
        <p:nvSpPr>
          <p:cNvPr id="7" name="concl-num-1"/>
          <p:cNvSpPr txBox="1"/>
          <p:nvPr/>
        </p:nvSpPr>
        <p:spPr>
          <a:xfrm>
            <a:off x="548640" y="2423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concl-text-1"/>
          <p:cNvSpPr txBox="1"/>
          <p:nvPr/>
        </p:nvSpPr>
        <p:spPr>
          <a:xfrm>
            <a:off x="1371600" y="2350008"/>
            <a:ext cx="10241280" cy="731520"/>
          </a:xfrm>
          <a:prstGeom prst="rect">
            <a:avLst/>
          </a:prstGeom>
          <a:noFill/>
          <a:ln/>
        </p:spPr>
        <p:txBody>
          <a:bodyPr wrap="square" lIns="0" tIns="0" rIns="0" bIns="0" rtlCol="0" anchor="ctr"/>
          <a:lstStyle/>
          <a:p>
            <a:pPr indent="0" marL="0">
              <a:buNone/>
            </a:pPr>
            <a:r>
              <a:rPr lang="en-US" sz="1900" dirty="0">
                <a:solidFill>
                  <a:schemeClr val="tx1"/>
                </a:solidFill>
              </a:rPr>
              <a:t>Жырда ат ойындары басым, ертегіде – күрес; 12 ойынның 6-уы мүлде кездеспеді</a:t>
            </a:r>
            <a:endParaRPr lang="en-US" sz="1900" dirty="0"/>
          </a:p>
        </p:txBody>
      </p:sp>
      <p:sp>
        <p:nvSpPr>
          <p:cNvPr id="9" name="concl-num-bg-2"/>
          <p:cNvSpPr/>
          <p:nvPr/>
        </p:nvSpPr>
        <p:spPr>
          <a:xfrm>
            <a:off x="548640" y="3355848"/>
            <a:ext cx="566928" cy="566928"/>
          </a:xfrm>
          <a:prstGeom prst="ellipse">
            <a:avLst/>
          </a:prstGeom>
          <a:solidFill>
            <a:schemeClr val="accent1"/>
          </a:solidFill>
          <a:ln/>
        </p:spPr>
      </p:sp>
      <p:sp>
        <p:nvSpPr>
          <p:cNvPr id="10" name="concl-num-2"/>
          <p:cNvSpPr txBox="1"/>
          <p:nvPr/>
        </p:nvSpPr>
        <p:spPr>
          <a:xfrm>
            <a:off x="548640" y="335584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concl-text-2"/>
          <p:cNvSpPr txBox="1"/>
          <p:nvPr/>
        </p:nvSpPr>
        <p:spPr>
          <a:xfrm>
            <a:off x="1371600" y="3282696"/>
            <a:ext cx="10241280" cy="731520"/>
          </a:xfrm>
          <a:prstGeom prst="rect">
            <a:avLst/>
          </a:prstGeom>
          <a:noFill/>
          <a:ln/>
        </p:spPr>
        <p:txBody>
          <a:bodyPr wrap="square" lIns="0" tIns="0" rIns="0" bIns="0" rtlCol="0" anchor="ctr"/>
          <a:lstStyle/>
          <a:p>
            <a:pPr indent="0" marL="0">
              <a:buNone/>
            </a:pPr>
            <a:r>
              <a:rPr lang="en-US" sz="1900" dirty="0">
                <a:solidFill>
                  <a:schemeClr val="tx1"/>
                </a:solidFill>
              </a:rPr>
              <a:t>Ертегіде ойын – сынақ, жырда – батырдың қасиеті, ал асық – оқиғаның бастауы</a:t>
            </a:r>
            <a:endParaRPr lang="en-US" sz="1900" dirty="0"/>
          </a:p>
        </p:txBody>
      </p:sp>
      <p:sp>
        <p:nvSpPr>
          <p:cNvPr id="12" name="concl-num-bg-3"/>
          <p:cNvSpPr/>
          <p:nvPr/>
        </p:nvSpPr>
        <p:spPr>
          <a:xfrm>
            <a:off x="548640" y="4288536"/>
            <a:ext cx="566928" cy="566928"/>
          </a:xfrm>
          <a:prstGeom prst="ellipse">
            <a:avLst/>
          </a:prstGeom>
          <a:solidFill>
            <a:schemeClr val="accent1"/>
          </a:solidFill>
          <a:ln/>
        </p:spPr>
      </p:sp>
      <p:sp>
        <p:nvSpPr>
          <p:cNvPr id="13" name="concl-num-3"/>
          <p:cNvSpPr txBox="1"/>
          <p:nvPr/>
        </p:nvSpPr>
        <p:spPr>
          <a:xfrm>
            <a:off x="548640" y="428853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concl-text-3"/>
          <p:cNvSpPr txBox="1"/>
          <p:nvPr/>
        </p:nvSpPr>
        <p:spPr>
          <a:xfrm>
            <a:off x="1371600" y="4215384"/>
            <a:ext cx="10241280" cy="731520"/>
          </a:xfrm>
          <a:prstGeom prst="rect">
            <a:avLst/>
          </a:prstGeom>
          <a:noFill/>
          <a:ln/>
        </p:spPr>
        <p:txBody>
          <a:bodyPr wrap="square" lIns="0" tIns="0" rIns="0" bIns="0" rtlCol="0" anchor="ctr"/>
          <a:lstStyle/>
          <a:p>
            <a:pPr indent="0" marL="0">
              <a:buNone/>
            </a:pPr>
            <a:r>
              <a:rPr lang="en-US" sz="1900" dirty="0">
                <a:solidFill>
                  <a:schemeClr val="tx1"/>
                </a:solidFill>
              </a:rPr>
              <a:t>Сыныптастарым ойындардың атын біледі, бірақ көбін ойнамаған; ең сүйікті ойын – асық</a:t>
            </a:r>
            <a:endParaRPr lang="en-US" sz="1900" dirty="0"/>
          </a:p>
        </p:txBody>
      </p:sp>
      <p:sp>
        <p:nvSpPr>
          <p:cNvPr id="15" name="limits"/>
          <p:cNvSpPr/>
          <p:nvPr/>
        </p:nvSpPr>
        <p:spPr>
          <a:xfrm>
            <a:off x="548640" y="5257800"/>
            <a:ext cx="5349240" cy="868680"/>
          </a:xfrm>
          <a:prstGeom prst="roundRect">
            <a:avLst>
              <a:gd name="adj" fmla="val 12632"/>
            </a:avLst>
          </a:prstGeom>
          <a:solidFill>
            <a:schemeClr val="bg2"/>
          </a:solidFill>
          <a:ln/>
        </p:spPr>
      </p:sp>
      <p:sp>
        <p:nvSpPr>
          <p:cNvPr id="16" name="limits-text"/>
          <p:cNvSpPr txBox="1"/>
          <p:nvPr/>
        </p:nvSpPr>
        <p:spPr>
          <a:xfrm>
            <a:off x="777240" y="5257800"/>
            <a:ext cx="4937760" cy="868680"/>
          </a:xfrm>
          <a:prstGeom prst="rect">
            <a:avLst/>
          </a:prstGeom>
          <a:noFill/>
          <a:ln/>
        </p:spPr>
        <p:txBody>
          <a:bodyPr wrap="square" lIns="0" tIns="0" rIns="0" bIns="0" rtlCol="0" anchor="ctr"/>
          <a:lstStyle/>
          <a:p>
            <a:pPr indent="0" marL="0">
              <a:buNone/>
            </a:pPr>
            <a:r>
              <a:rPr lang="en-US" sz="1500" b="1" dirty="0">
                <a:solidFill>
                  <a:schemeClr val="tx2"/>
                </a:solidFill>
              </a:rPr>
              <a:t>Шектеулер: </a:t>
            </a:r>
            <a:pPr indent="0" marL="0">
              <a:buNone/>
            </a:pPr>
            <a:r>
              <a:rPr lang="en-US" sz="1500" dirty="0">
                <a:solidFill>
                  <a:schemeClr val="tx1"/>
                </a:solidFill>
              </a:rPr>
              <a:t>11 шығарма (4 ертегі), бір мектептің 19 оқушысы</a:t>
            </a:r>
            <a:endParaRPr lang="en-US" sz="1500" dirty="0"/>
          </a:p>
        </p:txBody>
      </p:sp>
      <p:sp>
        <p:nvSpPr>
          <p:cNvPr id="17" name="next"/>
          <p:cNvSpPr/>
          <p:nvPr/>
        </p:nvSpPr>
        <p:spPr>
          <a:xfrm>
            <a:off x="6263640" y="5257800"/>
            <a:ext cx="5349240" cy="868680"/>
          </a:xfrm>
          <a:prstGeom prst="roundRect">
            <a:avLst>
              <a:gd name="adj" fmla="val 12632"/>
            </a:avLst>
          </a:prstGeom>
          <a:solidFill>
            <a:schemeClr val="bg2"/>
          </a:solidFill>
          <a:ln/>
        </p:spPr>
      </p:sp>
      <p:sp>
        <p:nvSpPr>
          <p:cNvPr id="18" name="next-text"/>
          <p:cNvSpPr txBox="1"/>
          <p:nvPr/>
        </p:nvSpPr>
        <p:spPr>
          <a:xfrm>
            <a:off x="6492240" y="5257800"/>
            <a:ext cx="4937760" cy="868680"/>
          </a:xfrm>
          <a:prstGeom prst="rect">
            <a:avLst/>
          </a:prstGeom>
          <a:noFill/>
          <a:ln/>
        </p:spPr>
        <p:txBody>
          <a:bodyPr wrap="square" lIns="0" tIns="0" rIns="0" bIns="0" rtlCol="0" anchor="ctr"/>
          <a:lstStyle/>
          <a:p>
            <a:pPr indent="0" marL="0">
              <a:buNone/>
            </a:pPr>
            <a:r>
              <a:rPr lang="en-US" sz="1500" b="1" dirty="0">
                <a:solidFill>
                  <a:schemeClr val="tx2"/>
                </a:solidFill>
              </a:rPr>
              <a:t>Келешекте: </a:t>
            </a:r>
            <a:pPr indent="0" marL="0">
              <a:buNone/>
            </a:pPr>
            <a:r>
              <a:rPr lang="en-US" sz="1500" dirty="0">
                <a:solidFill>
                  <a:schemeClr val="tx1"/>
                </a:solidFill>
              </a:rPr>
              <a:t>көбірек ертегі, ата-әжелермен сұхбат</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675120" cy="2468880"/>
          </a:xfrm>
          <a:prstGeom prst="rect">
            <a:avLst/>
          </a:prstGeom>
          <a:noFill/>
          <a:ln/>
        </p:spPr>
        <p:txBody>
          <a:bodyPr wrap="square" lIns="0" tIns="0" rIns="0" bIns="0" rtlCol="0" anchor="t"/>
          <a:lstStyle/>
          <a:p>
            <a:pPr algn="l" indent="0" marL="0">
              <a:buNone/>
            </a:pPr>
            <a:r>
              <a:rPr lang="en-US" sz="4000" b="1" dirty="0">
                <a:solidFill>
                  <a:schemeClr val="bg1"/>
                </a:solidFill>
              </a:rPr>
              <a:t>Ойын – ертегінің жүрегі</a:t>
            </a:r>
            <a:endParaRPr lang="en-US" sz="4000" dirty="0"/>
          </a:p>
        </p:txBody>
      </p:sp>
      <p:sp>
        <p:nvSpPr>
          <p:cNvPr id="3" name="end-sub"/>
          <p:cNvSpPr txBox="1"/>
          <p:nvPr/>
        </p:nvSpPr>
        <p:spPr>
          <a:xfrm>
            <a:off x="731520" y="2743200"/>
            <a:ext cx="6675120" cy="914400"/>
          </a:xfrm>
          <a:prstGeom prst="rect">
            <a:avLst/>
          </a:prstGeom>
          <a:noFill/>
          <a:ln/>
        </p:spPr>
        <p:txBody>
          <a:bodyPr wrap="square" lIns="0" tIns="0" rIns="0" bIns="0" rtlCol="0" anchor="t"/>
          <a:lstStyle/>
          <a:p>
            <a:pPr indent="0" marL="0">
              <a:buNone/>
            </a:pPr>
            <a:r>
              <a:rPr lang="en-US" sz="2200" dirty="0">
                <a:solidFill>
                  <a:schemeClr val="bg2"/>
                </a:solidFill>
              </a:rPr>
              <a:t>Ол батырды сынайды, күшін көрсетеді және жолға шығарады</a:t>
            </a:r>
            <a:endParaRPr lang="en-US" sz="2200" dirty="0"/>
          </a:p>
        </p:txBody>
      </p:sp>
      <p:sp>
        <p:nvSpPr>
          <p:cNvPr id="4" name="Text 0"/>
          <p:cNvSpPr/>
          <p:nvPr>
            <p:ph idx="101" type="body" hasCustomPrompt="1"/>
          </p:nvPr>
        </p:nvSpPr>
        <p:spPr>
          <a:xfrm>
            <a:off x="731520" y="4023360"/>
            <a:ext cx="6675120" cy="822960"/>
          </a:xfrm>
          <a:prstGeom prst="rect">
            <a:avLst/>
          </a:prstGeom>
          <a:noFill/>
          <a:ln/>
        </p:spPr>
        <p:txBody>
          <a:bodyPr wrap="square" lIns="0" tIns="0" rIns="0" bIns="0" rtlCol="0" anchor="t"/>
          <a:lstStyle/>
          <a:p>
            <a:pPr algn="l" indent="0" marL="0">
              <a:buNone/>
            </a:pPr>
            <a:r>
              <a:rPr lang="en-US" sz="1800" i="1" dirty="0">
                <a:solidFill>
                  <a:schemeClr val="accent2"/>
                </a:solidFill>
              </a:rPr>
              <a:t>Назарларыңызға рахмет! Сұрақтарыңызға жауап беруге дайынмын</a:t>
            </a:r>
            <a:endParaRPr lang="en-US" sz="1800" dirty="0"/>
          </a:p>
        </p:txBody>
      </p:sp>
      <p:sp>
        <p:nvSpPr>
          <p:cNvPr id="5" name="end-stat-0"/>
          <p:cNvSpPr/>
          <p:nvPr/>
        </p:nvSpPr>
        <p:spPr>
          <a:xfrm>
            <a:off x="8138160" y="1463040"/>
            <a:ext cx="3383280" cy="1143000"/>
          </a:xfrm>
          <a:prstGeom prst="roundRect">
            <a:avLst>
              <a:gd name="adj" fmla="val 9600"/>
            </a:avLst>
          </a:prstGeom>
          <a:solidFill>
            <a:schemeClr val="bg1"/>
          </a:solidFill>
          <a:ln/>
        </p:spPr>
      </p:sp>
      <p:sp>
        <p:nvSpPr>
          <p:cNvPr id="6" name="end-stat-text-0"/>
          <p:cNvSpPr txBox="1"/>
          <p:nvPr/>
        </p:nvSpPr>
        <p:spPr>
          <a:xfrm>
            <a:off x="8412480" y="1463040"/>
            <a:ext cx="2926080" cy="1143000"/>
          </a:xfrm>
          <a:prstGeom prst="rect">
            <a:avLst/>
          </a:prstGeom>
          <a:noFill/>
          <a:ln/>
        </p:spPr>
        <p:txBody>
          <a:bodyPr wrap="square" lIns="0" tIns="0" rIns="0" bIns="0" rtlCol="0" anchor="ctr"/>
          <a:lstStyle/>
          <a:p>
            <a:pPr indent="0" marL="0">
              <a:buNone/>
            </a:pPr>
            <a:r>
              <a:rPr lang="en-US" sz="3000" b="1" dirty="0">
                <a:solidFill>
                  <a:srgbClr val="0D4A5E"/>
                </a:solidFill>
                <a:latin typeface="Cambria" pitchFamily="34" charset="0"/>
                <a:ea typeface="Cambria" pitchFamily="34" charset="-122"/>
                <a:cs typeface="Cambria" pitchFamily="34" charset="-120"/>
              </a:rPr>
              <a:t>11</a:t>
            </a:r>
            <a:endParaRPr lang="en-US" sz="3000" dirty="0"/>
          </a:p>
          <a:p>
            <a:pPr indent="0" marL="0">
              <a:buNone/>
            </a:pPr>
            <a:r>
              <a:rPr lang="en-US" sz="1400" dirty="0">
                <a:solidFill>
                  <a:srgbClr val="5E6E75"/>
                </a:solidFill>
              </a:rPr>
              <a:t>Шығарма</a:t>
            </a:r>
            <a:endParaRPr lang="en-US" sz="3000" dirty="0"/>
          </a:p>
        </p:txBody>
      </p:sp>
      <p:sp>
        <p:nvSpPr>
          <p:cNvPr id="7" name="end-stat-1"/>
          <p:cNvSpPr/>
          <p:nvPr/>
        </p:nvSpPr>
        <p:spPr>
          <a:xfrm>
            <a:off x="8138160" y="2834640"/>
            <a:ext cx="3383280" cy="1143000"/>
          </a:xfrm>
          <a:prstGeom prst="roundRect">
            <a:avLst>
              <a:gd name="adj" fmla="val 9600"/>
            </a:avLst>
          </a:prstGeom>
          <a:solidFill>
            <a:schemeClr val="bg1"/>
          </a:solidFill>
          <a:ln/>
        </p:spPr>
      </p:sp>
      <p:sp>
        <p:nvSpPr>
          <p:cNvPr id="8" name="end-stat-text-1"/>
          <p:cNvSpPr txBox="1"/>
          <p:nvPr/>
        </p:nvSpPr>
        <p:spPr>
          <a:xfrm>
            <a:off x="8412480" y="2834640"/>
            <a:ext cx="2926080" cy="1143000"/>
          </a:xfrm>
          <a:prstGeom prst="rect">
            <a:avLst/>
          </a:prstGeom>
          <a:noFill/>
          <a:ln/>
        </p:spPr>
        <p:txBody>
          <a:bodyPr wrap="square" lIns="0" tIns="0" rIns="0" bIns="0" rtlCol="0" anchor="ctr"/>
          <a:lstStyle/>
          <a:p>
            <a:pPr indent="0" marL="0">
              <a:buNone/>
            </a:pPr>
            <a:r>
              <a:rPr lang="en-US" sz="3000" b="1" dirty="0">
                <a:solidFill>
                  <a:srgbClr val="0D4A5E"/>
                </a:solidFill>
                <a:latin typeface="Cambria" pitchFamily="34" charset="0"/>
                <a:ea typeface="Cambria" pitchFamily="34" charset="-122"/>
                <a:cs typeface="Cambria" pitchFamily="34" charset="-120"/>
              </a:rPr>
              <a:t>16</a:t>
            </a:r>
            <a:endParaRPr lang="en-US" sz="3000" dirty="0"/>
          </a:p>
          <a:p>
            <a:pPr indent="0" marL="0">
              <a:buNone/>
            </a:pPr>
            <a:r>
              <a:rPr lang="en-US" sz="1400" dirty="0">
                <a:solidFill>
                  <a:srgbClr val="5E6E75"/>
                </a:solidFill>
              </a:rPr>
              <a:t>Ойын эпизоды</a:t>
            </a:r>
            <a:endParaRPr lang="en-US" sz="3000" dirty="0"/>
          </a:p>
        </p:txBody>
      </p:sp>
      <p:sp>
        <p:nvSpPr>
          <p:cNvPr id="9" name="end-stat-2"/>
          <p:cNvSpPr/>
          <p:nvPr/>
        </p:nvSpPr>
        <p:spPr>
          <a:xfrm>
            <a:off x="8138160" y="4206240"/>
            <a:ext cx="3383280" cy="1143000"/>
          </a:xfrm>
          <a:prstGeom prst="roundRect">
            <a:avLst>
              <a:gd name="adj" fmla="val 9600"/>
            </a:avLst>
          </a:prstGeom>
          <a:solidFill>
            <a:schemeClr val="bg1"/>
          </a:solidFill>
          <a:ln/>
        </p:spPr>
      </p:sp>
      <p:sp>
        <p:nvSpPr>
          <p:cNvPr id="10" name="end-stat-text-2"/>
          <p:cNvSpPr txBox="1"/>
          <p:nvPr/>
        </p:nvSpPr>
        <p:spPr>
          <a:xfrm>
            <a:off x="8412480" y="4206240"/>
            <a:ext cx="2926080" cy="1143000"/>
          </a:xfrm>
          <a:prstGeom prst="rect">
            <a:avLst/>
          </a:prstGeom>
          <a:noFill/>
          <a:ln/>
        </p:spPr>
        <p:txBody>
          <a:bodyPr wrap="square" lIns="0" tIns="0" rIns="0" bIns="0" rtlCol="0" anchor="ctr"/>
          <a:lstStyle/>
          <a:p>
            <a:pPr indent="0" marL="0">
              <a:buNone/>
            </a:pPr>
            <a:r>
              <a:rPr lang="en-US" sz="3000" b="1" dirty="0">
                <a:solidFill>
                  <a:srgbClr val="0D4A5E"/>
                </a:solidFill>
                <a:latin typeface="Cambria" pitchFamily="34" charset="0"/>
                <a:ea typeface="Cambria" pitchFamily="34" charset="-122"/>
                <a:cs typeface="Cambria" pitchFamily="34" charset="-120"/>
              </a:rPr>
              <a:t>19 оқушы</a:t>
            </a:r>
            <a:endParaRPr lang="en-US" sz="3000" dirty="0"/>
          </a:p>
          <a:p>
            <a:pPr indent="0" marL="0">
              <a:buNone/>
            </a:pPr>
            <a:r>
              <a:rPr lang="en-US" sz="1400" dirty="0">
                <a:solidFill>
                  <a:srgbClr val="5E6E75"/>
                </a:solidFill>
              </a:rPr>
              <a:t>Сауалнама</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Қосымша: табылған 16 эпизод</a:t>
            </a:r>
            <a:endParaRPr lang="en-US" sz="3200" dirty="0"/>
          </a:p>
        </p:txBody>
      </p:sp>
      <p:graphicFrame>
        <p:nvGraphicFramePr>
          <p:cNvPr id="16" name="table-ep-0"/>
          <p:cNvGraphicFramePr>
            <a:graphicFrameLocks noGrp="1"/>
          </p:cNvGraphicFramePr>
          <p:nvPr>
            <p:extLst>
              <p:ext uri="{D42A27DB-BD31-4B8C-83A1-F6EECF244321}">
                <p14:modId xmlns:p14="http://schemas.microsoft.com/office/powerpoint/2010/main" val="1579011935"/>
              </p:ext>
            </p:extLst>
          </p:nvPr>
        </p:nvGraphicFramePr>
        <p:xfrm>
          <a:off x="548640" y="1325880"/>
          <a:ext cx="5394960" cy="914400"/>
        </p:xfrm>
        <a:graphic>
          <a:graphicData uri="http://schemas.openxmlformats.org/drawingml/2006/table">
            <a:tbl>
              <a:tblPr/>
              <a:tblGrid>
                <a:gridCol w="3017520"/>
                <a:gridCol w="1691640"/>
                <a:gridCol w="685800"/>
              </a:tblGrid>
              <a:tr h="502920">
                <a:tc>
                  <a:txBody>
                    <a:bodyPr/>
                    <a:lstStyle/>
                    <a:p>
                      <a:pPr indent="0" marL="0">
                        <a:buNone/>
                      </a:pPr>
                      <a:r>
                        <a:rPr lang="en-US" sz="1400" b="1" dirty="0">
                          <a:solidFill>
                            <a:srgbClr val="FFFFFF"/>
                          </a:solidFill>
                          <a:latin typeface="+mn-lt" pitchFamily="34" charset="0"/>
                          <a:ea typeface="+mn-lt" pitchFamily="34" charset="-122"/>
                          <a:cs typeface="+mn-lt" pitchFamily="34" charset="-120"/>
                        </a:rPr>
                        <a:t>Шығарма</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Ойын</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Код</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Алпамыс батыр</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Жамбы ату</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Алпамыс батыр</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Көкпар</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Қобыланды батыр</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Бәйге</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Ер Төстік</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Бәйге</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Ер Төстік</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Күрес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Ер Төстік</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Асық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Керқұла атты Кендебай</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Күрес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Алтын сақа</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Асық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bl>
          </a:graphicData>
        </a:graphic>
      </p:graphicFrame>
      <p:graphicFrame>
        <p:nvGraphicFramePr>
          <p:cNvPr id="31" name="table-ep-1"/>
          <p:cNvGraphicFramePr>
            <a:graphicFrameLocks noGrp="1"/>
          </p:cNvGraphicFramePr>
          <p:nvPr>
            <p:extLst>
              <p:ext uri="{D42A27DB-BD31-4B8C-83A1-F6EECF244321}">
                <p14:modId xmlns:p14="http://schemas.microsoft.com/office/powerpoint/2010/main" val="1579011935"/>
              </p:ext>
            </p:extLst>
          </p:nvPr>
        </p:nvGraphicFramePr>
        <p:xfrm>
          <a:off x="6217920" y="1325880"/>
          <a:ext cx="5394960" cy="914400"/>
        </p:xfrm>
        <a:graphic>
          <a:graphicData uri="http://schemas.openxmlformats.org/drawingml/2006/table">
            <a:tbl>
              <a:tblPr/>
              <a:tblGrid>
                <a:gridCol w="3017520"/>
                <a:gridCol w="1691640"/>
                <a:gridCol w="685800"/>
              </a:tblGrid>
              <a:tr h="502920">
                <a:tc>
                  <a:txBody>
                    <a:bodyPr/>
                    <a:lstStyle/>
                    <a:p>
                      <a:pPr indent="0" marL="0">
                        <a:buNone/>
                      </a:pPr>
                      <a:r>
                        <a:rPr lang="en-US" sz="1400" b="1" dirty="0">
                          <a:solidFill>
                            <a:srgbClr val="FFFFFF"/>
                          </a:solidFill>
                          <a:latin typeface="+mn-lt" pitchFamily="34" charset="0"/>
                          <a:ea typeface="+mn-lt" pitchFamily="34" charset="-122"/>
                          <a:cs typeface="+mn-lt" pitchFamily="34" charset="-120"/>
                        </a:rPr>
                        <a:t>Шығарма</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Ойын</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Код</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solidFill>
                      <a:srgbClr val="0D4A5E"/>
                    </a:solidFill>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Қыз Жібек</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Асық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Күн астындағы Күнікей қыз</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Жаяу бәйге</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Күн астындағы Күнікей қыз</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Күрес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B5532F"/>
                          </a:solidFill>
                          <a:latin typeface="+mn-lt" pitchFamily="34" charset="0"/>
                          <a:ea typeface="+mn-lt" pitchFamily="34" charset="-122"/>
                          <a:cs typeface="+mn-lt" pitchFamily="34" charset="-120"/>
                        </a:rPr>
                        <a:t>С</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Ер Тарғын</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Бәйге</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Қамбар батыр</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Аударыспақ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Қозы Көрпеш – Баян сұлу</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Аударыспақ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Қозы Көрпеш – Баян сұлу</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Асық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r h="502920">
                <a:tc>
                  <a:txBody>
                    <a:bodyPr/>
                    <a:lstStyle/>
                    <a:p>
                      <a:pPr indent="0" marL="0">
                        <a:buNone/>
                      </a:pPr>
                      <a:r>
                        <a:rPr lang="en-US" sz="1400" dirty="0">
                          <a:solidFill>
                            <a:srgbClr val="1C2B33"/>
                          </a:solidFill>
                          <a:latin typeface="+mn-lt" pitchFamily="34" charset="0"/>
                          <a:ea typeface="+mn-lt" pitchFamily="34" charset="-122"/>
                          <a:cs typeface="+mn-lt" pitchFamily="34" charset="-120"/>
                        </a:rPr>
                        <a:t>Айман – Шолпан</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indent="0" marL="0">
                        <a:buNone/>
                      </a:pPr>
                      <a:r>
                        <a:rPr lang="en-US" sz="1400" dirty="0">
                          <a:solidFill>
                            <a:srgbClr val="1C2B33"/>
                          </a:solidFill>
                          <a:latin typeface="+mn-lt" pitchFamily="34" charset="0"/>
                          <a:ea typeface="+mn-lt" pitchFamily="34" charset="-122"/>
                          <a:cs typeface="+mn-lt" pitchFamily="34" charset="-120"/>
                        </a:rPr>
                        <a:t>Бәйге</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c>
                  <a:txBody>
                    <a:bodyPr/>
                    <a:lstStyle/>
                    <a:p>
                      <a:pPr algn="ctr" indent="0" marL="0">
                        <a:buNone/>
                      </a:pPr>
                      <a:r>
                        <a:rPr lang="en-US" sz="1400" b="1" dirty="0">
                          <a:solidFill>
                            <a:srgbClr val="0092B0"/>
                          </a:solidFill>
                          <a:latin typeface="+mn-lt" pitchFamily="34" charset="0"/>
                          <a:ea typeface="+mn-lt" pitchFamily="34" charset="-122"/>
                          <a:cs typeface="+mn-lt" pitchFamily="34" charset="-120"/>
                        </a:rPr>
                        <a:t>Қ</a:t>
                      </a:r>
                      <a:endParaRPr lang="en-US" sz="1400" dirty="0">
                        <a:latin typeface="+mn-lt" charset="0"/>
                        <a:ea typeface="+mn-lt" charset="0"/>
                        <a:cs typeface="+mn-lt" charset="0"/>
                      </a:endParaRPr>
                    </a:p>
                  </a:txBody>
                  <a:tcPr marL="91440" marR="91440" marT="45720" marB="45720" anchor="ctr">
                    <a:lnL w="9525" cap="flat" cmpd="sng" algn="ctr">
                      <a:solidFill>
                        <a:srgbClr val="C9DDE2"/>
                      </a:solidFill>
                      <a:prstDash val="solid"/>
                      <a:round/>
                      <a:headEnd type="none" w="med" len="med"/>
                      <a:tailEnd type="none" w="med" len="med"/>
                    </a:lnL>
                    <a:lnR w="9525" cap="flat" cmpd="sng" algn="ctr">
                      <a:solidFill>
                        <a:srgbClr val="C9DDE2"/>
                      </a:solidFill>
                      <a:prstDash val="solid"/>
                      <a:round/>
                      <a:headEnd type="none" w="med" len="med"/>
                      <a:tailEnd type="none" w="med" len="med"/>
                    </a:lnR>
                    <a:lnT w="9525" cap="flat" cmpd="sng" algn="ctr">
                      <a:solidFill>
                        <a:srgbClr val="C9DDE2"/>
                      </a:solidFill>
                      <a:prstDash val="solid"/>
                      <a:round/>
                      <a:headEnd type="none" w="med" len="med"/>
                      <a:tailEnd type="none" w="med" len="med"/>
                    </a:lnT>
                    <a:lnB w="9525" cap="flat" cmpd="sng" algn="ctr">
                      <a:solidFill>
                        <a:srgbClr val="C9DDE2"/>
                      </a:solidFill>
                      <a:prstDash val="solid"/>
                      <a:round/>
                      <a:headEnd type="none" w="med" len="med"/>
                      <a:tailEnd type="none" w="med" len="med"/>
                    </a:lnB>
                  </a:tcPr>
                </a:tc>
              </a:tr>
            </a:tbl>
          </a:graphicData>
        </a:graphic>
      </p:graphicFrame>
      <p:sp>
        <p:nvSpPr>
          <p:cNvPr id="5" name="leg-e-dot"/>
          <p:cNvSpPr/>
          <p:nvPr/>
        </p:nvSpPr>
        <p:spPr>
          <a:xfrm>
            <a:off x="548640" y="6062472"/>
            <a:ext cx="201168" cy="201168"/>
          </a:xfrm>
          <a:prstGeom prst="ellipse">
            <a:avLst/>
          </a:prstGeom>
          <a:solidFill>
            <a:srgbClr val="B5532F"/>
          </a:solidFill>
          <a:ln/>
        </p:spPr>
      </p:sp>
      <p:sp>
        <p:nvSpPr>
          <p:cNvPr id="6" name="leg-e-label"/>
          <p:cNvSpPr txBox="1"/>
          <p:nvPr/>
        </p:nvSpPr>
        <p:spPr>
          <a:xfrm>
            <a:off x="841248" y="5989320"/>
            <a:ext cx="1463040" cy="347472"/>
          </a:xfrm>
          <a:prstGeom prst="rect">
            <a:avLst/>
          </a:prstGeom>
          <a:noFill/>
          <a:ln/>
        </p:spPr>
        <p:txBody>
          <a:bodyPr wrap="square" lIns="0" tIns="0" rIns="0" bIns="0" rtlCol="0" anchor="ctr"/>
          <a:lstStyle/>
          <a:p>
            <a:pPr indent="0" marL="0">
              <a:buNone/>
            </a:pPr>
            <a:r>
              <a:rPr lang="en-US" sz="1400" dirty="0">
                <a:solidFill>
                  <a:schemeClr val="tx1"/>
                </a:solidFill>
              </a:rPr>
              <a:t>Ертегі</a:t>
            </a:r>
            <a:endParaRPr lang="en-US" sz="1400" dirty="0"/>
          </a:p>
        </p:txBody>
      </p:sp>
      <p:sp>
        <p:nvSpPr>
          <p:cNvPr id="7" name="leg-z-dot"/>
          <p:cNvSpPr/>
          <p:nvPr/>
        </p:nvSpPr>
        <p:spPr>
          <a:xfrm>
            <a:off x="2194560" y="6062472"/>
            <a:ext cx="201168" cy="201168"/>
          </a:xfrm>
          <a:prstGeom prst="ellipse">
            <a:avLst/>
          </a:prstGeom>
          <a:solidFill>
            <a:srgbClr val="0092B0"/>
          </a:solidFill>
          <a:ln/>
        </p:spPr>
      </p:sp>
      <p:sp>
        <p:nvSpPr>
          <p:cNvPr id="8" name="leg-z-label"/>
          <p:cNvSpPr txBox="1"/>
          <p:nvPr/>
        </p:nvSpPr>
        <p:spPr>
          <a:xfrm>
            <a:off x="2487168" y="5989320"/>
            <a:ext cx="1463040" cy="347472"/>
          </a:xfrm>
          <a:prstGeom prst="rect">
            <a:avLst/>
          </a:prstGeom>
          <a:noFill/>
          <a:ln/>
        </p:spPr>
        <p:txBody>
          <a:bodyPr wrap="square" lIns="0" tIns="0" rIns="0" bIns="0" rtlCol="0" anchor="ctr"/>
          <a:lstStyle/>
          <a:p>
            <a:pPr indent="0" marL="0">
              <a:buNone/>
            </a:pPr>
            <a:r>
              <a:rPr lang="en-US" sz="1400" dirty="0">
                <a:solidFill>
                  <a:schemeClr val="tx1"/>
                </a:solidFill>
              </a:rPr>
              <a:t>Жыр</a:t>
            </a:r>
            <a:endParaRPr lang="en-US" sz="1400" dirty="0"/>
          </a:p>
        </p:txBody>
      </p:sp>
      <p:sp>
        <p:nvSpPr>
          <p:cNvPr id="9" name="ep-codes"/>
          <p:cNvSpPr txBox="1"/>
          <p:nvPr/>
        </p:nvSpPr>
        <p:spPr>
          <a:xfrm>
            <a:off x="3840480" y="5989320"/>
            <a:ext cx="7772400" cy="347472"/>
          </a:xfrm>
          <a:prstGeom prst="rect">
            <a:avLst/>
          </a:prstGeom>
          <a:noFill/>
          <a:ln/>
        </p:spPr>
        <p:txBody>
          <a:bodyPr wrap="square" lIns="0" tIns="0" rIns="0" bIns="0" rtlCol="0" anchor="ctr"/>
          <a:lstStyle/>
          <a:p>
            <a:pPr indent="0" marL="0">
              <a:buNone/>
            </a:pPr>
            <a:r>
              <a:rPr lang="en-US" sz="1400" dirty="0">
                <a:solidFill>
                  <a:schemeClr val="accent5"/>
                </a:solidFill>
              </a:rPr>
              <a:t>С – сынақ, Б – сюжетті бастау, Қ – қасиетін көрсету</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Zerde Ulttyq oiyndar">
  <a:themeElements>
    <a:clrScheme name="Zerde Ulttyq oiyndar">
      <a:dk1>
        <a:srgbClr val="1C2B33"/>
      </a:dk1>
      <a:lt1>
        <a:srgbClr val="FFFFFF"/>
      </a:lt1>
      <a:dk2>
        <a:srgbClr val="0D4A5E"/>
      </a:dk2>
      <a:lt2>
        <a:srgbClr val="EAF4F6"/>
      </a:lt2>
      <a:accent1>
        <a:srgbClr val="0092B0"/>
      </a:accent1>
      <a:accent2>
        <a:srgbClr val="E3A400"/>
      </a:accent2>
      <a:accent3>
        <a:srgbClr val="B5532F"/>
      </a:accent3>
      <a:accent4>
        <a:srgbClr val="2E8B57"/>
      </a:accent4>
      <a:accent5>
        <a:srgbClr val="5E6E75"/>
      </a:accent5>
      <a:accent6>
        <a:srgbClr val="7A5195"/>
      </a:accent6>
      <a:hlink>
        <a:srgbClr val="0092B0"/>
      </a:hlink>
      <a:folHlink>
        <a:srgbClr val="7A5195"/>
      </a:folHlink>
    </a:clrScheme>
    <a:fontScheme name="Zerde Ulttyq oiynd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Ертегілер мен жырлардағы ұлттық ойындар</dc:title>
  <dc:subject>PptxGenJS Presentation</dc:subject>
  <dc:creator>PptxGenJS</dc:creator>
  <cp:lastModifiedBy>PptxGenJS</cp:lastModifiedBy>
  <cp:revision>1</cp:revision>
  <dcterms:created xsi:type="dcterms:W3CDTF">2026-10-04T14:27:55Z</dcterms:created>
  <dcterms:modified xsi:type="dcterms:W3CDTF">2026-10-04T14:27:55Z</dcterms:modified>
</cp:coreProperties>
</file>