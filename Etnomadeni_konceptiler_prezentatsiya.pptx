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ecd.org/kk/publications/pisa-2025-results-volume-i_127aae7d-kk/dafefb09-kk.html" TargetMode="External"/><Relationship Id="rId3" Type="http://schemas.openxmlformats.org/officeDocument/2006/relationships/hyperlink" Target="https://www.unesco.org/archives/multimedia/document-3669" TargetMode="External"/><Relationship Id="rId4" Type="http://schemas.openxmlformats.org/officeDocument/2006/relationships/hyperlink" Target="https://www.abai.institute/qara-sozder/otyz-altynsy-soz" TargetMode="External"/><Relationship Id="rId1" Type="http://schemas.openxmlformats.org/officeDocument/2006/relationships/image" Target="../media/image-1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54864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«Қазақ тілі мен әдебиеті: ұлттық код және заманауи білім беру кеңістігі»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B8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республикалық ғылыми-тәжірибелік онлайн конференциясы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Этномәдени концептілер арқылы қазақ тілі мен әдебиетінде оқу сауаттылығын дамыту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1-секция. Ұлттық құндылықтар мен этномәдени концептілерді оқыту, функционалдық оқу сауаттылығын дамыту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Тегі Аты Әкесінің аты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Жұмыс орнының толық атауы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Әдістемелік мәселе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827532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Оқушы дайын тұжырымдарды оңай қайталайды: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3931920" cy="640080"/>
          </a:xfrm>
          <a:prstGeom prst="roundRect">
            <a:avLst>
              <a:gd name="adj" fmla="val 17143"/>
            </a:avLst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645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«Шаңырақ – қасиетті»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57200" y="2423160"/>
            <a:ext cx="3931920" cy="640080"/>
          </a:xfrm>
          <a:prstGeom prst="roundRect">
            <a:avLst>
              <a:gd name="adj" fmla="val 17143"/>
            </a:avLst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0604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423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«Үлкенді құрметтеу керек»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457200" y="3291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Бірақ бұл түсінудің дәлелі емес.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754880" y="114300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Бөлек тексеру керек: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029200" y="1783080"/>
            <a:ext cx="457200" cy="45720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89738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62356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сөздің мәтіндегі мағынасын түсінуі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5029200" y="2441448"/>
            <a:ext cx="457200" cy="45720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2555748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623560" y="24414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пікірін дәлелдей алуы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5029200" y="3099816"/>
            <a:ext cx="457200" cy="45720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0" y="3214116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623560" y="30998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өмірлік жағдайда саналы шешім қабылдауы</a:t>
            </a:r>
            <a:endParaRPr lang="en-US" sz="1400" dirty="0"/>
          </a:p>
        </p:txBody>
      </p:sp>
      <p:sp>
        <p:nvSpPr>
          <p:cNvPr id="24" name="Text 16"/>
          <p:cNvSpPr txBox="1"/>
          <p:nvPr/>
        </p:nvSpPr>
        <p:spPr>
          <a:xfrm>
            <a:off x="5029200" y="38404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Этномәдени мазмұнды оқушының дербес оқу әрекетіне қалай айналдырамыз?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Мақсат және зерттеу әдістері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827532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3334C"/>
          </a:solidFill>
          <a:ln w="12700">
            <a:solidFill>
              <a:srgbClr val="13334C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89888"/>
            <a:ext cx="4572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114300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Мақсат – этномәдени концептіні талдау жолын және оның орындалуын бағалау өлшемдерін ұсыну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457200" y="23774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85800" y="2560320"/>
            <a:ext cx="502920" cy="50292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2686050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85800" y="3108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Дереккөздерді салыстыра оқу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3291840" y="23774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3520440" y="2560320"/>
            <a:ext cx="502920" cy="50292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170" y="2686050"/>
            <a:ext cx="251460" cy="2514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520440" y="3108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Ұғымның контекстік мағынасын ажырату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126480" y="23774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355080" y="2560320"/>
            <a:ext cx="502920" cy="50292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810" y="2686050"/>
            <a:ext cx="251460" cy="2514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355080" y="3108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Оқу тапсырмасын жобалау</a:t>
            </a:r>
            <a:endParaRPr lang="en-US" sz="1350" dirty="0"/>
          </a:p>
        </p:txBody>
      </p:sp>
      <p:sp>
        <p:nvSpPr>
          <p:cNvPr id="20" name="Text 13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Нысаны: </a:t>
            </a:r>
            <a:pPr indent="0" marL="0">
              <a:buNone/>
            </a:pPr>
            <a:r>
              <a:rPr lang="en-US" sz="12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ұлттық мазмұндағы мәтінмен жұмыс. </a:t>
            </a:r>
            <a:pPr indent="0" marL="0">
              <a:buNone/>
            </a:pPr>
            <a:r>
              <a:rPr lang="en-US" sz="1250" b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Сипаты: </a:t>
            </a:r>
            <a:pPr indent="0" marL="0">
              <a:buNone/>
            </a:pPr>
            <a:r>
              <a:rPr lang="en-US" sz="12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теориялық-әдістемелік; эксперимент нәтижелері берілмейді, тапсырмалар – бейімдеуге арналған үлгілер.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Негізгі ұғымдар: жұмыс анықтамалары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827532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023360" cy="2331720"/>
          </a:xfrm>
          <a:prstGeom prst="roundRect">
            <a:avLst>
              <a:gd name="adj" fmla="val 4706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417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Ұлттық код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214884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Тілде, көркем мәтінде және күнделікті қарым-қатынаста көрінетін мәдени мағыналар мен құндылық бағдарларының сабақтастығы.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63440" y="1188720"/>
            <a:ext cx="4023360" cy="2331720"/>
          </a:xfrm>
          <a:prstGeom prst="roundRect">
            <a:avLst>
              <a:gd name="adj" fmla="val 4706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937760" y="1417320"/>
            <a:ext cx="548640" cy="54864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5544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669280" y="1417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Этномәдени концепт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4937760" y="214884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Белгілі бір сөздің айналасына жинақталған заттық, бейнелік және құндылықтық мағыналарды талдау бірлігі.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" y="3749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Сөзді жатқа түсіндіру – концептіні меңгерудің көрсеткіші емес: оқушы оның нақты мәтінде қандай қызмет атқарғанын ашуы қажет.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Теориялық негіз: PISA оқу сауаттылығы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827532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ЭЫДҰ-ның PISA тұжырымдамасында мәтінді түсіну, пайдалану, бағалау және ол туралы ой қорыту өзара байланысты әрекеттер ретінде қарастырылады [1].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89888" y="2148840"/>
            <a:ext cx="640080" cy="64008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908" y="230886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436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Ақпаратты табу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Мәтіннен қажетті деректі дәл анықтау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044952" y="2743200"/>
            <a:ext cx="182880" cy="274320"/>
          </a:xfrm>
          <a:prstGeom prst="chevron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91840" y="196596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24528" y="2148840"/>
            <a:ext cx="640080" cy="64008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548" y="230886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2900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Мағынаны түсіну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429000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Ұғымды контексте түсіндіру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879592" y="2743200"/>
            <a:ext cx="182880" cy="274320"/>
          </a:xfrm>
          <a:prstGeom prst="chevron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126480" y="196596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059168" y="2148840"/>
            <a:ext cx="640080" cy="64008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9188" y="230886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6364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Бағалау мен рефлексия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263640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Дерек сапасын бағалап, пайым жасау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Бұл жіктеу тапсырма жобалауға негіз етіледі; тапсырмалар ресми PISA тапсырмалары немесе өлшеу шкаласы емес.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8275320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Әдістемелік ерекшелік: үш тірек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325880" y="1234440"/>
            <a:ext cx="822960" cy="82296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325880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Мәтіндегі белгі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Ұғымды танытатын әрекет, сөз, деталь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331720" y="1645920"/>
            <a:ext cx="164592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4160520" y="1234440"/>
            <a:ext cx="822960" cy="82296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60520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Қорытынды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Белгіден шығатын мағына, түсіндірме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166360" y="1645920"/>
            <a:ext cx="164592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6995160" y="1234440"/>
            <a:ext cx="822960" cy="82296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95160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Әрекет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0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Бүгінгі ортада қалай жүзеге асатыны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1D4863"/>
          </a:solidFill>
          <a:ln w="12700">
            <a:solidFill>
              <a:srgbClr val="1D486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34747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Мысалы, «қонақжайлық»: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атауды айтумен шектелмей, оны танытатын әрекетті көрсету, мағынасын түсіндіру және бүгін қалай жүзеге асатынын ұсыну. Байланыс үзілген жер – мұғалімге келесі тапсырманың бағыты.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«Шаңырақ» концептісі: 6–7-сынып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827532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3017520" cy="3474720"/>
          </a:xfrm>
          <a:prstGeom prst="roundRect">
            <a:avLst>
              <a:gd name="adj" fmla="val 3636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325880"/>
            <a:ext cx="1097280" cy="10972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Материалдар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92608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Қысқа көркем жағдаят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Киіз үй туралы танымдық мәтін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UNESCO: киіз үй – отбасы мен қонақжайлықтың нышаны [2]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3749040" y="1143000"/>
            <a:ext cx="4937760" cy="3474720"/>
          </a:xfrm>
          <a:prstGeom prst="roundRect">
            <a:avLst>
              <a:gd name="adj" fmla="val 3158"/>
            </a:avLst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32588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434840" y="13075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Авторлық шағын мәтін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3977640" y="1783080"/>
            <a:ext cx="4526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Мектептегі мұра көрмесіне Айша атасының шаңырақ үлгісін әкелді. Ол әуелі ағаш бөлшектердің атауын ғана жазды. Атасы: «Мұны бірге көтерген адамдарды да ұмытпа», – деді. Айша сыныптастарына көрмені бірге әзірлеуді ұсынды. Бірі түсіндірме мәтінін жазды, екіншісі келушілерге жол көрсетті. Көрме соңында Айша шаңырақ үлгісінің жанына осы іске қатысқан адамдардың атын қосты.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3977640" y="41605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Дереккөздегі нақты ой мен оқушының жорамалы ажыратылады.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«Шаңырақ»: тапсырмалар тізбегі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827532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" y="1497330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Табу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371600" y="16459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Айшаның бастапқы және кейінгі әрекетін табу.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663440" y="114300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892040" y="1371600"/>
            <a:ext cx="502920" cy="50292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7770" y="149733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57784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Түсіндіру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5577840" y="16459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«Атасының сөзі көрменің мазмұнын қалай өзгертті? Мәтіндегі екі әрекетпен негізде».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7200" y="260604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85800" y="2834640"/>
            <a:ext cx="502920" cy="50292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" y="296037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Бағалау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" y="31089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Танымдық дерек пен көркем жағдаятты салыстыру: «Бұл деректер барлық отбасы туралы қорытындыға жеткілікті ме?»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663440" y="260604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892040" y="2834640"/>
            <a:ext cx="502920" cy="5029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7770" y="2960370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57784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Қолдану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5577840" y="31089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Төменгі сынып оқушысына көрме туралы таныстыру мәтінін жазу: дерек + дәлел + нақты шақыру.</a:t>
            </a:r>
            <a:endParaRPr lang="en-US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Жалпы үндеудің орнына: </a:t>
            </a:r>
            <a:pPr indent="0" marL="0">
              <a:buNone/>
            </a:pPr>
            <a:r>
              <a:rPr lang="en-US" sz="1200" i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«ұлттық мұраны құрметтейік» емес, «отбасыңдағы бір бұйымның тарихын үлкендерден сұрап, дерек иесін көрсетіп жаз».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«Ұят» концептісі: Абайдың 36-қара сөзі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827532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325880"/>
            <a:ext cx="548640" cy="54864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325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Абай ажыратады [3]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05740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Орынсыз қысылу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Адамның өз әрекетіне адамгершілік тұрғысынан есеп беруі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Қателігін сезінген адамға қайта ауыр сөз айтуды сынайды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37947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Оқушыдан жеке ұялған оқиғасын айту талап етілмейді – талдау ойдан құрастырылған жағдаятқа сүйенеді.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0" y="114300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800600" y="1325880"/>
            <a:ext cx="548640" cy="548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4630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86400" y="1325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Жағдаят: 8–9-сынып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800600" y="201168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Сыныптың ортақ чатында оқушының сәтсіз жауабы түсірілген бейне тарады. Бір оқушы оны күлкілі деп қайта жіберді. Кейін ол сыныптасының ренжігенін білді. Достары хабарламаны өшірсе жеткілікті екенін айтты.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4800600" y="36118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</a:t>
            </a:r>
            <a:pPr indent="0" marL="0">
              <a:buNone/>
            </a:pPr>
            <a:r>
              <a:rPr lang="en-US" sz="1200" b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Абай мәтініндегі қай ой бағалауға негіз болады?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</a:t>
            </a:r>
            <a:pPr indent="0" marL="0">
              <a:buNone/>
            </a:pPr>
            <a:r>
              <a:rPr lang="en-US" sz="1200" b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Қатені түзету үшін қандай қадам керек?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«Ұят»: талқылау және қауіпсіз орта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827532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Салыстырылатын шешімдер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4206240" cy="548640"/>
          </a:xfrm>
          <a:prstGeom prst="roundRect">
            <a:avLst>
              <a:gd name="adj" fmla="val 20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691640"/>
            <a:ext cx="365760" cy="36576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600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Хабарламаны өшіру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57200" y="2286000"/>
            <a:ext cx="4206240" cy="548640"/>
          </a:xfrm>
          <a:prstGeom prst="roundRect">
            <a:avLst>
              <a:gd name="adj" fmla="val 20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94360" y="2377440"/>
            <a:ext cx="365760" cy="36576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68880"/>
            <a:ext cx="182880" cy="1828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22860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Кешірім сұрау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457200" y="2971800"/>
            <a:ext cx="4206240" cy="548640"/>
          </a:xfrm>
          <a:prstGeom prst="roundRect">
            <a:avLst>
              <a:gd name="adj" fmla="val 20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94360" y="3063240"/>
            <a:ext cx="365760" cy="36576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5468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2971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Бейнені әрі қарай таратпау туралы ескерту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457200" y="3703320"/>
            <a:ext cx="4206240" cy="914400"/>
          </a:xfrm>
          <a:prstGeom prst="roundRect">
            <a:avLst>
              <a:gd name="adj" fmla="val 12000"/>
            </a:avLst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40080" y="370332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Бағалау өлшемі: </a:t>
            </a:r>
            <a:pPr indent="0" marL="0">
              <a:buNone/>
            </a:pPr>
            <a:r>
              <a:rPr lang="en-US" sz="125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ұсыныс зардапты қаншалықты азайтады және мәтінмен қалай байланысады.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937760" y="1097280"/>
            <a:ext cx="3749040" cy="3520440"/>
          </a:xfrm>
          <a:prstGeom prst="roundRect">
            <a:avLst>
              <a:gd name="adj" fmla="val 3117"/>
            </a:avLst>
          </a:prstGeom>
          <a:solidFill>
            <a:srgbClr val="13334C"/>
          </a:solidFill>
          <a:ln w="12700">
            <a:solidFill>
              <a:srgbClr val="13334C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212080" y="1280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Мұғалім ұстанымы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212080" y="182880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Баланың жеке басына моральдық баға бермейді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Көпшілік алдында ұялтуды тәрбие тәсілі ретінде ұсынбайды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Оқушы пікірін еркін негіздеуге мүмкіндік алады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Бір мәтін – екі пән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827532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4023360" cy="2514600"/>
          </a:xfrm>
          <a:prstGeom prst="roundRect">
            <a:avLst>
              <a:gd name="adj" fmla="val 4364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371600"/>
            <a:ext cx="594360" cy="59436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" y="1520190"/>
            <a:ext cx="297180" cy="2971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371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Қазақ тілі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219456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Дәлелді абзац жазу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Себеп-салдар байланысын жеткізу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Сөздің контекстік мағынасын ажырату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63440" y="1143000"/>
            <a:ext cx="4023360" cy="2514600"/>
          </a:xfrm>
          <a:prstGeom prst="roundRect">
            <a:avLst>
              <a:gd name="adj" fmla="val 4364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937760" y="1371600"/>
            <a:ext cx="594360" cy="59436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350" y="1520190"/>
            <a:ext cx="297180" cy="2971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715000" y="1371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Қазақ әдебиеті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4937760" y="219456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Автордың пайымдауын талдау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Мысал таңдауының қызметі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Оқырманға бағытталған сұрақтың рөлі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Тапсырманың көлемі мен күрделілігі мұғалім таңдаған оқу мақсатына сәйкес нақтыланады.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Бағалау өлшемдері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827532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4846320" cy="502920"/>
          </a:xfrm>
          <a:prstGeom prst="roundRect">
            <a:avLst>
              <a:gd name="adj" fmla="val 2181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928" y="1216152"/>
            <a:ext cx="356616" cy="356616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2161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143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Қажетті ақпаратты дәл табуы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1143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764792"/>
            <a:ext cx="4846320" cy="502920"/>
          </a:xfrm>
          <a:prstGeom prst="roundRect">
            <a:avLst>
              <a:gd name="adj" fmla="val 2181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1837944"/>
            <a:ext cx="356616" cy="356616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1837944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17647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Ұғымды контексте түсіндіруі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1764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386584"/>
            <a:ext cx="4846320" cy="502920"/>
          </a:xfrm>
          <a:prstGeom prst="roundRect">
            <a:avLst>
              <a:gd name="adj" fmla="val 2181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" y="2459736"/>
            <a:ext cx="356616" cy="356616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6928" y="2459736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238658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Тұжырымын мәтіндік дәлелмен негіздеуі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4526280" y="238658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008376"/>
            <a:ext cx="4846320" cy="502920"/>
          </a:xfrm>
          <a:prstGeom prst="roundRect">
            <a:avLst>
              <a:gd name="adj" fmla="val 2181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" y="3081528"/>
            <a:ext cx="356616" cy="356616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6928" y="3081528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300837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Жаңа жағдаятқа сәйкес шешім ұсынуы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4526280" y="300837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3703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– </a:t>
            </a:r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орындалмаған немесе мәтінге қайшы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– </a:t>
            </a:r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жартылай, байланысы толық ашылмаған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– </a:t>
            </a:r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дұрыс әрі жеткілікті негізделген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669280" y="1143000"/>
            <a:ext cx="3017520" cy="3429000"/>
          </a:xfrm>
          <a:prstGeom prst="roundRect">
            <a:avLst>
              <a:gd name="adj" fmla="val 3636"/>
            </a:avLst>
          </a:prstGeom>
          <a:solidFill>
            <a:srgbClr val="13334C"/>
          </a:solidFill>
          <a:ln w="12700">
            <a:solidFill>
              <a:srgbClr val="13334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669280" y="12801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800" dirty="0"/>
          </a:p>
        </p:txBody>
      </p:sp>
      <p:sp>
        <p:nvSpPr>
          <p:cNvPr id="28" name="Text 25"/>
          <p:cNvSpPr txBox="1"/>
          <p:nvPr/>
        </p:nvSpPr>
        <p:spPr>
          <a:xfrm>
            <a:off x="585216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 – ең жоғары нәтиже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897880" y="31546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 осы қалыптастырушы бағалау құралына қатысты; ұлттық құндылықты меңгерудің әмбебап өлшемі емес.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Жауап үлгілері және кері байланыс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827532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4023360" cy="2011680"/>
          </a:xfrm>
          <a:prstGeom prst="roundRect">
            <a:avLst>
              <a:gd name="adj" fmla="val 5455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rgbClr val="B5543C"/>
          </a:solidFill>
          <a:ln w="12700">
            <a:solidFill>
              <a:srgbClr val="B5543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440180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1325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Қорытынды бар, дәлел жоқ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96596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«Айша бірлікті түсінді».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663440" y="1143000"/>
            <a:ext cx="4023360" cy="2011680"/>
          </a:xfrm>
          <a:prstGeom prst="roundRect">
            <a:avLst>
              <a:gd name="adj" fmla="val 5455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892040" y="1325880"/>
            <a:ext cx="457200" cy="45720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340" y="144018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86400" y="1325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Тұжырым + мәтіндік негіз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892040" y="187452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«Айша сыныптастарына міндет бөліп, кейін олардың атын жазды; демек, көрмені ортақ еңбектің нәтижесі ретінде танытты».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3383280"/>
            <a:ext cx="8229600" cy="1234440"/>
          </a:xfrm>
          <a:prstGeom prst="roundRect">
            <a:avLst>
              <a:gd name="adj" fmla="val 8889"/>
            </a:avLst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85800" y="3611880"/>
            <a:ext cx="502920" cy="5029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" y="373761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3383280"/>
            <a:ext cx="7132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Мұғалімнің нақты кері байланысы: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«Екі әрекетті дұрыс таңдадың, енді олардың шаңырақтың ауыспалы мағынасын қалай ашатынын түсіндір».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Саралап оқыту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827532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4023360" cy="2697480"/>
          </a:xfrm>
          <a:prstGeom prst="roundRect">
            <a:avLst>
              <a:gd name="adj" fmla="val 406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51610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1325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Қолдауды қажет ететін оқушы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201168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Мәтіннің қысқартылған нұсқасы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Тірек сөздер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Сөйлем үлгісі: «Менің ойымша… Оған мәтіндегі… дәлел»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Дәлелді бірнеше нұсқадан таңдап, өз сөзімен түсіндіру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663440" y="1143000"/>
            <a:ext cx="4023360" cy="2697480"/>
          </a:xfrm>
          <a:prstGeom prst="roundRect">
            <a:avLst>
              <a:gd name="adj" fmla="val 406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937760" y="1325880"/>
            <a:ext cx="502920" cy="5029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490" y="145161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623560" y="1325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Дайындығы жоғары оқушы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4937760" y="201168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Қарсы пайым ұсыну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Оны тексеруге қандай қосымша дерек керегін жазу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13334C"/>
          </a:solidFill>
          <a:ln w="12700">
            <a:solidFill>
              <a:srgbClr val="13334C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" y="4023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Ортақ талап: пікірдің мәтінге қатысы анық болуы керек.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Тәжірибеде тексеру жолы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827532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051560" y="1188720"/>
            <a:ext cx="685800" cy="68580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010" y="1360170"/>
            <a:ext cx="342900" cy="3429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874520" y="1531620"/>
            <a:ext cx="114300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dash"/>
          </a:ln>
        </p:spPr>
      </p:sp>
      <p:sp>
        <p:nvSpPr>
          <p:cNvPr id="8" name="Text 4"/>
          <p:cNvSpPr txBox="1"/>
          <p:nvPr/>
        </p:nvSpPr>
        <p:spPr>
          <a:xfrm>
            <a:off x="457200" y="2011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Сабақ басында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2377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Шағын мәтін бойынша жұмыс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154680" y="1188720"/>
            <a:ext cx="685800" cy="68580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130" y="1360170"/>
            <a:ext cx="342900" cy="3429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977640" y="1531620"/>
            <a:ext cx="114300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dash"/>
          </a:ln>
        </p:spPr>
      </p:sp>
      <p:sp>
        <p:nvSpPr>
          <p:cNvPr id="13" name="Text 8"/>
          <p:cNvSpPr txBox="1"/>
          <p:nvPr/>
        </p:nvSpPr>
        <p:spPr>
          <a:xfrm>
            <a:off x="2560320" y="2011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Сабақ соңында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2560320" y="2377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Мазмұны бөлек, күрделілігі ұқсас мәтін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257800" y="1188720"/>
            <a:ext cx="685800" cy="68580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1360170"/>
            <a:ext cx="342900" cy="3429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080760" y="1531620"/>
            <a:ext cx="114300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dash"/>
          </a:ln>
        </p:spPr>
      </p:sp>
      <p:sp>
        <p:nvSpPr>
          <p:cNvPr id="18" name="Text 12"/>
          <p:cNvSpPr txBox="1"/>
          <p:nvPr/>
        </p:nvSpPr>
        <p:spPr>
          <a:xfrm>
            <a:off x="4663440" y="2011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Бірдей өлшем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4663440" y="2377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критерий × 0–2 балл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360920" y="1188720"/>
            <a:ext cx="685800" cy="6858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2370" y="1360170"/>
            <a:ext cx="342900" cy="3429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766560" y="2011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Талдау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6766560" y="2377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Қай әрекетте ілгерілеу бар?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57200" y="315468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85800" y="31546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Ескерілетін ықпалдар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қайталап орындау, мұғалім көмегі, мәтінге таныстық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4663440" y="315468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4892040" y="31546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Жариялауда көрсетіледі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қатысушылар саны, тапсырмалар, бағалау тәртібі, зерттеу шектеулері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00584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3200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Қорытынды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344168"/>
            <a:ext cx="201168" cy="20116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2344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«Шаңырақ» –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мағына мен дереккөзді салыстыруға мүмкіндік береді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2212848"/>
            <a:ext cx="201168" cy="20116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1031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«Ұят» –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әрекет пен жауапкершілікті пайымдауға жетелейді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3081528"/>
            <a:ext cx="201168" cy="20116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9718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Нәтиже –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құндылық атауын қайталау емес – мәтіндегі белгіні түсіндіріп, қорытындыны негіздеу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9319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Ұлттық мұраны таныту мен саналы оқу бір тапсырманың өзара сабақтас міндеттеріне айналады.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3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Пайдаланылған әдебиеттер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827532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18872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OECD. PISA-2025.</a:t>
            </a:r>
            <a:endParaRPr lang="en-US" sz="13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1F7A8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https://www.oecd.org/kk/publications/pisa-2025-results-volume-i_127aae7d-kk/dafefb09-kk.html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24028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468880"/>
            <a:ext cx="411480" cy="41148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224028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UNESCO Multimedia Archives. Traditional Knowledge and Skills in Making Kyrgyz and Kazakh Yurts.</a:t>
            </a:r>
            <a:endParaRPr lang="en-US" sz="13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1F7A8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https://www.unesco.org/archives/multimedia/document-3669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29184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3520440"/>
            <a:ext cx="411480" cy="411480"/>
          </a:xfrm>
          <a:prstGeom prst="ellipse">
            <a:avLst/>
          </a:prstGeom>
          <a:solidFill>
            <a:srgbClr val="1F7A80"/>
          </a:solidFill>
          <a:ln w="12700">
            <a:solidFill>
              <a:srgbClr val="1F7A8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329184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Абай Құнанбайұлы. Отыз алтыншы сөз // Абай институты.</a:t>
            </a:r>
            <a:endParaRPr lang="en-US" sz="13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1F7A8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https://www.abai.institute/qara-sozder/otyz-altynsy-soz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Қаралған күні: 26.09.2026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Этномәдени концептілер арқылы оқу сауаттылығын дамыту</dc:title>
  <dc:subject>PptxGenJS Presentation</dc:subject>
  <dc:creator>PptxGenJS</dc:creator>
  <cp:lastModifiedBy>PptxGenJS</cp:lastModifiedBy>
  <cp:revision>1</cp:revision>
  <dcterms:created xsi:type="dcterms:W3CDTF">2026-09-27T08:08:00Z</dcterms:created>
  <dcterms:modified xsi:type="dcterms:W3CDTF">2026-09-27T08:08:00Z</dcterms:modified>
</cp:coreProperties>
</file>