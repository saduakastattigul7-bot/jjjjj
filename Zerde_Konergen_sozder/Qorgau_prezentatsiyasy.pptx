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Кіріспе" id="{cd6ddb9b-f5db-2a42-549c-3c7613d2df82}">
          <p14:sldIdLst>
            <p14:sldId id="256"/>
            <p14:sldId id="257"/>
            <p14:sldId id="258"/>
            <p14:sldId id="259"/>
          </p14:sldIdLst>
        </p14:section>
        <p14:section name="Әдістеме" id="{ae66e2f3-fbd0-a4be-e5b7-ae9b9f60b040}">
          <p14:sldIdLst>
            <p14:sldId id="260"/>
          </p14:sldIdLst>
        </p14:section>
        <p14:section name="Нәтижелер" id="{0048130c-0119-5430-f3e5-7e8e33b40ea1}">
          <p14:sldIdLst>
            <p14:sldId id="261"/>
            <p14:sldId id="262"/>
            <p14:sldId id="263"/>
            <p14:sldId id="264"/>
            <p14:sldId id="265"/>
          </p14:sldIdLst>
        </p14:section>
        <p14:section name="Қорытынды" id="{d7f6415c-e4c8-23db-0a9e-827e1943dc96}">
          <p14:sldIdLst>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02E"/>
                </a:solidFill>
                <a:latin typeface="+mn-lt"/>
              </a:defRPr>
            </a:pPr>
            <a:r>
              <a:rPr sz="1400" b="0" i="0" u="none" strike="noStrike">
                <a:solidFill>
                  <a:srgbClr val="22202E"/>
                </a:solidFill>
                <a:latin typeface="+mn-lt"/>
              </a:rPr>
              <a:t>Сөздіктегі белгі, сөз саны</a:t>
            </a:r>
          </a:p>
        </c:rich>
      </c:tx>
      <c:layout/>
      <c:overlay val="0"/>
    </c:title>
    <c:autoTitleDeleted val="0"/>
    <c:plotArea>
      <c:layout/>
      <c:barChart>
        <c:barDir val="bar"/>
        <c:grouping val="stacked"/>
        <c:varyColors val="0"/>
        <c:ser>
          <c:idx val="0"/>
          <c:order val="0"/>
          <c:tx>
            <c:strRef>
              <c:f>Sheet1!$B$1</c:f>
              <c:strCache>
                <c:ptCount val="1"/>
                <c:pt idx="0">
                  <c:v>көн.</c:v>
                </c:pt>
              </c:strCache>
            </c:strRef>
          </c:tx>
          <c:spPr>
            <a:solidFill>
              <a:srgbClr val="D99A1E"/>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Архаизмдер (19)</c:v>
                  </c:pt>
                  <c:pt idx="1">
                    <c:v>Тарихи сөздер (17)</c:v>
                  </c:pt>
                </c:lvl>
              </c:multiLvlStrCache>
            </c:multiLvlStrRef>
          </c:cat>
          <c:val>
            <c:numRef>
              <c:f>Sheet1!$B$2:$B$3</c:f>
              <c:numCache>
                <c:formatCode>General</c:formatCode>
                <c:ptCount val="2"/>
                <c:pt idx="0">
                  <c:v>4</c:v>
                </c:pt>
                <c:pt idx="1">
                  <c:v>7</c:v>
                </c:pt>
              </c:numCache>
            </c:numRef>
          </c:val>
        </c:ser>
        <c:ser>
          <c:idx val="1"/>
          <c:order val="1"/>
          <c:tx>
            <c:strRef>
              <c:f>Sheet1!$C$1</c:f>
              <c:strCache>
                <c:ptCount val="1"/>
                <c:pt idx="0">
                  <c:v>тар.</c:v>
                </c:pt>
              </c:strCache>
            </c:strRef>
          </c:tx>
          <c:spPr>
            <a:solidFill>
              <a:srgbClr val="B5462F"/>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Архаизмдер (19)</c:v>
                  </c:pt>
                  <c:pt idx="1">
                    <c:v>Тарихи сөздер (17)</c:v>
                  </c:pt>
                </c:lvl>
              </c:multiLvlStrCache>
            </c:multiLvlStrRef>
          </c:cat>
          <c:val>
            <c:numRef>
              <c:f>Sheet1!$C$2:$C$3</c:f>
              <c:numCache>
                <c:formatCode>General</c:formatCode>
                <c:ptCount val="2"/>
                <c:pt idx="0">
                  <c:v>2</c:v>
                </c:pt>
                <c:pt idx="1">
                  <c:v>3</c:v>
                </c:pt>
              </c:numCache>
            </c:numRef>
          </c:val>
        </c:ser>
        <c:ser>
          <c:idx val="2"/>
          <c:order val="2"/>
          <c:tx>
            <c:strRef>
              <c:f>Sheet1!$D$1</c:f>
              <c:strCache>
                <c:ptCount val="1"/>
                <c:pt idx="0">
                  <c:v>белгі жоқ</c:v>
                </c:pt>
              </c:strCache>
            </c:strRef>
          </c:tx>
          <c:spPr>
            <a:solidFill>
              <a:srgbClr val="2A78D6"/>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Архаизмдер (19)</c:v>
                  </c:pt>
                  <c:pt idx="1">
                    <c:v>Тарихи сөздер (17)</c:v>
                  </c:pt>
                </c:lvl>
              </c:multiLvlStrCache>
            </c:multiLvlStrRef>
          </c:cat>
          <c:val>
            <c:numRef>
              <c:f>Sheet1!$D$2:$D$3</c:f>
              <c:numCache>
                <c:formatCode>General</c:formatCode>
                <c:ptCount val="2"/>
                <c:pt idx="0">
                  <c:v>13</c:v>
                </c:pt>
                <c:pt idx="1">
                  <c:v>6</c:v>
                </c:pt>
              </c:numCache>
            </c:numRef>
          </c:val>
        </c:ser>
        <c:ser>
          <c:idx val="3"/>
          <c:order val="3"/>
          <c:tx>
            <c:strRef>
              <c:f>Sheet1!$E$1</c:f>
              <c:strCache>
                <c:ptCount val="1"/>
                <c:pt idx="0">
                  <c:v>сөздікте жоқ</c:v>
                </c:pt>
              </c:strCache>
            </c:strRef>
          </c:tx>
          <c:spPr>
            <a:solidFill>
              <a:srgbClr val="A7A3B3"/>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Архаизмдер (19)</c:v>
                  </c:pt>
                  <c:pt idx="1">
                    <c:v>Тарихи сөздер (17)</c:v>
                  </c:pt>
                </c:lvl>
              </c:multiLvlStrCache>
            </c:multiLvlStrRef>
          </c:cat>
          <c:val>
            <c:numRef>
              <c:f>Sheet1!$E$2:$E$3</c:f>
              <c:numCache>
                <c:formatCode>General</c:formatCode>
                <c:ptCount val="2"/>
                <c:pt idx="0">
                  <c:v>0</c:v>
                </c:pt>
                <c:pt idx="1">
                  <c:v>1</c:v>
                </c:pt>
              </c:numCache>
            </c:numRef>
          </c:val>
        </c:ser>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22202E"/>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D9E4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F5B6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22202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02E"/>
                </a:solidFill>
                <a:latin typeface="+mn-lt"/>
              </a:defRPr>
            </a:pPr>
            <a:r>
              <a:rPr sz="1400" b="0" i="0" u="none" strike="noStrike">
                <a:solidFill>
                  <a:srgbClr val="22202E"/>
                </a:solidFill>
                <a:latin typeface="+mn-lt"/>
              </a:rPr>
              <a:t>Дұрыс түсіндіргендер үлесі, %</a:t>
            </a:r>
          </a:p>
        </c:rich>
      </c:tx>
      <c:layout/>
      <c:overlay val="0"/>
    </c:title>
    <c:autoTitleDeleted val="0"/>
    <c:plotArea>
      <c:layout/>
      <c:barChart>
        <c:barDir val="col"/>
        <c:grouping val="clustered"/>
        <c:varyColors val="0"/>
        <c:ser>
          <c:idx val="0"/>
          <c:order val="0"/>
          <c:tx>
            <c:strRef>
              <c:f>Sheet1!$B$1</c:f>
              <c:strCache>
                <c:ptCount val="1"/>
                <c:pt idx="0">
                  <c:v>Оқушылар</c:v>
                </c:pt>
              </c:strCache>
            </c:strRef>
          </c:tx>
          <c:spPr>
            <a:solidFill>
              <a:srgbClr val="2A78D6"/>
            </a:solidFill>
            <a:effectLst/>
          </c:spPr>
          <c:invertIfNegative val="0"/>
          <c:dLbls>
            <c:numFmt formatCode="#,##0" sourceLinked="0"/>
            <c:txPr>
              <a:bodyPr/>
              <a:lstStyle/>
              <a:p>
                <a:pPr>
                  <a:defRPr b="0" i="0" strike="noStrike" sz="1200" u="none">
                    <a:solidFill>
                      <a:srgbClr val="22202E"/>
                    </a:solidFill>
                    <a:latin typeface="+mn-lt"/>
                  </a:defRPr>
                </a:pPr>
              </a:p>
            </c:txPr>
            <c:showLegendKey val="0"/>
            <c:showVal val="0"/>
            <c:showCatName val="0"/>
            <c:showSerName val="0"/>
            <c:showPercent val="0"/>
            <c:showBubbleSize val="0"/>
            <c:showLeaderLines val="0"/>
          </c:dLbls>
          <c:cat>
            <c:multiLvlStrRef>
              <c:f>Sheet1!$A$2:$A$13</c:f>
              <c:multiLvlStrCache>
                <c:ptCount val="12"/>
                <c:lvl>
                  <c:pt idx="0">
                    <c:v>сауыт</c:v>
                  </c:pt>
                  <c:pt idx="1">
                    <c:v>сарбаз</c:v>
                  </c:pt>
                  <c:pt idx="2">
                    <c:v>болыс</c:v>
                  </c:pt>
                  <c:pt idx="3">
                    <c:v>әкім</c:v>
                  </c:pt>
                  <c:pt idx="4">
                    <c:v>жарлық</c:v>
                  </c:pt>
                  <c:pt idx="5">
                    <c:v>пәрмен</c:v>
                  </c:pt>
                  <c:pt idx="6">
                    <c:v>батпан</c:v>
                  </c:pt>
                  <c:pt idx="7">
                    <c:v>тиын</c:v>
                  </c:pt>
                  <c:pt idx="8">
                    <c:v>кебенек</c:v>
                  </c:pt>
                  <c:pt idx="9">
                    <c:v>сәукеле</c:v>
                  </c:pt>
                  <c:pt idx="10">
                    <c:v>тамұқ</c:v>
                  </c:pt>
                  <c:pt idx="11">
                    <c:v>тұлпар</c:v>
                  </c:pt>
                </c:lvl>
              </c:multiLvlStrCache>
            </c:multiLvlStrRef>
          </c:cat>
          <c:val>
            <c:numRef>
              <c:f>Sheet1!$B$2:$B$13</c:f>
              <c:numCache>
                <c:formatCode>General</c:formatCode>
                <c:ptCount val="12"/>
                <c:pt idx="0">
                  <c:v>33.3</c:v>
                </c:pt>
                <c:pt idx="1">
                  <c:v>100</c:v>
                </c:pt>
                <c:pt idx="2">
                  <c:v>0</c:v>
                </c:pt>
                <c:pt idx="3">
                  <c:v>66.7</c:v>
                </c:pt>
                <c:pt idx="4">
                  <c:v>25</c:v>
                </c:pt>
                <c:pt idx="5">
                  <c:v>33.3</c:v>
                </c:pt>
                <c:pt idx="6">
                  <c:v>0</c:v>
                </c:pt>
                <c:pt idx="7">
                  <c:v>100</c:v>
                </c:pt>
                <c:pt idx="8">
                  <c:v>0</c:v>
                </c:pt>
                <c:pt idx="9">
                  <c:v>75</c:v>
                </c:pt>
                <c:pt idx="10">
                  <c:v>0</c:v>
                </c:pt>
                <c:pt idx="11">
                  <c:v>100</c:v>
                </c:pt>
              </c:numCache>
            </c:numRef>
          </c:val>
        </c:ser>
        <c:ser>
          <c:idx val="1"/>
          <c:order val="1"/>
          <c:tx>
            <c:strRef>
              <c:f>Sheet1!$C$1</c:f>
              <c:strCache>
                <c:ptCount val="1"/>
                <c:pt idx="0">
                  <c:v>Ата-аналар</c:v>
                </c:pt>
              </c:strCache>
            </c:strRef>
          </c:tx>
          <c:spPr>
            <a:solidFill>
              <a:srgbClr val="D99A1E"/>
            </a:solidFill>
            <a:effectLst/>
          </c:spPr>
          <c:invertIfNegative val="0"/>
          <c:dLbls>
            <c:numFmt formatCode="#,##0" sourceLinked="0"/>
            <c:txPr>
              <a:bodyPr/>
              <a:lstStyle/>
              <a:p>
                <a:pPr>
                  <a:defRPr b="0" i="0" strike="noStrike" sz="1200" u="none">
                    <a:solidFill>
                      <a:srgbClr val="22202E"/>
                    </a:solidFill>
                    <a:latin typeface="+mn-lt"/>
                  </a:defRPr>
                </a:pPr>
              </a:p>
            </c:txPr>
            <c:showLegendKey val="0"/>
            <c:showVal val="0"/>
            <c:showCatName val="0"/>
            <c:showSerName val="0"/>
            <c:showPercent val="0"/>
            <c:showBubbleSize val="0"/>
            <c:showLeaderLines val="0"/>
          </c:dLbls>
          <c:cat>
            <c:multiLvlStrRef>
              <c:f>Sheet1!$A$2:$A$13</c:f>
              <c:multiLvlStrCache>
                <c:ptCount val="12"/>
                <c:lvl>
                  <c:pt idx="0">
                    <c:v>сауыт</c:v>
                  </c:pt>
                  <c:pt idx="1">
                    <c:v>сарбаз</c:v>
                  </c:pt>
                  <c:pt idx="2">
                    <c:v>болыс</c:v>
                  </c:pt>
                  <c:pt idx="3">
                    <c:v>әкім</c:v>
                  </c:pt>
                  <c:pt idx="4">
                    <c:v>жарлық</c:v>
                  </c:pt>
                  <c:pt idx="5">
                    <c:v>пәрмен</c:v>
                  </c:pt>
                  <c:pt idx="6">
                    <c:v>батпан</c:v>
                  </c:pt>
                  <c:pt idx="7">
                    <c:v>тиын</c:v>
                  </c:pt>
                  <c:pt idx="8">
                    <c:v>кебенек</c:v>
                  </c:pt>
                  <c:pt idx="9">
                    <c:v>сәукеле</c:v>
                  </c:pt>
                  <c:pt idx="10">
                    <c:v>тамұқ</c:v>
                  </c:pt>
                  <c:pt idx="11">
                    <c:v>тұлпар</c:v>
                  </c:pt>
                </c:lvl>
              </c:multiLvlStrCache>
            </c:multiLvlStrRef>
          </c:cat>
          <c:val>
            <c:numRef>
              <c:f>Sheet1!$C$2:$C$13</c:f>
              <c:numCache>
                <c:formatCode>General</c:formatCode>
                <c:ptCount val="12"/>
                <c:pt idx="0">
                  <c:v>100</c:v>
                </c:pt>
                <c:pt idx="1">
                  <c:v>100</c:v>
                </c:pt>
                <c:pt idx="2">
                  <c:v>100</c:v>
                </c:pt>
                <c:pt idx="3">
                  <c:v>0</c:v>
                </c:pt>
                <c:pt idx="4">
                  <c:v>0</c:v>
                </c:pt>
                <c:pt idx="5">
                  <c:v>100</c:v>
                </c:pt>
                <c:pt idx="6">
                  <c:v>100</c:v>
                </c:pt>
                <c:pt idx="7">
                  <c:v>100</c:v>
                </c:pt>
                <c:pt idx="8">
                  <c:v>100</c:v>
                </c:pt>
                <c:pt idx="9">
                  <c:v>100</c:v>
                </c:pt>
                <c:pt idx="10">
                  <c:v>0</c:v>
                </c:pt>
                <c:pt idx="11">
                  <c:v>100</c:v>
                </c:pt>
              </c:numCache>
            </c:numRef>
          </c:val>
        </c:ser>
        <c:ser>
          <c:idx val="2"/>
          <c:order val="2"/>
          <c:tx>
            <c:strRef>
              <c:f>Sheet1!$D$1</c:f>
              <c:strCache>
                <c:ptCount val="1"/>
                <c:pt idx="0">
                  <c:v>Ата-әжелер</c:v>
                </c:pt>
              </c:strCache>
            </c:strRef>
          </c:tx>
          <c:spPr>
            <a:solidFill>
              <a:srgbClr val="2E8B57"/>
            </a:solidFill>
            <a:effectLst/>
          </c:spPr>
          <c:invertIfNegative val="0"/>
          <c:dLbls>
            <c:numFmt formatCode="#,##0" sourceLinked="0"/>
            <c:txPr>
              <a:bodyPr/>
              <a:lstStyle/>
              <a:p>
                <a:pPr>
                  <a:defRPr b="0" i="0" strike="noStrike" sz="1200" u="none">
                    <a:solidFill>
                      <a:srgbClr val="22202E"/>
                    </a:solidFill>
                    <a:latin typeface="+mn-lt"/>
                  </a:defRPr>
                </a:pPr>
              </a:p>
            </c:txPr>
            <c:showLegendKey val="0"/>
            <c:showVal val="0"/>
            <c:showCatName val="0"/>
            <c:showSerName val="0"/>
            <c:showPercent val="0"/>
            <c:showBubbleSize val="0"/>
            <c:showLeaderLines val="0"/>
          </c:dLbls>
          <c:cat>
            <c:multiLvlStrRef>
              <c:f>Sheet1!$A$2:$A$13</c:f>
              <c:multiLvlStrCache>
                <c:ptCount val="12"/>
                <c:lvl>
                  <c:pt idx="0">
                    <c:v>сауыт</c:v>
                  </c:pt>
                  <c:pt idx="1">
                    <c:v>сарбаз</c:v>
                  </c:pt>
                  <c:pt idx="2">
                    <c:v>болыс</c:v>
                  </c:pt>
                  <c:pt idx="3">
                    <c:v>әкім</c:v>
                  </c:pt>
                  <c:pt idx="4">
                    <c:v>жарлық</c:v>
                  </c:pt>
                  <c:pt idx="5">
                    <c:v>пәрмен</c:v>
                  </c:pt>
                  <c:pt idx="6">
                    <c:v>батпан</c:v>
                  </c:pt>
                  <c:pt idx="7">
                    <c:v>тиын</c:v>
                  </c:pt>
                  <c:pt idx="8">
                    <c:v>кебенек</c:v>
                  </c:pt>
                  <c:pt idx="9">
                    <c:v>сәукеле</c:v>
                  </c:pt>
                  <c:pt idx="10">
                    <c:v>тамұқ</c:v>
                  </c:pt>
                  <c:pt idx="11">
                    <c:v>тұлпар</c:v>
                  </c:pt>
                </c:lvl>
              </c:multiLvlStrCache>
            </c:multiLvlStrRef>
          </c:cat>
          <c:val>
            <c:numRef>
              <c:f>Sheet1!$D$2:$D$13</c:f>
              <c:numCache>
                <c:formatCode>General</c:formatCode>
                <c:ptCount val="12"/>
                <c:pt idx="0">
                  <c:v>100</c:v>
                </c:pt>
                <c:pt idx="1">
                  <c:v>100</c:v>
                </c:pt>
                <c:pt idx="2">
                  <c:v>0</c:v>
                </c:pt>
                <c:pt idx="3">
                  <c:v>0</c:v>
                </c:pt>
                <c:pt idx="4">
                  <c:v>100</c:v>
                </c:pt>
                <c:pt idx="5">
                  <c:v>0</c:v>
                </c:pt>
                <c:pt idx="6">
                  <c:v>0</c:v>
                </c:pt>
                <c:pt idx="7">
                  <c:v>100</c:v>
                </c:pt>
                <c:pt idx="8">
                  <c:v>0</c:v>
                </c:pt>
                <c:pt idx="9">
                  <c:v>100</c:v>
                </c:pt>
                <c:pt idx="10">
                  <c:v>100</c:v>
                </c:pt>
                <c:pt idx="11">
                  <c:v>100</c:v>
                </c:pt>
              </c:numCache>
            </c:numRef>
          </c:val>
        </c:ser>
        <c:dLbls>
          <c:numFmt formatCode="#,##0" sourceLinked="0"/>
          <c:txPr>
            <a:bodyPr/>
            <a:lstStyle/>
            <a:p>
              <a:pPr>
                <a:defRPr b="0" i="0" strike="noStrike" sz="1200" u="none">
                  <a:solidFill>
                    <a:srgbClr val="22202E"/>
                  </a:solidFill>
                  <a:latin typeface="+mn-lt"/>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100000"/>
          <a:lstStyle/>
          <a:p>
            <a:pPr>
              <a:defRPr sz="1200" b="0" i="0" u="none" strike="noStrike">
                <a:solidFill>
                  <a:srgbClr val="22202E"/>
                </a:solidFill>
                <a:latin typeface="+mn-lt"/>
              </a:defRPr>
            </a:pPr>
            <a:endParaRPr lang="en-US"/>
          </a:p>
        </c:txPr>
        <c:crossAx val="2094734552"/>
        <c:crosses val="autoZero"/>
        <c:auto val="1"/>
        <c:lblAlgn val="ctr"/>
        <c:noMultiLvlLbl val="1"/>
      </c:catAx>
      <c:valAx>
        <c:axId val="2094734552"/>
        <c:scaling>
          <c:orientation val="minMax"/>
          <c:max val="100"/>
        </c:scaling>
        <c:delete val="0"/>
        <c:axPos val="l"/>
        <c:majorGridlines>
          <c:spPr>
            <a:ln w="9525" cap="flat">
              <a:solidFill>
                <a:srgbClr val="D9E4E7"/>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5B6E"/>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300">
              <a:solidFill>
                <a:srgbClr val="22202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Құрметті қазылар алқасы! Менің жобамның тақырыбы – «Қазақ тіліндегі көнерген сөздердің қазіргі қолданыстағы орны». Мен 36 көне сөзді түсіндірме сөздіктен тексеріп, олардың бүгінгі баспасөзде қалай қолданылатынын қарадым және үш буынға тест жүргіздім. (15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Бәрі «дулыға» сөзінен басталды. Сөздікте ол «көн.» деп белгіленген: соғысқа шыққан батырлардың темір бас киімі. Ал «Egemen Qazaqstan» сайтынан осы сөзді іздегенде, мен оны дзюдодан өтетін «Үлкен дулыға» турнирінің атауынан таптым. Сонда менде сұрақ туды: көнерген сөздер шынымен тілден шығып кетті ме, әлде олар жаңа жерде өмір сүре ме? (30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Менің зерттеу сұрағым: көнерген сөздер бүгін қайда және қандай мағынада қолданылады және оларды әр буын қаншалықты біледі? Болжамым үш бөліктен тұрды: бүгін қайта қолданысқа енген архаизмдер сөздікте көнерген деп белгіленбеген, тарихи сөздердің көбі белгіленген, ал көне сөздерді ата-әжелер жақсы, оқушылар нашар біледі. (30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Ғалымдар көнерген сөздерді екі түрге бөледі. Тарихи сөздердің заты да, атауы да қолданыстан шыққан: сауыт, болыс, батпан. Архаизмдердің заты бар, бірақ атауы ескірген: ләшкер орнына әскер, тамұқ орнына тозақ дейміз. Бірақ кейбір көне сөздер тілге қайта оралады. Тәуелсіздік жылдары «әкім», «теңге», «тиын», «Мәжіліс», «Ұлттық құрылтай» сияқты сөздер мемлекеттік атауға айналды. (40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Зерттеуде үш әдіс қолдандым. Біріншісі – сөздікпен тексеру: 36 сөздің бәрін 15 томдық «Қазақ әдеби тілінің сөздігінен» тауып, жанындағы белгісін жаздым. Екіншісі – баспасөз: әскери топтағы 4 сөзді «Egemen Qazaqstan» сайтынан соңғы бір жыл бойынша іздедім. Үшіншісі – үш буынға тест: 12 сөздің мағынасын түсіндіріп беруді сұрадым. Әзірге тестке 7 адам қатысты. Қатысушылардың есімін жазбадым, келісімін алдым. (45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Сөздікпен тексеру мені таңғалдырды. Көнерген деп алған 36 сөздің 19-ында сөздікте ешқандай белгі жоқ. 19 архаизмнің 13-інде белгі жоқ: сарбаз, әкім, елші, мәжіліс, кеден, теңге, тиын, тұлпар және басқалар. Олардың көбі – бүгін мемлекеттік өмірде күнделікті айтылатын сөздер. Ал 17 тарихи сөздің 10-ы «көн.» не «тар.» деп белгіленген. (40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Ең қызық қарама-қайшылықты «жарлық» пен «құрылтай» сөздерінен көрдім. Сөздікте олар «тар.» деп, тек ескі мағынасымен берілген. Ал бүгін «Мемлекет басшысының Жарлығы», «Ұлттық құрылтай» деп жаңалықтан күн сайын естиміз. Яғни сөздік тілдің өзгерісінен артта қалып отыр. Керісінше, сауыт, сәукеле, саба, құлаш сияқты тарихи сөздерде белгі жоқ – олардың заты тойда, қымыз ашытқанда бүгін де бар. (40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Әскери топтағы 4 сөзді «Egemen Qazaqstan» сайтынан соңғы бір жыл бойынша іздедім. Төртеуі де газетте әлі бар: садақ пен қорамсақ – шамамен 10 реттен, сауыт – 8, дулыға – 5 рет. Бірақ «сауыт», «садақ», «қорамсақ» тарихи-мәдени мәтінде, мысалы мұражай көрмесі туралы жаңалықта кездесті. Ал «дулыға» спорт жарысының атауына айналған, сондықтан оған «атауда сақталған» мәртебесін бердім. (35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Тест нәтижесі: оқушылар көне сөздердің 44,4%-ын ғана дұрыс түсіндірді, ата-аналар 75%, ата-әжелер 58,3%. Бұл – алдын ала нәтиже, тестке әзірге 7 адам қатысты: 5 оқушы, 1 ата-ана және 1 ата-әже. Яғни көне сөздерді жастар ең нашар біледі. (35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Қай сөздерді білетіні де қызық. «сарбаз», «тиын» және «тұлпар» сөздерін барлық буын дұрыс түсіндірді. Бұл сөздер бүгін де жиі айтылады және сөздікте көнерген деп белгіленбеген. Ал «болыс», «батпан», «кебенек» және «тамұқ» сөздерін бірде-бір оқушы дұрыс түсіндірмеді, бірақ үлкендердің ішінде оларды білетіндер болды. Яғни сөз қолданыстан шыққан сайын, оны жастар ұмытады. (35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Болжамымды үш бөлік бойынша тексердім. Бірінші бөлігі расталды: архаизмдердің көбінде сөздікте белгі жоқ. Екінші бөлігі де расталды: тарихи сөздердің көбі белгіленген. Үшінші бөлігі ішінара расталды: оқушылар шынымен ең нашар білді, бірақ ата-әже ата-анадан төмен нәтиже көрсетті. Бұл бөлігі алдын ала нәтиже, өйткені ата-ана мен ата-әжеден аз адам қатысты. (35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Нәтиже бойынша «Көне сөз – жаңа тыныс» мини-сөздігін жасадым. Онда 36 сөздің әрқайсысына «сөз паспорты» бар: сөздік бойынша мағынасы, түрі, сөздіктегі белгісі және тексерілген сөздерге – бүгінгі газеттен мысал. Мысалы, мына «дулыға» сөзінің паспорты. Мини-сөздікті қазақ тілі мен әдебиет сабағында және атау таңдағанда пайдалануға болады. (30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Қорытындылай келе: бірінші – сөздікте 36 көне сөздің 19-ында белгі жоқ, қайта жанданған архаизмдер жалпы сөз ретінде берілген. Екінші – сөздік тілдің өзгерісінен артта қалады. Үшінші – әскери тарихи сөздер газетте әлі бар, ал «дулыға» спорт турнирінің атауына айналған. Төртінші – оқушылар көне сөздерді үлкендерден әлдеқайда нашар біледі. Шектеулері: баспасөзде тек 4 сөзді, тестте 7 адамды зерттедім. Келешекте барлық сөзге мониторинг жүргізіп, көбірек адам қатыстырғым келеді. (45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Менің басты түйінім: көне сөз өлмейді – ол жаңа орын табады: мемлекеттік атауда, спортта, мұражайда. Назарларыңызға рахмет!
ЫҚТИМАЛ СҰРАҚТАР:
1) Сөздерді қалай таңдадың? – Жетекшім екеуміз алты тақырыптық топтан 6 сөзден алдық: оқулықтағы мысалдарға және Ә. Қайдардың сөздігіне сүйендік.
2) Неге баспасөзде тек 4 сөзді тексердің? – Әр сөзге іздеу, мақаланы оқу және мәнмәтінін талдау уақыт алады. Мен әскери топты мысал ретінде алдым. Бұл – жұмыстың шектеуі, келесі жолы барлық сөзді тексеремін.
3) Google нәтиже саны дәл ме? – Жоқ, шамамен ғана. Сонымен қатар іздеу сөздің тек бір тұлғасын табады. Сондықтан мен санға ғана емес, мысал сөйлемнің мағынасына да қарадым.
4) Тестке неше адам қатысты, неге аз? – 7 адам: 5 оқушы, 1 ата-ана және 1 ата-әже. Нәтижені алдын ала деп атадым, оны барлық адамға жалпылауға болмайды.
5) Неге ата-әже ата-анадан төмен шықты? – Ата-әжеден бір ғана адам қатысты, сондықтан бұл кездейсоқ болуы мүмкін.
6) Этика қалай сақталды? – Есімдер жазылмады, әр адамға код берілді, ересектерден келісім, оқушылардан ата-анасының келісімі алынды.
7) ЖИ пайдаландың ба? – Иә, декларацияда ашық көрсеттім: жұмыстың құрылымын, кесте мен диаграмманы, мәтіннің жобасын жасауға. Сөздікті, газетті және тестті өзім жүргіздім.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6675120" cy="24688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4023360"/>
            <a:ext cx="6675120" cy="822960"/>
          </a:xfrm>
          <a:prstGeom prst="rect">
            <a:avLst/>
          </a:prstGeom>
          <a:noFill/>
          <a:ln/>
        </p:spPr>
        <p:txBody>
          <a:bodyPr wrap="square" rtlCol="0"/>
          <a:lstStyle>
            <a:lvl1pPr algn="l" indent="0" marL="0">
              <a:buNone/>
              <a:defRPr lang="en-US" sz="1800" i="1" dirty="0">
                <a:solidFill>
                  <a:schemeClr val="accent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«Зерде» · Қазақ тілі және әдебиеті</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731520" y="548640"/>
            <a:ext cx="10515600" cy="365760"/>
          </a:xfrm>
          <a:prstGeom prst="rect">
            <a:avLst/>
          </a:prstGeom>
          <a:noFill/>
          <a:ln/>
        </p:spPr>
        <p:txBody>
          <a:bodyPr wrap="square" lIns="0" tIns="0" rIns="0" bIns="0" rtlCol="0" anchor="ctr"/>
          <a:lstStyle/>
          <a:p>
            <a:pPr indent="0" marL="0">
              <a:buNone/>
            </a:pPr>
            <a:r>
              <a:rPr lang="en-US" sz="1400" dirty="0">
                <a:solidFill>
                  <a:schemeClr val="accent2"/>
                </a:solidFill>
              </a:rPr>
              <a:t>«Зерде» республикалық конкурсы  ·  Қазақ тілі және әдебиеті  ·  «Орта буын»</a:t>
            </a:r>
            <a:endParaRPr lang="en-US" sz="1400" dirty="0"/>
          </a:p>
        </p:txBody>
      </p:sp>
      <p:sp>
        <p:nvSpPr>
          <p:cNvPr id="3" name="Text 0"/>
          <p:cNvSpPr/>
          <p:nvPr>
            <p:ph idx="100" type="title" hasCustomPrompt="1"/>
          </p:nvPr>
        </p:nvSpPr>
        <p:spPr>
          <a:xfrm>
            <a:off x="731520" y="1417320"/>
            <a:ext cx="6675120" cy="2468880"/>
          </a:xfrm>
          <a:prstGeom prst="rect">
            <a:avLst/>
          </a:prstGeom>
          <a:noFill/>
          <a:ln/>
        </p:spPr>
        <p:txBody>
          <a:bodyPr wrap="square" lIns="0" tIns="0" rIns="0" bIns="0" rtlCol="0" anchor="t"/>
          <a:lstStyle/>
          <a:p>
            <a:pPr algn="l" indent="0" marL="0">
              <a:buNone/>
            </a:pPr>
            <a:r>
              <a:rPr lang="en-US" sz="4000" b="1" dirty="0">
                <a:solidFill>
                  <a:schemeClr val="bg1"/>
                </a:solidFill>
              </a:rPr>
              <a:t>Қазақ тіліндегі көнерген сөздердің қазіргі қолданыстағы орны</a:t>
            </a:r>
            <a:endParaRPr lang="en-US" sz="4000" dirty="0"/>
          </a:p>
        </p:txBody>
      </p:sp>
      <p:sp>
        <p:nvSpPr>
          <p:cNvPr id="4" name="Text 0"/>
          <p:cNvSpPr/>
          <p:nvPr>
            <p:ph idx="101" type="body" hasCustomPrompt="1"/>
          </p:nvPr>
        </p:nvSpPr>
        <p:spPr>
          <a:xfrm>
            <a:off x="731520" y="4023360"/>
            <a:ext cx="6675120" cy="822960"/>
          </a:xfrm>
          <a:prstGeom prst="rect">
            <a:avLst/>
          </a:prstGeom>
          <a:noFill/>
          <a:ln/>
        </p:spPr>
        <p:txBody>
          <a:bodyPr wrap="square" lIns="0" tIns="0" rIns="0" bIns="0" rtlCol="0" anchor="t"/>
          <a:lstStyle/>
          <a:p>
            <a:pPr algn="l" indent="0" marL="0">
              <a:buNone/>
            </a:pPr>
            <a:r>
              <a:rPr lang="en-US" sz="1800" i="1" dirty="0">
                <a:solidFill>
                  <a:schemeClr val="accent2"/>
                </a:solidFill>
              </a:rPr>
              <a:t>36 сөз · түсіндірме сөздік · баспасөз · 7 адамға тест</a:t>
            </a:r>
            <a:endParaRPr lang="en-US" sz="1800" dirty="0"/>
          </a:p>
        </p:txBody>
      </p:sp>
      <p:sp>
        <p:nvSpPr>
          <p:cNvPr id="5" name="cipher"/>
          <p:cNvSpPr txBox="1"/>
          <p:nvPr/>
        </p:nvSpPr>
        <p:spPr>
          <a:xfrm>
            <a:off x="731520" y="5852160"/>
            <a:ext cx="5486400" cy="365760"/>
          </a:xfrm>
          <a:prstGeom prst="rect">
            <a:avLst/>
          </a:prstGeom>
          <a:noFill/>
          <a:ln/>
        </p:spPr>
        <p:txBody>
          <a:bodyPr wrap="square" lIns="0" tIns="0" rIns="0" bIns="0" rtlCol="0" anchor="ctr"/>
          <a:lstStyle/>
          <a:p>
            <a:pPr indent="0" marL="0">
              <a:buNone/>
            </a:pPr>
            <a:r>
              <a:rPr lang="en-US" sz="1400" dirty="0">
                <a:solidFill>
                  <a:schemeClr val="bg2"/>
                </a:solidFill>
              </a:rPr>
              <a:t>Тіркеу коды (шифр): ______________</a:t>
            </a:r>
            <a:endParaRPr lang="en-US" sz="1400" dirty="0"/>
          </a:p>
        </p:txBody>
      </p:sp>
      <p:sp>
        <p:nvSpPr>
          <p:cNvPr id="6" name="title-chip-0"/>
          <p:cNvSpPr/>
          <p:nvPr/>
        </p:nvSpPr>
        <p:spPr>
          <a:xfrm>
            <a:off x="8046720" y="1417320"/>
            <a:ext cx="1645920" cy="960120"/>
          </a:xfrm>
          <a:prstGeom prst="roundRect">
            <a:avLst>
              <a:gd name="adj" fmla="val 11429"/>
            </a:avLst>
          </a:prstGeom>
          <a:solidFill>
            <a:schemeClr val="bg1"/>
          </a:solidFill>
          <a:ln w="15875">
            <a:solidFill>
              <a:schemeClr val="accent2"/>
            </a:solidFill>
            <a:prstDash val="solid"/>
          </a:ln>
        </p:spPr>
      </p:sp>
      <p:sp>
        <p:nvSpPr>
          <p:cNvPr id="7" name="title-chip-0-text"/>
          <p:cNvSpPr txBox="1"/>
          <p:nvPr/>
        </p:nvSpPr>
        <p:spPr>
          <a:xfrm>
            <a:off x="8156448" y="1417320"/>
            <a:ext cx="1426464" cy="960120"/>
          </a:xfrm>
          <a:prstGeom prst="rect">
            <a:avLst/>
          </a:prstGeom>
          <a:noFill/>
          <a:ln/>
        </p:spPr>
        <p:txBody>
          <a:bodyPr wrap="square" lIns="0" tIns="0" rIns="0" bIns="0" rtlCol="0" anchor="ctr"/>
          <a:lstStyle/>
          <a:p>
            <a:pPr algn="ctr" indent="0" marL="0">
              <a:buNone/>
            </a:pPr>
            <a:r>
              <a:rPr lang="en-US" sz="2000" b="1" dirty="0">
                <a:solidFill>
                  <a:schemeClr val="tx2"/>
                </a:solidFill>
                <a:latin typeface="Cambria" pitchFamily="34" charset="0"/>
                <a:ea typeface="Cambria" pitchFamily="34" charset="-122"/>
                <a:cs typeface="Cambria" pitchFamily="34" charset="-120"/>
              </a:rPr>
              <a:t>сауыт</a:t>
            </a:r>
            <a:endParaRPr lang="en-US" sz="2000" dirty="0"/>
          </a:p>
        </p:txBody>
      </p:sp>
      <p:sp>
        <p:nvSpPr>
          <p:cNvPr id="8" name="title-chip-1"/>
          <p:cNvSpPr/>
          <p:nvPr/>
        </p:nvSpPr>
        <p:spPr>
          <a:xfrm>
            <a:off x="9875520" y="1417320"/>
            <a:ext cx="1645920" cy="960120"/>
          </a:xfrm>
          <a:prstGeom prst="roundRect">
            <a:avLst>
              <a:gd name="adj" fmla="val 11429"/>
            </a:avLst>
          </a:prstGeom>
          <a:solidFill>
            <a:schemeClr val="bg1"/>
          </a:solidFill>
          <a:ln w="15875">
            <a:solidFill>
              <a:schemeClr val="accent2"/>
            </a:solidFill>
            <a:prstDash val="solid"/>
          </a:ln>
        </p:spPr>
      </p:sp>
      <p:sp>
        <p:nvSpPr>
          <p:cNvPr id="9" name="title-chip-1-text"/>
          <p:cNvSpPr txBox="1"/>
          <p:nvPr/>
        </p:nvSpPr>
        <p:spPr>
          <a:xfrm>
            <a:off x="9985248" y="1417320"/>
            <a:ext cx="1426464" cy="960120"/>
          </a:xfrm>
          <a:prstGeom prst="rect">
            <a:avLst/>
          </a:prstGeom>
          <a:noFill/>
          <a:ln/>
        </p:spPr>
        <p:txBody>
          <a:bodyPr wrap="square" lIns="0" tIns="0" rIns="0" bIns="0" rtlCol="0" anchor="ctr"/>
          <a:lstStyle/>
          <a:p>
            <a:pPr algn="ctr" indent="0" marL="0">
              <a:buNone/>
            </a:pPr>
            <a:r>
              <a:rPr lang="en-US" sz="2000" b="1" dirty="0">
                <a:solidFill>
                  <a:schemeClr val="tx2"/>
                </a:solidFill>
                <a:latin typeface="Cambria" pitchFamily="34" charset="0"/>
                <a:ea typeface="Cambria" pitchFamily="34" charset="-122"/>
                <a:cs typeface="Cambria" pitchFamily="34" charset="-120"/>
              </a:rPr>
              <a:t>теңге</a:t>
            </a:r>
            <a:endParaRPr lang="en-US" sz="2000" dirty="0"/>
          </a:p>
        </p:txBody>
      </p:sp>
      <p:sp>
        <p:nvSpPr>
          <p:cNvPr id="10" name="title-chip-2"/>
          <p:cNvSpPr/>
          <p:nvPr/>
        </p:nvSpPr>
        <p:spPr>
          <a:xfrm>
            <a:off x="8046720" y="2651760"/>
            <a:ext cx="1645920" cy="960120"/>
          </a:xfrm>
          <a:prstGeom prst="roundRect">
            <a:avLst>
              <a:gd name="adj" fmla="val 11429"/>
            </a:avLst>
          </a:prstGeom>
          <a:solidFill>
            <a:schemeClr val="bg1"/>
          </a:solidFill>
          <a:ln w="15875">
            <a:solidFill>
              <a:schemeClr val="accent2"/>
            </a:solidFill>
            <a:prstDash val="solid"/>
          </a:ln>
        </p:spPr>
      </p:sp>
      <p:sp>
        <p:nvSpPr>
          <p:cNvPr id="11" name="title-chip-2-text"/>
          <p:cNvSpPr txBox="1"/>
          <p:nvPr/>
        </p:nvSpPr>
        <p:spPr>
          <a:xfrm>
            <a:off x="8156448" y="2651760"/>
            <a:ext cx="1426464" cy="960120"/>
          </a:xfrm>
          <a:prstGeom prst="rect">
            <a:avLst/>
          </a:prstGeom>
          <a:noFill/>
          <a:ln/>
        </p:spPr>
        <p:txBody>
          <a:bodyPr wrap="square" lIns="0" tIns="0" rIns="0" bIns="0" rtlCol="0" anchor="ctr"/>
          <a:lstStyle/>
          <a:p>
            <a:pPr algn="ctr" indent="0" marL="0">
              <a:buNone/>
            </a:pPr>
            <a:r>
              <a:rPr lang="en-US" sz="2000" b="1" dirty="0">
                <a:solidFill>
                  <a:schemeClr val="tx2"/>
                </a:solidFill>
                <a:latin typeface="Cambria" pitchFamily="34" charset="0"/>
                <a:ea typeface="Cambria" pitchFamily="34" charset="-122"/>
                <a:cs typeface="Cambria" pitchFamily="34" charset="-120"/>
              </a:rPr>
              <a:t>тамұқ</a:t>
            </a:r>
            <a:endParaRPr lang="en-US" sz="2000" dirty="0"/>
          </a:p>
        </p:txBody>
      </p:sp>
      <p:sp>
        <p:nvSpPr>
          <p:cNvPr id="12" name="title-chip-3"/>
          <p:cNvSpPr/>
          <p:nvPr/>
        </p:nvSpPr>
        <p:spPr>
          <a:xfrm>
            <a:off x="9875520" y="2651760"/>
            <a:ext cx="1645920" cy="960120"/>
          </a:xfrm>
          <a:prstGeom prst="roundRect">
            <a:avLst>
              <a:gd name="adj" fmla="val 11429"/>
            </a:avLst>
          </a:prstGeom>
          <a:solidFill>
            <a:schemeClr val="bg1"/>
          </a:solidFill>
          <a:ln w="15875">
            <a:solidFill>
              <a:schemeClr val="accent2"/>
            </a:solidFill>
            <a:prstDash val="solid"/>
          </a:ln>
        </p:spPr>
      </p:sp>
      <p:sp>
        <p:nvSpPr>
          <p:cNvPr id="13" name="title-chip-3-text"/>
          <p:cNvSpPr txBox="1"/>
          <p:nvPr/>
        </p:nvSpPr>
        <p:spPr>
          <a:xfrm>
            <a:off x="9985248" y="2651760"/>
            <a:ext cx="1426464" cy="960120"/>
          </a:xfrm>
          <a:prstGeom prst="rect">
            <a:avLst/>
          </a:prstGeom>
          <a:noFill/>
          <a:ln/>
        </p:spPr>
        <p:txBody>
          <a:bodyPr wrap="square" lIns="0" tIns="0" rIns="0" bIns="0" rtlCol="0" anchor="ctr"/>
          <a:lstStyle/>
          <a:p>
            <a:pPr algn="ctr" indent="0" marL="0">
              <a:buNone/>
            </a:pPr>
            <a:r>
              <a:rPr lang="en-US" sz="2000" b="1" dirty="0">
                <a:solidFill>
                  <a:schemeClr val="tx2"/>
                </a:solidFill>
                <a:latin typeface="Cambria" pitchFamily="34" charset="0"/>
                <a:ea typeface="Cambria" pitchFamily="34" charset="-122"/>
                <a:cs typeface="Cambria" pitchFamily="34" charset="-120"/>
              </a:rPr>
              <a:t>дулыға</a:t>
            </a:r>
            <a:endParaRPr lang="en-US" sz="2000" dirty="0"/>
          </a:p>
        </p:txBody>
      </p:sp>
      <p:sp>
        <p:nvSpPr>
          <p:cNvPr id="14" name="title-chip-4"/>
          <p:cNvSpPr/>
          <p:nvPr/>
        </p:nvSpPr>
        <p:spPr>
          <a:xfrm>
            <a:off x="8046720" y="3886200"/>
            <a:ext cx="1645920" cy="960120"/>
          </a:xfrm>
          <a:prstGeom prst="roundRect">
            <a:avLst>
              <a:gd name="adj" fmla="val 11429"/>
            </a:avLst>
          </a:prstGeom>
          <a:solidFill>
            <a:schemeClr val="bg1"/>
          </a:solidFill>
          <a:ln w="15875">
            <a:solidFill>
              <a:schemeClr val="accent2"/>
            </a:solidFill>
            <a:prstDash val="solid"/>
          </a:ln>
        </p:spPr>
      </p:sp>
      <p:sp>
        <p:nvSpPr>
          <p:cNvPr id="15" name="title-chip-4-text"/>
          <p:cNvSpPr txBox="1"/>
          <p:nvPr/>
        </p:nvSpPr>
        <p:spPr>
          <a:xfrm>
            <a:off x="8156448" y="3886200"/>
            <a:ext cx="1426464" cy="960120"/>
          </a:xfrm>
          <a:prstGeom prst="rect">
            <a:avLst/>
          </a:prstGeom>
          <a:noFill/>
          <a:ln/>
        </p:spPr>
        <p:txBody>
          <a:bodyPr wrap="square" lIns="0" tIns="0" rIns="0" bIns="0" rtlCol="0" anchor="ctr"/>
          <a:lstStyle/>
          <a:p>
            <a:pPr algn="ctr" indent="0" marL="0">
              <a:buNone/>
            </a:pPr>
            <a:r>
              <a:rPr lang="en-US" sz="2000" b="1" dirty="0">
                <a:solidFill>
                  <a:schemeClr val="tx2"/>
                </a:solidFill>
                <a:latin typeface="Cambria" pitchFamily="34" charset="0"/>
                <a:ea typeface="Cambria" pitchFamily="34" charset="-122"/>
                <a:cs typeface="Cambria" pitchFamily="34" charset="-120"/>
              </a:rPr>
              <a:t>болыс</a:t>
            </a:r>
            <a:endParaRPr lang="en-US" sz="2000" dirty="0"/>
          </a:p>
        </p:txBody>
      </p:sp>
      <p:sp>
        <p:nvSpPr>
          <p:cNvPr id="16" name="title-chip-5"/>
          <p:cNvSpPr/>
          <p:nvPr/>
        </p:nvSpPr>
        <p:spPr>
          <a:xfrm>
            <a:off x="9875520" y="3886200"/>
            <a:ext cx="1645920" cy="960120"/>
          </a:xfrm>
          <a:prstGeom prst="roundRect">
            <a:avLst>
              <a:gd name="adj" fmla="val 11429"/>
            </a:avLst>
          </a:prstGeom>
          <a:solidFill>
            <a:schemeClr val="bg1"/>
          </a:solidFill>
          <a:ln w="15875">
            <a:solidFill>
              <a:schemeClr val="accent2"/>
            </a:solidFill>
            <a:prstDash val="solid"/>
          </a:ln>
        </p:spPr>
      </p:sp>
      <p:sp>
        <p:nvSpPr>
          <p:cNvPr id="17" name="title-chip-5-text"/>
          <p:cNvSpPr txBox="1"/>
          <p:nvPr/>
        </p:nvSpPr>
        <p:spPr>
          <a:xfrm>
            <a:off x="9985248" y="3886200"/>
            <a:ext cx="1426464" cy="960120"/>
          </a:xfrm>
          <a:prstGeom prst="rect">
            <a:avLst/>
          </a:prstGeom>
          <a:noFill/>
          <a:ln/>
        </p:spPr>
        <p:txBody>
          <a:bodyPr wrap="square" lIns="0" tIns="0" rIns="0" bIns="0" rtlCol="0" anchor="ctr"/>
          <a:lstStyle/>
          <a:p>
            <a:pPr algn="ctr" indent="0" marL="0">
              <a:buNone/>
            </a:pPr>
            <a:r>
              <a:rPr lang="en-US" sz="2000" b="1" dirty="0">
                <a:solidFill>
                  <a:schemeClr val="tx2"/>
                </a:solidFill>
                <a:latin typeface="Cambria" pitchFamily="34" charset="0"/>
                <a:ea typeface="Cambria" pitchFamily="34" charset="-122"/>
                <a:cs typeface="Cambria" pitchFamily="34" charset="-120"/>
              </a:rPr>
              <a:t>тұлпар</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Дулыға: соғыстан – спортқа</a:t>
            </a:r>
            <a:endParaRPr lang="en-US" sz="3200" dirty="0"/>
          </a:p>
        </p:txBody>
      </p:sp>
      <p:sp>
        <p:nvSpPr>
          <p:cNvPr id="3" name="hook-old"/>
          <p:cNvSpPr/>
          <p:nvPr/>
        </p:nvSpPr>
        <p:spPr>
          <a:xfrm>
            <a:off x="548640" y="1417320"/>
            <a:ext cx="5349240" cy="3017520"/>
          </a:xfrm>
          <a:prstGeom prst="roundRect">
            <a:avLst>
              <a:gd name="adj" fmla="val 3636"/>
            </a:avLst>
          </a:prstGeom>
          <a:solidFill>
            <a:schemeClr val="bg2"/>
          </a:solidFill>
          <a:ln/>
        </p:spPr>
      </p:sp>
      <p:sp>
        <p:nvSpPr>
          <p:cNvPr id="4" name="hook-old-ic-circle"/>
          <p:cNvSpPr/>
          <p:nvPr/>
        </p:nvSpPr>
        <p:spPr>
          <a:xfrm>
            <a:off x="868680" y="1691640"/>
            <a:ext cx="685800" cy="685800"/>
          </a:xfrm>
          <a:prstGeom prst="ellipse">
            <a:avLst/>
          </a:prstGeom>
          <a:solidFill>
            <a:schemeClr val="accent3"/>
          </a:solidFill>
          <a:ln/>
        </p:spPr>
      </p:sp>
      <p:pic>
        <p:nvPicPr>
          <p:cNvPr id="5" name="hook-old-ic-icon" descr="preencoded.png">    </p:cNvPr>
          <p:cNvPicPr>
            <a:picLocks noChangeAspect="1"/>
          </p:cNvPicPr>
          <p:nvPr/>
        </p:nvPicPr>
        <p:blipFill>
          <a:blip r:embed="rId1"/>
          <a:stretch>
            <a:fillRect/>
          </a:stretch>
        </p:blipFill>
        <p:spPr>
          <a:xfrm>
            <a:off x="1033272" y="1856232"/>
            <a:ext cx="356616" cy="356616"/>
          </a:xfrm>
          <a:prstGeom prst="rect">
            <a:avLst/>
          </a:prstGeom>
        </p:spPr>
      </p:pic>
      <p:sp>
        <p:nvSpPr>
          <p:cNvPr id="6" name="hook-old-t"/>
          <p:cNvSpPr txBox="1"/>
          <p:nvPr/>
        </p:nvSpPr>
        <p:spPr>
          <a:xfrm>
            <a:off x="1737360" y="1691640"/>
            <a:ext cx="3931920" cy="685800"/>
          </a:xfrm>
          <a:prstGeom prst="rect">
            <a:avLst/>
          </a:prstGeom>
          <a:noFill/>
          <a:ln/>
        </p:spPr>
        <p:txBody>
          <a:bodyPr wrap="square" lIns="0" tIns="0" rIns="0" bIns="0" rtlCol="0" anchor="ctr"/>
          <a:lstStyle/>
          <a:p>
            <a:pPr indent="0" marL="0">
              <a:buNone/>
            </a:pPr>
            <a:r>
              <a:rPr lang="en-US" sz="2000" b="1" dirty="0">
                <a:solidFill>
                  <a:schemeClr val="tx2"/>
                </a:solidFill>
              </a:rPr>
              <a:t>Сөздікте</a:t>
            </a:r>
            <a:endParaRPr lang="en-US" sz="2000" dirty="0"/>
          </a:p>
        </p:txBody>
      </p:sp>
      <p:sp>
        <p:nvSpPr>
          <p:cNvPr id="7" name="hook-old-text"/>
          <p:cNvSpPr txBox="1"/>
          <p:nvPr/>
        </p:nvSpPr>
        <p:spPr>
          <a:xfrm>
            <a:off x="868680" y="2560320"/>
            <a:ext cx="4754880" cy="1463040"/>
          </a:xfrm>
          <a:prstGeom prst="rect">
            <a:avLst/>
          </a:prstGeom>
          <a:noFill/>
          <a:ln/>
        </p:spPr>
        <p:txBody>
          <a:bodyPr wrap="square" lIns="0" tIns="0" rIns="0" bIns="0" rtlCol="0" anchor="t"/>
          <a:lstStyle/>
          <a:p>
            <a:pPr indent="0" marL="0">
              <a:buNone/>
            </a:pPr>
            <a:r>
              <a:rPr lang="en-US" sz="1700" i="1" dirty="0">
                <a:solidFill>
                  <a:schemeClr val="tx1"/>
                </a:solidFill>
              </a:rPr>
              <a:t>«Соғысқа шыққан батырлардың басына киетін темірден, жезден жасалған баскиім»</a:t>
            </a:r>
            <a:endParaRPr lang="en-US" sz="1700" dirty="0"/>
          </a:p>
        </p:txBody>
      </p:sp>
      <p:sp>
        <p:nvSpPr>
          <p:cNvPr id="8" name="hook-old-mark"/>
          <p:cNvSpPr txBox="1"/>
          <p:nvPr/>
        </p:nvSpPr>
        <p:spPr>
          <a:xfrm>
            <a:off x="868680" y="3931920"/>
            <a:ext cx="4754880" cy="365760"/>
          </a:xfrm>
          <a:prstGeom prst="rect">
            <a:avLst/>
          </a:prstGeom>
          <a:noFill/>
          <a:ln/>
        </p:spPr>
        <p:txBody>
          <a:bodyPr wrap="square" lIns="0" tIns="0" rIns="0" bIns="0" rtlCol="0" anchor="ctr"/>
          <a:lstStyle/>
          <a:p>
            <a:pPr indent="0" marL="0">
              <a:buNone/>
            </a:pPr>
            <a:r>
              <a:rPr lang="en-US" sz="1400" b="1" dirty="0">
                <a:solidFill>
                  <a:schemeClr val="accent3"/>
                </a:solidFill>
              </a:rPr>
              <a:t>Белгісі: «көн.» – көнерген</a:t>
            </a:r>
            <a:endParaRPr lang="en-US" sz="1400" dirty="0"/>
          </a:p>
        </p:txBody>
      </p:sp>
      <p:sp>
        <p:nvSpPr>
          <p:cNvPr id="9" name="hook-new"/>
          <p:cNvSpPr/>
          <p:nvPr/>
        </p:nvSpPr>
        <p:spPr>
          <a:xfrm>
            <a:off x="6263640" y="1417320"/>
            <a:ext cx="5349240" cy="3017520"/>
          </a:xfrm>
          <a:prstGeom prst="roundRect">
            <a:avLst>
              <a:gd name="adj" fmla="val 3636"/>
            </a:avLst>
          </a:prstGeom>
          <a:solidFill>
            <a:schemeClr val="bg2"/>
          </a:solidFill>
          <a:ln/>
        </p:spPr>
      </p:sp>
      <p:sp>
        <p:nvSpPr>
          <p:cNvPr id="10" name="hook-new-ic-circle"/>
          <p:cNvSpPr/>
          <p:nvPr/>
        </p:nvSpPr>
        <p:spPr>
          <a:xfrm>
            <a:off x="6583680" y="1691640"/>
            <a:ext cx="685800" cy="685800"/>
          </a:xfrm>
          <a:prstGeom prst="ellipse">
            <a:avLst/>
          </a:prstGeom>
          <a:solidFill>
            <a:schemeClr val="accent1"/>
          </a:solidFill>
          <a:ln/>
        </p:spPr>
      </p:sp>
      <p:pic>
        <p:nvPicPr>
          <p:cNvPr id="11" name="hook-new-ic-icon" descr="preencoded.png">    </p:cNvPr>
          <p:cNvPicPr>
            <a:picLocks noChangeAspect="1"/>
          </p:cNvPicPr>
          <p:nvPr/>
        </p:nvPicPr>
        <p:blipFill>
          <a:blip r:embed="rId2"/>
          <a:stretch>
            <a:fillRect/>
          </a:stretch>
        </p:blipFill>
        <p:spPr>
          <a:xfrm>
            <a:off x="6748272" y="1856232"/>
            <a:ext cx="356616" cy="356616"/>
          </a:xfrm>
          <a:prstGeom prst="rect">
            <a:avLst/>
          </a:prstGeom>
        </p:spPr>
      </p:pic>
      <p:sp>
        <p:nvSpPr>
          <p:cNvPr id="12" name="hook-new-t"/>
          <p:cNvSpPr txBox="1"/>
          <p:nvPr/>
        </p:nvSpPr>
        <p:spPr>
          <a:xfrm>
            <a:off x="7452360" y="1691640"/>
            <a:ext cx="3931920" cy="685800"/>
          </a:xfrm>
          <a:prstGeom prst="rect">
            <a:avLst/>
          </a:prstGeom>
          <a:noFill/>
          <a:ln/>
        </p:spPr>
        <p:txBody>
          <a:bodyPr wrap="square" lIns="0" tIns="0" rIns="0" bIns="0" rtlCol="0" anchor="ctr"/>
          <a:lstStyle/>
          <a:p>
            <a:pPr indent="0" marL="0">
              <a:buNone/>
            </a:pPr>
            <a:r>
              <a:rPr lang="en-US" sz="2000" b="1" dirty="0">
                <a:solidFill>
                  <a:schemeClr val="tx2"/>
                </a:solidFill>
              </a:rPr>
              <a:t>Бүгінгі газетте</a:t>
            </a:r>
            <a:endParaRPr lang="en-US" sz="2000" dirty="0"/>
          </a:p>
        </p:txBody>
      </p:sp>
      <p:sp>
        <p:nvSpPr>
          <p:cNvPr id="13" name="hook-new-text"/>
          <p:cNvSpPr txBox="1"/>
          <p:nvPr/>
        </p:nvSpPr>
        <p:spPr>
          <a:xfrm>
            <a:off x="6583680" y="2560320"/>
            <a:ext cx="4754880" cy="1463040"/>
          </a:xfrm>
          <a:prstGeom prst="rect">
            <a:avLst/>
          </a:prstGeom>
          <a:noFill/>
          <a:ln/>
        </p:spPr>
        <p:txBody>
          <a:bodyPr wrap="square" lIns="0" tIns="0" rIns="0" bIns="0" rtlCol="0" anchor="t"/>
          <a:lstStyle/>
          <a:p>
            <a:pPr indent="0" marL="0">
              <a:buNone/>
            </a:pPr>
            <a:r>
              <a:rPr lang="en-US" sz="1700" i="1" dirty="0">
                <a:solidFill>
                  <a:schemeClr val="tx1"/>
                </a:solidFill>
              </a:rPr>
              <a:t>«7-8 ақпан аралығында Франция астанасы Парижде дзюдодан Үлкен дулыға санатындағы 2026 жылдың алғашқы жарысы өтеді.»</a:t>
            </a:r>
            <a:endParaRPr lang="en-US" sz="1700" dirty="0"/>
          </a:p>
        </p:txBody>
      </p:sp>
      <p:sp>
        <p:nvSpPr>
          <p:cNvPr id="14" name="hook-new-src"/>
          <p:cNvSpPr txBox="1"/>
          <p:nvPr/>
        </p:nvSpPr>
        <p:spPr>
          <a:xfrm>
            <a:off x="6583680" y="3931920"/>
            <a:ext cx="4754880" cy="365760"/>
          </a:xfrm>
          <a:prstGeom prst="rect">
            <a:avLst/>
          </a:prstGeom>
          <a:noFill/>
          <a:ln/>
        </p:spPr>
        <p:txBody>
          <a:bodyPr wrap="square" lIns="0" tIns="0" rIns="0" bIns="0" rtlCol="0" anchor="ctr"/>
          <a:lstStyle/>
          <a:p>
            <a:pPr indent="0" marL="0">
              <a:buNone/>
            </a:pPr>
            <a:r>
              <a:rPr lang="en-US" sz="1400" b="1" dirty="0">
                <a:solidFill>
                  <a:schemeClr val="accent1"/>
                </a:solidFill>
              </a:rPr>
              <a:t>egemen.kz</a:t>
            </a:r>
            <a:endParaRPr lang="en-US" sz="1400" dirty="0"/>
          </a:p>
        </p:txBody>
      </p:sp>
      <p:sp>
        <p:nvSpPr>
          <p:cNvPr id="15" name="hook-q"/>
          <p:cNvSpPr/>
          <p:nvPr/>
        </p:nvSpPr>
        <p:spPr>
          <a:xfrm>
            <a:off x="548640" y="4754880"/>
            <a:ext cx="11064240" cy="1234440"/>
          </a:xfrm>
          <a:prstGeom prst="roundRect">
            <a:avLst>
              <a:gd name="adj" fmla="val 8889"/>
            </a:avLst>
          </a:prstGeom>
          <a:solidFill>
            <a:schemeClr val="tx2"/>
          </a:solidFill>
          <a:ln/>
        </p:spPr>
      </p:sp>
      <p:sp>
        <p:nvSpPr>
          <p:cNvPr id="16" name="hook-q-text"/>
          <p:cNvSpPr txBox="1"/>
          <p:nvPr/>
        </p:nvSpPr>
        <p:spPr>
          <a:xfrm>
            <a:off x="914400" y="4754880"/>
            <a:ext cx="10332720" cy="1234440"/>
          </a:xfrm>
          <a:prstGeom prst="rect">
            <a:avLst/>
          </a:prstGeom>
          <a:noFill/>
          <a:ln/>
        </p:spPr>
        <p:txBody>
          <a:bodyPr wrap="square" lIns="0" tIns="0" rIns="0" bIns="0" rtlCol="0" anchor="ctr"/>
          <a:lstStyle/>
          <a:p>
            <a:pPr indent="0" marL="0">
              <a:buNone/>
            </a:pPr>
            <a:r>
              <a:rPr lang="en-US" sz="2200" b="1" dirty="0">
                <a:solidFill>
                  <a:schemeClr val="bg1"/>
                </a:solidFill>
              </a:rPr>
              <a:t>Көнерген сөздер шынымен тілден шығып кетті ме, әлде олар жаңа жерде өмір сүре ме?</a:t>
            </a:r>
            <a:endParaRPr lang="en-US" sz="2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Зерттеу сұрағы мен болжам</a:t>
            </a:r>
            <a:endParaRPr lang="en-US" sz="3200" dirty="0"/>
          </a:p>
        </p:txBody>
      </p:sp>
      <p:sp>
        <p:nvSpPr>
          <p:cNvPr id="3" name="q-card"/>
          <p:cNvSpPr/>
          <p:nvPr/>
        </p:nvSpPr>
        <p:spPr>
          <a:xfrm>
            <a:off x="548640" y="1417320"/>
            <a:ext cx="11064240" cy="1325880"/>
          </a:xfrm>
          <a:prstGeom prst="roundRect">
            <a:avLst>
              <a:gd name="adj" fmla="val 8276"/>
            </a:avLst>
          </a:prstGeom>
          <a:solidFill>
            <a:schemeClr val="bg2"/>
          </a:solidFill>
          <a:ln/>
        </p:spPr>
      </p:sp>
      <p:sp>
        <p:nvSpPr>
          <p:cNvPr id="4" name="q-circle"/>
          <p:cNvSpPr/>
          <p:nvPr/>
        </p:nvSpPr>
        <p:spPr>
          <a:xfrm>
            <a:off x="868680" y="1691640"/>
            <a:ext cx="777240" cy="777240"/>
          </a:xfrm>
          <a:prstGeom prst="ellipse">
            <a:avLst/>
          </a:prstGeom>
          <a:solidFill>
            <a:schemeClr val="accent1"/>
          </a:solidFill>
          <a:ln/>
        </p:spPr>
      </p:sp>
      <p:pic>
        <p:nvPicPr>
          <p:cNvPr id="5" name="q-icon" descr="preencoded.png">    </p:cNvPr>
          <p:cNvPicPr>
            <a:picLocks noChangeAspect="1"/>
          </p:cNvPicPr>
          <p:nvPr/>
        </p:nvPicPr>
        <p:blipFill>
          <a:blip r:embed="rId1"/>
          <a:stretch>
            <a:fillRect/>
          </a:stretch>
        </p:blipFill>
        <p:spPr>
          <a:xfrm>
            <a:off x="1055218" y="1878178"/>
            <a:ext cx="404165" cy="404165"/>
          </a:xfrm>
          <a:prstGeom prst="rect">
            <a:avLst/>
          </a:prstGeom>
        </p:spPr>
      </p:pic>
      <p:sp>
        <p:nvSpPr>
          <p:cNvPr id="6" name="q-text"/>
          <p:cNvSpPr txBox="1"/>
          <p:nvPr/>
        </p:nvSpPr>
        <p:spPr>
          <a:xfrm>
            <a:off x="1920240" y="1417320"/>
            <a:ext cx="9418320" cy="1325880"/>
          </a:xfrm>
          <a:prstGeom prst="rect">
            <a:avLst/>
          </a:prstGeom>
          <a:noFill/>
          <a:ln/>
        </p:spPr>
        <p:txBody>
          <a:bodyPr wrap="square" lIns="0" tIns="0" rIns="0" bIns="0" rtlCol="0" anchor="ctr"/>
          <a:lstStyle/>
          <a:p>
            <a:pPr indent="0" marL="0">
              <a:buNone/>
            </a:pPr>
            <a:r>
              <a:rPr lang="en-US" sz="2100" b="1" dirty="0">
                <a:solidFill>
                  <a:schemeClr val="tx2"/>
                </a:solidFill>
              </a:rPr>
              <a:t>Көнерген сөздер бүгін қайда және қандай мағынада қолданылады және оларды әр буын қаншалықты біледі?</a:t>
            </a:r>
            <a:endParaRPr lang="en-US" sz="2100" dirty="0"/>
          </a:p>
        </p:txBody>
      </p:sp>
      <p:sp>
        <p:nvSpPr>
          <p:cNvPr id="7" name="aim-card-0"/>
          <p:cNvSpPr/>
          <p:nvPr/>
        </p:nvSpPr>
        <p:spPr>
          <a:xfrm>
            <a:off x="548640" y="3063240"/>
            <a:ext cx="5349240" cy="3017520"/>
          </a:xfrm>
          <a:prstGeom prst="roundRect">
            <a:avLst>
              <a:gd name="adj" fmla="val 3636"/>
            </a:avLst>
          </a:prstGeom>
          <a:solidFill>
            <a:schemeClr val="bg1"/>
          </a:solidFill>
          <a:ln w="15875">
            <a:solidFill>
              <a:srgbClr val="D5D0E3"/>
            </a:solidFill>
            <a:prstDash val="solid"/>
          </a:ln>
        </p:spPr>
      </p:sp>
      <p:sp>
        <p:nvSpPr>
          <p:cNvPr id="8" name="aim-0-circle"/>
          <p:cNvSpPr/>
          <p:nvPr/>
        </p:nvSpPr>
        <p:spPr>
          <a:xfrm>
            <a:off x="868680" y="3337560"/>
            <a:ext cx="685800" cy="685800"/>
          </a:xfrm>
          <a:prstGeom prst="ellipse">
            <a:avLst/>
          </a:prstGeom>
          <a:solidFill>
            <a:schemeClr val="accent1"/>
          </a:solidFill>
          <a:ln/>
        </p:spPr>
      </p:sp>
      <p:pic>
        <p:nvPicPr>
          <p:cNvPr id="9" name="aim-0-icon" descr="preencoded.png">    </p:cNvPr>
          <p:cNvPicPr>
            <a:picLocks noChangeAspect="1"/>
          </p:cNvPicPr>
          <p:nvPr/>
        </p:nvPicPr>
        <p:blipFill>
          <a:blip r:embed="rId2"/>
          <a:stretch>
            <a:fillRect/>
          </a:stretch>
        </p:blipFill>
        <p:spPr>
          <a:xfrm>
            <a:off x="1033272" y="3502152"/>
            <a:ext cx="356616" cy="356616"/>
          </a:xfrm>
          <a:prstGeom prst="rect">
            <a:avLst/>
          </a:prstGeom>
        </p:spPr>
      </p:pic>
      <p:sp>
        <p:nvSpPr>
          <p:cNvPr id="10" name="aim-title-0"/>
          <p:cNvSpPr txBox="1"/>
          <p:nvPr/>
        </p:nvSpPr>
        <p:spPr>
          <a:xfrm>
            <a:off x="1737360" y="3337560"/>
            <a:ext cx="3931920" cy="685800"/>
          </a:xfrm>
          <a:prstGeom prst="rect">
            <a:avLst/>
          </a:prstGeom>
          <a:noFill/>
          <a:ln/>
        </p:spPr>
        <p:txBody>
          <a:bodyPr wrap="square" lIns="0" tIns="0" rIns="0" bIns="0" rtlCol="0" anchor="ctr"/>
          <a:lstStyle/>
          <a:p>
            <a:pPr indent="0" marL="0">
              <a:buNone/>
            </a:pPr>
            <a:r>
              <a:rPr lang="en-US" sz="2200" b="1" dirty="0">
                <a:solidFill>
                  <a:schemeClr val="tx2"/>
                </a:solidFill>
              </a:rPr>
              <a:t>Мақсаты</a:t>
            </a:r>
            <a:endParaRPr lang="en-US" sz="2200" dirty="0"/>
          </a:p>
        </p:txBody>
      </p:sp>
      <p:sp>
        <p:nvSpPr>
          <p:cNvPr id="11" name="aim-text-0"/>
          <p:cNvSpPr txBox="1"/>
          <p:nvPr/>
        </p:nvSpPr>
        <p:spPr>
          <a:xfrm>
            <a:off x="868680" y="4206240"/>
            <a:ext cx="4754880" cy="1737360"/>
          </a:xfrm>
          <a:prstGeom prst="rect">
            <a:avLst/>
          </a:prstGeom>
          <a:noFill/>
          <a:ln/>
        </p:spPr>
        <p:txBody>
          <a:bodyPr wrap="square" lIns="0" tIns="0" rIns="0" bIns="0" rtlCol="0" anchor="t"/>
          <a:lstStyle/>
          <a:p>
            <a:pPr indent="0" marL="0">
              <a:buNone/>
            </a:pPr>
            <a:r>
              <a:rPr lang="en-US" sz="1700" dirty="0">
                <a:solidFill>
                  <a:schemeClr val="tx1"/>
                </a:solidFill>
              </a:rPr>
              <a:t>Көне сөздердің сөздіктегі белгісін, бүгінгі баспасөздегі қолданысын және үш буынның оларды білуін зерттеп, мини-сөздік жасау</a:t>
            </a:r>
            <a:endParaRPr lang="en-US" sz="1700" dirty="0"/>
          </a:p>
        </p:txBody>
      </p:sp>
      <p:sp>
        <p:nvSpPr>
          <p:cNvPr id="12" name="aim-card-1"/>
          <p:cNvSpPr/>
          <p:nvPr/>
        </p:nvSpPr>
        <p:spPr>
          <a:xfrm>
            <a:off x="6263640" y="3063240"/>
            <a:ext cx="5349240" cy="3017520"/>
          </a:xfrm>
          <a:prstGeom prst="roundRect">
            <a:avLst>
              <a:gd name="adj" fmla="val 3636"/>
            </a:avLst>
          </a:prstGeom>
          <a:solidFill>
            <a:schemeClr val="bg1"/>
          </a:solidFill>
          <a:ln w="15875">
            <a:solidFill>
              <a:srgbClr val="D5D0E3"/>
            </a:solidFill>
            <a:prstDash val="solid"/>
          </a:ln>
        </p:spPr>
      </p:sp>
      <p:sp>
        <p:nvSpPr>
          <p:cNvPr id="13" name="aim-1-circle"/>
          <p:cNvSpPr/>
          <p:nvPr/>
        </p:nvSpPr>
        <p:spPr>
          <a:xfrm>
            <a:off x="6583680" y="3337560"/>
            <a:ext cx="685800" cy="685800"/>
          </a:xfrm>
          <a:prstGeom prst="ellipse">
            <a:avLst/>
          </a:prstGeom>
          <a:solidFill>
            <a:schemeClr val="accent2"/>
          </a:solidFill>
          <a:ln/>
        </p:spPr>
      </p:sp>
      <p:pic>
        <p:nvPicPr>
          <p:cNvPr id="14" name="aim-1-icon" descr="preencoded.png">    </p:cNvPr>
          <p:cNvPicPr>
            <a:picLocks noChangeAspect="1"/>
          </p:cNvPicPr>
          <p:nvPr/>
        </p:nvPicPr>
        <p:blipFill>
          <a:blip r:embed="rId3"/>
          <a:stretch>
            <a:fillRect/>
          </a:stretch>
        </p:blipFill>
        <p:spPr>
          <a:xfrm>
            <a:off x="6748272" y="3502152"/>
            <a:ext cx="356616" cy="356616"/>
          </a:xfrm>
          <a:prstGeom prst="rect">
            <a:avLst/>
          </a:prstGeom>
        </p:spPr>
      </p:pic>
      <p:sp>
        <p:nvSpPr>
          <p:cNvPr id="15" name="aim-title-1"/>
          <p:cNvSpPr txBox="1"/>
          <p:nvPr/>
        </p:nvSpPr>
        <p:spPr>
          <a:xfrm>
            <a:off x="7452360" y="3337560"/>
            <a:ext cx="3931920" cy="685800"/>
          </a:xfrm>
          <a:prstGeom prst="rect">
            <a:avLst/>
          </a:prstGeom>
          <a:noFill/>
          <a:ln/>
        </p:spPr>
        <p:txBody>
          <a:bodyPr wrap="square" lIns="0" tIns="0" rIns="0" bIns="0" rtlCol="0" anchor="ctr"/>
          <a:lstStyle/>
          <a:p>
            <a:pPr indent="0" marL="0">
              <a:buNone/>
            </a:pPr>
            <a:r>
              <a:rPr lang="en-US" sz="2200" b="1" dirty="0">
                <a:solidFill>
                  <a:schemeClr val="tx2"/>
                </a:solidFill>
              </a:rPr>
              <a:t>Болжам</a:t>
            </a:r>
            <a:endParaRPr lang="en-US" sz="2200" dirty="0"/>
          </a:p>
        </p:txBody>
      </p:sp>
      <p:sp>
        <p:nvSpPr>
          <p:cNvPr id="16" name="aim-text-1"/>
          <p:cNvSpPr txBox="1"/>
          <p:nvPr/>
        </p:nvSpPr>
        <p:spPr>
          <a:xfrm>
            <a:off x="6583680" y="4206240"/>
            <a:ext cx="4754880" cy="1737360"/>
          </a:xfrm>
          <a:prstGeom prst="rect">
            <a:avLst/>
          </a:prstGeom>
          <a:noFill/>
          <a:ln/>
        </p:spPr>
        <p:txBody>
          <a:bodyPr wrap="square" lIns="0" tIns="0" rIns="0" bIns="0" rtlCol="0" anchor="t"/>
          <a:lstStyle/>
          <a:p>
            <a:pPr indent="0" marL="0">
              <a:buNone/>
            </a:pPr>
            <a:r>
              <a:rPr lang="en-US" sz="1700" dirty="0">
                <a:solidFill>
                  <a:schemeClr val="tx1"/>
                </a:solidFill>
              </a:rPr>
              <a:t>Қайта қолданысқа енген архаизмдер сөздікте көнерген деп белгіленбеген, тарихи сөздердің көбі белгіленген; көне сөздерді ата-әжелер жақсы, оқушылар нашар біледі</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Көнерген сөздің екі түрі және қайта жандану</a:t>
            </a:r>
            <a:endParaRPr lang="en-US" sz="3200" dirty="0"/>
          </a:p>
        </p:txBody>
      </p:sp>
      <p:sp>
        <p:nvSpPr>
          <p:cNvPr id="3" name="kind-card-0"/>
          <p:cNvSpPr/>
          <p:nvPr/>
        </p:nvSpPr>
        <p:spPr>
          <a:xfrm>
            <a:off x="548640" y="1417320"/>
            <a:ext cx="5349240" cy="2926080"/>
          </a:xfrm>
          <a:prstGeom prst="roundRect">
            <a:avLst>
              <a:gd name="adj" fmla="val 3750"/>
            </a:avLst>
          </a:prstGeom>
          <a:solidFill>
            <a:schemeClr val="bg2"/>
          </a:solidFill>
          <a:ln/>
        </p:spPr>
      </p:sp>
      <p:sp>
        <p:nvSpPr>
          <p:cNvPr id="4" name="kind-h-0"/>
          <p:cNvSpPr txBox="1"/>
          <p:nvPr/>
        </p:nvSpPr>
        <p:spPr>
          <a:xfrm>
            <a:off x="868680" y="1600200"/>
            <a:ext cx="4754880" cy="548640"/>
          </a:xfrm>
          <a:prstGeom prst="rect">
            <a:avLst/>
          </a:prstGeom>
          <a:noFill/>
          <a:ln/>
        </p:spPr>
        <p:txBody>
          <a:bodyPr wrap="square" lIns="0" tIns="0" rIns="0" bIns="0" rtlCol="0" anchor="ctr"/>
          <a:lstStyle/>
          <a:p>
            <a:pPr indent="0" marL="0">
              <a:buNone/>
            </a:pPr>
            <a:r>
              <a:rPr lang="en-US" sz="2400" b="1" dirty="0">
                <a:solidFill>
                  <a:srgbClr val="B5462F"/>
                </a:solidFill>
                <a:latin typeface="Cambria" pitchFamily="34" charset="0"/>
                <a:ea typeface="Cambria" pitchFamily="34" charset="-122"/>
                <a:cs typeface="Cambria" pitchFamily="34" charset="-120"/>
              </a:rPr>
              <a:t>Тарихи сөздер</a:t>
            </a:r>
            <a:endParaRPr lang="en-US" sz="2400" dirty="0"/>
          </a:p>
        </p:txBody>
      </p:sp>
      <p:sp>
        <p:nvSpPr>
          <p:cNvPr id="5" name="kind-d-0"/>
          <p:cNvSpPr txBox="1"/>
          <p:nvPr/>
        </p:nvSpPr>
        <p:spPr>
          <a:xfrm>
            <a:off x="868680" y="2148840"/>
            <a:ext cx="4754880" cy="457200"/>
          </a:xfrm>
          <a:prstGeom prst="rect">
            <a:avLst/>
          </a:prstGeom>
          <a:noFill/>
          <a:ln/>
        </p:spPr>
        <p:txBody>
          <a:bodyPr wrap="square" lIns="0" tIns="0" rIns="0" bIns="0" rtlCol="0" anchor="ctr"/>
          <a:lstStyle/>
          <a:p>
            <a:pPr indent="0" marL="0">
              <a:buNone/>
            </a:pPr>
            <a:r>
              <a:rPr lang="en-US" sz="1600" dirty="0">
                <a:solidFill>
                  <a:schemeClr val="tx1"/>
                </a:solidFill>
              </a:rPr>
              <a:t>Заты да, атауы да қолданыстан шыққан</a:t>
            </a:r>
            <a:endParaRPr lang="en-US" sz="1600" dirty="0"/>
          </a:p>
        </p:txBody>
      </p:sp>
      <p:sp>
        <p:nvSpPr>
          <p:cNvPr id="6" name="kind-ex-0-0"/>
          <p:cNvSpPr/>
          <p:nvPr/>
        </p:nvSpPr>
        <p:spPr>
          <a:xfrm>
            <a:off x="868680" y="2743200"/>
            <a:ext cx="3291840" cy="411480"/>
          </a:xfrm>
          <a:prstGeom prst="roundRect">
            <a:avLst>
              <a:gd name="adj" fmla="val 26667"/>
            </a:avLst>
          </a:prstGeom>
          <a:solidFill>
            <a:schemeClr val="bg1"/>
          </a:solidFill>
          <a:ln w="15875">
            <a:solidFill>
              <a:schemeClr val="accent2"/>
            </a:solidFill>
            <a:prstDash val="solid"/>
          </a:ln>
        </p:spPr>
      </p:sp>
      <p:sp>
        <p:nvSpPr>
          <p:cNvPr id="7" name="kind-ex-0-0-text"/>
          <p:cNvSpPr txBox="1"/>
          <p:nvPr/>
        </p:nvSpPr>
        <p:spPr>
          <a:xfrm>
            <a:off x="978408" y="2743200"/>
            <a:ext cx="3072384" cy="411480"/>
          </a:xfrm>
          <a:prstGeom prst="rect">
            <a:avLst/>
          </a:prstGeom>
          <a:noFill/>
          <a:ln/>
        </p:spPr>
        <p:txBody>
          <a:bodyPr wrap="square" lIns="0" tIns="0" rIns="0" bIns="0" rtlCol="0" anchor="ctr"/>
          <a:lstStyle/>
          <a:p>
            <a:pPr algn="ctr" indent="0" marL="0">
              <a:buNone/>
            </a:pPr>
            <a:r>
              <a:rPr lang="en-US" sz="1500" b="1" dirty="0">
                <a:solidFill>
                  <a:schemeClr val="tx2"/>
                </a:solidFill>
                <a:latin typeface="Cambria" pitchFamily="34" charset="0"/>
                <a:ea typeface="Cambria" pitchFamily="34" charset="-122"/>
                <a:cs typeface="Cambria" pitchFamily="34" charset="-120"/>
              </a:rPr>
              <a:t>сауыт</a:t>
            </a:r>
            <a:endParaRPr lang="en-US" sz="1500" dirty="0"/>
          </a:p>
        </p:txBody>
      </p:sp>
      <p:sp>
        <p:nvSpPr>
          <p:cNvPr id="8" name="kind-ex-0-1"/>
          <p:cNvSpPr/>
          <p:nvPr/>
        </p:nvSpPr>
        <p:spPr>
          <a:xfrm>
            <a:off x="868680" y="3246120"/>
            <a:ext cx="3291840" cy="411480"/>
          </a:xfrm>
          <a:prstGeom prst="roundRect">
            <a:avLst>
              <a:gd name="adj" fmla="val 26667"/>
            </a:avLst>
          </a:prstGeom>
          <a:solidFill>
            <a:schemeClr val="bg1"/>
          </a:solidFill>
          <a:ln w="15875">
            <a:solidFill>
              <a:schemeClr val="accent2"/>
            </a:solidFill>
            <a:prstDash val="solid"/>
          </a:ln>
        </p:spPr>
      </p:sp>
      <p:sp>
        <p:nvSpPr>
          <p:cNvPr id="9" name="kind-ex-0-1-text"/>
          <p:cNvSpPr txBox="1"/>
          <p:nvPr/>
        </p:nvSpPr>
        <p:spPr>
          <a:xfrm>
            <a:off x="978408" y="3246120"/>
            <a:ext cx="3072384" cy="411480"/>
          </a:xfrm>
          <a:prstGeom prst="rect">
            <a:avLst/>
          </a:prstGeom>
          <a:noFill/>
          <a:ln/>
        </p:spPr>
        <p:txBody>
          <a:bodyPr wrap="square" lIns="0" tIns="0" rIns="0" bIns="0" rtlCol="0" anchor="ctr"/>
          <a:lstStyle/>
          <a:p>
            <a:pPr algn="ctr" indent="0" marL="0">
              <a:buNone/>
            </a:pPr>
            <a:r>
              <a:rPr lang="en-US" sz="1500" b="1" dirty="0">
                <a:solidFill>
                  <a:schemeClr val="tx2"/>
                </a:solidFill>
                <a:latin typeface="Cambria" pitchFamily="34" charset="0"/>
                <a:ea typeface="Cambria" pitchFamily="34" charset="-122"/>
                <a:cs typeface="Cambria" pitchFamily="34" charset="-120"/>
              </a:rPr>
              <a:t>болыс</a:t>
            </a:r>
            <a:endParaRPr lang="en-US" sz="1500" dirty="0"/>
          </a:p>
        </p:txBody>
      </p:sp>
      <p:sp>
        <p:nvSpPr>
          <p:cNvPr id="10" name="kind-ex-0-2"/>
          <p:cNvSpPr/>
          <p:nvPr/>
        </p:nvSpPr>
        <p:spPr>
          <a:xfrm>
            <a:off x="868680" y="3749040"/>
            <a:ext cx="3291840" cy="411480"/>
          </a:xfrm>
          <a:prstGeom prst="roundRect">
            <a:avLst>
              <a:gd name="adj" fmla="val 26667"/>
            </a:avLst>
          </a:prstGeom>
          <a:solidFill>
            <a:schemeClr val="bg1"/>
          </a:solidFill>
          <a:ln w="15875">
            <a:solidFill>
              <a:schemeClr val="accent2"/>
            </a:solidFill>
            <a:prstDash val="solid"/>
          </a:ln>
        </p:spPr>
      </p:sp>
      <p:sp>
        <p:nvSpPr>
          <p:cNvPr id="11" name="kind-ex-0-2-text"/>
          <p:cNvSpPr txBox="1"/>
          <p:nvPr/>
        </p:nvSpPr>
        <p:spPr>
          <a:xfrm>
            <a:off x="978408" y="3749040"/>
            <a:ext cx="3072384" cy="411480"/>
          </a:xfrm>
          <a:prstGeom prst="rect">
            <a:avLst/>
          </a:prstGeom>
          <a:noFill/>
          <a:ln/>
        </p:spPr>
        <p:txBody>
          <a:bodyPr wrap="square" lIns="0" tIns="0" rIns="0" bIns="0" rtlCol="0" anchor="ctr"/>
          <a:lstStyle/>
          <a:p>
            <a:pPr algn="ctr" indent="0" marL="0">
              <a:buNone/>
            </a:pPr>
            <a:r>
              <a:rPr lang="en-US" sz="1500" b="1" dirty="0">
                <a:solidFill>
                  <a:schemeClr val="tx2"/>
                </a:solidFill>
                <a:latin typeface="Cambria" pitchFamily="34" charset="0"/>
                <a:ea typeface="Cambria" pitchFamily="34" charset="-122"/>
                <a:cs typeface="Cambria" pitchFamily="34" charset="-120"/>
              </a:rPr>
              <a:t>батпан</a:t>
            </a:r>
            <a:endParaRPr lang="en-US" sz="1500" dirty="0"/>
          </a:p>
        </p:txBody>
      </p:sp>
      <p:sp>
        <p:nvSpPr>
          <p:cNvPr id="12" name="kind-card-1"/>
          <p:cNvSpPr/>
          <p:nvPr/>
        </p:nvSpPr>
        <p:spPr>
          <a:xfrm>
            <a:off x="6263640" y="1417320"/>
            <a:ext cx="5349240" cy="2926080"/>
          </a:xfrm>
          <a:prstGeom prst="roundRect">
            <a:avLst>
              <a:gd name="adj" fmla="val 3750"/>
            </a:avLst>
          </a:prstGeom>
          <a:solidFill>
            <a:schemeClr val="bg2"/>
          </a:solidFill>
          <a:ln/>
        </p:spPr>
      </p:sp>
      <p:sp>
        <p:nvSpPr>
          <p:cNvPr id="13" name="kind-h-1"/>
          <p:cNvSpPr txBox="1"/>
          <p:nvPr/>
        </p:nvSpPr>
        <p:spPr>
          <a:xfrm>
            <a:off x="6583680" y="1600200"/>
            <a:ext cx="4754880" cy="548640"/>
          </a:xfrm>
          <a:prstGeom prst="rect">
            <a:avLst/>
          </a:prstGeom>
          <a:noFill/>
          <a:ln/>
        </p:spPr>
        <p:txBody>
          <a:bodyPr wrap="square" lIns="0" tIns="0" rIns="0" bIns="0" rtlCol="0" anchor="ctr"/>
          <a:lstStyle/>
          <a:p>
            <a:pPr indent="0" marL="0">
              <a:buNone/>
            </a:pPr>
            <a:r>
              <a:rPr lang="en-US" sz="2400" b="1" dirty="0">
                <a:solidFill>
                  <a:srgbClr val="2A78D6"/>
                </a:solidFill>
                <a:latin typeface="Cambria" pitchFamily="34" charset="0"/>
                <a:ea typeface="Cambria" pitchFamily="34" charset="-122"/>
                <a:cs typeface="Cambria" pitchFamily="34" charset="-120"/>
              </a:rPr>
              <a:t>Архаизмдер</a:t>
            </a:r>
            <a:endParaRPr lang="en-US" sz="2400" dirty="0"/>
          </a:p>
        </p:txBody>
      </p:sp>
      <p:sp>
        <p:nvSpPr>
          <p:cNvPr id="14" name="kind-d-1"/>
          <p:cNvSpPr txBox="1"/>
          <p:nvPr/>
        </p:nvSpPr>
        <p:spPr>
          <a:xfrm>
            <a:off x="6583680" y="2148840"/>
            <a:ext cx="4754880" cy="457200"/>
          </a:xfrm>
          <a:prstGeom prst="rect">
            <a:avLst/>
          </a:prstGeom>
          <a:noFill/>
          <a:ln/>
        </p:spPr>
        <p:txBody>
          <a:bodyPr wrap="square" lIns="0" tIns="0" rIns="0" bIns="0" rtlCol="0" anchor="ctr"/>
          <a:lstStyle/>
          <a:p>
            <a:pPr indent="0" marL="0">
              <a:buNone/>
            </a:pPr>
            <a:r>
              <a:rPr lang="en-US" sz="1600" dirty="0">
                <a:solidFill>
                  <a:schemeClr val="tx1"/>
                </a:solidFill>
              </a:rPr>
              <a:t>Заты бар, атауы ескірген не ауысқан</a:t>
            </a:r>
            <a:endParaRPr lang="en-US" sz="1600" dirty="0"/>
          </a:p>
        </p:txBody>
      </p:sp>
      <p:sp>
        <p:nvSpPr>
          <p:cNvPr id="15" name="kind-ex-1-0"/>
          <p:cNvSpPr/>
          <p:nvPr/>
        </p:nvSpPr>
        <p:spPr>
          <a:xfrm>
            <a:off x="6583680" y="2743200"/>
            <a:ext cx="3291840" cy="411480"/>
          </a:xfrm>
          <a:prstGeom prst="roundRect">
            <a:avLst>
              <a:gd name="adj" fmla="val 26667"/>
            </a:avLst>
          </a:prstGeom>
          <a:solidFill>
            <a:schemeClr val="bg1"/>
          </a:solidFill>
          <a:ln w="15875">
            <a:solidFill>
              <a:schemeClr val="accent2"/>
            </a:solidFill>
            <a:prstDash val="solid"/>
          </a:ln>
        </p:spPr>
      </p:sp>
      <p:sp>
        <p:nvSpPr>
          <p:cNvPr id="16" name="kind-ex-1-0-text"/>
          <p:cNvSpPr txBox="1"/>
          <p:nvPr/>
        </p:nvSpPr>
        <p:spPr>
          <a:xfrm>
            <a:off x="6693408" y="2743200"/>
            <a:ext cx="3072384" cy="411480"/>
          </a:xfrm>
          <a:prstGeom prst="rect">
            <a:avLst/>
          </a:prstGeom>
          <a:noFill/>
          <a:ln/>
        </p:spPr>
        <p:txBody>
          <a:bodyPr wrap="square" lIns="0" tIns="0" rIns="0" bIns="0" rtlCol="0" anchor="ctr"/>
          <a:lstStyle/>
          <a:p>
            <a:pPr algn="ctr" indent="0" marL="0">
              <a:buNone/>
            </a:pPr>
            <a:r>
              <a:rPr lang="en-US" sz="1500" b="1" dirty="0">
                <a:solidFill>
                  <a:schemeClr val="tx2"/>
                </a:solidFill>
                <a:latin typeface="Cambria" pitchFamily="34" charset="0"/>
                <a:ea typeface="Cambria" pitchFamily="34" charset="-122"/>
                <a:cs typeface="Cambria" pitchFamily="34" charset="-120"/>
              </a:rPr>
              <a:t>ләшкер → әскер</a:t>
            </a:r>
            <a:endParaRPr lang="en-US" sz="1500" dirty="0"/>
          </a:p>
        </p:txBody>
      </p:sp>
      <p:sp>
        <p:nvSpPr>
          <p:cNvPr id="17" name="kind-ex-1-1"/>
          <p:cNvSpPr/>
          <p:nvPr/>
        </p:nvSpPr>
        <p:spPr>
          <a:xfrm>
            <a:off x="6583680" y="3246120"/>
            <a:ext cx="3291840" cy="411480"/>
          </a:xfrm>
          <a:prstGeom prst="roundRect">
            <a:avLst>
              <a:gd name="adj" fmla="val 26667"/>
            </a:avLst>
          </a:prstGeom>
          <a:solidFill>
            <a:schemeClr val="bg1"/>
          </a:solidFill>
          <a:ln w="15875">
            <a:solidFill>
              <a:schemeClr val="accent2"/>
            </a:solidFill>
            <a:prstDash val="solid"/>
          </a:ln>
        </p:spPr>
      </p:sp>
      <p:sp>
        <p:nvSpPr>
          <p:cNvPr id="18" name="kind-ex-1-1-text"/>
          <p:cNvSpPr txBox="1"/>
          <p:nvPr/>
        </p:nvSpPr>
        <p:spPr>
          <a:xfrm>
            <a:off x="6693408" y="3246120"/>
            <a:ext cx="3072384" cy="411480"/>
          </a:xfrm>
          <a:prstGeom prst="rect">
            <a:avLst/>
          </a:prstGeom>
          <a:noFill/>
          <a:ln/>
        </p:spPr>
        <p:txBody>
          <a:bodyPr wrap="square" lIns="0" tIns="0" rIns="0" bIns="0" rtlCol="0" anchor="ctr"/>
          <a:lstStyle/>
          <a:p>
            <a:pPr algn="ctr" indent="0" marL="0">
              <a:buNone/>
            </a:pPr>
            <a:r>
              <a:rPr lang="en-US" sz="1500" b="1" dirty="0">
                <a:solidFill>
                  <a:schemeClr val="tx2"/>
                </a:solidFill>
                <a:latin typeface="Cambria" pitchFamily="34" charset="0"/>
                <a:ea typeface="Cambria" pitchFamily="34" charset="-122"/>
                <a:cs typeface="Cambria" pitchFamily="34" charset="-120"/>
              </a:rPr>
              <a:t>тамұқ → тозақ</a:t>
            </a:r>
            <a:endParaRPr lang="en-US" sz="1500" dirty="0"/>
          </a:p>
        </p:txBody>
      </p:sp>
      <p:sp>
        <p:nvSpPr>
          <p:cNvPr id="19" name="kind-ex-1-2"/>
          <p:cNvSpPr/>
          <p:nvPr/>
        </p:nvSpPr>
        <p:spPr>
          <a:xfrm>
            <a:off x="6583680" y="3749040"/>
            <a:ext cx="3291840" cy="411480"/>
          </a:xfrm>
          <a:prstGeom prst="roundRect">
            <a:avLst>
              <a:gd name="adj" fmla="val 26667"/>
            </a:avLst>
          </a:prstGeom>
          <a:solidFill>
            <a:schemeClr val="bg1"/>
          </a:solidFill>
          <a:ln w="15875">
            <a:solidFill>
              <a:schemeClr val="accent2"/>
            </a:solidFill>
            <a:prstDash val="solid"/>
          </a:ln>
        </p:spPr>
      </p:sp>
      <p:sp>
        <p:nvSpPr>
          <p:cNvPr id="20" name="kind-ex-1-2-text"/>
          <p:cNvSpPr txBox="1"/>
          <p:nvPr/>
        </p:nvSpPr>
        <p:spPr>
          <a:xfrm>
            <a:off x="6693408" y="3749040"/>
            <a:ext cx="3072384" cy="411480"/>
          </a:xfrm>
          <a:prstGeom prst="rect">
            <a:avLst/>
          </a:prstGeom>
          <a:noFill/>
          <a:ln/>
        </p:spPr>
        <p:txBody>
          <a:bodyPr wrap="square" lIns="0" tIns="0" rIns="0" bIns="0" rtlCol="0" anchor="ctr"/>
          <a:lstStyle/>
          <a:p>
            <a:pPr algn="ctr" indent="0" marL="0">
              <a:buNone/>
            </a:pPr>
            <a:r>
              <a:rPr lang="en-US" sz="1500" b="1" dirty="0">
                <a:solidFill>
                  <a:schemeClr val="tx2"/>
                </a:solidFill>
                <a:latin typeface="Cambria" pitchFamily="34" charset="0"/>
                <a:ea typeface="Cambria" pitchFamily="34" charset="-122"/>
                <a:cs typeface="Cambria" pitchFamily="34" charset="-120"/>
              </a:rPr>
              <a:t>мейман → қонақ</a:t>
            </a:r>
            <a:endParaRPr lang="en-US" sz="1500" dirty="0"/>
          </a:p>
        </p:txBody>
      </p:sp>
      <p:sp>
        <p:nvSpPr>
          <p:cNvPr id="21" name="revive"/>
          <p:cNvSpPr/>
          <p:nvPr/>
        </p:nvSpPr>
        <p:spPr>
          <a:xfrm>
            <a:off x="548640" y="4572000"/>
            <a:ext cx="11064240" cy="1463040"/>
          </a:xfrm>
          <a:prstGeom prst="roundRect">
            <a:avLst>
              <a:gd name="adj" fmla="val 7500"/>
            </a:avLst>
          </a:prstGeom>
          <a:solidFill>
            <a:schemeClr val="bg1"/>
          </a:solidFill>
          <a:ln w="15875">
            <a:solidFill>
              <a:schemeClr val="accent4"/>
            </a:solidFill>
            <a:prstDash val="solid"/>
          </a:ln>
        </p:spPr>
      </p:sp>
      <p:sp>
        <p:nvSpPr>
          <p:cNvPr id="22" name="revive-ic-circle"/>
          <p:cNvSpPr/>
          <p:nvPr/>
        </p:nvSpPr>
        <p:spPr>
          <a:xfrm>
            <a:off x="822960" y="4892040"/>
            <a:ext cx="777240" cy="777240"/>
          </a:xfrm>
          <a:prstGeom prst="ellipse">
            <a:avLst/>
          </a:prstGeom>
          <a:solidFill>
            <a:schemeClr val="accent4"/>
          </a:solidFill>
          <a:ln/>
        </p:spPr>
      </p:sp>
      <p:pic>
        <p:nvPicPr>
          <p:cNvPr id="23" name="revive-ic-icon" descr="preencoded.png">    </p:cNvPr>
          <p:cNvPicPr>
            <a:picLocks noChangeAspect="1"/>
          </p:cNvPicPr>
          <p:nvPr/>
        </p:nvPicPr>
        <p:blipFill>
          <a:blip r:embed="rId1"/>
          <a:stretch>
            <a:fillRect/>
          </a:stretch>
        </p:blipFill>
        <p:spPr>
          <a:xfrm>
            <a:off x="1009498" y="5078578"/>
            <a:ext cx="404165" cy="404165"/>
          </a:xfrm>
          <a:prstGeom prst="rect">
            <a:avLst/>
          </a:prstGeom>
        </p:spPr>
      </p:pic>
      <p:sp>
        <p:nvSpPr>
          <p:cNvPr id="24" name="revive-text"/>
          <p:cNvSpPr txBox="1"/>
          <p:nvPr/>
        </p:nvSpPr>
        <p:spPr>
          <a:xfrm>
            <a:off x="1828800" y="4572000"/>
            <a:ext cx="9601200" cy="1463040"/>
          </a:xfrm>
          <a:prstGeom prst="rect">
            <a:avLst/>
          </a:prstGeom>
          <a:noFill/>
          <a:ln/>
        </p:spPr>
        <p:txBody>
          <a:bodyPr wrap="square" lIns="0" tIns="0" rIns="0" bIns="0" rtlCol="0" anchor="ctr"/>
          <a:lstStyle/>
          <a:p>
            <a:pPr indent="0" marL="0">
              <a:buNone/>
            </a:pPr>
            <a:r>
              <a:rPr lang="en-US" sz="1700" b="1" dirty="0">
                <a:solidFill>
                  <a:srgbClr val="2E8B57"/>
                </a:solidFill>
              </a:rPr>
              <a:t>Қайта жандану: </a:t>
            </a:r>
            <a:pPr indent="0" marL="0">
              <a:buNone/>
            </a:pPr>
            <a:r>
              <a:rPr lang="en-US" sz="1700" dirty="0">
                <a:solidFill>
                  <a:srgbClr val="22202E"/>
                </a:solidFill>
              </a:rPr>
              <a:t>тәуелсіздік жылдары «әкім» (1990-жылдар), «теңге» мен «тиын» (1993), «Мәжіліс», «Ұлттық құрылтай» (2022) сияқты көне сөздер мемлекеттік атауға айналды</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Қалай зерттедім: үш әдіс</a:t>
            </a:r>
            <a:endParaRPr lang="en-US" sz="3200" dirty="0"/>
          </a:p>
        </p:txBody>
      </p:sp>
      <p:sp>
        <p:nvSpPr>
          <p:cNvPr id="3" name="step-card-0"/>
          <p:cNvSpPr/>
          <p:nvPr/>
        </p:nvSpPr>
        <p:spPr>
          <a:xfrm>
            <a:off x="548640" y="1463040"/>
            <a:ext cx="3429000" cy="3931920"/>
          </a:xfrm>
          <a:prstGeom prst="roundRect">
            <a:avLst>
              <a:gd name="adj" fmla="val 3200"/>
            </a:avLst>
          </a:prstGeom>
          <a:solidFill>
            <a:schemeClr val="bg2"/>
          </a:solidFill>
          <a:ln/>
        </p:spPr>
      </p:sp>
      <p:sp>
        <p:nvSpPr>
          <p:cNvPr id="4" name="step-0-circle"/>
          <p:cNvSpPr/>
          <p:nvPr/>
        </p:nvSpPr>
        <p:spPr>
          <a:xfrm>
            <a:off x="868680" y="1737360"/>
            <a:ext cx="868680" cy="868680"/>
          </a:xfrm>
          <a:prstGeom prst="ellipse">
            <a:avLst/>
          </a:prstGeom>
          <a:solidFill>
            <a:schemeClr val="accent3"/>
          </a:solidFill>
          <a:ln/>
        </p:spPr>
      </p:sp>
      <p:pic>
        <p:nvPicPr>
          <p:cNvPr id="5" name="step-0-icon" descr="preencoded.png">    </p:cNvPr>
          <p:cNvPicPr>
            <a:picLocks noChangeAspect="1"/>
          </p:cNvPicPr>
          <p:nvPr/>
        </p:nvPicPr>
        <p:blipFill>
          <a:blip r:embed="rId1"/>
          <a:stretch>
            <a:fillRect/>
          </a:stretch>
        </p:blipFill>
        <p:spPr>
          <a:xfrm>
            <a:off x="1077163" y="1945843"/>
            <a:ext cx="451714" cy="451714"/>
          </a:xfrm>
          <a:prstGeom prst="rect">
            <a:avLst/>
          </a:prstGeom>
        </p:spPr>
      </p:pic>
      <p:sp>
        <p:nvSpPr>
          <p:cNvPr id="6" name="step-num-0"/>
          <p:cNvSpPr txBox="1"/>
          <p:nvPr/>
        </p:nvSpPr>
        <p:spPr>
          <a:xfrm>
            <a:off x="2926080" y="1691640"/>
            <a:ext cx="822960" cy="914400"/>
          </a:xfrm>
          <a:prstGeom prst="rect">
            <a:avLst/>
          </a:prstGeom>
          <a:noFill/>
          <a:ln/>
        </p:spPr>
        <p:txBody>
          <a:bodyPr wrap="square" lIns="0" tIns="0" rIns="0" bIns="0" rtlCol="0" anchor="ctr"/>
          <a:lstStyle/>
          <a:p>
            <a:pPr algn="r" indent="0" marL="0">
              <a:buNone/>
            </a:pPr>
            <a:r>
              <a:rPr lang="en-US" sz="4400" b="1" dirty="0">
                <a:solidFill>
                  <a:srgbClr val="CFC8E0"/>
                </a:solidFill>
                <a:latin typeface="Cambria" pitchFamily="34" charset="0"/>
                <a:ea typeface="Cambria" pitchFamily="34" charset="-122"/>
                <a:cs typeface="Cambria" pitchFamily="34" charset="-120"/>
              </a:rPr>
              <a:t>1</a:t>
            </a:r>
            <a:endParaRPr lang="en-US" sz="4400" dirty="0"/>
          </a:p>
        </p:txBody>
      </p:sp>
      <p:sp>
        <p:nvSpPr>
          <p:cNvPr id="7" name="step-title-0"/>
          <p:cNvSpPr txBox="1"/>
          <p:nvPr/>
        </p:nvSpPr>
        <p:spPr>
          <a:xfrm>
            <a:off x="868680" y="2788920"/>
            <a:ext cx="2834640" cy="548640"/>
          </a:xfrm>
          <a:prstGeom prst="rect">
            <a:avLst/>
          </a:prstGeom>
          <a:noFill/>
          <a:ln/>
        </p:spPr>
        <p:txBody>
          <a:bodyPr wrap="square" lIns="0" tIns="0" rIns="0" bIns="0" rtlCol="0" anchor="ctr"/>
          <a:lstStyle/>
          <a:p>
            <a:pPr indent="0" marL="0">
              <a:buNone/>
            </a:pPr>
            <a:r>
              <a:rPr lang="en-US" sz="2200" b="1" dirty="0">
                <a:solidFill>
                  <a:schemeClr val="tx2"/>
                </a:solidFill>
              </a:rPr>
              <a:t>Сөздік</a:t>
            </a:r>
            <a:endParaRPr lang="en-US" sz="2200" dirty="0"/>
          </a:p>
        </p:txBody>
      </p:sp>
      <p:sp>
        <p:nvSpPr>
          <p:cNvPr id="8" name="step-text-0"/>
          <p:cNvSpPr txBox="1"/>
          <p:nvPr/>
        </p:nvSpPr>
        <p:spPr>
          <a:xfrm>
            <a:off x="868680" y="3383280"/>
            <a:ext cx="2834640" cy="1920240"/>
          </a:xfrm>
          <a:prstGeom prst="rect">
            <a:avLst/>
          </a:prstGeom>
          <a:noFill/>
          <a:ln/>
        </p:spPr>
        <p:txBody>
          <a:bodyPr wrap="square" lIns="0" tIns="0" rIns="0" bIns="0" rtlCol="0" anchor="t"/>
          <a:lstStyle/>
          <a:p>
            <a:pPr indent="0" marL="0">
              <a:buNone/>
            </a:pPr>
            <a:r>
              <a:rPr lang="en-US" sz="1500" dirty="0">
                <a:solidFill>
                  <a:schemeClr val="tx1"/>
                </a:solidFill>
              </a:rPr>
              <a:t>36 сөзді «Қазақ әдеби тілінің сөздігінен» (15 томдық) тауып, «көн.» не «тар.» белгісін жаздым</a:t>
            </a:r>
            <a:endParaRPr lang="en-US" sz="1500" dirty="0"/>
          </a:p>
        </p:txBody>
      </p:sp>
      <p:sp>
        <p:nvSpPr>
          <p:cNvPr id="9" name="step-arrow-0"/>
          <p:cNvSpPr/>
          <p:nvPr/>
        </p:nvSpPr>
        <p:spPr>
          <a:xfrm>
            <a:off x="4023360" y="3246120"/>
            <a:ext cx="274320" cy="365760"/>
          </a:xfrm>
          <a:prstGeom prst="rightArrow">
            <a:avLst/>
          </a:prstGeom>
          <a:solidFill>
            <a:schemeClr val="accent5"/>
          </a:solidFill>
          <a:ln/>
        </p:spPr>
      </p:sp>
      <p:sp>
        <p:nvSpPr>
          <p:cNvPr id="10" name="step-card-1"/>
          <p:cNvSpPr/>
          <p:nvPr/>
        </p:nvSpPr>
        <p:spPr>
          <a:xfrm>
            <a:off x="4343400" y="1463040"/>
            <a:ext cx="3429000" cy="3931920"/>
          </a:xfrm>
          <a:prstGeom prst="roundRect">
            <a:avLst>
              <a:gd name="adj" fmla="val 3200"/>
            </a:avLst>
          </a:prstGeom>
          <a:solidFill>
            <a:schemeClr val="bg2"/>
          </a:solidFill>
          <a:ln/>
        </p:spPr>
      </p:sp>
      <p:sp>
        <p:nvSpPr>
          <p:cNvPr id="11" name="step-1-circle"/>
          <p:cNvSpPr/>
          <p:nvPr/>
        </p:nvSpPr>
        <p:spPr>
          <a:xfrm>
            <a:off x="4663440" y="1737360"/>
            <a:ext cx="868680" cy="868680"/>
          </a:xfrm>
          <a:prstGeom prst="ellipse">
            <a:avLst/>
          </a:prstGeom>
          <a:solidFill>
            <a:schemeClr val="accent2"/>
          </a:solidFill>
          <a:ln/>
        </p:spPr>
      </p:sp>
      <p:pic>
        <p:nvPicPr>
          <p:cNvPr id="12" name="step-1-icon" descr="preencoded.png">    </p:cNvPr>
          <p:cNvPicPr>
            <a:picLocks noChangeAspect="1"/>
          </p:cNvPicPr>
          <p:nvPr/>
        </p:nvPicPr>
        <p:blipFill>
          <a:blip r:embed="rId2"/>
          <a:stretch>
            <a:fillRect/>
          </a:stretch>
        </p:blipFill>
        <p:spPr>
          <a:xfrm>
            <a:off x="4871923" y="1945843"/>
            <a:ext cx="451714" cy="451714"/>
          </a:xfrm>
          <a:prstGeom prst="rect">
            <a:avLst/>
          </a:prstGeom>
        </p:spPr>
      </p:pic>
      <p:sp>
        <p:nvSpPr>
          <p:cNvPr id="13" name="step-num-1"/>
          <p:cNvSpPr txBox="1"/>
          <p:nvPr/>
        </p:nvSpPr>
        <p:spPr>
          <a:xfrm>
            <a:off x="6720840" y="1691640"/>
            <a:ext cx="822960" cy="914400"/>
          </a:xfrm>
          <a:prstGeom prst="rect">
            <a:avLst/>
          </a:prstGeom>
          <a:noFill/>
          <a:ln/>
        </p:spPr>
        <p:txBody>
          <a:bodyPr wrap="square" lIns="0" tIns="0" rIns="0" bIns="0" rtlCol="0" anchor="ctr"/>
          <a:lstStyle/>
          <a:p>
            <a:pPr algn="r" indent="0" marL="0">
              <a:buNone/>
            </a:pPr>
            <a:r>
              <a:rPr lang="en-US" sz="4400" b="1" dirty="0">
                <a:solidFill>
                  <a:srgbClr val="CFC8E0"/>
                </a:solidFill>
                <a:latin typeface="Cambria" pitchFamily="34" charset="0"/>
                <a:ea typeface="Cambria" pitchFamily="34" charset="-122"/>
                <a:cs typeface="Cambria" pitchFamily="34" charset="-120"/>
              </a:rPr>
              <a:t>2</a:t>
            </a:r>
            <a:endParaRPr lang="en-US" sz="4400" dirty="0"/>
          </a:p>
        </p:txBody>
      </p:sp>
      <p:sp>
        <p:nvSpPr>
          <p:cNvPr id="14" name="step-title-1"/>
          <p:cNvSpPr txBox="1"/>
          <p:nvPr/>
        </p:nvSpPr>
        <p:spPr>
          <a:xfrm>
            <a:off x="4663440" y="2788920"/>
            <a:ext cx="2834640" cy="548640"/>
          </a:xfrm>
          <a:prstGeom prst="rect">
            <a:avLst/>
          </a:prstGeom>
          <a:noFill/>
          <a:ln/>
        </p:spPr>
        <p:txBody>
          <a:bodyPr wrap="square" lIns="0" tIns="0" rIns="0" bIns="0" rtlCol="0" anchor="ctr"/>
          <a:lstStyle/>
          <a:p>
            <a:pPr indent="0" marL="0">
              <a:buNone/>
            </a:pPr>
            <a:r>
              <a:rPr lang="en-US" sz="2200" b="1" dirty="0">
                <a:solidFill>
                  <a:schemeClr val="tx2"/>
                </a:solidFill>
              </a:rPr>
              <a:t>Баспасөз</a:t>
            </a:r>
            <a:endParaRPr lang="en-US" sz="2200" dirty="0"/>
          </a:p>
        </p:txBody>
      </p:sp>
      <p:sp>
        <p:nvSpPr>
          <p:cNvPr id="15" name="step-text-1"/>
          <p:cNvSpPr txBox="1"/>
          <p:nvPr/>
        </p:nvSpPr>
        <p:spPr>
          <a:xfrm>
            <a:off x="4663440" y="3383280"/>
            <a:ext cx="2834640" cy="1920240"/>
          </a:xfrm>
          <a:prstGeom prst="rect">
            <a:avLst/>
          </a:prstGeom>
          <a:noFill/>
          <a:ln/>
        </p:spPr>
        <p:txBody>
          <a:bodyPr wrap="square" lIns="0" tIns="0" rIns="0" bIns="0" rtlCol="0" anchor="t"/>
          <a:lstStyle/>
          <a:p>
            <a:pPr indent="0" marL="0">
              <a:buNone/>
            </a:pPr>
            <a:r>
              <a:rPr lang="en-US" sz="1500" dirty="0">
                <a:solidFill>
                  <a:schemeClr val="tx1"/>
                </a:solidFill>
              </a:rPr>
              <a:t>Әскери топтағы 4 сөзді egemen.kz сайтынан соңғы бір жыл бойынша іздеп, мысал сөйлемін талдадым</a:t>
            </a:r>
            <a:endParaRPr lang="en-US" sz="1500" dirty="0"/>
          </a:p>
        </p:txBody>
      </p:sp>
      <p:sp>
        <p:nvSpPr>
          <p:cNvPr id="16" name="step-arrow-1"/>
          <p:cNvSpPr/>
          <p:nvPr/>
        </p:nvSpPr>
        <p:spPr>
          <a:xfrm>
            <a:off x="7818120" y="3246120"/>
            <a:ext cx="274320" cy="365760"/>
          </a:xfrm>
          <a:prstGeom prst="rightArrow">
            <a:avLst/>
          </a:prstGeom>
          <a:solidFill>
            <a:schemeClr val="accent5"/>
          </a:solidFill>
          <a:ln/>
        </p:spPr>
      </p:sp>
      <p:sp>
        <p:nvSpPr>
          <p:cNvPr id="17" name="step-card-2"/>
          <p:cNvSpPr/>
          <p:nvPr/>
        </p:nvSpPr>
        <p:spPr>
          <a:xfrm>
            <a:off x="8138160" y="1463040"/>
            <a:ext cx="3429000" cy="3931920"/>
          </a:xfrm>
          <a:prstGeom prst="roundRect">
            <a:avLst>
              <a:gd name="adj" fmla="val 3200"/>
            </a:avLst>
          </a:prstGeom>
          <a:solidFill>
            <a:schemeClr val="bg2"/>
          </a:solidFill>
          <a:ln/>
        </p:spPr>
      </p:sp>
      <p:sp>
        <p:nvSpPr>
          <p:cNvPr id="18" name="step-2-circle"/>
          <p:cNvSpPr/>
          <p:nvPr/>
        </p:nvSpPr>
        <p:spPr>
          <a:xfrm>
            <a:off x="8458200" y="1737360"/>
            <a:ext cx="868680" cy="868680"/>
          </a:xfrm>
          <a:prstGeom prst="ellipse">
            <a:avLst/>
          </a:prstGeom>
          <a:solidFill>
            <a:schemeClr val="accent1"/>
          </a:solidFill>
          <a:ln/>
        </p:spPr>
      </p:sp>
      <p:pic>
        <p:nvPicPr>
          <p:cNvPr id="19" name="step-2-icon" descr="preencoded.png">    </p:cNvPr>
          <p:cNvPicPr>
            <a:picLocks noChangeAspect="1"/>
          </p:cNvPicPr>
          <p:nvPr/>
        </p:nvPicPr>
        <p:blipFill>
          <a:blip r:embed="rId3"/>
          <a:stretch>
            <a:fillRect/>
          </a:stretch>
        </p:blipFill>
        <p:spPr>
          <a:xfrm>
            <a:off x="8666683" y="1945843"/>
            <a:ext cx="451714" cy="451714"/>
          </a:xfrm>
          <a:prstGeom prst="rect">
            <a:avLst/>
          </a:prstGeom>
        </p:spPr>
      </p:pic>
      <p:sp>
        <p:nvSpPr>
          <p:cNvPr id="20" name="step-num-2"/>
          <p:cNvSpPr txBox="1"/>
          <p:nvPr/>
        </p:nvSpPr>
        <p:spPr>
          <a:xfrm>
            <a:off x="10515600" y="1691640"/>
            <a:ext cx="822960" cy="914400"/>
          </a:xfrm>
          <a:prstGeom prst="rect">
            <a:avLst/>
          </a:prstGeom>
          <a:noFill/>
          <a:ln/>
        </p:spPr>
        <p:txBody>
          <a:bodyPr wrap="square" lIns="0" tIns="0" rIns="0" bIns="0" rtlCol="0" anchor="ctr"/>
          <a:lstStyle/>
          <a:p>
            <a:pPr algn="r" indent="0" marL="0">
              <a:buNone/>
            </a:pPr>
            <a:r>
              <a:rPr lang="en-US" sz="4400" b="1" dirty="0">
                <a:solidFill>
                  <a:srgbClr val="CFC8E0"/>
                </a:solidFill>
                <a:latin typeface="Cambria" pitchFamily="34" charset="0"/>
                <a:ea typeface="Cambria" pitchFamily="34" charset="-122"/>
                <a:cs typeface="Cambria" pitchFamily="34" charset="-120"/>
              </a:rPr>
              <a:t>3</a:t>
            </a:r>
            <a:endParaRPr lang="en-US" sz="4400" dirty="0"/>
          </a:p>
        </p:txBody>
      </p:sp>
      <p:sp>
        <p:nvSpPr>
          <p:cNvPr id="21" name="step-title-2"/>
          <p:cNvSpPr txBox="1"/>
          <p:nvPr/>
        </p:nvSpPr>
        <p:spPr>
          <a:xfrm>
            <a:off x="8458200" y="2788920"/>
            <a:ext cx="2834640" cy="548640"/>
          </a:xfrm>
          <a:prstGeom prst="rect">
            <a:avLst/>
          </a:prstGeom>
          <a:noFill/>
          <a:ln/>
        </p:spPr>
        <p:txBody>
          <a:bodyPr wrap="square" lIns="0" tIns="0" rIns="0" bIns="0" rtlCol="0" anchor="ctr"/>
          <a:lstStyle/>
          <a:p>
            <a:pPr indent="0" marL="0">
              <a:buNone/>
            </a:pPr>
            <a:r>
              <a:rPr lang="en-US" sz="2200" b="1" dirty="0">
                <a:solidFill>
                  <a:schemeClr val="tx2"/>
                </a:solidFill>
              </a:rPr>
              <a:t>Үш буын тесті</a:t>
            </a:r>
            <a:endParaRPr lang="en-US" sz="2200" dirty="0"/>
          </a:p>
        </p:txBody>
      </p:sp>
      <p:sp>
        <p:nvSpPr>
          <p:cNvPr id="22" name="step-text-2"/>
          <p:cNvSpPr txBox="1"/>
          <p:nvPr/>
        </p:nvSpPr>
        <p:spPr>
          <a:xfrm>
            <a:off x="8458200" y="3383280"/>
            <a:ext cx="2834640" cy="1920240"/>
          </a:xfrm>
          <a:prstGeom prst="rect">
            <a:avLst/>
          </a:prstGeom>
          <a:noFill/>
          <a:ln/>
        </p:spPr>
        <p:txBody>
          <a:bodyPr wrap="square" lIns="0" tIns="0" rIns="0" bIns="0" rtlCol="0" anchor="t"/>
          <a:lstStyle/>
          <a:p>
            <a:pPr indent="0" marL="0">
              <a:buNone/>
            </a:pPr>
            <a:r>
              <a:rPr lang="en-US" sz="1500" dirty="0">
                <a:solidFill>
                  <a:schemeClr val="tx1"/>
                </a:solidFill>
              </a:rPr>
              <a:t>12 сөздің мағынасын оқушылардан, ата-аналардан, ата-әжелерден сұрадым: 5 оқушы, 1 ата-ана және 1 ата-әже</a:t>
            </a:r>
            <a:endParaRPr lang="en-US" sz="1500" dirty="0"/>
          </a:p>
        </p:txBody>
      </p:sp>
      <p:sp>
        <p:nvSpPr>
          <p:cNvPr id="23" name="method-note"/>
          <p:cNvSpPr txBox="1"/>
          <p:nvPr/>
        </p:nvSpPr>
        <p:spPr>
          <a:xfrm>
            <a:off x="548640" y="5623560"/>
            <a:ext cx="11064240" cy="411480"/>
          </a:xfrm>
          <a:prstGeom prst="rect">
            <a:avLst/>
          </a:prstGeom>
          <a:noFill/>
          <a:ln/>
        </p:spPr>
        <p:txBody>
          <a:bodyPr wrap="square" lIns="0" tIns="0" rIns="0" bIns="0" rtlCol="0" anchor="ctr"/>
          <a:lstStyle/>
          <a:p>
            <a:pPr indent="0" marL="0">
              <a:buNone/>
            </a:pPr>
            <a:r>
              <a:rPr lang="en-US" sz="1400" i="1" dirty="0">
                <a:solidFill>
                  <a:schemeClr val="accent5"/>
                </a:solidFill>
              </a:rPr>
              <a:t>Тест: 2 – дұрыс түсіндірді, 1 – шамамен, 0 – білмейді. Есімдер жазылмады, келісім алынды.</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Сөздікте 19 көне сөзде белгі жоқ</a:t>
            </a:r>
            <a:endParaRPr lang="en-US" sz="3200" dirty="0"/>
          </a:p>
        </p:txBody>
      </p:sp>
      <p:graphicFrame>
        <p:nvGraphicFramePr>
          <p:cNvPr id="3" name="chart-marks" descr=""/>
          <p:cNvGraphicFramePr/>
          <p:nvPr/>
        </p:nvGraphicFramePr>
        <p:xfrm>
          <a:off x="548640" y="1325880"/>
          <a:ext cx="6949440" cy="3840480"/>
        </p:xfrm>
        <a:graphic xmlns:a="http://schemas.openxmlformats.org/drawingml/2006/main">
          <a:graphicData uri="http://schemas.openxmlformats.org/drawingml/2006/chart">
            <c:chart xmlns:c="http://schemas.openxmlformats.org/drawingml/2006/chart" r:id="rId1"/>
          </a:graphicData>
        </a:graphic>
      </p:graphicFrame>
      <p:sp>
        <p:nvSpPr>
          <p:cNvPr id="4" name="marks-none-value"/>
          <p:cNvSpPr txBox="1"/>
          <p:nvPr/>
        </p:nvSpPr>
        <p:spPr>
          <a:xfrm>
            <a:off x="7955280" y="1371600"/>
            <a:ext cx="3657600" cy="77724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19 / 36</a:t>
            </a:r>
            <a:endParaRPr lang="en-US" sz="4800" dirty="0"/>
          </a:p>
        </p:txBody>
      </p:sp>
      <p:sp>
        <p:nvSpPr>
          <p:cNvPr id="5" name="marks-none-label"/>
          <p:cNvSpPr txBox="1"/>
          <p:nvPr/>
        </p:nvSpPr>
        <p:spPr>
          <a:xfrm>
            <a:off x="7955280" y="2176272"/>
            <a:ext cx="3657600" cy="685800"/>
          </a:xfrm>
          <a:prstGeom prst="rect">
            <a:avLst/>
          </a:prstGeom>
          <a:noFill/>
          <a:ln/>
        </p:spPr>
        <p:txBody>
          <a:bodyPr wrap="square" lIns="0" tIns="0" rIns="0" bIns="0" rtlCol="0" anchor="t"/>
          <a:lstStyle/>
          <a:p>
            <a:pPr indent="0" marL="0">
              <a:buNone/>
            </a:pPr>
            <a:r>
              <a:rPr lang="en-US" sz="1400" dirty="0">
                <a:solidFill>
                  <a:schemeClr val="tx1"/>
                </a:solidFill>
              </a:rPr>
              <a:t>сөзде сөздікте ешқандай белгі жоқ</a:t>
            </a:r>
            <a:endParaRPr lang="en-US" sz="1400" dirty="0"/>
          </a:p>
        </p:txBody>
      </p:sp>
      <p:sp>
        <p:nvSpPr>
          <p:cNvPr id="6" name="marks-arx-value"/>
          <p:cNvSpPr txBox="1"/>
          <p:nvPr/>
        </p:nvSpPr>
        <p:spPr>
          <a:xfrm>
            <a:off x="7955280" y="2880360"/>
            <a:ext cx="3657600" cy="777240"/>
          </a:xfrm>
          <a:prstGeom prst="rect">
            <a:avLst/>
          </a:prstGeom>
          <a:noFill/>
          <a:ln/>
        </p:spPr>
        <p:txBody>
          <a:bodyPr wrap="square" lIns="0" tIns="0" rIns="0" bIns="0" rtlCol="0" anchor="ctr"/>
          <a:lstStyle/>
          <a:p>
            <a:pPr indent="0" marL="0">
              <a:buNone/>
            </a:pPr>
            <a:r>
              <a:rPr lang="en-US" sz="4800" b="1" dirty="0">
                <a:solidFill>
                  <a:schemeClr val="tx2"/>
                </a:solidFill>
                <a:latin typeface="Cambria" pitchFamily="34" charset="0"/>
                <a:ea typeface="Cambria" pitchFamily="34" charset="-122"/>
                <a:cs typeface="Cambria" pitchFamily="34" charset="-120"/>
              </a:rPr>
              <a:t>13 / 19</a:t>
            </a:r>
            <a:endParaRPr lang="en-US" sz="4800" dirty="0"/>
          </a:p>
        </p:txBody>
      </p:sp>
      <p:sp>
        <p:nvSpPr>
          <p:cNvPr id="7" name="marks-arx-label"/>
          <p:cNvSpPr txBox="1"/>
          <p:nvPr/>
        </p:nvSpPr>
        <p:spPr>
          <a:xfrm>
            <a:off x="7955280" y="3685032"/>
            <a:ext cx="3657600" cy="685800"/>
          </a:xfrm>
          <a:prstGeom prst="rect">
            <a:avLst/>
          </a:prstGeom>
          <a:noFill/>
          <a:ln/>
        </p:spPr>
        <p:txBody>
          <a:bodyPr wrap="square" lIns="0" tIns="0" rIns="0" bIns="0" rtlCol="0" anchor="t"/>
          <a:lstStyle/>
          <a:p>
            <a:pPr indent="0" marL="0">
              <a:buNone/>
            </a:pPr>
            <a:r>
              <a:rPr lang="en-US" sz="1400" dirty="0">
                <a:solidFill>
                  <a:schemeClr val="tx1"/>
                </a:solidFill>
              </a:rPr>
              <a:t>архаизмде белгі жоқ – олардың көбі бүгін күнде айтылады</a:t>
            </a:r>
            <a:endParaRPr lang="en-US" sz="1400" dirty="0"/>
          </a:p>
        </p:txBody>
      </p:sp>
      <p:sp>
        <p:nvSpPr>
          <p:cNvPr id="8" name="marks-list"/>
          <p:cNvSpPr/>
          <p:nvPr/>
        </p:nvSpPr>
        <p:spPr>
          <a:xfrm>
            <a:off x="548640" y="5349240"/>
            <a:ext cx="11064240" cy="777240"/>
          </a:xfrm>
          <a:prstGeom prst="roundRect">
            <a:avLst>
              <a:gd name="adj" fmla="val 14118"/>
            </a:avLst>
          </a:prstGeom>
          <a:solidFill>
            <a:schemeClr val="bg2"/>
          </a:solidFill>
          <a:ln/>
        </p:spPr>
      </p:sp>
      <p:sp>
        <p:nvSpPr>
          <p:cNvPr id="9" name="marks-list-text"/>
          <p:cNvSpPr txBox="1"/>
          <p:nvPr/>
        </p:nvSpPr>
        <p:spPr>
          <a:xfrm>
            <a:off x="777240" y="5349240"/>
            <a:ext cx="10607040" cy="777240"/>
          </a:xfrm>
          <a:prstGeom prst="rect">
            <a:avLst/>
          </a:prstGeom>
          <a:noFill/>
          <a:ln/>
        </p:spPr>
        <p:txBody>
          <a:bodyPr wrap="square" lIns="0" tIns="0" rIns="0" bIns="0" rtlCol="0" anchor="ctr"/>
          <a:lstStyle/>
          <a:p>
            <a:pPr indent="0" marL="0">
              <a:buNone/>
            </a:pPr>
            <a:r>
              <a:rPr lang="en-US" sz="1500" b="1" dirty="0">
                <a:solidFill>
                  <a:srgbClr val="3A2E5C"/>
                </a:solidFill>
              </a:rPr>
              <a:t>Белгісі жоқ архаизмдер: </a:t>
            </a:r>
            <a:pPr indent="0" marL="0">
              <a:buNone/>
            </a:pPr>
            <a:r>
              <a:rPr lang="en-US" sz="1500" dirty="0">
                <a:solidFill>
                  <a:srgbClr val="22202E"/>
                </a:solidFill>
              </a:rPr>
              <a:t>сарбаз, әкім, елші, мәжіліс, кеден, пәрмен, теңге, тиын, шақырым, тамұқ, мейман, ділмар, тұлпар</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Сөздік тілдің өзгерісінен артта қалады</a:t>
            </a:r>
            <a:endParaRPr lang="en-US" sz="3200" dirty="0"/>
          </a:p>
        </p:txBody>
      </p:sp>
      <p:sp>
        <p:nvSpPr>
          <p:cNvPr id="3" name="lag-chip-0"/>
          <p:cNvSpPr/>
          <p:nvPr/>
        </p:nvSpPr>
        <p:spPr>
          <a:xfrm>
            <a:off x="548640" y="1737360"/>
            <a:ext cx="2103120" cy="1005840"/>
          </a:xfrm>
          <a:prstGeom prst="roundRect">
            <a:avLst>
              <a:gd name="adj" fmla="val 10909"/>
            </a:avLst>
          </a:prstGeom>
          <a:solidFill>
            <a:schemeClr val="bg1"/>
          </a:solidFill>
          <a:ln w="15875">
            <a:solidFill>
              <a:schemeClr val="accent2"/>
            </a:solidFill>
            <a:prstDash val="solid"/>
          </a:ln>
        </p:spPr>
      </p:sp>
      <p:sp>
        <p:nvSpPr>
          <p:cNvPr id="4" name="lag-chip-0-text"/>
          <p:cNvSpPr txBox="1"/>
          <p:nvPr/>
        </p:nvSpPr>
        <p:spPr>
          <a:xfrm>
            <a:off x="658368" y="1737360"/>
            <a:ext cx="1883664" cy="100584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жарлық</a:t>
            </a:r>
            <a:endParaRPr lang="en-US" sz="2200" dirty="0"/>
          </a:p>
        </p:txBody>
      </p:sp>
      <p:sp>
        <p:nvSpPr>
          <p:cNvPr id="5" name="lag-old-0"/>
          <p:cNvSpPr/>
          <p:nvPr/>
        </p:nvSpPr>
        <p:spPr>
          <a:xfrm>
            <a:off x="2926080" y="1417320"/>
            <a:ext cx="4206240" cy="1645920"/>
          </a:xfrm>
          <a:prstGeom prst="roundRect">
            <a:avLst>
              <a:gd name="adj" fmla="val 6667"/>
            </a:avLst>
          </a:prstGeom>
          <a:solidFill>
            <a:schemeClr val="bg2"/>
          </a:solidFill>
          <a:ln/>
        </p:spPr>
      </p:sp>
      <p:sp>
        <p:nvSpPr>
          <p:cNvPr id="6" name="lag-old-text-0"/>
          <p:cNvSpPr txBox="1"/>
          <p:nvPr/>
        </p:nvSpPr>
        <p:spPr>
          <a:xfrm>
            <a:off x="3108960" y="1417320"/>
            <a:ext cx="3840480" cy="1645920"/>
          </a:xfrm>
          <a:prstGeom prst="rect">
            <a:avLst/>
          </a:prstGeom>
          <a:noFill/>
          <a:ln/>
        </p:spPr>
        <p:txBody>
          <a:bodyPr wrap="square" lIns="0" tIns="0" rIns="0" bIns="0" rtlCol="0" anchor="ctr"/>
          <a:lstStyle/>
          <a:p>
            <a:pPr indent="0" marL="0">
              <a:buNone/>
            </a:pPr>
            <a:r>
              <a:rPr lang="en-US" sz="1400" b="1" dirty="0">
                <a:solidFill>
                  <a:srgbClr val="B5462F"/>
                </a:solidFill>
              </a:rPr>
              <a:t>Сөздікте: «тар.»
</a:t>
            </a:r>
            <a:endParaRPr lang="en-US" sz="1400" dirty="0"/>
          </a:p>
          <a:p>
            <a:pPr indent="0" marL="0">
              <a:buNone/>
            </a:pPr>
            <a:r>
              <a:rPr lang="en-US" sz="1400" i="1" dirty="0">
                <a:solidFill>
                  <a:srgbClr val="22202E"/>
                </a:solidFill>
              </a:rPr>
              <a:t>Орта ғасырлардағы түркі мемлекеттеріндегі ханның немесе әскер басыларының бұйрығы</a:t>
            </a:r>
            <a:endParaRPr lang="en-US" sz="1400" dirty="0"/>
          </a:p>
        </p:txBody>
      </p:sp>
      <p:sp>
        <p:nvSpPr>
          <p:cNvPr id="7" name="lag-arrow-0"/>
          <p:cNvSpPr/>
          <p:nvPr/>
        </p:nvSpPr>
        <p:spPr>
          <a:xfrm>
            <a:off x="7269480" y="2057400"/>
            <a:ext cx="411480" cy="365760"/>
          </a:xfrm>
          <a:prstGeom prst="rightArrow">
            <a:avLst/>
          </a:prstGeom>
          <a:solidFill>
            <a:schemeClr val="accent5"/>
          </a:solidFill>
          <a:ln/>
        </p:spPr>
      </p:sp>
      <p:sp>
        <p:nvSpPr>
          <p:cNvPr id="8" name="lag-new-0"/>
          <p:cNvSpPr/>
          <p:nvPr/>
        </p:nvSpPr>
        <p:spPr>
          <a:xfrm>
            <a:off x="7818120" y="1417320"/>
            <a:ext cx="3794760" cy="1645920"/>
          </a:xfrm>
          <a:prstGeom prst="roundRect">
            <a:avLst>
              <a:gd name="adj" fmla="val 6667"/>
            </a:avLst>
          </a:prstGeom>
          <a:solidFill>
            <a:schemeClr val="bg1"/>
          </a:solidFill>
          <a:ln w="15875">
            <a:solidFill>
              <a:schemeClr val="accent4"/>
            </a:solidFill>
            <a:prstDash val="solid"/>
          </a:ln>
        </p:spPr>
      </p:sp>
      <p:sp>
        <p:nvSpPr>
          <p:cNvPr id="9" name="lag-new-text-0"/>
          <p:cNvSpPr txBox="1"/>
          <p:nvPr/>
        </p:nvSpPr>
        <p:spPr>
          <a:xfrm>
            <a:off x="8046720" y="1417320"/>
            <a:ext cx="3383280" cy="1645920"/>
          </a:xfrm>
          <a:prstGeom prst="rect">
            <a:avLst/>
          </a:prstGeom>
          <a:noFill/>
          <a:ln/>
        </p:spPr>
        <p:txBody>
          <a:bodyPr wrap="square" lIns="0" tIns="0" rIns="0" bIns="0" rtlCol="0" anchor="ctr"/>
          <a:lstStyle/>
          <a:p>
            <a:pPr indent="0" marL="0">
              <a:buNone/>
            </a:pPr>
            <a:r>
              <a:rPr lang="en-US" sz="1700" b="1" dirty="0">
                <a:solidFill>
                  <a:srgbClr val="2E8B57"/>
                </a:solidFill>
              </a:rPr>
              <a:t>Бүгін:
</a:t>
            </a:r>
            <a:endParaRPr lang="en-US" sz="1700" dirty="0"/>
          </a:p>
          <a:p>
            <a:pPr indent="0" marL="0">
              <a:buNone/>
            </a:pPr>
            <a:r>
              <a:rPr lang="en-US" sz="1700" b="1" dirty="0">
                <a:solidFill>
                  <a:srgbClr val="22202E"/>
                </a:solidFill>
              </a:rPr>
              <a:t>Мемлекет басшысының Жарлығы</a:t>
            </a:r>
            <a:endParaRPr lang="en-US" sz="1700" dirty="0"/>
          </a:p>
        </p:txBody>
      </p:sp>
      <p:sp>
        <p:nvSpPr>
          <p:cNvPr id="10" name="lag-chip-1"/>
          <p:cNvSpPr/>
          <p:nvPr/>
        </p:nvSpPr>
        <p:spPr>
          <a:xfrm>
            <a:off x="548640" y="3657600"/>
            <a:ext cx="2103120" cy="1005840"/>
          </a:xfrm>
          <a:prstGeom prst="roundRect">
            <a:avLst>
              <a:gd name="adj" fmla="val 10909"/>
            </a:avLst>
          </a:prstGeom>
          <a:solidFill>
            <a:schemeClr val="bg1"/>
          </a:solidFill>
          <a:ln w="15875">
            <a:solidFill>
              <a:schemeClr val="accent2"/>
            </a:solidFill>
            <a:prstDash val="solid"/>
          </a:ln>
        </p:spPr>
      </p:sp>
      <p:sp>
        <p:nvSpPr>
          <p:cNvPr id="11" name="lag-chip-1-text"/>
          <p:cNvSpPr txBox="1"/>
          <p:nvPr/>
        </p:nvSpPr>
        <p:spPr>
          <a:xfrm>
            <a:off x="658368" y="3657600"/>
            <a:ext cx="1883664" cy="100584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құрылтай</a:t>
            </a:r>
            <a:endParaRPr lang="en-US" sz="2200" dirty="0"/>
          </a:p>
        </p:txBody>
      </p:sp>
      <p:sp>
        <p:nvSpPr>
          <p:cNvPr id="12" name="lag-old-1"/>
          <p:cNvSpPr/>
          <p:nvPr/>
        </p:nvSpPr>
        <p:spPr>
          <a:xfrm>
            <a:off x="2926080" y="3337560"/>
            <a:ext cx="4206240" cy="1645920"/>
          </a:xfrm>
          <a:prstGeom prst="roundRect">
            <a:avLst>
              <a:gd name="adj" fmla="val 6667"/>
            </a:avLst>
          </a:prstGeom>
          <a:solidFill>
            <a:schemeClr val="bg2"/>
          </a:solidFill>
          <a:ln/>
        </p:spPr>
      </p:sp>
      <p:sp>
        <p:nvSpPr>
          <p:cNvPr id="13" name="lag-old-text-1"/>
          <p:cNvSpPr txBox="1"/>
          <p:nvPr/>
        </p:nvSpPr>
        <p:spPr>
          <a:xfrm>
            <a:off x="3108960" y="3337560"/>
            <a:ext cx="3840480" cy="1645920"/>
          </a:xfrm>
          <a:prstGeom prst="rect">
            <a:avLst/>
          </a:prstGeom>
          <a:noFill/>
          <a:ln/>
        </p:spPr>
        <p:txBody>
          <a:bodyPr wrap="square" lIns="0" tIns="0" rIns="0" bIns="0" rtlCol="0" anchor="ctr"/>
          <a:lstStyle/>
          <a:p>
            <a:pPr indent="0" marL="0">
              <a:buNone/>
            </a:pPr>
            <a:r>
              <a:rPr lang="en-US" sz="1400" b="1" dirty="0">
                <a:solidFill>
                  <a:srgbClr val="B5462F"/>
                </a:solidFill>
              </a:rPr>
              <a:t>Сөздікте: «тар.»
</a:t>
            </a:r>
            <a:endParaRPr lang="en-US" sz="1400" dirty="0"/>
          </a:p>
          <a:p>
            <a:pPr indent="0" marL="0">
              <a:buNone/>
            </a:pPr>
            <a:r>
              <a:rPr lang="en-US" sz="1400" i="1" dirty="0">
                <a:solidFill>
                  <a:srgbClr val="22202E"/>
                </a:solidFill>
              </a:rPr>
              <a:t>ел ісін шешетін үлкен жиын</a:t>
            </a:r>
            <a:endParaRPr lang="en-US" sz="1400" dirty="0"/>
          </a:p>
        </p:txBody>
      </p:sp>
      <p:sp>
        <p:nvSpPr>
          <p:cNvPr id="14" name="lag-arrow-1"/>
          <p:cNvSpPr/>
          <p:nvPr/>
        </p:nvSpPr>
        <p:spPr>
          <a:xfrm>
            <a:off x="7269480" y="3977640"/>
            <a:ext cx="411480" cy="365760"/>
          </a:xfrm>
          <a:prstGeom prst="rightArrow">
            <a:avLst/>
          </a:prstGeom>
          <a:solidFill>
            <a:schemeClr val="accent5"/>
          </a:solidFill>
          <a:ln/>
        </p:spPr>
      </p:sp>
      <p:sp>
        <p:nvSpPr>
          <p:cNvPr id="15" name="lag-new-1"/>
          <p:cNvSpPr/>
          <p:nvPr/>
        </p:nvSpPr>
        <p:spPr>
          <a:xfrm>
            <a:off x="7818120" y="3337560"/>
            <a:ext cx="3794760" cy="1645920"/>
          </a:xfrm>
          <a:prstGeom prst="roundRect">
            <a:avLst>
              <a:gd name="adj" fmla="val 6667"/>
            </a:avLst>
          </a:prstGeom>
          <a:solidFill>
            <a:schemeClr val="bg1"/>
          </a:solidFill>
          <a:ln w="15875">
            <a:solidFill>
              <a:schemeClr val="accent4"/>
            </a:solidFill>
            <a:prstDash val="solid"/>
          </a:ln>
        </p:spPr>
      </p:sp>
      <p:sp>
        <p:nvSpPr>
          <p:cNvPr id="16" name="lag-new-text-1"/>
          <p:cNvSpPr txBox="1"/>
          <p:nvPr/>
        </p:nvSpPr>
        <p:spPr>
          <a:xfrm>
            <a:off x="8046720" y="3337560"/>
            <a:ext cx="3383280" cy="1645920"/>
          </a:xfrm>
          <a:prstGeom prst="rect">
            <a:avLst/>
          </a:prstGeom>
          <a:noFill/>
          <a:ln/>
        </p:spPr>
        <p:txBody>
          <a:bodyPr wrap="square" lIns="0" tIns="0" rIns="0" bIns="0" rtlCol="0" anchor="ctr"/>
          <a:lstStyle/>
          <a:p>
            <a:pPr indent="0" marL="0">
              <a:buNone/>
            </a:pPr>
            <a:r>
              <a:rPr lang="en-US" sz="1700" b="1" dirty="0">
                <a:solidFill>
                  <a:srgbClr val="2E8B57"/>
                </a:solidFill>
              </a:rPr>
              <a:t>Бүгін:
</a:t>
            </a:r>
            <a:endParaRPr lang="en-US" sz="1700" dirty="0"/>
          </a:p>
          <a:p>
            <a:pPr indent="0" marL="0">
              <a:buNone/>
            </a:pPr>
            <a:r>
              <a:rPr lang="en-US" sz="1700" b="1" dirty="0">
                <a:solidFill>
                  <a:srgbClr val="22202E"/>
                </a:solidFill>
              </a:rPr>
              <a:t>Ұлттық құрылтай (2022)</a:t>
            </a:r>
            <a:endParaRPr lang="en-US" sz="1700" dirty="0"/>
          </a:p>
        </p:txBody>
      </p:sp>
      <p:sp>
        <p:nvSpPr>
          <p:cNvPr id="17" name="lag-note"/>
          <p:cNvSpPr/>
          <p:nvPr/>
        </p:nvSpPr>
        <p:spPr>
          <a:xfrm>
            <a:off x="548640" y="5349240"/>
            <a:ext cx="11064240" cy="777240"/>
          </a:xfrm>
          <a:prstGeom prst="roundRect">
            <a:avLst>
              <a:gd name="adj" fmla="val 14118"/>
            </a:avLst>
          </a:prstGeom>
          <a:solidFill>
            <a:schemeClr val="bg2"/>
          </a:solidFill>
          <a:ln/>
        </p:spPr>
      </p:sp>
      <p:sp>
        <p:nvSpPr>
          <p:cNvPr id="18" name="lag-note-text"/>
          <p:cNvSpPr txBox="1"/>
          <p:nvPr/>
        </p:nvSpPr>
        <p:spPr>
          <a:xfrm>
            <a:off x="777240" y="5349240"/>
            <a:ext cx="10607040" cy="777240"/>
          </a:xfrm>
          <a:prstGeom prst="rect">
            <a:avLst/>
          </a:prstGeom>
          <a:noFill/>
          <a:ln/>
        </p:spPr>
        <p:txBody>
          <a:bodyPr wrap="square" lIns="0" tIns="0" rIns="0" bIns="0" rtlCol="0" anchor="ctr"/>
          <a:lstStyle/>
          <a:p>
            <a:pPr indent="0" marL="0">
              <a:buNone/>
            </a:pPr>
            <a:r>
              <a:rPr lang="en-US" sz="1500" b="1" dirty="0">
                <a:solidFill>
                  <a:srgbClr val="3A2E5C"/>
                </a:solidFill>
              </a:rPr>
              <a:t>Белгісі жоқ тарихи сөздер: </a:t>
            </a:r>
            <a:pPr indent="0" marL="0">
              <a:buNone/>
            </a:pPr>
            <a:r>
              <a:rPr lang="en-US" sz="1500" dirty="0">
                <a:solidFill>
                  <a:srgbClr val="22202E"/>
                </a:solidFill>
              </a:rPr>
              <a:t>сауыт, пұт, құлаш, сәукеле, кимешек, саба – олардың заты (той, қымыз, жүзу) бүгін де бар</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Әскери сөздер газетте әлі бар</a:t>
            </a:r>
            <a:endParaRPr lang="en-US" sz="3200" dirty="0"/>
          </a:p>
        </p:txBody>
      </p:sp>
      <p:sp>
        <p:nvSpPr>
          <p:cNvPr id="3" name="mon-chip-0"/>
          <p:cNvSpPr/>
          <p:nvPr/>
        </p:nvSpPr>
        <p:spPr>
          <a:xfrm>
            <a:off x="548640" y="1417320"/>
            <a:ext cx="2194560" cy="868680"/>
          </a:xfrm>
          <a:prstGeom prst="roundRect">
            <a:avLst>
              <a:gd name="adj" fmla="val 12632"/>
            </a:avLst>
          </a:prstGeom>
          <a:solidFill>
            <a:schemeClr val="bg1"/>
          </a:solidFill>
          <a:ln w="15875">
            <a:solidFill>
              <a:schemeClr val="accent2"/>
            </a:solidFill>
            <a:prstDash val="solid"/>
          </a:ln>
        </p:spPr>
      </p:sp>
      <p:sp>
        <p:nvSpPr>
          <p:cNvPr id="4" name="mon-chip-0-text"/>
          <p:cNvSpPr txBox="1"/>
          <p:nvPr/>
        </p:nvSpPr>
        <p:spPr>
          <a:xfrm>
            <a:off x="658368" y="1417320"/>
            <a:ext cx="1975104" cy="868680"/>
          </a:xfrm>
          <a:prstGeom prst="rect">
            <a:avLst/>
          </a:prstGeom>
          <a:noFill/>
          <a:ln/>
        </p:spPr>
        <p:txBody>
          <a:bodyPr wrap="square" lIns="0" tIns="0" rIns="0" bIns="0" rtlCol="0" anchor="ctr"/>
          <a:lstStyle/>
          <a:p>
            <a:pPr algn="ctr" indent="0" marL="0">
              <a:buNone/>
            </a:pPr>
            <a:r>
              <a:rPr lang="en-US" sz="2000" b="1" dirty="0">
                <a:solidFill>
                  <a:schemeClr val="tx2"/>
                </a:solidFill>
                <a:latin typeface="Cambria" pitchFamily="34" charset="0"/>
                <a:ea typeface="Cambria" pitchFamily="34" charset="-122"/>
                <a:cs typeface="Cambria" pitchFamily="34" charset="-120"/>
              </a:rPr>
              <a:t>сауыт</a:t>
            </a:r>
            <a:endParaRPr lang="en-US" sz="2000" dirty="0"/>
          </a:p>
        </p:txBody>
      </p:sp>
      <p:sp>
        <p:nvSpPr>
          <p:cNvPr id="5" name="mon-n-0"/>
          <p:cNvSpPr txBox="1"/>
          <p:nvPr/>
        </p:nvSpPr>
        <p:spPr>
          <a:xfrm>
            <a:off x="3017520" y="1417320"/>
            <a:ext cx="1645920" cy="868680"/>
          </a:xfrm>
          <a:prstGeom prst="rect">
            <a:avLst/>
          </a:prstGeom>
          <a:noFill/>
          <a:ln/>
        </p:spPr>
        <p:txBody>
          <a:bodyPr wrap="square" lIns="0" tIns="0" rIns="0" bIns="0" rtlCol="0" anchor="ctr"/>
          <a:lstStyle/>
          <a:p>
            <a:pPr indent="0" marL="0">
              <a:buNone/>
            </a:pPr>
            <a:r>
              <a:rPr lang="en-US" sz="3000" b="1" dirty="0">
                <a:solidFill>
                  <a:srgbClr val="3A2E5C"/>
                </a:solidFill>
                <a:latin typeface="Cambria" pitchFamily="34" charset="0"/>
                <a:ea typeface="Cambria" pitchFamily="34" charset="-122"/>
                <a:cs typeface="Cambria" pitchFamily="34" charset="-120"/>
              </a:rPr>
              <a:t>8</a:t>
            </a:r>
            <a:pPr indent="0" marL="0">
              <a:buNone/>
            </a:pPr>
            <a:r>
              <a:rPr lang="en-US" sz="1400" dirty="0">
                <a:solidFill>
                  <a:srgbClr val="22202E"/>
                </a:solidFill>
              </a:rPr>
              <a:t>  рет</a:t>
            </a:r>
            <a:endParaRPr lang="en-US" sz="3000" dirty="0"/>
          </a:p>
        </p:txBody>
      </p:sp>
      <p:sp>
        <p:nvSpPr>
          <p:cNvPr id="6" name="mon-card-0"/>
          <p:cNvSpPr/>
          <p:nvPr/>
        </p:nvSpPr>
        <p:spPr>
          <a:xfrm>
            <a:off x="4846320" y="1417320"/>
            <a:ext cx="6766560" cy="868680"/>
          </a:xfrm>
          <a:prstGeom prst="roundRect">
            <a:avLst>
              <a:gd name="adj" fmla="val 12632"/>
            </a:avLst>
          </a:prstGeom>
          <a:solidFill>
            <a:schemeClr val="bg2"/>
          </a:solidFill>
          <a:ln/>
        </p:spPr>
      </p:sp>
      <p:sp>
        <p:nvSpPr>
          <p:cNvPr id="7" name="mon-dot-0"/>
          <p:cNvSpPr/>
          <p:nvPr/>
        </p:nvSpPr>
        <p:spPr>
          <a:xfrm>
            <a:off x="5029200" y="1691640"/>
            <a:ext cx="320040" cy="320040"/>
          </a:xfrm>
          <a:prstGeom prst="ellipse">
            <a:avLst/>
          </a:prstGeom>
          <a:solidFill>
            <a:srgbClr val="D99A1E"/>
          </a:solidFill>
          <a:ln/>
        </p:spPr>
      </p:sp>
      <p:sp>
        <p:nvSpPr>
          <p:cNvPr id="8" name="mon-text-0"/>
          <p:cNvSpPr txBox="1"/>
          <p:nvPr/>
        </p:nvSpPr>
        <p:spPr>
          <a:xfrm>
            <a:off x="5532120" y="1417320"/>
            <a:ext cx="5943600" cy="868680"/>
          </a:xfrm>
          <a:prstGeom prst="rect">
            <a:avLst/>
          </a:prstGeom>
          <a:noFill/>
          <a:ln/>
        </p:spPr>
        <p:txBody>
          <a:bodyPr wrap="square" lIns="0" tIns="0" rIns="0" bIns="0" rtlCol="0" anchor="ctr"/>
          <a:lstStyle/>
          <a:p>
            <a:pPr indent="0" marL="0">
              <a:buNone/>
            </a:pPr>
            <a:r>
              <a:rPr lang="en-US" sz="1500" b="1" dirty="0">
                <a:solidFill>
                  <a:srgbClr val="3A2E5C"/>
                </a:solidFill>
              </a:rPr>
              <a:t>Тарихи мәтінде ғана</a:t>
            </a:r>
            <a:pPr indent="0" marL="0">
              <a:buNone/>
            </a:pPr>
            <a:r>
              <a:rPr lang="en-US" sz="1500" dirty="0">
                <a:solidFill>
                  <a:srgbClr val="22202E"/>
                </a:solidFill>
              </a:rPr>
              <a:t> – Мұражайдағы «Атадан қалған ақ сауыт» көрмесі</a:t>
            </a:r>
            <a:endParaRPr lang="en-US" sz="1500" dirty="0"/>
          </a:p>
        </p:txBody>
      </p:sp>
      <p:sp>
        <p:nvSpPr>
          <p:cNvPr id="9" name="mon-chip-1"/>
          <p:cNvSpPr/>
          <p:nvPr/>
        </p:nvSpPr>
        <p:spPr>
          <a:xfrm>
            <a:off x="548640" y="2468880"/>
            <a:ext cx="2194560" cy="868680"/>
          </a:xfrm>
          <a:prstGeom prst="roundRect">
            <a:avLst>
              <a:gd name="adj" fmla="val 12632"/>
            </a:avLst>
          </a:prstGeom>
          <a:solidFill>
            <a:schemeClr val="bg1"/>
          </a:solidFill>
          <a:ln w="15875">
            <a:solidFill>
              <a:schemeClr val="accent2"/>
            </a:solidFill>
            <a:prstDash val="solid"/>
          </a:ln>
        </p:spPr>
      </p:sp>
      <p:sp>
        <p:nvSpPr>
          <p:cNvPr id="10" name="mon-chip-1-text"/>
          <p:cNvSpPr txBox="1"/>
          <p:nvPr/>
        </p:nvSpPr>
        <p:spPr>
          <a:xfrm>
            <a:off x="658368" y="2468880"/>
            <a:ext cx="1975104" cy="868680"/>
          </a:xfrm>
          <a:prstGeom prst="rect">
            <a:avLst/>
          </a:prstGeom>
          <a:noFill/>
          <a:ln/>
        </p:spPr>
        <p:txBody>
          <a:bodyPr wrap="square" lIns="0" tIns="0" rIns="0" bIns="0" rtlCol="0" anchor="ctr"/>
          <a:lstStyle/>
          <a:p>
            <a:pPr algn="ctr" indent="0" marL="0">
              <a:buNone/>
            </a:pPr>
            <a:r>
              <a:rPr lang="en-US" sz="2000" b="1" dirty="0">
                <a:solidFill>
                  <a:schemeClr val="tx2"/>
                </a:solidFill>
                <a:latin typeface="Cambria" pitchFamily="34" charset="0"/>
                <a:ea typeface="Cambria" pitchFamily="34" charset="-122"/>
                <a:cs typeface="Cambria" pitchFamily="34" charset="-120"/>
              </a:rPr>
              <a:t>дулыға</a:t>
            </a:r>
            <a:endParaRPr lang="en-US" sz="2000" dirty="0"/>
          </a:p>
        </p:txBody>
      </p:sp>
      <p:sp>
        <p:nvSpPr>
          <p:cNvPr id="11" name="mon-n-1"/>
          <p:cNvSpPr txBox="1"/>
          <p:nvPr/>
        </p:nvSpPr>
        <p:spPr>
          <a:xfrm>
            <a:off x="3017520" y="2468880"/>
            <a:ext cx="1645920" cy="868680"/>
          </a:xfrm>
          <a:prstGeom prst="rect">
            <a:avLst/>
          </a:prstGeom>
          <a:noFill/>
          <a:ln/>
        </p:spPr>
        <p:txBody>
          <a:bodyPr wrap="square" lIns="0" tIns="0" rIns="0" bIns="0" rtlCol="0" anchor="ctr"/>
          <a:lstStyle/>
          <a:p>
            <a:pPr indent="0" marL="0">
              <a:buNone/>
            </a:pPr>
            <a:r>
              <a:rPr lang="en-US" sz="3000" b="1" dirty="0">
                <a:solidFill>
                  <a:srgbClr val="3A2E5C"/>
                </a:solidFill>
                <a:latin typeface="Cambria" pitchFamily="34" charset="0"/>
                <a:ea typeface="Cambria" pitchFamily="34" charset="-122"/>
                <a:cs typeface="Cambria" pitchFamily="34" charset="-120"/>
              </a:rPr>
              <a:t>5</a:t>
            </a:r>
            <a:pPr indent="0" marL="0">
              <a:buNone/>
            </a:pPr>
            <a:r>
              <a:rPr lang="en-US" sz="1400" dirty="0">
                <a:solidFill>
                  <a:srgbClr val="22202E"/>
                </a:solidFill>
              </a:rPr>
              <a:t>  рет</a:t>
            </a:r>
            <a:endParaRPr lang="en-US" sz="3000" dirty="0"/>
          </a:p>
        </p:txBody>
      </p:sp>
      <p:sp>
        <p:nvSpPr>
          <p:cNvPr id="12" name="mon-card-1"/>
          <p:cNvSpPr/>
          <p:nvPr/>
        </p:nvSpPr>
        <p:spPr>
          <a:xfrm>
            <a:off x="4846320" y="2468880"/>
            <a:ext cx="6766560" cy="868680"/>
          </a:xfrm>
          <a:prstGeom prst="roundRect">
            <a:avLst>
              <a:gd name="adj" fmla="val 12632"/>
            </a:avLst>
          </a:prstGeom>
          <a:solidFill>
            <a:schemeClr val="bg2"/>
          </a:solidFill>
          <a:ln/>
        </p:spPr>
      </p:sp>
      <p:sp>
        <p:nvSpPr>
          <p:cNvPr id="13" name="mon-dot-1"/>
          <p:cNvSpPr/>
          <p:nvPr/>
        </p:nvSpPr>
        <p:spPr>
          <a:xfrm>
            <a:off x="5029200" y="2743200"/>
            <a:ext cx="320040" cy="320040"/>
          </a:xfrm>
          <a:prstGeom prst="ellipse">
            <a:avLst/>
          </a:prstGeom>
          <a:solidFill>
            <a:srgbClr val="2A78D6"/>
          </a:solidFill>
          <a:ln/>
        </p:spPr>
      </p:sp>
      <p:sp>
        <p:nvSpPr>
          <p:cNvPr id="14" name="mon-text-1"/>
          <p:cNvSpPr txBox="1"/>
          <p:nvPr/>
        </p:nvSpPr>
        <p:spPr>
          <a:xfrm>
            <a:off x="5532120" y="2468880"/>
            <a:ext cx="5943600" cy="868680"/>
          </a:xfrm>
          <a:prstGeom prst="rect">
            <a:avLst/>
          </a:prstGeom>
          <a:noFill/>
          <a:ln/>
        </p:spPr>
        <p:txBody>
          <a:bodyPr wrap="square" lIns="0" tIns="0" rIns="0" bIns="0" rtlCol="0" anchor="ctr"/>
          <a:lstStyle/>
          <a:p>
            <a:pPr indent="0" marL="0">
              <a:buNone/>
            </a:pPr>
            <a:r>
              <a:rPr lang="en-US" sz="1500" b="1" dirty="0">
                <a:solidFill>
                  <a:srgbClr val="3A2E5C"/>
                </a:solidFill>
              </a:rPr>
              <a:t>Атауда сақталған</a:t>
            </a:r>
            <a:pPr indent="0" marL="0">
              <a:buNone/>
            </a:pPr>
            <a:r>
              <a:rPr lang="en-US" sz="1500" dirty="0">
                <a:solidFill>
                  <a:srgbClr val="22202E"/>
                </a:solidFill>
              </a:rPr>
              <a:t> – Дзюдодан «Үлкен дулыға» турнирі</a:t>
            </a:r>
            <a:endParaRPr lang="en-US" sz="1500" dirty="0"/>
          </a:p>
        </p:txBody>
      </p:sp>
      <p:sp>
        <p:nvSpPr>
          <p:cNvPr id="15" name="mon-chip-2"/>
          <p:cNvSpPr/>
          <p:nvPr/>
        </p:nvSpPr>
        <p:spPr>
          <a:xfrm>
            <a:off x="548640" y="3520440"/>
            <a:ext cx="2194560" cy="868680"/>
          </a:xfrm>
          <a:prstGeom prst="roundRect">
            <a:avLst>
              <a:gd name="adj" fmla="val 12632"/>
            </a:avLst>
          </a:prstGeom>
          <a:solidFill>
            <a:schemeClr val="bg1"/>
          </a:solidFill>
          <a:ln w="15875">
            <a:solidFill>
              <a:schemeClr val="accent2"/>
            </a:solidFill>
            <a:prstDash val="solid"/>
          </a:ln>
        </p:spPr>
      </p:sp>
      <p:sp>
        <p:nvSpPr>
          <p:cNvPr id="16" name="mon-chip-2-text"/>
          <p:cNvSpPr txBox="1"/>
          <p:nvPr/>
        </p:nvSpPr>
        <p:spPr>
          <a:xfrm>
            <a:off x="658368" y="3520440"/>
            <a:ext cx="1975104" cy="868680"/>
          </a:xfrm>
          <a:prstGeom prst="rect">
            <a:avLst/>
          </a:prstGeom>
          <a:noFill/>
          <a:ln/>
        </p:spPr>
        <p:txBody>
          <a:bodyPr wrap="square" lIns="0" tIns="0" rIns="0" bIns="0" rtlCol="0" anchor="ctr"/>
          <a:lstStyle/>
          <a:p>
            <a:pPr algn="ctr" indent="0" marL="0">
              <a:buNone/>
            </a:pPr>
            <a:r>
              <a:rPr lang="en-US" sz="2000" b="1" dirty="0">
                <a:solidFill>
                  <a:schemeClr val="tx2"/>
                </a:solidFill>
                <a:latin typeface="Cambria" pitchFamily="34" charset="0"/>
                <a:ea typeface="Cambria" pitchFamily="34" charset="-122"/>
                <a:cs typeface="Cambria" pitchFamily="34" charset="-120"/>
              </a:rPr>
              <a:t>садақ</a:t>
            </a:r>
            <a:endParaRPr lang="en-US" sz="2000" dirty="0"/>
          </a:p>
        </p:txBody>
      </p:sp>
      <p:sp>
        <p:nvSpPr>
          <p:cNvPr id="17" name="mon-n-2"/>
          <p:cNvSpPr txBox="1"/>
          <p:nvPr/>
        </p:nvSpPr>
        <p:spPr>
          <a:xfrm>
            <a:off x="3017520" y="3520440"/>
            <a:ext cx="1645920" cy="868680"/>
          </a:xfrm>
          <a:prstGeom prst="rect">
            <a:avLst/>
          </a:prstGeom>
          <a:noFill/>
          <a:ln/>
        </p:spPr>
        <p:txBody>
          <a:bodyPr wrap="square" lIns="0" tIns="0" rIns="0" bIns="0" rtlCol="0" anchor="ctr"/>
          <a:lstStyle/>
          <a:p>
            <a:pPr indent="0" marL="0">
              <a:buNone/>
            </a:pPr>
            <a:r>
              <a:rPr lang="en-US" sz="3000" b="1" dirty="0">
                <a:solidFill>
                  <a:srgbClr val="3A2E5C"/>
                </a:solidFill>
                <a:latin typeface="Cambria" pitchFamily="34" charset="0"/>
                <a:ea typeface="Cambria" pitchFamily="34" charset="-122"/>
                <a:cs typeface="Cambria" pitchFamily="34" charset="-120"/>
              </a:rPr>
              <a:t>10</a:t>
            </a:r>
            <a:pPr indent="0" marL="0">
              <a:buNone/>
            </a:pPr>
            <a:r>
              <a:rPr lang="en-US" sz="1400" dirty="0">
                <a:solidFill>
                  <a:srgbClr val="22202E"/>
                </a:solidFill>
              </a:rPr>
              <a:t>  рет</a:t>
            </a:r>
            <a:endParaRPr lang="en-US" sz="3000" dirty="0"/>
          </a:p>
        </p:txBody>
      </p:sp>
      <p:sp>
        <p:nvSpPr>
          <p:cNvPr id="18" name="mon-card-2"/>
          <p:cNvSpPr/>
          <p:nvPr/>
        </p:nvSpPr>
        <p:spPr>
          <a:xfrm>
            <a:off x="4846320" y="3520440"/>
            <a:ext cx="6766560" cy="868680"/>
          </a:xfrm>
          <a:prstGeom prst="roundRect">
            <a:avLst>
              <a:gd name="adj" fmla="val 12632"/>
            </a:avLst>
          </a:prstGeom>
          <a:solidFill>
            <a:schemeClr val="bg2"/>
          </a:solidFill>
          <a:ln/>
        </p:spPr>
      </p:sp>
      <p:sp>
        <p:nvSpPr>
          <p:cNvPr id="19" name="mon-dot-2"/>
          <p:cNvSpPr/>
          <p:nvPr/>
        </p:nvSpPr>
        <p:spPr>
          <a:xfrm>
            <a:off x="5029200" y="3794760"/>
            <a:ext cx="320040" cy="320040"/>
          </a:xfrm>
          <a:prstGeom prst="ellipse">
            <a:avLst/>
          </a:prstGeom>
          <a:solidFill>
            <a:srgbClr val="D99A1E"/>
          </a:solidFill>
          <a:ln/>
        </p:spPr>
      </p:sp>
      <p:sp>
        <p:nvSpPr>
          <p:cNvPr id="20" name="mon-text-2"/>
          <p:cNvSpPr txBox="1"/>
          <p:nvPr/>
        </p:nvSpPr>
        <p:spPr>
          <a:xfrm>
            <a:off x="5532120" y="3520440"/>
            <a:ext cx="5943600" cy="868680"/>
          </a:xfrm>
          <a:prstGeom prst="rect">
            <a:avLst/>
          </a:prstGeom>
          <a:noFill/>
          <a:ln/>
        </p:spPr>
        <p:txBody>
          <a:bodyPr wrap="square" lIns="0" tIns="0" rIns="0" bIns="0" rtlCol="0" anchor="ctr"/>
          <a:lstStyle/>
          <a:p>
            <a:pPr indent="0" marL="0">
              <a:buNone/>
            </a:pPr>
            <a:r>
              <a:rPr lang="en-US" sz="1500" b="1" dirty="0">
                <a:solidFill>
                  <a:srgbClr val="3A2E5C"/>
                </a:solidFill>
              </a:rPr>
              <a:t>Тарихи мәтінде ғана</a:t>
            </a:r>
            <a:pPr indent="0" marL="0">
              <a:buNone/>
            </a:pPr>
            <a:r>
              <a:rPr lang="en-US" sz="1500" dirty="0">
                <a:solidFill>
                  <a:srgbClr val="22202E"/>
                </a:solidFill>
              </a:rPr>
              <a:t> – тарихи-мәдени мәтінде</a:t>
            </a:r>
            <a:endParaRPr lang="en-US" sz="1500" dirty="0"/>
          </a:p>
        </p:txBody>
      </p:sp>
      <p:sp>
        <p:nvSpPr>
          <p:cNvPr id="21" name="mon-chip-3"/>
          <p:cNvSpPr/>
          <p:nvPr/>
        </p:nvSpPr>
        <p:spPr>
          <a:xfrm>
            <a:off x="548640" y="4572000"/>
            <a:ext cx="2194560" cy="868680"/>
          </a:xfrm>
          <a:prstGeom prst="roundRect">
            <a:avLst>
              <a:gd name="adj" fmla="val 12632"/>
            </a:avLst>
          </a:prstGeom>
          <a:solidFill>
            <a:schemeClr val="bg1"/>
          </a:solidFill>
          <a:ln w="15875">
            <a:solidFill>
              <a:schemeClr val="accent2"/>
            </a:solidFill>
            <a:prstDash val="solid"/>
          </a:ln>
        </p:spPr>
      </p:sp>
      <p:sp>
        <p:nvSpPr>
          <p:cNvPr id="22" name="mon-chip-3-text"/>
          <p:cNvSpPr txBox="1"/>
          <p:nvPr/>
        </p:nvSpPr>
        <p:spPr>
          <a:xfrm>
            <a:off x="658368" y="4572000"/>
            <a:ext cx="1975104" cy="868680"/>
          </a:xfrm>
          <a:prstGeom prst="rect">
            <a:avLst/>
          </a:prstGeom>
          <a:noFill/>
          <a:ln/>
        </p:spPr>
        <p:txBody>
          <a:bodyPr wrap="square" lIns="0" tIns="0" rIns="0" bIns="0" rtlCol="0" anchor="ctr"/>
          <a:lstStyle/>
          <a:p>
            <a:pPr algn="ctr" indent="0" marL="0">
              <a:buNone/>
            </a:pPr>
            <a:r>
              <a:rPr lang="en-US" sz="2000" b="1" dirty="0">
                <a:solidFill>
                  <a:schemeClr val="tx2"/>
                </a:solidFill>
                <a:latin typeface="Cambria" pitchFamily="34" charset="0"/>
                <a:ea typeface="Cambria" pitchFamily="34" charset="-122"/>
                <a:cs typeface="Cambria" pitchFamily="34" charset="-120"/>
              </a:rPr>
              <a:t>қорамсақ</a:t>
            </a:r>
            <a:endParaRPr lang="en-US" sz="2000" dirty="0"/>
          </a:p>
        </p:txBody>
      </p:sp>
      <p:sp>
        <p:nvSpPr>
          <p:cNvPr id="23" name="mon-n-3"/>
          <p:cNvSpPr txBox="1"/>
          <p:nvPr/>
        </p:nvSpPr>
        <p:spPr>
          <a:xfrm>
            <a:off x="3017520" y="4572000"/>
            <a:ext cx="1645920" cy="868680"/>
          </a:xfrm>
          <a:prstGeom prst="rect">
            <a:avLst/>
          </a:prstGeom>
          <a:noFill/>
          <a:ln/>
        </p:spPr>
        <p:txBody>
          <a:bodyPr wrap="square" lIns="0" tIns="0" rIns="0" bIns="0" rtlCol="0" anchor="ctr"/>
          <a:lstStyle/>
          <a:p>
            <a:pPr indent="0" marL="0">
              <a:buNone/>
            </a:pPr>
            <a:r>
              <a:rPr lang="en-US" sz="3000" b="1" dirty="0">
                <a:solidFill>
                  <a:srgbClr val="3A2E5C"/>
                </a:solidFill>
                <a:latin typeface="Cambria" pitchFamily="34" charset="0"/>
                <a:ea typeface="Cambria" pitchFamily="34" charset="-122"/>
                <a:cs typeface="Cambria" pitchFamily="34" charset="-120"/>
              </a:rPr>
              <a:t>10</a:t>
            </a:r>
            <a:pPr indent="0" marL="0">
              <a:buNone/>
            </a:pPr>
            <a:r>
              <a:rPr lang="en-US" sz="1400" dirty="0">
                <a:solidFill>
                  <a:srgbClr val="22202E"/>
                </a:solidFill>
              </a:rPr>
              <a:t>  рет</a:t>
            </a:r>
            <a:endParaRPr lang="en-US" sz="3000" dirty="0"/>
          </a:p>
        </p:txBody>
      </p:sp>
      <p:sp>
        <p:nvSpPr>
          <p:cNvPr id="24" name="mon-card-3"/>
          <p:cNvSpPr/>
          <p:nvPr/>
        </p:nvSpPr>
        <p:spPr>
          <a:xfrm>
            <a:off x="4846320" y="4572000"/>
            <a:ext cx="6766560" cy="868680"/>
          </a:xfrm>
          <a:prstGeom prst="roundRect">
            <a:avLst>
              <a:gd name="adj" fmla="val 12632"/>
            </a:avLst>
          </a:prstGeom>
          <a:solidFill>
            <a:schemeClr val="bg2"/>
          </a:solidFill>
          <a:ln/>
        </p:spPr>
      </p:sp>
      <p:sp>
        <p:nvSpPr>
          <p:cNvPr id="25" name="mon-dot-3"/>
          <p:cNvSpPr/>
          <p:nvPr/>
        </p:nvSpPr>
        <p:spPr>
          <a:xfrm>
            <a:off x="5029200" y="4846320"/>
            <a:ext cx="320040" cy="320040"/>
          </a:xfrm>
          <a:prstGeom prst="ellipse">
            <a:avLst/>
          </a:prstGeom>
          <a:solidFill>
            <a:srgbClr val="D99A1E"/>
          </a:solidFill>
          <a:ln/>
        </p:spPr>
      </p:sp>
      <p:sp>
        <p:nvSpPr>
          <p:cNvPr id="26" name="mon-text-3"/>
          <p:cNvSpPr txBox="1"/>
          <p:nvPr/>
        </p:nvSpPr>
        <p:spPr>
          <a:xfrm>
            <a:off x="5532120" y="4572000"/>
            <a:ext cx="5943600" cy="868680"/>
          </a:xfrm>
          <a:prstGeom prst="rect">
            <a:avLst/>
          </a:prstGeom>
          <a:noFill/>
          <a:ln/>
        </p:spPr>
        <p:txBody>
          <a:bodyPr wrap="square" lIns="0" tIns="0" rIns="0" bIns="0" rtlCol="0" anchor="ctr"/>
          <a:lstStyle/>
          <a:p>
            <a:pPr indent="0" marL="0">
              <a:buNone/>
            </a:pPr>
            <a:r>
              <a:rPr lang="en-US" sz="1500" b="1" dirty="0">
                <a:solidFill>
                  <a:srgbClr val="3A2E5C"/>
                </a:solidFill>
              </a:rPr>
              <a:t>Тарихи мәтінде ғана</a:t>
            </a:r>
            <a:pPr indent="0" marL="0">
              <a:buNone/>
            </a:pPr>
            <a:r>
              <a:rPr lang="en-US" sz="1500" dirty="0">
                <a:solidFill>
                  <a:srgbClr val="22202E"/>
                </a:solidFill>
              </a:rPr>
              <a:t> – тарихи-мәдени мәтінде</a:t>
            </a:r>
            <a:endParaRPr lang="en-US" sz="1500" dirty="0"/>
          </a:p>
        </p:txBody>
      </p:sp>
      <p:sp>
        <p:nvSpPr>
          <p:cNvPr id="27" name="mon-note"/>
          <p:cNvSpPr txBox="1"/>
          <p:nvPr/>
        </p:nvSpPr>
        <p:spPr>
          <a:xfrm>
            <a:off x="548640" y="5760720"/>
            <a:ext cx="11064240" cy="365760"/>
          </a:xfrm>
          <a:prstGeom prst="rect">
            <a:avLst/>
          </a:prstGeom>
          <a:noFill/>
          <a:ln/>
        </p:spPr>
        <p:txBody>
          <a:bodyPr wrap="square" lIns="0" tIns="0" rIns="0" bIns="0" rtlCol="0" anchor="ctr"/>
          <a:lstStyle/>
          <a:p>
            <a:pPr indent="0" marL="0">
              <a:buNone/>
            </a:pPr>
            <a:r>
              <a:rPr lang="en-US" sz="1300" i="1" dirty="0">
                <a:solidFill>
                  <a:schemeClr val="accent5"/>
                </a:solidFill>
              </a:rPr>
              <a:t>egemen.kz, соңғы бір жыл, Google іздеу нәтижесі (шамамен). Мониторинг әскери топтағы 4 сөзге жүргізілді.</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Көне сөздерді жастар нашар біледі</a:t>
            </a:r>
            <a:endParaRPr lang="en-US" sz="3200" dirty="0"/>
          </a:p>
        </p:txBody>
      </p:sp>
      <p:graphicFrame>
        <p:nvGraphicFramePr>
          <p:cNvPr id="3" name="chart-test" descr=""/>
          <p:cNvGraphicFramePr/>
          <p:nvPr/>
        </p:nvGraphicFramePr>
        <p:xfrm>
          <a:off x="548640" y="1280160"/>
          <a:ext cx="7498080" cy="4892040"/>
        </p:xfrm>
        <a:graphic xmlns:a="http://schemas.openxmlformats.org/drawingml/2006/main">
          <a:graphicData uri="http://schemas.openxmlformats.org/drawingml/2006/chart">
            <c:chart xmlns:c="http://schemas.openxmlformats.org/drawingml/2006/chart" r:id="rId1"/>
          </a:graphicData>
        </a:graphic>
      </p:graphicFrame>
      <p:sp>
        <p:nvSpPr>
          <p:cNvPr id="4" name="gen-stat-0"/>
          <p:cNvSpPr txBox="1"/>
          <p:nvPr/>
        </p:nvSpPr>
        <p:spPr>
          <a:xfrm>
            <a:off x="8412480" y="1371600"/>
            <a:ext cx="3200400" cy="1051560"/>
          </a:xfrm>
          <a:prstGeom prst="rect">
            <a:avLst/>
          </a:prstGeom>
          <a:noFill/>
          <a:ln/>
        </p:spPr>
        <p:txBody>
          <a:bodyPr wrap="square" lIns="0" tIns="0" rIns="0" bIns="0" rtlCol="0" anchor="ctr"/>
          <a:lstStyle/>
          <a:p>
            <a:pPr indent="0" marL="0">
              <a:buNone/>
            </a:pPr>
            <a:r>
              <a:rPr lang="en-US" sz="3600" b="1" dirty="0">
                <a:solidFill>
                  <a:srgbClr val="2A78D6"/>
                </a:solidFill>
                <a:latin typeface="Cambria" pitchFamily="34" charset="0"/>
                <a:ea typeface="Cambria" pitchFamily="34" charset="-122"/>
                <a:cs typeface="Cambria" pitchFamily="34" charset="-120"/>
              </a:rPr>
              <a:t>44,4%</a:t>
            </a:r>
            <a:endParaRPr lang="en-US" sz="3600" dirty="0"/>
          </a:p>
          <a:p>
            <a:pPr indent="0" marL="0">
              <a:buNone/>
            </a:pPr>
            <a:r>
              <a:rPr lang="en-US" sz="1500" dirty="0">
                <a:solidFill>
                  <a:srgbClr val="22202E"/>
                </a:solidFill>
              </a:rPr>
              <a:t>оқушылар</a:t>
            </a:r>
            <a:endParaRPr lang="en-US" sz="3600" dirty="0"/>
          </a:p>
        </p:txBody>
      </p:sp>
      <p:sp>
        <p:nvSpPr>
          <p:cNvPr id="5" name="gen-stat-1"/>
          <p:cNvSpPr txBox="1"/>
          <p:nvPr/>
        </p:nvSpPr>
        <p:spPr>
          <a:xfrm>
            <a:off x="8412480" y="2560320"/>
            <a:ext cx="3200400" cy="1051560"/>
          </a:xfrm>
          <a:prstGeom prst="rect">
            <a:avLst/>
          </a:prstGeom>
          <a:noFill/>
          <a:ln/>
        </p:spPr>
        <p:txBody>
          <a:bodyPr wrap="square" lIns="0" tIns="0" rIns="0" bIns="0" rtlCol="0" anchor="ctr"/>
          <a:lstStyle/>
          <a:p>
            <a:pPr indent="0" marL="0">
              <a:buNone/>
            </a:pPr>
            <a:r>
              <a:rPr lang="en-US" sz="3600" b="1" dirty="0">
                <a:solidFill>
                  <a:srgbClr val="D99A1E"/>
                </a:solidFill>
                <a:latin typeface="Cambria" pitchFamily="34" charset="0"/>
                <a:ea typeface="Cambria" pitchFamily="34" charset="-122"/>
                <a:cs typeface="Cambria" pitchFamily="34" charset="-120"/>
              </a:rPr>
              <a:t>75%</a:t>
            </a:r>
            <a:endParaRPr lang="en-US" sz="3600" dirty="0"/>
          </a:p>
          <a:p>
            <a:pPr indent="0" marL="0">
              <a:buNone/>
            </a:pPr>
            <a:r>
              <a:rPr lang="en-US" sz="1500" dirty="0">
                <a:solidFill>
                  <a:srgbClr val="22202E"/>
                </a:solidFill>
              </a:rPr>
              <a:t>ата-аналар</a:t>
            </a:r>
            <a:endParaRPr lang="en-US" sz="3600" dirty="0"/>
          </a:p>
        </p:txBody>
      </p:sp>
      <p:sp>
        <p:nvSpPr>
          <p:cNvPr id="6" name="gen-stat-2"/>
          <p:cNvSpPr txBox="1"/>
          <p:nvPr/>
        </p:nvSpPr>
        <p:spPr>
          <a:xfrm>
            <a:off x="8412480" y="3749040"/>
            <a:ext cx="3200400" cy="1051560"/>
          </a:xfrm>
          <a:prstGeom prst="rect">
            <a:avLst/>
          </a:prstGeom>
          <a:noFill/>
          <a:ln/>
        </p:spPr>
        <p:txBody>
          <a:bodyPr wrap="square" lIns="0" tIns="0" rIns="0" bIns="0" rtlCol="0" anchor="ctr"/>
          <a:lstStyle/>
          <a:p>
            <a:pPr indent="0" marL="0">
              <a:buNone/>
            </a:pPr>
            <a:r>
              <a:rPr lang="en-US" sz="3600" b="1" dirty="0">
                <a:solidFill>
                  <a:srgbClr val="2E8B57"/>
                </a:solidFill>
                <a:latin typeface="Cambria" pitchFamily="34" charset="0"/>
                <a:ea typeface="Cambria" pitchFamily="34" charset="-122"/>
                <a:cs typeface="Cambria" pitchFamily="34" charset="-120"/>
              </a:rPr>
              <a:t>58,3%</a:t>
            </a:r>
            <a:endParaRPr lang="en-US" sz="3600" dirty="0"/>
          </a:p>
          <a:p>
            <a:pPr indent="0" marL="0">
              <a:buNone/>
            </a:pPr>
            <a:r>
              <a:rPr lang="en-US" sz="1500" dirty="0">
                <a:solidFill>
                  <a:srgbClr val="22202E"/>
                </a:solidFill>
              </a:rPr>
              <a:t>ата-әжелер</a:t>
            </a:r>
            <a:endParaRPr lang="en-US" sz="3600" dirty="0"/>
          </a:p>
        </p:txBody>
      </p:sp>
      <p:sp>
        <p:nvSpPr>
          <p:cNvPr id="7" name="pilot-note"/>
          <p:cNvSpPr/>
          <p:nvPr/>
        </p:nvSpPr>
        <p:spPr>
          <a:xfrm>
            <a:off x="8412480" y="4983480"/>
            <a:ext cx="3200400" cy="1188720"/>
          </a:xfrm>
          <a:prstGeom prst="roundRect">
            <a:avLst>
              <a:gd name="adj" fmla="val 9231"/>
            </a:avLst>
          </a:prstGeom>
          <a:solidFill>
            <a:schemeClr val="bg2"/>
          </a:solidFill>
          <a:ln/>
        </p:spPr>
      </p:sp>
      <p:sp>
        <p:nvSpPr>
          <p:cNvPr id="8" name="pilot-note-text"/>
          <p:cNvSpPr txBox="1"/>
          <p:nvPr/>
        </p:nvSpPr>
        <p:spPr>
          <a:xfrm>
            <a:off x="8595360" y="4983480"/>
            <a:ext cx="2834640" cy="1188720"/>
          </a:xfrm>
          <a:prstGeom prst="rect">
            <a:avLst/>
          </a:prstGeom>
          <a:noFill/>
          <a:ln/>
        </p:spPr>
        <p:txBody>
          <a:bodyPr wrap="square" lIns="0" tIns="0" rIns="0" bIns="0" rtlCol="0" anchor="ctr"/>
          <a:lstStyle/>
          <a:p>
            <a:pPr indent="0" marL="0">
              <a:buNone/>
            </a:pPr>
            <a:r>
              <a:rPr lang="en-US" sz="1400" i="1" dirty="0">
                <a:solidFill>
                  <a:schemeClr val="tx1"/>
                </a:solidFill>
              </a:rPr>
              <a:t>Алдын ала нәтиже: 7 адам (5 оқушы, 1 ата-ана және 1 ата-әже)</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Тірі сөзді бәрі біледі</a:t>
            </a:r>
            <a:endParaRPr lang="en-US" sz="3200" dirty="0"/>
          </a:p>
        </p:txBody>
      </p:sp>
      <p:sp>
        <p:nvSpPr>
          <p:cNvPr id="3" name="tw-card-0"/>
          <p:cNvSpPr/>
          <p:nvPr/>
        </p:nvSpPr>
        <p:spPr>
          <a:xfrm>
            <a:off x="548640" y="1417320"/>
            <a:ext cx="5349240" cy="4206240"/>
          </a:xfrm>
          <a:prstGeom prst="roundRect">
            <a:avLst>
              <a:gd name="adj" fmla="val 2609"/>
            </a:avLst>
          </a:prstGeom>
          <a:solidFill>
            <a:schemeClr val="bg2"/>
          </a:solidFill>
          <a:ln/>
        </p:spPr>
      </p:sp>
      <p:sp>
        <p:nvSpPr>
          <p:cNvPr id="4" name="tw-ic-0-circle"/>
          <p:cNvSpPr/>
          <p:nvPr/>
        </p:nvSpPr>
        <p:spPr>
          <a:xfrm>
            <a:off x="868680" y="1691640"/>
            <a:ext cx="731520" cy="731520"/>
          </a:xfrm>
          <a:prstGeom prst="ellipse">
            <a:avLst/>
          </a:prstGeom>
          <a:solidFill>
            <a:srgbClr val="2E8B57"/>
          </a:solidFill>
          <a:ln/>
        </p:spPr>
      </p:sp>
      <p:pic>
        <p:nvPicPr>
          <p:cNvPr id="5" name="tw-ic-0-icon" descr="preencoded.png">    </p:cNvPr>
          <p:cNvPicPr>
            <a:picLocks noChangeAspect="1"/>
          </p:cNvPicPr>
          <p:nvPr/>
        </p:nvPicPr>
        <p:blipFill>
          <a:blip r:embed="rId1"/>
          <a:stretch>
            <a:fillRect/>
          </a:stretch>
        </p:blipFill>
        <p:spPr>
          <a:xfrm>
            <a:off x="1044245" y="1867205"/>
            <a:ext cx="380390" cy="380390"/>
          </a:xfrm>
          <a:prstGeom prst="rect">
            <a:avLst/>
          </a:prstGeom>
        </p:spPr>
      </p:pic>
      <p:sp>
        <p:nvSpPr>
          <p:cNvPr id="6" name="tw-h-0"/>
          <p:cNvSpPr txBox="1"/>
          <p:nvPr/>
        </p:nvSpPr>
        <p:spPr>
          <a:xfrm>
            <a:off x="1783080" y="1691640"/>
            <a:ext cx="3931920" cy="731520"/>
          </a:xfrm>
          <a:prstGeom prst="rect">
            <a:avLst/>
          </a:prstGeom>
          <a:noFill/>
          <a:ln/>
        </p:spPr>
        <p:txBody>
          <a:bodyPr wrap="square" lIns="0" tIns="0" rIns="0" bIns="0" rtlCol="0" anchor="ctr"/>
          <a:lstStyle/>
          <a:p>
            <a:pPr indent="0" marL="0">
              <a:buNone/>
            </a:pPr>
            <a:r>
              <a:rPr lang="en-US" sz="2200" b="1" dirty="0">
                <a:solidFill>
                  <a:schemeClr val="tx2"/>
                </a:solidFill>
              </a:rPr>
              <a:t>Барлық буын білді</a:t>
            </a:r>
            <a:endParaRPr lang="en-US" sz="2200" dirty="0"/>
          </a:p>
        </p:txBody>
      </p:sp>
      <p:sp>
        <p:nvSpPr>
          <p:cNvPr id="7" name="tw-chip-0-0"/>
          <p:cNvSpPr/>
          <p:nvPr/>
        </p:nvSpPr>
        <p:spPr>
          <a:xfrm>
            <a:off x="868680" y="2697480"/>
            <a:ext cx="2240280" cy="685800"/>
          </a:xfrm>
          <a:prstGeom prst="roundRect">
            <a:avLst>
              <a:gd name="adj" fmla="val 16000"/>
            </a:avLst>
          </a:prstGeom>
          <a:solidFill>
            <a:schemeClr val="bg1"/>
          </a:solidFill>
          <a:ln w="15875">
            <a:solidFill>
              <a:schemeClr val="accent2"/>
            </a:solidFill>
            <a:prstDash val="solid"/>
          </a:ln>
        </p:spPr>
      </p:sp>
      <p:sp>
        <p:nvSpPr>
          <p:cNvPr id="8" name="tw-chip-0-0-text"/>
          <p:cNvSpPr txBox="1"/>
          <p:nvPr/>
        </p:nvSpPr>
        <p:spPr>
          <a:xfrm>
            <a:off x="978408" y="2697480"/>
            <a:ext cx="2020824" cy="68580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сарбаз</a:t>
            </a:r>
            <a:endParaRPr lang="en-US" sz="1800" dirty="0"/>
          </a:p>
        </p:txBody>
      </p:sp>
      <p:sp>
        <p:nvSpPr>
          <p:cNvPr id="9" name="tw-chip-0-1"/>
          <p:cNvSpPr/>
          <p:nvPr/>
        </p:nvSpPr>
        <p:spPr>
          <a:xfrm>
            <a:off x="3291840" y="2697480"/>
            <a:ext cx="2240280" cy="685800"/>
          </a:xfrm>
          <a:prstGeom prst="roundRect">
            <a:avLst>
              <a:gd name="adj" fmla="val 16000"/>
            </a:avLst>
          </a:prstGeom>
          <a:solidFill>
            <a:schemeClr val="bg1"/>
          </a:solidFill>
          <a:ln w="15875">
            <a:solidFill>
              <a:schemeClr val="accent2"/>
            </a:solidFill>
            <a:prstDash val="solid"/>
          </a:ln>
        </p:spPr>
      </p:sp>
      <p:sp>
        <p:nvSpPr>
          <p:cNvPr id="10" name="tw-chip-0-1-text"/>
          <p:cNvSpPr txBox="1"/>
          <p:nvPr/>
        </p:nvSpPr>
        <p:spPr>
          <a:xfrm>
            <a:off x="3401568" y="2697480"/>
            <a:ext cx="2020824" cy="68580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тиын</a:t>
            </a:r>
            <a:endParaRPr lang="en-US" sz="1800" dirty="0"/>
          </a:p>
        </p:txBody>
      </p:sp>
      <p:sp>
        <p:nvSpPr>
          <p:cNvPr id="11" name="tw-chip-0-2"/>
          <p:cNvSpPr/>
          <p:nvPr/>
        </p:nvSpPr>
        <p:spPr>
          <a:xfrm>
            <a:off x="868680" y="3566160"/>
            <a:ext cx="2240280" cy="685800"/>
          </a:xfrm>
          <a:prstGeom prst="roundRect">
            <a:avLst>
              <a:gd name="adj" fmla="val 16000"/>
            </a:avLst>
          </a:prstGeom>
          <a:solidFill>
            <a:schemeClr val="bg1"/>
          </a:solidFill>
          <a:ln w="15875">
            <a:solidFill>
              <a:schemeClr val="accent2"/>
            </a:solidFill>
            <a:prstDash val="solid"/>
          </a:ln>
        </p:spPr>
      </p:sp>
      <p:sp>
        <p:nvSpPr>
          <p:cNvPr id="12" name="tw-chip-0-2-text"/>
          <p:cNvSpPr txBox="1"/>
          <p:nvPr/>
        </p:nvSpPr>
        <p:spPr>
          <a:xfrm>
            <a:off x="978408" y="3566160"/>
            <a:ext cx="2020824" cy="68580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тұлпар</a:t>
            </a:r>
            <a:endParaRPr lang="en-US" sz="1800" dirty="0"/>
          </a:p>
        </p:txBody>
      </p:sp>
      <p:sp>
        <p:nvSpPr>
          <p:cNvPr id="13" name="tw-d-0"/>
          <p:cNvSpPr txBox="1"/>
          <p:nvPr/>
        </p:nvSpPr>
        <p:spPr>
          <a:xfrm>
            <a:off x="868680" y="4572000"/>
            <a:ext cx="4754880" cy="822960"/>
          </a:xfrm>
          <a:prstGeom prst="rect">
            <a:avLst/>
          </a:prstGeom>
          <a:noFill/>
          <a:ln/>
        </p:spPr>
        <p:txBody>
          <a:bodyPr wrap="square" lIns="0" tIns="0" rIns="0" bIns="0" rtlCol="0" anchor="t"/>
          <a:lstStyle/>
          <a:p>
            <a:pPr indent="0" marL="0">
              <a:buNone/>
            </a:pPr>
            <a:r>
              <a:rPr lang="en-US" sz="1500" i="1" dirty="0">
                <a:solidFill>
                  <a:schemeClr val="tx1"/>
                </a:solidFill>
              </a:rPr>
              <a:t>Бүгін жиі айтылады, сөздікте белгісі жоқ</a:t>
            </a:r>
            <a:endParaRPr lang="en-US" sz="1500" dirty="0"/>
          </a:p>
        </p:txBody>
      </p:sp>
      <p:sp>
        <p:nvSpPr>
          <p:cNvPr id="14" name="tw-card-1"/>
          <p:cNvSpPr/>
          <p:nvPr/>
        </p:nvSpPr>
        <p:spPr>
          <a:xfrm>
            <a:off x="6263640" y="1417320"/>
            <a:ext cx="5349240" cy="4206240"/>
          </a:xfrm>
          <a:prstGeom prst="roundRect">
            <a:avLst>
              <a:gd name="adj" fmla="val 2609"/>
            </a:avLst>
          </a:prstGeom>
          <a:solidFill>
            <a:schemeClr val="bg2"/>
          </a:solidFill>
          <a:ln/>
        </p:spPr>
      </p:sp>
      <p:sp>
        <p:nvSpPr>
          <p:cNvPr id="15" name="tw-ic-1-circle"/>
          <p:cNvSpPr/>
          <p:nvPr/>
        </p:nvSpPr>
        <p:spPr>
          <a:xfrm>
            <a:off x="6583680" y="1691640"/>
            <a:ext cx="731520" cy="731520"/>
          </a:xfrm>
          <a:prstGeom prst="ellipse">
            <a:avLst/>
          </a:prstGeom>
          <a:solidFill>
            <a:srgbClr val="B5462F"/>
          </a:solidFill>
          <a:ln/>
        </p:spPr>
      </p:sp>
      <p:pic>
        <p:nvPicPr>
          <p:cNvPr id="16" name="tw-ic-1-icon" descr="preencoded.png">    </p:cNvPr>
          <p:cNvPicPr>
            <a:picLocks noChangeAspect="1"/>
          </p:cNvPicPr>
          <p:nvPr/>
        </p:nvPicPr>
        <p:blipFill>
          <a:blip r:embed="rId2"/>
          <a:stretch>
            <a:fillRect/>
          </a:stretch>
        </p:blipFill>
        <p:spPr>
          <a:xfrm>
            <a:off x="6759245" y="1867205"/>
            <a:ext cx="380390" cy="380390"/>
          </a:xfrm>
          <a:prstGeom prst="rect">
            <a:avLst/>
          </a:prstGeom>
        </p:spPr>
      </p:pic>
      <p:sp>
        <p:nvSpPr>
          <p:cNvPr id="17" name="tw-h-1"/>
          <p:cNvSpPr txBox="1"/>
          <p:nvPr/>
        </p:nvSpPr>
        <p:spPr>
          <a:xfrm>
            <a:off x="7498080" y="1691640"/>
            <a:ext cx="3931920" cy="731520"/>
          </a:xfrm>
          <a:prstGeom prst="rect">
            <a:avLst/>
          </a:prstGeom>
          <a:noFill/>
          <a:ln/>
        </p:spPr>
        <p:txBody>
          <a:bodyPr wrap="square" lIns="0" tIns="0" rIns="0" bIns="0" rtlCol="0" anchor="ctr"/>
          <a:lstStyle/>
          <a:p>
            <a:pPr indent="0" marL="0">
              <a:buNone/>
            </a:pPr>
            <a:r>
              <a:rPr lang="en-US" sz="2200" b="1" dirty="0">
                <a:solidFill>
                  <a:schemeClr val="tx2"/>
                </a:solidFill>
              </a:rPr>
              <a:t>Бірде-бір оқушы білмеді</a:t>
            </a:r>
            <a:endParaRPr lang="en-US" sz="2200" dirty="0"/>
          </a:p>
        </p:txBody>
      </p:sp>
      <p:sp>
        <p:nvSpPr>
          <p:cNvPr id="18" name="tw-chip-1-0"/>
          <p:cNvSpPr/>
          <p:nvPr/>
        </p:nvSpPr>
        <p:spPr>
          <a:xfrm>
            <a:off x="6583680" y="2697480"/>
            <a:ext cx="2240280" cy="685800"/>
          </a:xfrm>
          <a:prstGeom prst="roundRect">
            <a:avLst>
              <a:gd name="adj" fmla="val 16000"/>
            </a:avLst>
          </a:prstGeom>
          <a:solidFill>
            <a:schemeClr val="bg1"/>
          </a:solidFill>
          <a:ln w="15875">
            <a:solidFill>
              <a:schemeClr val="accent2"/>
            </a:solidFill>
            <a:prstDash val="solid"/>
          </a:ln>
        </p:spPr>
      </p:sp>
      <p:sp>
        <p:nvSpPr>
          <p:cNvPr id="19" name="tw-chip-1-0-text"/>
          <p:cNvSpPr txBox="1"/>
          <p:nvPr/>
        </p:nvSpPr>
        <p:spPr>
          <a:xfrm>
            <a:off x="6693408" y="2697480"/>
            <a:ext cx="2020824" cy="68580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болыс</a:t>
            </a:r>
            <a:endParaRPr lang="en-US" sz="1800" dirty="0"/>
          </a:p>
        </p:txBody>
      </p:sp>
      <p:sp>
        <p:nvSpPr>
          <p:cNvPr id="20" name="tw-chip-1-1"/>
          <p:cNvSpPr/>
          <p:nvPr/>
        </p:nvSpPr>
        <p:spPr>
          <a:xfrm>
            <a:off x="9006840" y="2697480"/>
            <a:ext cx="2240280" cy="685800"/>
          </a:xfrm>
          <a:prstGeom prst="roundRect">
            <a:avLst>
              <a:gd name="adj" fmla="val 16000"/>
            </a:avLst>
          </a:prstGeom>
          <a:solidFill>
            <a:schemeClr val="bg1"/>
          </a:solidFill>
          <a:ln w="15875">
            <a:solidFill>
              <a:schemeClr val="accent2"/>
            </a:solidFill>
            <a:prstDash val="solid"/>
          </a:ln>
        </p:spPr>
      </p:sp>
      <p:sp>
        <p:nvSpPr>
          <p:cNvPr id="21" name="tw-chip-1-1-text"/>
          <p:cNvSpPr txBox="1"/>
          <p:nvPr/>
        </p:nvSpPr>
        <p:spPr>
          <a:xfrm>
            <a:off x="9116568" y="2697480"/>
            <a:ext cx="2020824" cy="68580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батпан</a:t>
            </a:r>
            <a:endParaRPr lang="en-US" sz="1800" dirty="0"/>
          </a:p>
        </p:txBody>
      </p:sp>
      <p:sp>
        <p:nvSpPr>
          <p:cNvPr id="22" name="tw-chip-1-2"/>
          <p:cNvSpPr/>
          <p:nvPr/>
        </p:nvSpPr>
        <p:spPr>
          <a:xfrm>
            <a:off x="6583680" y="3566160"/>
            <a:ext cx="2240280" cy="685800"/>
          </a:xfrm>
          <a:prstGeom prst="roundRect">
            <a:avLst>
              <a:gd name="adj" fmla="val 16000"/>
            </a:avLst>
          </a:prstGeom>
          <a:solidFill>
            <a:schemeClr val="bg1"/>
          </a:solidFill>
          <a:ln w="15875">
            <a:solidFill>
              <a:schemeClr val="accent2"/>
            </a:solidFill>
            <a:prstDash val="solid"/>
          </a:ln>
        </p:spPr>
      </p:sp>
      <p:sp>
        <p:nvSpPr>
          <p:cNvPr id="23" name="tw-chip-1-2-text"/>
          <p:cNvSpPr txBox="1"/>
          <p:nvPr/>
        </p:nvSpPr>
        <p:spPr>
          <a:xfrm>
            <a:off x="6693408" y="3566160"/>
            <a:ext cx="2020824" cy="68580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кебенек</a:t>
            </a:r>
            <a:endParaRPr lang="en-US" sz="1800" dirty="0"/>
          </a:p>
        </p:txBody>
      </p:sp>
      <p:sp>
        <p:nvSpPr>
          <p:cNvPr id="24" name="tw-chip-1-3"/>
          <p:cNvSpPr/>
          <p:nvPr/>
        </p:nvSpPr>
        <p:spPr>
          <a:xfrm>
            <a:off x="9006840" y="3566160"/>
            <a:ext cx="2240280" cy="685800"/>
          </a:xfrm>
          <a:prstGeom prst="roundRect">
            <a:avLst>
              <a:gd name="adj" fmla="val 16000"/>
            </a:avLst>
          </a:prstGeom>
          <a:solidFill>
            <a:schemeClr val="bg1"/>
          </a:solidFill>
          <a:ln w="15875">
            <a:solidFill>
              <a:schemeClr val="accent2"/>
            </a:solidFill>
            <a:prstDash val="solid"/>
          </a:ln>
        </p:spPr>
      </p:sp>
      <p:sp>
        <p:nvSpPr>
          <p:cNvPr id="25" name="tw-chip-1-3-text"/>
          <p:cNvSpPr txBox="1"/>
          <p:nvPr/>
        </p:nvSpPr>
        <p:spPr>
          <a:xfrm>
            <a:off x="9116568" y="3566160"/>
            <a:ext cx="2020824" cy="68580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тамұқ</a:t>
            </a:r>
            <a:endParaRPr lang="en-US" sz="1800" dirty="0"/>
          </a:p>
        </p:txBody>
      </p:sp>
      <p:sp>
        <p:nvSpPr>
          <p:cNvPr id="26" name="tw-d-1"/>
          <p:cNvSpPr txBox="1"/>
          <p:nvPr/>
        </p:nvSpPr>
        <p:spPr>
          <a:xfrm>
            <a:off x="6583680" y="4572000"/>
            <a:ext cx="4754880" cy="822960"/>
          </a:xfrm>
          <a:prstGeom prst="rect">
            <a:avLst/>
          </a:prstGeom>
          <a:noFill/>
          <a:ln/>
        </p:spPr>
        <p:txBody>
          <a:bodyPr wrap="square" lIns="0" tIns="0" rIns="0" bIns="0" rtlCol="0" anchor="t"/>
          <a:lstStyle/>
          <a:p>
            <a:pPr indent="0" marL="0">
              <a:buNone/>
            </a:pPr>
            <a:r>
              <a:rPr lang="en-US" sz="1500" i="1" dirty="0">
                <a:solidFill>
                  <a:schemeClr val="tx1"/>
                </a:solidFill>
              </a:rPr>
              <a:t>Бірақ үлкендердің ішінде білетіндер болды</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Болжамым ішінара расталды</a:t>
            </a:r>
            <a:endParaRPr lang="en-US" sz="3200" dirty="0"/>
          </a:p>
        </p:txBody>
      </p:sp>
      <p:sp>
        <p:nvSpPr>
          <p:cNvPr id="3" name="hyp-row-0"/>
          <p:cNvSpPr/>
          <p:nvPr/>
        </p:nvSpPr>
        <p:spPr>
          <a:xfrm>
            <a:off x="548640" y="1417320"/>
            <a:ext cx="11064240" cy="1234440"/>
          </a:xfrm>
          <a:prstGeom prst="roundRect">
            <a:avLst>
              <a:gd name="adj" fmla="val 8889"/>
            </a:avLst>
          </a:prstGeom>
          <a:solidFill>
            <a:srgbClr val="E3F2EA"/>
          </a:solidFill>
          <a:ln/>
        </p:spPr>
      </p:sp>
      <p:sp>
        <p:nvSpPr>
          <p:cNvPr id="4" name="hyp-mark-0-circle"/>
          <p:cNvSpPr/>
          <p:nvPr/>
        </p:nvSpPr>
        <p:spPr>
          <a:xfrm>
            <a:off x="822960" y="1691640"/>
            <a:ext cx="685800" cy="685800"/>
          </a:xfrm>
          <a:prstGeom prst="ellipse">
            <a:avLst/>
          </a:prstGeom>
          <a:solidFill>
            <a:schemeClr val="accent4"/>
          </a:solidFill>
          <a:ln/>
        </p:spPr>
      </p:sp>
      <p:pic>
        <p:nvPicPr>
          <p:cNvPr id="5" name="hyp-mark-0-icon" descr="preencoded.png">    </p:cNvPr>
          <p:cNvPicPr>
            <a:picLocks noChangeAspect="1"/>
          </p:cNvPicPr>
          <p:nvPr/>
        </p:nvPicPr>
        <p:blipFill>
          <a:blip r:embed="rId1"/>
          <a:stretch>
            <a:fillRect/>
          </a:stretch>
        </p:blipFill>
        <p:spPr>
          <a:xfrm>
            <a:off x="987552" y="1856232"/>
            <a:ext cx="356616" cy="356616"/>
          </a:xfrm>
          <a:prstGeom prst="rect">
            <a:avLst/>
          </a:prstGeom>
        </p:spPr>
      </p:pic>
      <p:sp>
        <p:nvSpPr>
          <p:cNvPr id="6" name="hyp-h-0"/>
          <p:cNvSpPr txBox="1"/>
          <p:nvPr/>
        </p:nvSpPr>
        <p:spPr>
          <a:xfrm>
            <a:off x="1783080" y="1417320"/>
            <a:ext cx="4572000" cy="1234440"/>
          </a:xfrm>
          <a:prstGeom prst="rect">
            <a:avLst/>
          </a:prstGeom>
          <a:noFill/>
          <a:ln/>
        </p:spPr>
        <p:txBody>
          <a:bodyPr wrap="square" lIns="0" tIns="0" rIns="0" bIns="0" rtlCol="0" anchor="ctr"/>
          <a:lstStyle/>
          <a:p>
            <a:pPr indent="0" marL="0">
              <a:buNone/>
            </a:pPr>
            <a:r>
              <a:rPr lang="en-US" sz="1700" b="1" dirty="0">
                <a:solidFill>
                  <a:schemeClr val="tx2"/>
                </a:solidFill>
              </a:rPr>
              <a:t>Қайта қолданысқа енген архаизмдер сөздікте белгіленбеген</a:t>
            </a:r>
            <a:endParaRPr lang="en-US" sz="1700" dirty="0"/>
          </a:p>
        </p:txBody>
      </p:sp>
      <p:sp>
        <p:nvSpPr>
          <p:cNvPr id="7" name="hyp-r-0"/>
          <p:cNvSpPr txBox="1"/>
          <p:nvPr/>
        </p:nvSpPr>
        <p:spPr>
          <a:xfrm>
            <a:off x="6492240" y="1417320"/>
            <a:ext cx="4937760" cy="1234440"/>
          </a:xfrm>
          <a:prstGeom prst="rect">
            <a:avLst/>
          </a:prstGeom>
          <a:noFill/>
          <a:ln/>
        </p:spPr>
        <p:txBody>
          <a:bodyPr wrap="square" lIns="0" tIns="0" rIns="0" bIns="0" rtlCol="0" anchor="ctr"/>
          <a:lstStyle/>
          <a:p>
            <a:pPr indent="0" marL="0">
              <a:buNone/>
            </a:pPr>
            <a:r>
              <a:rPr lang="en-US" sz="1500" dirty="0">
                <a:solidFill>
                  <a:schemeClr val="tx1"/>
                </a:solidFill>
              </a:rPr>
              <a:t>Расталды: 19 архаизмнің 13-інде белгі жоқ</a:t>
            </a:r>
            <a:endParaRPr lang="en-US" sz="1500" dirty="0"/>
          </a:p>
        </p:txBody>
      </p:sp>
      <p:sp>
        <p:nvSpPr>
          <p:cNvPr id="8" name="hyp-row-1"/>
          <p:cNvSpPr/>
          <p:nvPr/>
        </p:nvSpPr>
        <p:spPr>
          <a:xfrm>
            <a:off x="548640" y="2834640"/>
            <a:ext cx="11064240" cy="1234440"/>
          </a:xfrm>
          <a:prstGeom prst="roundRect">
            <a:avLst>
              <a:gd name="adj" fmla="val 8889"/>
            </a:avLst>
          </a:prstGeom>
          <a:solidFill>
            <a:srgbClr val="E3F2EA"/>
          </a:solidFill>
          <a:ln/>
        </p:spPr>
      </p:sp>
      <p:sp>
        <p:nvSpPr>
          <p:cNvPr id="9" name="hyp-mark-1-circle"/>
          <p:cNvSpPr/>
          <p:nvPr/>
        </p:nvSpPr>
        <p:spPr>
          <a:xfrm>
            <a:off x="822960" y="3108960"/>
            <a:ext cx="685800" cy="685800"/>
          </a:xfrm>
          <a:prstGeom prst="ellipse">
            <a:avLst/>
          </a:prstGeom>
          <a:solidFill>
            <a:schemeClr val="accent4"/>
          </a:solidFill>
          <a:ln/>
        </p:spPr>
      </p:sp>
      <p:pic>
        <p:nvPicPr>
          <p:cNvPr id="10" name="hyp-mark-1-icon" descr="preencoded.png">    </p:cNvPr>
          <p:cNvPicPr>
            <a:picLocks noChangeAspect="1"/>
          </p:cNvPicPr>
          <p:nvPr/>
        </p:nvPicPr>
        <p:blipFill>
          <a:blip r:embed="rId2"/>
          <a:stretch>
            <a:fillRect/>
          </a:stretch>
        </p:blipFill>
        <p:spPr>
          <a:xfrm>
            <a:off x="987552" y="3273552"/>
            <a:ext cx="356616" cy="356616"/>
          </a:xfrm>
          <a:prstGeom prst="rect">
            <a:avLst/>
          </a:prstGeom>
        </p:spPr>
      </p:pic>
      <p:sp>
        <p:nvSpPr>
          <p:cNvPr id="11" name="hyp-h-1"/>
          <p:cNvSpPr txBox="1"/>
          <p:nvPr/>
        </p:nvSpPr>
        <p:spPr>
          <a:xfrm>
            <a:off x="1783080" y="2834640"/>
            <a:ext cx="4572000" cy="1234440"/>
          </a:xfrm>
          <a:prstGeom prst="rect">
            <a:avLst/>
          </a:prstGeom>
          <a:noFill/>
          <a:ln/>
        </p:spPr>
        <p:txBody>
          <a:bodyPr wrap="square" lIns="0" tIns="0" rIns="0" bIns="0" rtlCol="0" anchor="ctr"/>
          <a:lstStyle/>
          <a:p>
            <a:pPr indent="0" marL="0">
              <a:buNone/>
            </a:pPr>
            <a:r>
              <a:rPr lang="en-US" sz="1700" b="1" dirty="0">
                <a:solidFill>
                  <a:schemeClr val="tx2"/>
                </a:solidFill>
              </a:rPr>
              <a:t>Тарихи сөздердің көбі «көн.» не «тар.» деп белгіленген</a:t>
            </a:r>
            <a:endParaRPr lang="en-US" sz="1700" dirty="0"/>
          </a:p>
        </p:txBody>
      </p:sp>
      <p:sp>
        <p:nvSpPr>
          <p:cNvPr id="12" name="hyp-r-1"/>
          <p:cNvSpPr txBox="1"/>
          <p:nvPr/>
        </p:nvSpPr>
        <p:spPr>
          <a:xfrm>
            <a:off x="6492240" y="2834640"/>
            <a:ext cx="4937760" cy="1234440"/>
          </a:xfrm>
          <a:prstGeom prst="rect">
            <a:avLst/>
          </a:prstGeom>
          <a:noFill/>
          <a:ln/>
        </p:spPr>
        <p:txBody>
          <a:bodyPr wrap="square" lIns="0" tIns="0" rIns="0" bIns="0" rtlCol="0" anchor="ctr"/>
          <a:lstStyle/>
          <a:p>
            <a:pPr indent="0" marL="0">
              <a:buNone/>
            </a:pPr>
            <a:r>
              <a:rPr lang="en-US" sz="1500" dirty="0">
                <a:solidFill>
                  <a:schemeClr val="tx1"/>
                </a:solidFill>
              </a:rPr>
              <a:t>Расталды: 17 тарихи сөздің 10-ы белгіленген</a:t>
            </a:r>
            <a:endParaRPr lang="en-US" sz="1500" dirty="0"/>
          </a:p>
        </p:txBody>
      </p:sp>
      <p:sp>
        <p:nvSpPr>
          <p:cNvPr id="13" name="hyp-row-2"/>
          <p:cNvSpPr/>
          <p:nvPr/>
        </p:nvSpPr>
        <p:spPr>
          <a:xfrm>
            <a:off x="548640" y="4251960"/>
            <a:ext cx="11064240" cy="1234440"/>
          </a:xfrm>
          <a:prstGeom prst="roundRect">
            <a:avLst>
              <a:gd name="adj" fmla="val 8889"/>
            </a:avLst>
          </a:prstGeom>
          <a:solidFill>
            <a:srgbClr val="FBF0DA"/>
          </a:solidFill>
          <a:ln/>
        </p:spPr>
      </p:sp>
      <p:sp>
        <p:nvSpPr>
          <p:cNvPr id="14" name="hyp-mark-2-circle"/>
          <p:cNvSpPr/>
          <p:nvPr/>
        </p:nvSpPr>
        <p:spPr>
          <a:xfrm>
            <a:off x="822960" y="4526280"/>
            <a:ext cx="685800" cy="685800"/>
          </a:xfrm>
          <a:prstGeom prst="ellipse">
            <a:avLst/>
          </a:prstGeom>
          <a:solidFill>
            <a:schemeClr val="accent2"/>
          </a:solidFill>
          <a:ln/>
        </p:spPr>
      </p:sp>
      <p:pic>
        <p:nvPicPr>
          <p:cNvPr id="15" name="hyp-mark-2-icon" descr="preencoded.png">    </p:cNvPr>
          <p:cNvPicPr>
            <a:picLocks noChangeAspect="1"/>
          </p:cNvPicPr>
          <p:nvPr/>
        </p:nvPicPr>
        <p:blipFill>
          <a:blip r:embed="rId3"/>
          <a:stretch>
            <a:fillRect/>
          </a:stretch>
        </p:blipFill>
        <p:spPr>
          <a:xfrm>
            <a:off x="987552" y="4690872"/>
            <a:ext cx="356616" cy="356616"/>
          </a:xfrm>
          <a:prstGeom prst="rect">
            <a:avLst/>
          </a:prstGeom>
        </p:spPr>
      </p:pic>
      <p:sp>
        <p:nvSpPr>
          <p:cNvPr id="16" name="hyp-h-2"/>
          <p:cNvSpPr txBox="1"/>
          <p:nvPr/>
        </p:nvSpPr>
        <p:spPr>
          <a:xfrm>
            <a:off x="1783080" y="4251960"/>
            <a:ext cx="4572000" cy="1234440"/>
          </a:xfrm>
          <a:prstGeom prst="rect">
            <a:avLst/>
          </a:prstGeom>
          <a:noFill/>
          <a:ln/>
        </p:spPr>
        <p:txBody>
          <a:bodyPr wrap="square" lIns="0" tIns="0" rIns="0" bIns="0" rtlCol="0" anchor="ctr"/>
          <a:lstStyle/>
          <a:p>
            <a:pPr indent="0" marL="0">
              <a:buNone/>
            </a:pPr>
            <a:r>
              <a:rPr lang="en-US" sz="1700" b="1" dirty="0">
                <a:solidFill>
                  <a:schemeClr val="tx2"/>
                </a:solidFill>
              </a:rPr>
              <a:t>Ата-әжелер ең жақсы, оқушылар ең нашар біледі</a:t>
            </a:r>
            <a:endParaRPr lang="en-US" sz="1700" dirty="0"/>
          </a:p>
        </p:txBody>
      </p:sp>
      <p:sp>
        <p:nvSpPr>
          <p:cNvPr id="17" name="hyp-r-2"/>
          <p:cNvSpPr txBox="1"/>
          <p:nvPr/>
        </p:nvSpPr>
        <p:spPr>
          <a:xfrm>
            <a:off x="6492240" y="4251960"/>
            <a:ext cx="4937760" cy="1234440"/>
          </a:xfrm>
          <a:prstGeom prst="rect">
            <a:avLst/>
          </a:prstGeom>
          <a:noFill/>
          <a:ln/>
        </p:spPr>
        <p:txBody>
          <a:bodyPr wrap="square" lIns="0" tIns="0" rIns="0" bIns="0" rtlCol="0" anchor="ctr"/>
          <a:lstStyle/>
          <a:p>
            <a:pPr indent="0" marL="0">
              <a:buNone/>
            </a:pPr>
            <a:r>
              <a:rPr lang="en-US" sz="1500" dirty="0">
                <a:solidFill>
                  <a:schemeClr val="tx1"/>
                </a:solidFill>
              </a:rPr>
              <a:t>Ішінара: оқушылар ең төмен (44,4%), бірақ ата-әже (58,3%) ата-анадан (75%) төмен</a:t>
            </a:r>
            <a:endParaRPr lang="en-US" sz="1500" dirty="0"/>
          </a:p>
        </p:txBody>
      </p:sp>
      <p:sp>
        <p:nvSpPr>
          <p:cNvPr id="18" name="hyp-note"/>
          <p:cNvSpPr txBox="1"/>
          <p:nvPr/>
        </p:nvSpPr>
        <p:spPr>
          <a:xfrm>
            <a:off x="548640" y="5760720"/>
            <a:ext cx="11064240" cy="365760"/>
          </a:xfrm>
          <a:prstGeom prst="rect">
            <a:avLst/>
          </a:prstGeom>
          <a:noFill/>
          <a:ln/>
        </p:spPr>
        <p:txBody>
          <a:bodyPr wrap="square" lIns="0" tIns="0" rIns="0" bIns="0" rtlCol="0" anchor="ctr"/>
          <a:lstStyle/>
          <a:p>
            <a:pPr indent="0" marL="0">
              <a:buNone/>
            </a:pPr>
            <a:r>
              <a:rPr lang="en-US" sz="1400" i="1" dirty="0">
                <a:solidFill>
                  <a:schemeClr val="accent5"/>
                </a:solidFill>
              </a:rPr>
              <a:t>Үшінші бөлік – алдын ала тест нәтижесі: ата-ана мен ата-әжеден аз адам қатысты</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Өнім: «Көне сөз – жаңа тыныс» мини-сөздігі</a:t>
            </a:r>
            <a:endParaRPr lang="en-US" sz="3200" dirty="0"/>
          </a:p>
        </p:txBody>
      </p:sp>
      <p:pic>
        <p:nvPicPr>
          <p:cNvPr id="3" name="pasport-image" descr="/home/user/jjjjj/Zerde_Konergen_sozder/source/figs/pasport.png">    </p:cNvPr>
          <p:cNvPicPr>
            <a:picLocks noChangeAspect="1"/>
          </p:cNvPicPr>
          <p:nvPr/>
        </p:nvPicPr>
        <p:blipFill>
          <a:blip r:embed="rId1"/>
          <a:stretch>
            <a:fillRect/>
          </a:stretch>
        </p:blipFill>
        <p:spPr>
          <a:xfrm>
            <a:off x="548640" y="1371600"/>
            <a:ext cx="6400800" cy="4050506"/>
          </a:xfrm>
          <a:prstGeom prst="rect">
            <a:avLst/>
          </a:prstGeom>
        </p:spPr>
      </p:pic>
      <p:sp>
        <p:nvSpPr>
          <p:cNvPr id="4" name="use-0-circle"/>
          <p:cNvSpPr/>
          <p:nvPr/>
        </p:nvSpPr>
        <p:spPr>
          <a:xfrm>
            <a:off x="7406640" y="1508760"/>
            <a:ext cx="731520" cy="731520"/>
          </a:xfrm>
          <a:prstGeom prst="ellipse">
            <a:avLst/>
          </a:prstGeom>
          <a:solidFill>
            <a:schemeClr val="accent1"/>
          </a:solidFill>
          <a:ln/>
        </p:spPr>
      </p:sp>
      <p:pic>
        <p:nvPicPr>
          <p:cNvPr id="5" name="use-0-icon" descr="preencoded.png">    </p:cNvPr>
          <p:cNvPicPr>
            <a:picLocks noChangeAspect="1"/>
          </p:cNvPicPr>
          <p:nvPr/>
        </p:nvPicPr>
        <p:blipFill>
          <a:blip r:embed="rId2"/>
          <a:stretch>
            <a:fillRect/>
          </a:stretch>
        </p:blipFill>
        <p:spPr>
          <a:xfrm>
            <a:off x="7582205" y="1684325"/>
            <a:ext cx="380390" cy="380390"/>
          </a:xfrm>
          <a:prstGeom prst="rect">
            <a:avLst/>
          </a:prstGeom>
        </p:spPr>
      </p:pic>
      <p:sp>
        <p:nvSpPr>
          <p:cNvPr id="6" name="use-title-0"/>
          <p:cNvSpPr txBox="1"/>
          <p:nvPr/>
        </p:nvSpPr>
        <p:spPr>
          <a:xfrm>
            <a:off x="8321040" y="1417320"/>
            <a:ext cx="3291840" cy="502920"/>
          </a:xfrm>
          <a:prstGeom prst="rect">
            <a:avLst/>
          </a:prstGeom>
          <a:noFill/>
          <a:ln/>
        </p:spPr>
        <p:txBody>
          <a:bodyPr wrap="square" lIns="0" tIns="0" rIns="0" bIns="0" rtlCol="0" anchor="ctr"/>
          <a:lstStyle/>
          <a:p>
            <a:pPr indent="0" marL="0">
              <a:buNone/>
            </a:pPr>
            <a:r>
              <a:rPr lang="en-US" sz="1800" b="1" dirty="0">
                <a:solidFill>
                  <a:schemeClr val="tx2"/>
                </a:solidFill>
              </a:rPr>
              <a:t>Қазақ тілі сабағында</a:t>
            </a:r>
            <a:endParaRPr lang="en-US" sz="1800" dirty="0"/>
          </a:p>
        </p:txBody>
      </p:sp>
      <p:sp>
        <p:nvSpPr>
          <p:cNvPr id="7" name="use-text-0"/>
          <p:cNvSpPr txBox="1"/>
          <p:nvPr/>
        </p:nvSpPr>
        <p:spPr>
          <a:xfrm>
            <a:off x="8321040" y="1920240"/>
            <a:ext cx="3291840" cy="822960"/>
          </a:xfrm>
          <a:prstGeom prst="rect">
            <a:avLst/>
          </a:prstGeom>
          <a:noFill/>
          <a:ln/>
        </p:spPr>
        <p:txBody>
          <a:bodyPr wrap="square" lIns="0" tIns="0" rIns="0" bIns="0" rtlCol="0" anchor="t"/>
          <a:lstStyle/>
          <a:p>
            <a:pPr indent="0" marL="0">
              <a:buNone/>
            </a:pPr>
            <a:r>
              <a:rPr lang="en-US" sz="1500" dirty="0">
                <a:solidFill>
                  <a:schemeClr val="tx1"/>
                </a:solidFill>
              </a:rPr>
              <a:t>«Көнерген сөздер» тақырыбын өткенде</a:t>
            </a:r>
            <a:endParaRPr lang="en-US" sz="1500" dirty="0"/>
          </a:p>
        </p:txBody>
      </p:sp>
      <p:sp>
        <p:nvSpPr>
          <p:cNvPr id="8" name="use-1-circle"/>
          <p:cNvSpPr/>
          <p:nvPr/>
        </p:nvSpPr>
        <p:spPr>
          <a:xfrm>
            <a:off x="7406640" y="3108960"/>
            <a:ext cx="731520" cy="731520"/>
          </a:xfrm>
          <a:prstGeom prst="ellipse">
            <a:avLst/>
          </a:prstGeom>
          <a:solidFill>
            <a:schemeClr val="accent2"/>
          </a:solidFill>
          <a:ln/>
        </p:spPr>
      </p:sp>
      <p:pic>
        <p:nvPicPr>
          <p:cNvPr id="9" name="use-1-icon" descr="preencoded.png">    </p:cNvPr>
          <p:cNvPicPr>
            <a:picLocks noChangeAspect="1"/>
          </p:cNvPicPr>
          <p:nvPr/>
        </p:nvPicPr>
        <p:blipFill>
          <a:blip r:embed="rId3"/>
          <a:stretch>
            <a:fillRect/>
          </a:stretch>
        </p:blipFill>
        <p:spPr>
          <a:xfrm>
            <a:off x="7582205" y="3284525"/>
            <a:ext cx="380390" cy="380390"/>
          </a:xfrm>
          <a:prstGeom prst="rect">
            <a:avLst/>
          </a:prstGeom>
        </p:spPr>
      </p:pic>
      <p:sp>
        <p:nvSpPr>
          <p:cNvPr id="10" name="use-title-1"/>
          <p:cNvSpPr txBox="1"/>
          <p:nvPr/>
        </p:nvSpPr>
        <p:spPr>
          <a:xfrm>
            <a:off x="8321040" y="3017520"/>
            <a:ext cx="3291840" cy="502920"/>
          </a:xfrm>
          <a:prstGeom prst="rect">
            <a:avLst/>
          </a:prstGeom>
          <a:noFill/>
          <a:ln/>
        </p:spPr>
        <p:txBody>
          <a:bodyPr wrap="square" lIns="0" tIns="0" rIns="0" bIns="0" rtlCol="0" anchor="ctr"/>
          <a:lstStyle/>
          <a:p>
            <a:pPr indent="0" marL="0">
              <a:buNone/>
            </a:pPr>
            <a:r>
              <a:rPr lang="en-US" sz="1800" b="1" dirty="0">
                <a:solidFill>
                  <a:schemeClr val="tx2"/>
                </a:solidFill>
              </a:rPr>
              <a:t>Әдебиет сабағында</a:t>
            </a:r>
            <a:endParaRPr lang="en-US" sz="1800" dirty="0"/>
          </a:p>
        </p:txBody>
      </p:sp>
      <p:sp>
        <p:nvSpPr>
          <p:cNvPr id="11" name="use-text-1"/>
          <p:cNvSpPr txBox="1"/>
          <p:nvPr/>
        </p:nvSpPr>
        <p:spPr>
          <a:xfrm>
            <a:off x="8321040" y="3520440"/>
            <a:ext cx="3291840" cy="822960"/>
          </a:xfrm>
          <a:prstGeom prst="rect">
            <a:avLst/>
          </a:prstGeom>
          <a:noFill/>
          <a:ln/>
        </p:spPr>
        <p:txBody>
          <a:bodyPr wrap="square" lIns="0" tIns="0" rIns="0" bIns="0" rtlCol="0" anchor="t"/>
          <a:lstStyle/>
          <a:p>
            <a:pPr indent="0" marL="0">
              <a:buNone/>
            </a:pPr>
            <a:r>
              <a:rPr lang="en-US" sz="1500" dirty="0">
                <a:solidFill>
                  <a:schemeClr val="tx1"/>
                </a:solidFill>
              </a:rPr>
              <a:t>Батырлар жыры мен тарихи шығармаларды оқығанда</a:t>
            </a:r>
            <a:endParaRPr lang="en-US" sz="1500" dirty="0"/>
          </a:p>
        </p:txBody>
      </p:sp>
      <p:sp>
        <p:nvSpPr>
          <p:cNvPr id="12" name="use-2-circle"/>
          <p:cNvSpPr/>
          <p:nvPr/>
        </p:nvSpPr>
        <p:spPr>
          <a:xfrm>
            <a:off x="7406640" y="4709160"/>
            <a:ext cx="731520" cy="731520"/>
          </a:xfrm>
          <a:prstGeom prst="ellipse">
            <a:avLst/>
          </a:prstGeom>
          <a:solidFill>
            <a:schemeClr val="accent3"/>
          </a:solidFill>
          <a:ln/>
        </p:spPr>
      </p:sp>
      <p:pic>
        <p:nvPicPr>
          <p:cNvPr id="13" name="use-2-icon" descr="preencoded.png">    </p:cNvPr>
          <p:cNvPicPr>
            <a:picLocks noChangeAspect="1"/>
          </p:cNvPicPr>
          <p:nvPr/>
        </p:nvPicPr>
        <p:blipFill>
          <a:blip r:embed="rId4"/>
          <a:stretch>
            <a:fillRect/>
          </a:stretch>
        </p:blipFill>
        <p:spPr>
          <a:xfrm>
            <a:off x="7582205" y="4884725"/>
            <a:ext cx="380390" cy="380390"/>
          </a:xfrm>
          <a:prstGeom prst="rect">
            <a:avLst/>
          </a:prstGeom>
        </p:spPr>
      </p:pic>
      <p:sp>
        <p:nvSpPr>
          <p:cNvPr id="14" name="use-title-2"/>
          <p:cNvSpPr txBox="1"/>
          <p:nvPr/>
        </p:nvSpPr>
        <p:spPr>
          <a:xfrm>
            <a:off x="8321040" y="4617720"/>
            <a:ext cx="3291840" cy="502920"/>
          </a:xfrm>
          <a:prstGeom prst="rect">
            <a:avLst/>
          </a:prstGeom>
          <a:noFill/>
          <a:ln/>
        </p:spPr>
        <p:txBody>
          <a:bodyPr wrap="square" lIns="0" tIns="0" rIns="0" bIns="0" rtlCol="0" anchor="ctr"/>
          <a:lstStyle/>
          <a:p>
            <a:pPr indent="0" marL="0">
              <a:buNone/>
            </a:pPr>
            <a:r>
              <a:rPr lang="en-US" sz="1800" b="1" dirty="0">
                <a:solidFill>
                  <a:schemeClr val="tx2"/>
                </a:solidFill>
              </a:rPr>
              <a:t>Атау таңдағанда</a:t>
            </a:r>
            <a:endParaRPr lang="en-US" sz="1800" dirty="0"/>
          </a:p>
        </p:txBody>
      </p:sp>
      <p:sp>
        <p:nvSpPr>
          <p:cNvPr id="15" name="use-text-2"/>
          <p:cNvSpPr txBox="1"/>
          <p:nvPr/>
        </p:nvSpPr>
        <p:spPr>
          <a:xfrm>
            <a:off x="8321040" y="5120640"/>
            <a:ext cx="3291840" cy="822960"/>
          </a:xfrm>
          <a:prstGeom prst="rect">
            <a:avLst/>
          </a:prstGeom>
          <a:noFill/>
          <a:ln/>
        </p:spPr>
        <p:txBody>
          <a:bodyPr wrap="square" lIns="0" tIns="0" rIns="0" bIns="0" rtlCol="0" anchor="t"/>
          <a:lstStyle/>
          <a:p>
            <a:pPr indent="0" marL="0">
              <a:buNone/>
            </a:pPr>
            <a:r>
              <a:rPr lang="en-US" sz="1500" dirty="0">
                <a:solidFill>
                  <a:schemeClr val="tx1"/>
                </a:solidFill>
              </a:rPr>
              <a:t>Дүкенге, жобаға, командаға ұлттық атау іздегенде</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Қорытынды</a:t>
            </a:r>
            <a:endParaRPr lang="en-US" sz="3200" dirty="0"/>
          </a:p>
        </p:txBody>
      </p:sp>
      <p:sp>
        <p:nvSpPr>
          <p:cNvPr id="3" name="concl-num-bg-0"/>
          <p:cNvSpPr/>
          <p:nvPr/>
        </p:nvSpPr>
        <p:spPr>
          <a:xfrm>
            <a:off x="548640" y="1490472"/>
            <a:ext cx="566928" cy="566928"/>
          </a:xfrm>
          <a:prstGeom prst="ellipse">
            <a:avLst/>
          </a:prstGeom>
          <a:solidFill>
            <a:schemeClr val="accent1"/>
          </a:solidFill>
          <a:ln/>
        </p:spPr>
      </p:sp>
      <p:sp>
        <p:nvSpPr>
          <p:cNvPr id="4" name="concl-num-0"/>
          <p:cNvSpPr txBox="1"/>
          <p:nvPr/>
        </p:nvSpPr>
        <p:spPr>
          <a:xfrm>
            <a:off x="548640" y="1490472"/>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concl-text-0"/>
          <p:cNvSpPr txBox="1"/>
          <p:nvPr/>
        </p:nvSpPr>
        <p:spPr>
          <a:xfrm>
            <a:off x="1371600" y="1417320"/>
            <a:ext cx="10241280" cy="731520"/>
          </a:xfrm>
          <a:prstGeom prst="rect">
            <a:avLst/>
          </a:prstGeom>
          <a:noFill/>
          <a:ln/>
        </p:spPr>
        <p:txBody>
          <a:bodyPr wrap="square" lIns="0" tIns="0" rIns="0" bIns="0" rtlCol="0" anchor="ctr"/>
          <a:lstStyle/>
          <a:p>
            <a:pPr indent="0" marL="0">
              <a:buNone/>
            </a:pPr>
            <a:r>
              <a:rPr lang="en-US" sz="1800" dirty="0">
                <a:solidFill>
                  <a:schemeClr val="tx1"/>
                </a:solidFill>
              </a:rPr>
              <a:t>Сөздікте 36 көне сөздің 19-ында белгі жоқ: қайта жанданған архаизмдер жалпы сөз ретінде берілген</a:t>
            </a:r>
            <a:endParaRPr lang="en-US" sz="1800" dirty="0"/>
          </a:p>
        </p:txBody>
      </p:sp>
      <p:sp>
        <p:nvSpPr>
          <p:cNvPr id="6" name="concl-num-bg-1"/>
          <p:cNvSpPr/>
          <p:nvPr/>
        </p:nvSpPr>
        <p:spPr>
          <a:xfrm>
            <a:off x="548640" y="2423160"/>
            <a:ext cx="566928" cy="566928"/>
          </a:xfrm>
          <a:prstGeom prst="ellipse">
            <a:avLst/>
          </a:prstGeom>
          <a:solidFill>
            <a:schemeClr val="accent1"/>
          </a:solidFill>
          <a:ln/>
        </p:spPr>
      </p:sp>
      <p:sp>
        <p:nvSpPr>
          <p:cNvPr id="7" name="concl-num-1"/>
          <p:cNvSpPr txBox="1"/>
          <p:nvPr/>
        </p:nvSpPr>
        <p:spPr>
          <a:xfrm>
            <a:off x="548640" y="24231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concl-text-1"/>
          <p:cNvSpPr txBox="1"/>
          <p:nvPr/>
        </p:nvSpPr>
        <p:spPr>
          <a:xfrm>
            <a:off x="1371600" y="2350008"/>
            <a:ext cx="10241280" cy="731520"/>
          </a:xfrm>
          <a:prstGeom prst="rect">
            <a:avLst/>
          </a:prstGeom>
          <a:noFill/>
          <a:ln/>
        </p:spPr>
        <p:txBody>
          <a:bodyPr wrap="square" lIns="0" tIns="0" rIns="0" bIns="0" rtlCol="0" anchor="ctr"/>
          <a:lstStyle/>
          <a:p>
            <a:pPr indent="0" marL="0">
              <a:buNone/>
            </a:pPr>
            <a:r>
              <a:rPr lang="en-US" sz="1800" dirty="0">
                <a:solidFill>
                  <a:schemeClr val="tx1"/>
                </a:solidFill>
              </a:rPr>
              <a:t>Сөздік тілден артта қалады: «жарлық», «құрылтай» тек ескі мағынасымен берілген</a:t>
            </a:r>
            <a:endParaRPr lang="en-US" sz="1800" dirty="0"/>
          </a:p>
        </p:txBody>
      </p:sp>
      <p:sp>
        <p:nvSpPr>
          <p:cNvPr id="9" name="concl-num-bg-2"/>
          <p:cNvSpPr/>
          <p:nvPr/>
        </p:nvSpPr>
        <p:spPr>
          <a:xfrm>
            <a:off x="548640" y="3355848"/>
            <a:ext cx="566928" cy="566928"/>
          </a:xfrm>
          <a:prstGeom prst="ellipse">
            <a:avLst/>
          </a:prstGeom>
          <a:solidFill>
            <a:schemeClr val="accent1"/>
          </a:solidFill>
          <a:ln/>
        </p:spPr>
      </p:sp>
      <p:sp>
        <p:nvSpPr>
          <p:cNvPr id="10" name="concl-num-2"/>
          <p:cNvSpPr txBox="1"/>
          <p:nvPr/>
        </p:nvSpPr>
        <p:spPr>
          <a:xfrm>
            <a:off x="548640" y="3355848"/>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1" name="concl-text-2"/>
          <p:cNvSpPr txBox="1"/>
          <p:nvPr/>
        </p:nvSpPr>
        <p:spPr>
          <a:xfrm>
            <a:off x="1371600" y="3282696"/>
            <a:ext cx="10241280" cy="731520"/>
          </a:xfrm>
          <a:prstGeom prst="rect">
            <a:avLst/>
          </a:prstGeom>
          <a:noFill/>
          <a:ln/>
        </p:spPr>
        <p:txBody>
          <a:bodyPr wrap="square" lIns="0" tIns="0" rIns="0" bIns="0" rtlCol="0" anchor="ctr"/>
          <a:lstStyle/>
          <a:p>
            <a:pPr indent="0" marL="0">
              <a:buNone/>
            </a:pPr>
            <a:r>
              <a:rPr lang="en-US" sz="1800" dirty="0">
                <a:solidFill>
                  <a:schemeClr val="tx1"/>
                </a:solidFill>
              </a:rPr>
              <a:t>Әскери тарихи сөздер газетте әлі бар; «дулыға» спорт турнирінің атауына айналған</a:t>
            </a:r>
            <a:endParaRPr lang="en-US" sz="1800" dirty="0"/>
          </a:p>
        </p:txBody>
      </p:sp>
      <p:sp>
        <p:nvSpPr>
          <p:cNvPr id="12" name="concl-num-bg-3"/>
          <p:cNvSpPr/>
          <p:nvPr/>
        </p:nvSpPr>
        <p:spPr>
          <a:xfrm>
            <a:off x="548640" y="4288536"/>
            <a:ext cx="566928" cy="566928"/>
          </a:xfrm>
          <a:prstGeom prst="ellipse">
            <a:avLst/>
          </a:prstGeom>
          <a:solidFill>
            <a:schemeClr val="accent1"/>
          </a:solidFill>
          <a:ln/>
        </p:spPr>
      </p:sp>
      <p:sp>
        <p:nvSpPr>
          <p:cNvPr id="13" name="concl-num-3"/>
          <p:cNvSpPr txBox="1"/>
          <p:nvPr/>
        </p:nvSpPr>
        <p:spPr>
          <a:xfrm>
            <a:off x="548640" y="4288536"/>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4" name="concl-text-3"/>
          <p:cNvSpPr txBox="1"/>
          <p:nvPr/>
        </p:nvSpPr>
        <p:spPr>
          <a:xfrm>
            <a:off x="1371600" y="4215384"/>
            <a:ext cx="10241280" cy="731520"/>
          </a:xfrm>
          <a:prstGeom prst="rect">
            <a:avLst/>
          </a:prstGeom>
          <a:noFill/>
          <a:ln/>
        </p:spPr>
        <p:txBody>
          <a:bodyPr wrap="square" lIns="0" tIns="0" rIns="0" bIns="0" rtlCol="0" anchor="ctr"/>
          <a:lstStyle/>
          <a:p>
            <a:pPr indent="0" marL="0">
              <a:buNone/>
            </a:pPr>
            <a:r>
              <a:rPr lang="en-US" sz="1800" dirty="0">
                <a:solidFill>
                  <a:schemeClr val="tx1"/>
                </a:solidFill>
              </a:rPr>
              <a:t>Оқушылар көне сөздердің 44,4%-ын ғана біледі, үлкендер әлдеқайда жақсы біледі</a:t>
            </a:r>
            <a:endParaRPr lang="en-US" sz="1800" dirty="0"/>
          </a:p>
        </p:txBody>
      </p:sp>
      <p:sp>
        <p:nvSpPr>
          <p:cNvPr id="15" name="limits"/>
          <p:cNvSpPr/>
          <p:nvPr/>
        </p:nvSpPr>
        <p:spPr>
          <a:xfrm>
            <a:off x="548640" y="5257800"/>
            <a:ext cx="5349240" cy="868680"/>
          </a:xfrm>
          <a:prstGeom prst="roundRect">
            <a:avLst>
              <a:gd name="adj" fmla="val 12632"/>
            </a:avLst>
          </a:prstGeom>
          <a:solidFill>
            <a:schemeClr val="bg2"/>
          </a:solidFill>
          <a:ln/>
        </p:spPr>
      </p:sp>
      <p:sp>
        <p:nvSpPr>
          <p:cNvPr id="16" name="limits-text"/>
          <p:cNvSpPr txBox="1"/>
          <p:nvPr/>
        </p:nvSpPr>
        <p:spPr>
          <a:xfrm>
            <a:off x="777240" y="5257800"/>
            <a:ext cx="4937760" cy="868680"/>
          </a:xfrm>
          <a:prstGeom prst="rect">
            <a:avLst/>
          </a:prstGeom>
          <a:noFill/>
          <a:ln/>
        </p:spPr>
        <p:txBody>
          <a:bodyPr wrap="square" lIns="0" tIns="0" rIns="0" bIns="0" rtlCol="0" anchor="ctr"/>
          <a:lstStyle/>
          <a:p>
            <a:pPr indent="0" marL="0">
              <a:buNone/>
            </a:pPr>
            <a:r>
              <a:rPr lang="en-US" sz="1500" b="1" dirty="0">
                <a:solidFill>
                  <a:schemeClr val="tx2"/>
                </a:solidFill>
              </a:rPr>
              <a:t>Шектеулер: </a:t>
            </a:r>
            <a:pPr indent="0" marL="0">
              <a:buNone/>
            </a:pPr>
            <a:r>
              <a:rPr lang="en-US" sz="1500" dirty="0">
                <a:solidFill>
                  <a:schemeClr val="tx1"/>
                </a:solidFill>
              </a:rPr>
              <a:t>баспасөзде 4 сөз, тестте 7 адам</a:t>
            </a:r>
            <a:endParaRPr lang="en-US" sz="1500" dirty="0"/>
          </a:p>
        </p:txBody>
      </p:sp>
      <p:sp>
        <p:nvSpPr>
          <p:cNvPr id="17" name="next"/>
          <p:cNvSpPr/>
          <p:nvPr/>
        </p:nvSpPr>
        <p:spPr>
          <a:xfrm>
            <a:off x="6263640" y="5257800"/>
            <a:ext cx="5349240" cy="868680"/>
          </a:xfrm>
          <a:prstGeom prst="roundRect">
            <a:avLst>
              <a:gd name="adj" fmla="val 12632"/>
            </a:avLst>
          </a:prstGeom>
          <a:solidFill>
            <a:schemeClr val="bg2"/>
          </a:solidFill>
          <a:ln/>
        </p:spPr>
      </p:sp>
      <p:sp>
        <p:nvSpPr>
          <p:cNvPr id="18" name="next-text"/>
          <p:cNvSpPr txBox="1"/>
          <p:nvPr/>
        </p:nvSpPr>
        <p:spPr>
          <a:xfrm>
            <a:off x="6492240" y="5257800"/>
            <a:ext cx="4937760" cy="868680"/>
          </a:xfrm>
          <a:prstGeom prst="rect">
            <a:avLst/>
          </a:prstGeom>
          <a:noFill/>
          <a:ln/>
        </p:spPr>
        <p:txBody>
          <a:bodyPr wrap="square" lIns="0" tIns="0" rIns="0" bIns="0" rtlCol="0" anchor="ctr"/>
          <a:lstStyle/>
          <a:p>
            <a:pPr indent="0" marL="0">
              <a:buNone/>
            </a:pPr>
            <a:r>
              <a:rPr lang="en-US" sz="1500" b="1" dirty="0">
                <a:solidFill>
                  <a:schemeClr val="tx2"/>
                </a:solidFill>
              </a:rPr>
              <a:t>Келешекте: </a:t>
            </a:r>
            <a:pPr indent="0" marL="0">
              <a:buNone/>
            </a:pPr>
            <a:r>
              <a:rPr lang="en-US" sz="1500" dirty="0">
                <a:solidFill>
                  <a:schemeClr val="tx1"/>
                </a:solidFill>
              </a:rPr>
              <a:t>барлық сөзге мониторинг, көбірек қатысушы</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6675120" cy="2468880"/>
          </a:xfrm>
          <a:prstGeom prst="rect">
            <a:avLst/>
          </a:prstGeom>
          <a:noFill/>
          <a:ln/>
        </p:spPr>
        <p:txBody>
          <a:bodyPr wrap="square" lIns="0" tIns="0" rIns="0" bIns="0" rtlCol="0" anchor="t"/>
          <a:lstStyle/>
          <a:p>
            <a:pPr algn="l" indent="0" marL="0">
              <a:buNone/>
            </a:pPr>
            <a:r>
              <a:rPr lang="en-US" sz="4000" b="1" dirty="0">
                <a:solidFill>
                  <a:schemeClr val="bg1"/>
                </a:solidFill>
              </a:rPr>
              <a:t>Көне сөз өлмейді – ол жаңа орын табады</a:t>
            </a:r>
            <a:endParaRPr lang="en-US" sz="4000" dirty="0"/>
          </a:p>
        </p:txBody>
      </p:sp>
      <p:sp>
        <p:nvSpPr>
          <p:cNvPr id="3" name="Text 0"/>
          <p:cNvSpPr/>
          <p:nvPr>
            <p:ph idx="101" type="body" hasCustomPrompt="1"/>
          </p:nvPr>
        </p:nvSpPr>
        <p:spPr>
          <a:xfrm>
            <a:off x="731520" y="4023360"/>
            <a:ext cx="6675120" cy="822960"/>
          </a:xfrm>
          <a:prstGeom prst="rect">
            <a:avLst/>
          </a:prstGeom>
          <a:noFill/>
          <a:ln/>
        </p:spPr>
        <p:txBody>
          <a:bodyPr wrap="square" lIns="0" tIns="0" rIns="0" bIns="0" rtlCol="0" anchor="t"/>
          <a:lstStyle/>
          <a:p>
            <a:pPr algn="l" indent="0" marL="0">
              <a:buNone/>
            </a:pPr>
            <a:r>
              <a:rPr lang="en-US" sz="1800" i="1" dirty="0">
                <a:solidFill>
                  <a:schemeClr val="accent2"/>
                </a:solidFill>
              </a:rPr>
              <a:t>Назарларыңызға рахмет! Сұрақтарыңызға жауап беруге дайынмын</a:t>
            </a:r>
            <a:endParaRPr lang="en-US" sz="1800" dirty="0"/>
          </a:p>
        </p:txBody>
      </p:sp>
      <p:sp>
        <p:nvSpPr>
          <p:cNvPr id="4" name="end-stat-0"/>
          <p:cNvSpPr/>
          <p:nvPr/>
        </p:nvSpPr>
        <p:spPr>
          <a:xfrm>
            <a:off x="8138160" y="1463040"/>
            <a:ext cx="3383280" cy="1143000"/>
          </a:xfrm>
          <a:prstGeom prst="roundRect">
            <a:avLst>
              <a:gd name="adj" fmla="val 9600"/>
            </a:avLst>
          </a:prstGeom>
          <a:solidFill>
            <a:schemeClr val="bg1"/>
          </a:solidFill>
          <a:ln/>
        </p:spPr>
      </p:sp>
      <p:sp>
        <p:nvSpPr>
          <p:cNvPr id="5" name="end-stat-text-0"/>
          <p:cNvSpPr txBox="1"/>
          <p:nvPr/>
        </p:nvSpPr>
        <p:spPr>
          <a:xfrm>
            <a:off x="8412480" y="1463040"/>
            <a:ext cx="2926080" cy="1143000"/>
          </a:xfrm>
          <a:prstGeom prst="rect">
            <a:avLst/>
          </a:prstGeom>
          <a:noFill/>
          <a:ln/>
        </p:spPr>
        <p:txBody>
          <a:bodyPr wrap="square" lIns="0" tIns="0" rIns="0" bIns="0" rtlCol="0" anchor="ctr"/>
          <a:lstStyle/>
          <a:p>
            <a:pPr indent="0" marL="0">
              <a:buNone/>
            </a:pPr>
            <a:r>
              <a:rPr lang="en-US" sz="3000" b="1" dirty="0">
                <a:solidFill>
                  <a:srgbClr val="3A2E5C"/>
                </a:solidFill>
                <a:latin typeface="Cambria" pitchFamily="34" charset="0"/>
                <a:ea typeface="Cambria" pitchFamily="34" charset="-122"/>
                <a:cs typeface="Cambria" pitchFamily="34" charset="-120"/>
              </a:rPr>
              <a:t>36</a:t>
            </a:r>
            <a:endParaRPr lang="en-US" sz="3000" dirty="0"/>
          </a:p>
          <a:p>
            <a:pPr indent="0" marL="0">
              <a:buNone/>
            </a:pPr>
            <a:r>
              <a:rPr lang="en-US" sz="1400" dirty="0">
                <a:solidFill>
                  <a:srgbClr val="5F5B6E"/>
                </a:solidFill>
              </a:rPr>
              <a:t>Сөз</a:t>
            </a:r>
            <a:endParaRPr lang="en-US" sz="3000" dirty="0"/>
          </a:p>
        </p:txBody>
      </p:sp>
      <p:sp>
        <p:nvSpPr>
          <p:cNvPr id="6" name="end-stat-1"/>
          <p:cNvSpPr/>
          <p:nvPr/>
        </p:nvSpPr>
        <p:spPr>
          <a:xfrm>
            <a:off x="8138160" y="2834640"/>
            <a:ext cx="3383280" cy="1143000"/>
          </a:xfrm>
          <a:prstGeom prst="roundRect">
            <a:avLst>
              <a:gd name="adj" fmla="val 9600"/>
            </a:avLst>
          </a:prstGeom>
          <a:solidFill>
            <a:schemeClr val="bg1"/>
          </a:solidFill>
          <a:ln/>
        </p:spPr>
      </p:sp>
      <p:sp>
        <p:nvSpPr>
          <p:cNvPr id="7" name="end-stat-text-1"/>
          <p:cNvSpPr txBox="1"/>
          <p:nvPr/>
        </p:nvSpPr>
        <p:spPr>
          <a:xfrm>
            <a:off x="8412480" y="2834640"/>
            <a:ext cx="2926080" cy="1143000"/>
          </a:xfrm>
          <a:prstGeom prst="rect">
            <a:avLst/>
          </a:prstGeom>
          <a:noFill/>
          <a:ln/>
        </p:spPr>
        <p:txBody>
          <a:bodyPr wrap="square" lIns="0" tIns="0" rIns="0" bIns="0" rtlCol="0" anchor="ctr"/>
          <a:lstStyle/>
          <a:p>
            <a:pPr indent="0" marL="0">
              <a:buNone/>
            </a:pPr>
            <a:r>
              <a:rPr lang="en-US" sz="3000" b="1" dirty="0">
                <a:solidFill>
                  <a:srgbClr val="3A2E5C"/>
                </a:solidFill>
                <a:latin typeface="Cambria" pitchFamily="34" charset="0"/>
                <a:ea typeface="Cambria" pitchFamily="34" charset="-122"/>
                <a:cs typeface="Cambria" pitchFamily="34" charset="-120"/>
              </a:rPr>
              <a:t>19</a:t>
            </a:r>
            <a:endParaRPr lang="en-US" sz="3000" dirty="0"/>
          </a:p>
          <a:p>
            <a:pPr indent="0" marL="0">
              <a:buNone/>
            </a:pPr>
            <a:r>
              <a:rPr lang="en-US" sz="1400" dirty="0">
                <a:solidFill>
                  <a:srgbClr val="5F5B6E"/>
                </a:solidFill>
              </a:rPr>
              <a:t>Сөздікте белгісі жоқ</a:t>
            </a:r>
            <a:endParaRPr lang="en-US" sz="3000" dirty="0"/>
          </a:p>
        </p:txBody>
      </p:sp>
      <p:sp>
        <p:nvSpPr>
          <p:cNvPr id="8" name="end-stat-2"/>
          <p:cNvSpPr/>
          <p:nvPr/>
        </p:nvSpPr>
        <p:spPr>
          <a:xfrm>
            <a:off x="8138160" y="4206240"/>
            <a:ext cx="3383280" cy="1143000"/>
          </a:xfrm>
          <a:prstGeom prst="roundRect">
            <a:avLst>
              <a:gd name="adj" fmla="val 9600"/>
            </a:avLst>
          </a:prstGeom>
          <a:solidFill>
            <a:schemeClr val="bg1"/>
          </a:solidFill>
          <a:ln/>
        </p:spPr>
      </p:sp>
      <p:sp>
        <p:nvSpPr>
          <p:cNvPr id="9" name="end-stat-text-2"/>
          <p:cNvSpPr txBox="1"/>
          <p:nvPr/>
        </p:nvSpPr>
        <p:spPr>
          <a:xfrm>
            <a:off x="8412480" y="4206240"/>
            <a:ext cx="2926080" cy="1143000"/>
          </a:xfrm>
          <a:prstGeom prst="rect">
            <a:avLst/>
          </a:prstGeom>
          <a:noFill/>
          <a:ln/>
        </p:spPr>
        <p:txBody>
          <a:bodyPr wrap="square" lIns="0" tIns="0" rIns="0" bIns="0" rtlCol="0" anchor="ctr"/>
          <a:lstStyle/>
          <a:p>
            <a:pPr indent="0" marL="0">
              <a:buNone/>
            </a:pPr>
            <a:r>
              <a:rPr lang="en-US" sz="3000" b="1" dirty="0">
                <a:solidFill>
                  <a:srgbClr val="3A2E5C"/>
                </a:solidFill>
                <a:latin typeface="Cambria" pitchFamily="34" charset="0"/>
                <a:ea typeface="Cambria" pitchFamily="34" charset="-122"/>
                <a:cs typeface="Cambria" pitchFamily="34" charset="-120"/>
              </a:rPr>
              <a:t>44,4%</a:t>
            </a:r>
            <a:endParaRPr lang="en-US" sz="3000" dirty="0"/>
          </a:p>
          <a:p>
            <a:pPr indent="0" marL="0">
              <a:buNone/>
            </a:pPr>
            <a:r>
              <a:rPr lang="en-US" sz="1400" dirty="0">
                <a:solidFill>
                  <a:srgbClr val="5F5B6E"/>
                </a:solidFill>
              </a:rPr>
              <a:t>Оқушылардың білуі</a:t>
            </a:r>
            <a:endParaRPr lang="en-US" sz="3000" dirty="0"/>
          </a:p>
        </p:txBody>
      </p:sp>
    </p:spTree>
  </p:cSld>
  <p:clrMapOvr>
    <a:masterClrMapping/>
  </p:clrMapOvr>
</p:sld>
</file>

<file path=ppt/theme/theme1.xml><?xml version="1.0" encoding="utf-8"?>
<a:theme xmlns:a="http://schemas.openxmlformats.org/drawingml/2006/main" name="Zerde Konergen sozder">
  <a:themeElements>
    <a:clrScheme name="Zerde Konergen sozder">
      <a:dk1>
        <a:srgbClr val="22202E"/>
      </a:dk1>
      <a:lt1>
        <a:srgbClr val="FFFFFF"/>
      </a:lt1>
      <a:dk2>
        <a:srgbClr val="3A2E5C"/>
      </a:dk2>
      <a:lt2>
        <a:srgbClr val="F0EEF6"/>
      </a:lt2>
      <a:accent1>
        <a:srgbClr val="2A78D6"/>
      </a:accent1>
      <a:accent2>
        <a:srgbClr val="D99A1E"/>
      </a:accent2>
      <a:accent3>
        <a:srgbClr val="B5462F"/>
      </a:accent3>
      <a:accent4>
        <a:srgbClr val="2E8B57"/>
      </a:accent4>
      <a:accent5>
        <a:srgbClr val="5F5B6E"/>
      </a:accent5>
      <a:accent6>
        <a:srgbClr val="1B9E9E"/>
      </a:accent6>
      <a:hlink>
        <a:srgbClr val="2A78D6"/>
      </a:hlink>
      <a:folHlink>
        <a:srgbClr val="1B9E9E"/>
      </a:folHlink>
    </a:clrScheme>
    <a:fontScheme name="Zerde Konergen sozd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Қазақ тіліндегі көнерген сөздердің қазіргі қолданыстағы орны</dc:title>
  <dc:subject>PptxGenJS Presentation</dc:subject>
  <dc:creator>PptxGenJS</dc:creator>
  <cp:lastModifiedBy>PptxGenJS</cp:lastModifiedBy>
  <cp:revision>1</cp:revision>
  <dcterms:created xsi:type="dcterms:W3CDTF">2026-10-06T09:45:58Z</dcterms:created>
  <dcterms:modified xsi:type="dcterms:W3CDTF">2026-10-06T09:45:58Z</dcterms:modified>
</cp:coreProperties>
</file>