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Кіріспе" id="{27daf04c-875d-91e5-00af-6d12519c1742}">
          <p14:sldIdLst>
            <p14:sldId id="256"/>
            <p14:sldId id="257"/>
            <p14:sldId id="258"/>
          </p14:sldIdLst>
        </p14:section>
        <p14:section name="Зерттеу" id="{3233591c-8cfd-d340-409c-e9b36d472bb1}">
          <p14:sldIdLst>
            <p14:sldId id="259"/>
            <p14:sldId id="260"/>
            <p14:sldId id="261"/>
          </p14:sldIdLst>
        </p14:section>
        <p14:section name="Нәтижелер" id="{89e2f7ad-2e3e-a439-9e89-9f64e6d19625}">
          <p14:sldIdLst>
            <p14:sldId id="262"/>
            <p14:sldId id="263"/>
            <p14:sldId id="264"/>
            <p14:sldId id="265"/>
          </p14:sldIdLst>
        </p14:section>
        <p14:section name="Қорытынды" id="{909d4664-931c-6419-07e4-fb13b8b6142a}">
          <p14:sldIdLst>
            <p14:sldId id="266"/>
            <p14:sldId id="267"/>
            <p14:sldId id="268"/>
          </p14:sldIdLst>
        </p14:section>
        <p14:section name="Сұрақтарға арналған қосымша" id="{66a22f02-ebff-56e5-7dde-0224e4de3054}">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A30"/>
                </a:solidFill>
                <a:latin typeface="+mn-lt"/>
              </a:defRPr>
            </a:pPr>
            <a:r>
              <a:rPr sz="1400" b="0" i="0" u="none" strike="noStrike">
                <a:solidFill>
                  <a:srgbClr val="1B2A30"/>
                </a:solidFill>
                <a:latin typeface="+mn-lt"/>
              </a:rPr>
              <a:t>Ең жиі кездесетін дене мүшелері (тіркес саны)</a:t>
            </a:r>
          </a:p>
        </c:rich>
      </c:tx>
      <c:layout/>
      <c:overlay val="0"/>
    </c:title>
    <c:autoTitleDeleted val="0"/>
    <c:plotArea>
      <c:layout/>
      <c:barChart>
        <c:barDir val="bar"/>
        <c:grouping val="clustered"/>
        <c:varyColors val="0"/>
        <c:ser>
          <c:idx val="0"/>
          <c:order val="0"/>
          <c:tx>
            <c:strRef>
              <c:f>Sheet1!$B$1</c:f>
              <c:strCache>
                <c:ptCount val="1"/>
                <c:pt idx="0">
                  <c:v>Тіркес саны</c:v>
                </c:pt>
              </c:strCache>
            </c:strRef>
          </c:tx>
          <c:spPr>
            <a:solidFill>
              <a:srgbClr val="00A3B4"/>
            </a:solidFill>
            <a:effectLst/>
          </c:spPr>
          <c:invertIfNegative val="0"/>
          <c:dLbls>
            <c:numFmt formatCode="#,##0" sourceLinked="0"/>
            <c:txPr>
              <a:bodyPr/>
              <a:lstStyle/>
              <a:p>
                <a:pPr>
                  <a:defRPr b="0" i="0" strike="noStrike" sz="1200" u="none">
                    <a:solidFill>
                      <a:srgbClr val="1B2A30"/>
                    </a:solidFill>
                    <a:latin typeface="+mn-lt"/>
                  </a:defRPr>
                </a:pPr>
              </a:p>
            </c:txPr>
            <c:showLegendKey val="0"/>
            <c:showVal val="1"/>
            <c:showCatName val="0"/>
            <c:showSerName val="0"/>
            <c:showPercent val="0"/>
            <c:showBubbleSize val="0"/>
            <c:showLeaderLines val="0"/>
          </c:dLbls>
          <c:cat>
            <c:multiLvlStrRef>
              <c:f>Sheet1!$A$2:$A$7</c:f>
              <c:multiLvlStrCache>
                <c:ptCount val="6"/>
                <c:lvl>
                  <c:pt idx="0">
                    <c:v>бас</c:v>
                  </c:pt>
                  <c:pt idx="1">
                    <c:v>қан</c:v>
                  </c:pt>
                  <c:pt idx="2">
                    <c:v>құлақ</c:v>
                  </c:pt>
                  <c:pt idx="3">
                    <c:v>қол</c:v>
                  </c:pt>
                  <c:pt idx="4">
                    <c:v>ауыз</c:v>
                  </c:pt>
                  <c:pt idx="5">
                    <c:v>көз</c:v>
                  </c:pt>
                </c:lvl>
              </c:multiLvlStrCache>
            </c:multiLvlStrRef>
          </c:cat>
          <c:val>
            <c:numRef>
              <c:f>Sheet1!$B$2:$B$7</c:f>
              <c:numCache>
                <c:formatCode>General</c:formatCode>
                <c:ptCount val="6"/>
                <c:pt idx="0">
                  <c:v>9</c:v>
                </c:pt>
                <c:pt idx="1">
                  <c:v>10</c:v>
                </c:pt>
                <c:pt idx="2">
                  <c:v>11</c:v>
                </c:pt>
                <c:pt idx="3">
                  <c:v>11</c:v>
                </c:pt>
                <c:pt idx="4">
                  <c:v>14</c:v>
                </c:pt>
                <c:pt idx="5">
                  <c:v>28</c:v>
                </c:pt>
              </c:numCache>
            </c:numRef>
          </c:val>
        </c:ser>
        <c:dLbls>
          <c:numFmt formatCode="#,##0" sourceLinked="0"/>
          <c:txPr>
            <a:bodyPr/>
            <a:lstStyle/>
            <a:p>
              <a:pPr>
                <a:defRPr b="0" i="0" strike="noStrike" sz="1200" u="none">
                  <a:solidFill>
                    <a:srgbClr val="1B2A30"/>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B2A30"/>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B6B73"/>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A30"/>
                </a:solidFill>
                <a:latin typeface="+mn-lt"/>
              </a:defRPr>
            </a:pPr>
            <a:r>
              <a:rPr sz="1400" b="0" i="0" u="none" strike="noStrike">
                <a:solidFill>
                  <a:srgbClr val="1B2A30"/>
                </a:solidFill>
                <a:latin typeface="+mn-lt"/>
              </a:rPr>
              <a:t>Топтар бойынша сапа көрсеткіші, %</a:t>
            </a:r>
          </a:p>
        </c:rich>
      </c:tx>
      <c:layout/>
      <c:overlay val="0"/>
    </c:title>
    <c:autoTitleDeleted val="0"/>
    <c:plotArea>
      <c:layout/>
      <c:barChart>
        <c:barDir val="col"/>
        <c:grouping val="clustered"/>
        <c:varyColors val="0"/>
        <c:ser>
          <c:idx val="0"/>
          <c:order val="0"/>
          <c:tx>
            <c:strRef>
              <c:f>Sheet1!$B$1</c:f>
              <c:strCache>
                <c:ptCount val="1"/>
                <c:pt idx="0">
                  <c:v>ChatGPT</c:v>
                </c:pt>
              </c:strCache>
            </c:strRef>
          </c:tx>
          <c:spPr>
            <a:solidFill>
              <a:srgbClr val="00A3B4"/>
            </a:solidFill>
            <a:effectLst/>
          </c:spPr>
          <c:invertIfNegative val="0"/>
          <c:dLbls>
            <c:numFmt formatCode="0" sourceLinked="0"/>
            <c:txPr>
              <a:bodyPr/>
              <a:lstStyle/>
              <a:p>
                <a:pPr>
                  <a:defRPr b="0" i="0" strike="noStrike" sz="1200" u="none">
                    <a:solidFill>
                      <a:srgbClr val="1B2A30"/>
                    </a:solidFill>
                    <a:latin typeface="+mn-lt"/>
                  </a:defRPr>
                </a:pPr>
              </a:p>
            </c:txPr>
            <c:showLegendKey val="0"/>
            <c:showVal val="1"/>
            <c:showCatName val="0"/>
            <c:showSerName val="0"/>
            <c:showPercent val="0"/>
            <c:showBubbleSize val="0"/>
            <c:showLeaderLines val="0"/>
          </c:dLbls>
          <c:cat>
            <c:multiLvlStrRef>
              <c:f>Sheet1!$A$2:$A$4</c:f>
              <c:multiLvlStrCache>
                <c:ptCount val="3"/>
                <c:lvl>
                  <c:pt idx="0">
                    <c:v>А – мөлдір</c:v>
                  </c:pt>
                  <c:pt idx="1">
                    <c:v>Ә – астарлы</c:v>
                  </c:pt>
                  <c:pt idx="2">
                    <c:v>Б – ұлттық-мәдени</c:v>
                  </c:pt>
                </c:lvl>
              </c:multiLvlStrCache>
            </c:multiLvlStrRef>
          </c:cat>
          <c:val>
            <c:numRef>
              <c:f>Sheet1!$B$2:$B$4</c:f>
              <c:numCache>
                <c:formatCode>General</c:formatCode>
                <c:ptCount val="3"/>
                <c:pt idx="0">
                  <c:v>100</c:v>
                </c:pt>
                <c:pt idx="1">
                  <c:v>100</c:v>
                </c:pt>
                <c:pt idx="2">
                  <c:v>90</c:v>
                </c:pt>
              </c:numCache>
            </c:numRef>
          </c:val>
        </c:ser>
        <c:ser>
          <c:idx val="1"/>
          <c:order val="1"/>
          <c:tx>
            <c:strRef>
              <c:f>Sheet1!$C$1</c:f>
              <c:strCache>
                <c:ptCount val="1"/>
                <c:pt idx="0">
                  <c:v>DeepSeek</c:v>
                </c:pt>
              </c:strCache>
            </c:strRef>
          </c:tx>
          <c:spPr>
            <a:solidFill>
              <a:srgbClr val="E8A900"/>
            </a:solidFill>
            <a:effectLst/>
          </c:spPr>
          <c:invertIfNegative val="0"/>
          <c:dLbls>
            <c:numFmt formatCode="0" sourceLinked="0"/>
            <c:txPr>
              <a:bodyPr/>
              <a:lstStyle/>
              <a:p>
                <a:pPr>
                  <a:defRPr b="0" i="0" strike="noStrike" sz="1200" u="none">
                    <a:solidFill>
                      <a:srgbClr val="1B2A30"/>
                    </a:solidFill>
                    <a:latin typeface="+mn-lt"/>
                  </a:defRPr>
                </a:pPr>
              </a:p>
            </c:txPr>
            <c:showLegendKey val="0"/>
            <c:showVal val="1"/>
            <c:showCatName val="0"/>
            <c:showSerName val="0"/>
            <c:showPercent val="0"/>
            <c:showBubbleSize val="0"/>
            <c:showLeaderLines val="0"/>
          </c:dLbls>
          <c:cat>
            <c:multiLvlStrRef>
              <c:f>Sheet1!$A$2:$A$4</c:f>
              <c:multiLvlStrCache>
                <c:ptCount val="3"/>
                <c:lvl>
                  <c:pt idx="0">
                    <c:v>А – мөлдір</c:v>
                  </c:pt>
                  <c:pt idx="1">
                    <c:v>Ә – астарлы</c:v>
                  </c:pt>
                  <c:pt idx="2">
                    <c:v>Б – ұлттық-мәдени</c:v>
                  </c:pt>
                </c:lvl>
              </c:multiLvlStrCache>
            </c:multiLvlStrRef>
          </c:cat>
          <c:val>
            <c:numRef>
              <c:f>Sheet1!$C$2:$C$4</c:f>
              <c:numCache>
                <c:formatCode>General</c:formatCode>
                <c:ptCount val="3"/>
                <c:pt idx="0">
                  <c:v>90</c:v>
                </c:pt>
                <c:pt idx="1">
                  <c:v>100</c:v>
                </c:pt>
                <c:pt idx="2">
                  <c:v>90</c:v>
                </c:pt>
              </c:numCache>
            </c:numRef>
          </c:val>
        </c:ser>
        <c:ser>
          <c:idx val="2"/>
          <c:order val="2"/>
          <c:tx>
            <c:strRef>
              <c:f>Sheet1!$D$1</c:f>
              <c:strCache>
                <c:ptCount val="1"/>
                <c:pt idx="0">
                  <c:v>Gemini</c:v>
                </c:pt>
              </c:strCache>
            </c:strRef>
          </c:tx>
          <c:spPr>
            <a:solidFill>
              <a:srgbClr val="0B3C49"/>
            </a:solidFill>
            <a:effectLst/>
          </c:spPr>
          <c:invertIfNegative val="0"/>
          <c:dLbls>
            <c:numFmt formatCode="0" sourceLinked="0"/>
            <c:txPr>
              <a:bodyPr/>
              <a:lstStyle/>
              <a:p>
                <a:pPr>
                  <a:defRPr b="0" i="0" strike="noStrike" sz="1200" u="none">
                    <a:solidFill>
                      <a:srgbClr val="1B2A30"/>
                    </a:solidFill>
                    <a:latin typeface="+mn-lt"/>
                  </a:defRPr>
                </a:pPr>
              </a:p>
            </c:txPr>
            <c:showLegendKey val="0"/>
            <c:showVal val="1"/>
            <c:showCatName val="0"/>
            <c:showSerName val="0"/>
            <c:showPercent val="0"/>
            <c:showBubbleSize val="0"/>
            <c:showLeaderLines val="0"/>
          </c:dLbls>
          <c:cat>
            <c:multiLvlStrRef>
              <c:f>Sheet1!$A$2:$A$4</c:f>
              <c:multiLvlStrCache>
                <c:ptCount val="3"/>
                <c:lvl>
                  <c:pt idx="0">
                    <c:v>А – мөлдір</c:v>
                  </c:pt>
                  <c:pt idx="1">
                    <c:v>Ә – астарлы</c:v>
                  </c:pt>
                  <c:pt idx="2">
                    <c:v>Б – ұлттық-мәдени</c:v>
                  </c:pt>
                </c:lvl>
              </c:multiLvlStrCache>
            </c:multiLvlStrRef>
          </c:cat>
          <c:val>
            <c:numRef>
              <c:f>Sheet1!$D$2:$D$4</c:f>
              <c:numCache>
                <c:formatCode>General</c:formatCode>
                <c:ptCount val="3"/>
                <c:pt idx="0">
                  <c:v>95</c:v>
                </c:pt>
                <c:pt idx="1">
                  <c:v>100</c:v>
                </c:pt>
                <c:pt idx="2">
                  <c:v>80</c:v>
                </c:pt>
              </c:numCache>
            </c:numRef>
          </c:val>
        </c:ser>
        <c:dLbls>
          <c:numFmt formatCode="0" sourceLinked="0"/>
          <c:txPr>
            <a:bodyPr/>
            <a:lstStyle/>
            <a:p>
              <a:pPr>
                <a:defRPr b="0" i="0" strike="noStrike" sz="1200" u="none">
                  <a:solidFill>
                    <a:srgbClr val="1B2A30"/>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B2A30"/>
                </a:solidFill>
                <a:latin typeface="+mn-lt"/>
              </a:defRPr>
            </a:pPr>
            <a:endParaRPr lang="en-US"/>
          </a:p>
        </c:txPr>
        <c:crossAx val="2094734552"/>
        <c:crosses val="autoZero"/>
        <c:auto val="1"/>
        <c:lblAlgn val="ctr"/>
        <c:noMultiLvlLbl val="1"/>
      </c:catAx>
      <c:valAx>
        <c:axId val="2094734552"/>
        <c:scaling>
          <c:orientation val="minMax"/>
          <c:max val="110"/>
          <c:min val="0"/>
        </c:scaling>
        <c:delete val="0"/>
        <c:axPos val="l"/>
        <c:majorGridlines>
          <c:spPr>
            <a:ln w="9525" cap="flat">
              <a:solidFill>
                <a:srgbClr val="D9E2E4"/>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73"/>
                </a:solidFill>
                <a:latin typeface="+mn-lt"/>
              </a:defRPr>
            </a:pPr>
            <a:endParaRPr lang="en-US"/>
          </a:p>
        </c:txPr>
        <c:crossAx val="2094734554"/>
        <c:crosses val="autoZero"/>
        <c:crossBetween val="between"/>
        <c:majorUnit val="20"/>
      </c:valAx>
      <c:spPr>
        <a:noFill/>
        <a:ln>
          <a:noFill/>
        </a:ln>
        <a:effectLst/>
      </c:spPr>
    </c:plotArea>
    <c:legend>
      <c:legendPos val="b"/>
      <c:overlay val="0"/>
      <c:txPr>
        <a:bodyPr/>
        <a:lstStyle/>
        <a:p>
          <a:pPr>
            <a:defRPr sz="1200">
              <a:solidFill>
                <a:srgbClr val="1B2A3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A30"/>
                </a:solidFill>
                <a:latin typeface="+mn-lt"/>
              </a:defRPr>
            </a:pPr>
            <a:r>
              <a:rPr sz="1400" b="0" i="0" u="none" strike="noStrike">
                <a:solidFill>
                  <a:srgbClr val="1B2A30"/>
                </a:solidFill>
                <a:latin typeface="+mn-lt"/>
              </a:rPr>
              <a:t>3-тәжірибе: ЖИ атаған тіркестер</a:t>
            </a:r>
          </a:p>
        </c:rich>
      </c:tx>
      <c:layout/>
      <c:overlay val="0"/>
    </c:title>
    <c:autoTitleDeleted val="0"/>
    <c:plotArea>
      <c:layout/>
      <c:barChart>
        <c:barDir val="bar"/>
        <c:grouping val="stacked"/>
        <c:varyColors val="0"/>
        <c:ser>
          <c:idx val="0"/>
          <c:order val="0"/>
          <c:tx>
            <c:strRef>
              <c:f>Sheet1!$B$1</c:f>
              <c:strCache>
                <c:ptCount val="1"/>
                <c:pt idx="0">
                  <c:v>Дұрыс тіркес</c:v>
                </c:pt>
              </c:strCache>
            </c:strRef>
          </c:tx>
          <c:spPr>
            <a:solidFill>
              <a:srgbClr val="00A3B4"/>
            </a:solidFill>
            <a:effectLst/>
          </c:spPr>
          <c:invertIfNegative val="0"/>
          <c:dLbls>
            <c:numFmt formatCode="0;-0;;" sourceLinked="0"/>
            <c:txPr>
              <a:bodyPr/>
              <a:lstStyle/>
              <a:p>
                <a:pPr>
                  <a:defRPr b="0" i="0" strike="noStrike" sz="1200" u="none">
                    <a:solidFill>
                      <a:srgbClr val="FFFFFF"/>
                    </a:solidFill>
                    <a:latin typeface="+mn-lt"/>
                  </a:defRPr>
                </a:pPr>
              </a:p>
            </c:txPr>
            <c:dLblPos val="ctr"/>
            <c:showLegendKey val="0"/>
            <c:showVal val="1"/>
            <c:showCatName val="0"/>
            <c:showSerName val="0"/>
            <c:showPercent val="0"/>
            <c:showBubbleSize val="0"/>
            <c:showLeaderLines val="0"/>
          </c:dLbls>
          <c:cat>
            <c:multiLvlStrRef>
              <c:f>Sheet1!$A$2:$A$4</c:f>
              <c:multiLvlStrCache>
                <c:ptCount val="3"/>
                <c:lvl>
                  <c:pt idx="0">
                    <c:v>ChatGPT</c:v>
                  </c:pt>
                  <c:pt idx="1">
                    <c:v>DeepSeek</c:v>
                  </c:pt>
                  <c:pt idx="2">
                    <c:v>Gemini</c:v>
                  </c:pt>
                </c:lvl>
              </c:multiLvlStrCache>
            </c:multiLvlStrRef>
          </c:cat>
          <c:val>
            <c:numRef>
              <c:f>Sheet1!$B$2:$B$4</c:f>
              <c:numCache>
                <c:formatCode>General</c:formatCode>
                <c:ptCount val="3"/>
                <c:pt idx="0">
                  <c:v>20</c:v>
                </c:pt>
                <c:pt idx="1">
                  <c:v>18</c:v>
                </c:pt>
                <c:pt idx="2">
                  <c:v>22</c:v>
                </c:pt>
              </c:numCache>
            </c:numRef>
          </c:val>
        </c:ser>
        <c:ser>
          <c:idx val="1"/>
          <c:order val="1"/>
          <c:tx>
            <c:strRef>
              <c:f>Sheet1!$C$1</c:f>
              <c:strCache>
                <c:ptCount val="1"/>
                <c:pt idx="0">
                  <c:v>Басқа мағынадағы тіркес</c:v>
                </c:pt>
              </c:strCache>
            </c:strRef>
          </c:tx>
          <c:spPr>
            <a:solidFill>
              <a:srgbClr val="E8A900"/>
            </a:solidFill>
            <a:effectLst/>
          </c:spPr>
          <c:invertIfNegative val="0"/>
          <c:dLbls>
            <c:numFmt formatCode="0;-0;;" sourceLinked="0"/>
            <c:txPr>
              <a:bodyPr/>
              <a:lstStyle/>
              <a:p>
                <a:pPr>
                  <a:defRPr b="0" i="0" strike="noStrike" sz="1200" u="none">
                    <a:solidFill>
                      <a:srgbClr val="FFFFFF"/>
                    </a:solidFill>
                    <a:latin typeface="+mn-lt"/>
                  </a:defRPr>
                </a:pPr>
              </a:p>
            </c:txPr>
            <c:dLblPos val="ctr"/>
            <c:showLegendKey val="0"/>
            <c:showVal val="1"/>
            <c:showCatName val="0"/>
            <c:showSerName val="0"/>
            <c:showPercent val="0"/>
            <c:showBubbleSize val="0"/>
            <c:showLeaderLines val="0"/>
          </c:dLbls>
          <c:cat>
            <c:multiLvlStrRef>
              <c:f>Sheet1!$A$2:$A$4</c:f>
              <c:multiLvlStrCache>
                <c:ptCount val="3"/>
                <c:lvl>
                  <c:pt idx="0">
                    <c:v>ChatGPT</c:v>
                  </c:pt>
                  <c:pt idx="1">
                    <c:v>DeepSeek</c:v>
                  </c:pt>
                  <c:pt idx="2">
                    <c:v>Gemini</c:v>
                  </c:pt>
                </c:lvl>
              </c:multiLvlStrCache>
            </c:multiLvlStrRef>
          </c:cat>
          <c:val>
            <c:numRef>
              <c:f>Sheet1!$C$2:$C$4</c:f>
              <c:numCache>
                <c:formatCode>General</c:formatCode>
                <c:ptCount val="3"/>
                <c:pt idx="0">
                  <c:v>0</c:v>
                </c:pt>
                <c:pt idx="1">
                  <c:v>2</c:v>
                </c:pt>
                <c:pt idx="2">
                  <c:v>0</c:v>
                </c:pt>
              </c:numCache>
            </c:numRef>
          </c:val>
        </c:ser>
        <c:ser>
          <c:idx val="2"/>
          <c:order val="2"/>
          <c:tx>
            <c:strRef>
              <c:f>Sheet1!$D$1</c:f>
              <c:strCache>
                <c:ptCount val="1"/>
                <c:pt idx="0">
                  <c:v>Тұрақты тіркес емес</c:v>
                </c:pt>
              </c:strCache>
            </c:strRef>
          </c:tx>
          <c:spPr>
            <a:solidFill>
              <a:srgbClr val="5B6B73"/>
            </a:solidFill>
            <a:effectLst/>
          </c:spPr>
          <c:invertIfNegative val="0"/>
          <c:dLbls>
            <c:numFmt formatCode="0;-0;;" sourceLinked="0"/>
            <c:txPr>
              <a:bodyPr/>
              <a:lstStyle/>
              <a:p>
                <a:pPr>
                  <a:defRPr b="0" i="0" strike="noStrike" sz="1200" u="none">
                    <a:solidFill>
                      <a:srgbClr val="FFFFFF"/>
                    </a:solidFill>
                    <a:latin typeface="+mn-lt"/>
                  </a:defRPr>
                </a:pPr>
              </a:p>
            </c:txPr>
            <c:dLblPos val="ctr"/>
            <c:showLegendKey val="0"/>
            <c:showVal val="1"/>
            <c:showCatName val="0"/>
            <c:showSerName val="0"/>
            <c:showPercent val="0"/>
            <c:showBubbleSize val="0"/>
            <c:showLeaderLines val="0"/>
          </c:dLbls>
          <c:cat>
            <c:multiLvlStrRef>
              <c:f>Sheet1!$A$2:$A$4</c:f>
              <c:multiLvlStrCache>
                <c:ptCount val="3"/>
                <c:lvl>
                  <c:pt idx="0">
                    <c:v>ChatGPT</c:v>
                  </c:pt>
                  <c:pt idx="1">
                    <c:v>DeepSeek</c:v>
                  </c:pt>
                  <c:pt idx="2">
                    <c:v>Gemini</c:v>
                  </c:pt>
                </c:lvl>
              </c:multiLvlStrCache>
            </c:multiLvlStrRef>
          </c:cat>
          <c:val>
            <c:numRef>
              <c:f>Sheet1!$D$2:$D$4</c:f>
              <c:numCache>
                <c:formatCode>General</c:formatCode>
                <c:ptCount val="3"/>
                <c:pt idx="0">
                  <c:v>5</c:v>
                </c:pt>
                <c:pt idx="1">
                  <c:v>4</c:v>
                </c:pt>
                <c:pt idx="2">
                  <c:v>3</c:v>
                </c:pt>
              </c:numCache>
            </c:numRef>
          </c:val>
        </c:ser>
        <c:dLbls>
          <c:numFmt formatCode="0;-0;;" sourceLinked="0"/>
          <c:txPr>
            <a:bodyPr/>
            <a:lstStyle/>
            <a:p>
              <a:pPr>
                <a:defRPr b="0" i="0" strike="noStrike" sz="1200" u="none">
                  <a:solidFill>
                    <a:srgbClr val="FFFFFF"/>
                  </a:solidFill>
                  <a:latin typeface="+mn-lt"/>
                </a:defRPr>
              </a:pPr>
            </a:p>
          </c:txPr>
          <c:dLblPos val="ct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B2A30"/>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B6B73"/>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B2A30"/>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Құрметті қазылар алқасы! Менің жобамның тақырыбы – «ЖИ қазақтың тұрақты тіркестерін қалай түсіндіреді?». Мен үш танымал чат-ботты – ChatGPT, DeepSeek және Gemini-ді – қазақтың тұрақты тіркестерімен сынап, олардың 182 жауабын сөздікпен салыстырдым. (15 секунд)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Бәрі осы тіркестен басталды. «Жер қаптыру» сөздікте «алдау» деген мағынаны білдіреді. Ал оны мен үш ЖИ-ден сұрағанда, екеуі «жеңу» деп жауап берді, тек DeepSeek дұрыс айтты. Ең қызығы – қате жауаптар да өте сенімді, сауатты жазылған. Сондықтан мен ЖИ-дің жауабына қаншалықты сенуге болатынын тексеруді шештім. (30 секунд)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Менің зерттеу сұрағым: ЖИ қазақ тіліндегі тұрақты тіркестерді қаншалықты дұрыс түсіндіреді және қандай қателер жібереді? Мақсатым – ЖИ жауаптарын сөздікпен салыстырып бағалау және оқушыларға жадынама жасау. Болжамым: ЖИ оңай тіркестерді жақсы түсіндіреді, ал қазақ тұрмысына байланысты ұлттық-мәдени тіркестерде қателеседі. (30 секунд)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Тұрақты тіркестің мағынасы ішіндегі сөздерден шықпайды. «Ит өлген жер» – «иттің өлген жері» емес, «өте алыс жер». Ғылыми еңбектерді оқып, ЖИ-ге бұл неге қиын болатынының үш себебін таптым: мағынасы сөздердің қосындысы емес, қазақша мәтін аз, және ЖИ білмегенін ойдан шығаруы мүмкін. (35 секунд)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Тәжірибеден бұрын 294 тұрақты тіркесті жинап, санадым. Олардың 41,8 пайызында дене мүшесінің атауы бар, ең жиісі – «көз», 28 тіркесте кездеседі. Ал 11,6 пайызында ит, ат, қой сияқты жануарлар бар – бұл мал баққан қазақ өмірінің тілдегі ізі. Осы санау тәжірибеге тіркес таңдауға көмектесті. (35 секунд)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Тәжірибеге 30 тіркес алып, оларды үш топқа бөлдім: мағынасы оңай түсінілетін, астарлы және ұлттық-мәдени тіркестер. Үш ЖИ-ге бірдей сұраныстарды әр жолы жаңа чатта бердім. Тапсырма үшеу болды: мағынасын түсіндіру, синоним мен антоним табу және мағыналық топ бойынша тіркес атау. Барлығы 182 жауапты Кеңесбаевтың сөздігімен салыстырып, 0, 1, 2 балл қойдым. (40 секунд)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Бірінші нәтиже мені таңғалдырды: үш ЖИ тіркестердің басым бөлігін дұрыс түсіндірді. Орташа сапа көрсеткіші – 93,9 пайыз. Ең жоғары нәтижені ChatGPT көрсетті – 96,7 пайыз. Астарлы тіркестерде үшеуі де 100 пайыз алды. Бірақ диаграммада бір топтың төмен екені көрініп тұр – ол ұлттық-мәдени тіркестер. (35 секунд)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Ұлттық-мәдени тіркестерде көрсеткіш 86,7 пайызға дейін түсті. Ең маңыздысы – 0 балл алған төрт жауаптың төртеуі де осы топта. Мысалы, Gemini «есек құрты мұртына түсу» – «баю» тіркесін «ашуға міну» деп түсіндірді, ал DeepSeek «айдарынан жел есу» тіркесін «мақтану» деп берді. Бұл тіркестер қазақтың тұрмысымен байланысты және сирек айтылады. (35 секунд)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Менің болжамым ішінара ғана расталды. Мен ЖИ тіркестерді сөзбе-сөз түсіндіреді деп ойлаған едім, бірақ бірде-бір сөзбе-сөз түсіндіру кездеспеді. ЖИ жоқ тіркестерді де ойлап таппады. Оның қателері басқаша болды: сенімді түрде ойдан шығарылған мағына және сөздікте жоқ артық мағына. Менің ойымша, мұндай қате қауіптірек, өйткені оны байқау қиын. (35 секунд)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Синоним мен антонимді ЖИ 91,7 пайыз жағдайда дұрыс тапты. Ал мағыналық топ бойынша атаған 74 тіркестің 81,1 пайызы дұрыс болды, 12 жағдайда ЖИ тұрақты тіркестің орнына жай сөз жазды. Ең қызығы – «жақын жер» тобы. DeepSeek «үш қайнаса сорпасы қосылмайтын» тіркесін атады. Яғни ол «жақын» сөзін қашықтық емес, туыстық мағынада түсінді. (35 секунд)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Нәтижелер бойынша оқушыларға арналған «ЖИ-ге сен, бірақ тексер» жадынамасын жасадым. Ол төрт қадамнан тұрады: сөздікпен салыстыр, ұлттық тіркеске сақ бол, артық мағынаны байқа және күмәнің қалса, үлкендерден сұра. Жадынаманы қазақ тілі сабағында және сынып сағатында қолдануға болады. (30 секунд)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Қорытындылай келе: бірінші – ЖИ тұрақты тіркестерді жалпы жақсы түсіндіреді. Екінші – оның әлсіз тұсы ұлттық-мәдени тіркестер. Үшінші – ЖИ сөзбе-сөз аудармайды, бірақ қате мағынаны сенімді жазады. Төртінші – ЖИ жақсы көмекші, бірақ шешімді адам қабылдауы керек. Жұмыстың шектеулері де бар: мен 30 тіркес пен үш ЖИ-дің тегін нұсқаларын ғана тексердім. Келешекте мақал-мәтелдерді зерттегім келеді. (40 секунд)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Менің басты түйінім: шешімді адам қабылдайды, ЖИ тек көмектеседі. Назарларыңызға рахмет!
ЫҚТИМАЛ СҰРАҚТАР:
1) Неге осы үш ЖИ? – Тегін, оқушыларға қолжетімді және қазақша жауап береді.
2) Баллды кім қойды, әділ ме? – Өзім, алдын ала жазылған шкала бойынша (2, 1, 0) және сөздікке қарап. Күмәнді жауаптарды жетекшіммен қайта қарадым.
3) Неге әр сұранысты жаңа чатта бердің? – Алдыңғы жауап келесісіне әсер етпеуі үшін.
4) Нәтиже ертең өзгере ме? – Мүмкін, ЖИ жаңарып тұрады. Сондықтан тексеру уақытын (2026 ж. қыркүйек) көрсеттім.
5) Сөзбе-сөз қате неге болмады? – Бүгінгі ЖИ өте көп мәтін оқыған, белгілі тіркестерді жақсы біледі. Қиындық сирек, ұлттық-мәдени тіркестерде.
6) Өзің не үйрендің? – Сөздікпен жұмыс істеуді, деректерді кестеге жинап есептеуді, ЖИ жауабын тексеруді.
7) ЖИ-ді жұмысты жазуға пайдаландың ба? – Иә, декларацияда ашық көрсеттім: құрылымын жоспарлау мен мәтінді редакциялауға. Тәжірибені өзім жүргіздім, баллды өзім қойдым.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Бұл слайд сұрақ қойылса көрсетуге арналған: балл қою ережесі мен қате түрлерінің саны.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Сұрақ қойылса: ұлттық-мәдени тіркестердің әрқайсысы бойынша үш ЖИ-дің балы. 2 – дұрыс, 0 – қате.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17320"/>
            <a:ext cx="6766560" cy="237744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731520" y="3931920"/>
            <a:ext cx="6766560" cy="822960"/>
          </a:xfrm>
          <a:prstGeom prst="rect">
            <a:avLst/>
          </a:prstGeom>
          <a:noFill/>
          <a:ln/>
        </p:spPr>
        <p:txBody>
          <a:bodyPr wrap="square" rtlCol="0"/>
          <a:lstStyle>
            <a:lvl1pPr algn="l" indent="0" marL="0">
              <a:buNone/>
              <a:defRPr lang="en-US" sz="1800" i="1" dirty="0">
                <a:solidFill>
                  <a:schemeClr val="accent2"/>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5"/>
                </a:solidFill>
              </a:rPr>
              <a:t>«Зерде» · Қазақ тілі және әдебиеті</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image" Target="../media/image-10-1.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3.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kicker"/>
          <p:cNvSpPr txBox="1"/>
          <p:nvPr/>
        </p:nvSpPr>
        <p:spPr>
          <a:xfrm>
            <a:off x="731520" y="548640"/>
            <a:ext cx="10515600" cy="365760"/>
          </a:xfrm>
          <a:prstGeom prst="rect">
            <a:avLst/>
          </a:prstGeom>
          <a:noFill/>
          <a:ln/>
        </p:spPr>
        <p:txBody>
          <a:bodyPr wrap="square" lIns="0" tIns="0" rIns="0" bIns="0" rtlCol="0" anchor="ctr"/>
          <a:lstStyle/>
          <a:p>
            <a:pPr indent="0" marL="0">
              <a:buNone/>
            </a:pPr>
            <a:r>
              <a:rPr lang="en-US" sz="1400" dirty="0">
                <a:solidFill>
                  <a:schemeClr val="accent1"/>
                </a:solidFill>
              </a:rPr>
              <a:t>«Зерде» республикалық конкурсы  ·  Қазақ тілі және әдебиеті  ·  «Орта буын»</a:t>
            </a:r>
            <a:endParaRPr lang="en-US" sz="1400" dirty="0"/>
          </a:p>
        </p:txBody>
      </p:sp>
      <p:sp>
        <p:nvSpPr>
          <p:cNvPr id="3" name="Text 0"/>
          <p:cNvSpPr/>
          <p:nvPr>
            <p:ph idx="100" type="title" hasCustomPrompt="1"/>
          </p:nvPr>
        </p:nvSpPr>
        <p:spPr>
          <a:xfrm>
            <a:off x="731520" y="1417320"/>
            <a:ext cx="6766560" cy="2377440"/>
          </a:xfrm>
          <a:prstGeom prst="rect">
            <a:avLst/>
          </a:prstGeom>
          <a:noFill/>
          <a:ln/>
        </p:spPr>
        <p:txBody>
          <a:bodyPr wrap="square" lIns="0" tIns="0" rIns="0" bIns="0" rtlCol="0" anchor="t"/>
          <a:lstStyle/>
          <a:p>
            <a:pPr algn="l" indent="0" marL="0">
              <a:buNone/>
            </a:pPr>
            <a:r>
              <a:rPr lang="en-US" sz="4000" b="1" dirty="0">
                <a:solidFill>
                  <a:schemeClr val="bg1"/>
                </a:solidFill>
              </a:rPr>
              <a:t>ЖИ қазақтың тұрақты тіркестерін қалай түсіндіреді?</a:t>
            </a:r>
            <a:endParaRPr lang="en-US" sz="4000" dirty="0"/>
          </a:p>
        </p:txBody>
      </p:sp>
      <p:sp>
        <p:nvSpPr>
          <p:cNvPr id="4" name="Text 0"/>
          <p:cNvSpPr/>
          <p:nvPr>
            <p:ph idx="101" type="body" hasCustomPrompt="1"/>
          </p:nvPr>
        </p:nvSpPr>
        <p:spPr>
          <a:xfrm>
            <a:off x="731520" y="3931920"/>
            <a:ext cx="6766560" cy="822960"/>
          </a:xfrm>
          <a:prstGeom prst="rect">
            <a:avLst/>
          </a:prstGeom>
          <a:noFill/>
          <a:ln/>
        </p:spPr>
        <p:txBody>
          <a:bodyPr wrap="square" lIns="0" tIns="0" rIns="0" bIns="0" rtlCol="0" anchor="t"/>
          <a:lstStyle/>
          <a:p>
            <a:pPr algn="l" indent="0" marL="0">
              <a:buNone/>
            </a:pPr>
            <a:r>
              <a:rPr lang="en-US" sz="1800" i="1" dirty="0">
                <a:solidFill>
                  <a:schemeClr val="accent2"/>
                </a:solidFill>
              </a:rPr>
              <a:t>ChatGPT, DeepSeek және Gemini-ді 182 жауап арқылы сынадық</a:t>
            </a:r>
            <a:endParaRPr lang="en-US" sz="1800" dirty="0"/>
          </a:p>
        </p:txBody>
      </p:sp>
      <p:sp>
        <p:nvSpPr>
          <p:cNvPr id="5" name="cipher"/>
          <p:cNvSpPr txBox="1"/>
          <p:nvPr/>
        </p:nvSpPr>
        <p:spPr>
          <a:xfrm>
            <a:off x="731520" y="5852160"/>
            <a:ext cx="5486400" cy="365760"/>
          </a:xfrm>
          <a:prstGeom prst="rect">
            <a:avLst/>
          </a:prstGeom>
          <a:noFill/>
          <a:ln/>
        </p:spPr>
        <p:txBody>
          <a:bodyPr wrap="square" lIns="0" tIns="0" rIns="0" bIns="0" rtlCol="0" anchor="ctr"/>
          <a:lstStyle/>
          <a:p>
            <a:pPr indent="0" marL="0">
              <a:buNone/>
            </a:pPr>
            <a:r>
              <a:rPr lang="en-US" sz="1400" dirty="0">
                <a:solidFill>
                  <a:schemeClr val="bg2"/>
                </a:solidFill>
              </a:rPr>
              <a:t>Тіркеу коды (шифр): ______________</a:t>
            </a:r>
            <a:endParaRPr lang="en-US" sz="1400" dirty="0"/>
          </a:p>
        </p:txBody>
      </p:sp>
      <p:sp>
        <p:nvSpPr>
          <p:cNvPr id="6" name="title-idiom-0"/>
          <p:cNvSpPr/>
          <p:nvPr/>
        </p:nvSpPr>
        <p:spPr>
          <a:xfrm>
            <a:off x="8001000" y="1554480"/>
            <a:ext cx="3520440" cy="914400"/>
          </a:xfrm>
          <a:prstGeom prst="roundRect">
            <a:avLst>
              <a:gd name="adj" fmla="val 12000"/>
            </a:avLst>
          </a:prstGeom>
          <a:solidFill>
            <a:schemeClr val="bg1"/>
          </a:solidFill>
          <a:ln w="15875">
            <a:solidFill>
              <a:schemeClr val="accent2"/>
            </a:solidFill>
            <a:prstDash val="solid"/>
          </a:ln>
        </p:spPr>
      </p:sp>
      <p:sp>
        <p:nvSpPr>
          <p:cNvPr id="7" name="title-idiom-0-text"/>
          <p:cNvSpPr txBox="1"/>
          <p:nvPr/>
        </p:nvSpPr>
        <p:spPr>
          <a:xfrm>
            <a:off x="8183880" y="1554480"/>
            <a:ext cx="3154680" cy="914400"/>
          </a:xfrm>
          <a:prstGeom prst="rect">
            <a:avLst/>
          </a:prstGeom>
          <a:noFill/>
          <a:ln/>
        </p:spPr>
        <p:txBody>
          <a:bodyPr wrap="square" lIns="0" tIns="0" rIns="0" bIns="0" rtlCol="0" anchor="ctr"/>
          <a:lstStyle/>
          <a:p>
            <a:pPr algn="ctr" indent="0" marL="0">
              <a:buNone/>
            </a:pPr>
            <a:r>
              <a:rPr lang="en-US" sz="2000" b="1" dirty="0">
                <a:solidFill>
                  <a:schemeClr val="accent2"/>
                </a:solidFill>
                <a:latin typeface="Times New Roman" pitchFamily="34" charset="0"/>
                <a:ea typeface="Times New Roman" pitchFamily="34" charset="-122"/>
                <a:cs typeface="Times New Roman" pitchFamily="34" charset="-120"/>
              </a:rPr>
              <a:t>«</a:t>
            </a:r>
            <a:pPr algn="ctr" indent="0" marL="0">
              <a:buNone/>
            </a:pPr>
            <a:r>
              <a:rPr lang="en-US" sz="2000" b="1" dirty="0">
                <a:solidFill>
                  <a:schemeClr val="tx2"/>
                </a:solidFill>
                <a:latin typeface="Times New Roman" pitchFamily="34" charset="0"/>
                <a:ea typeface="Times New Roman" pitchFamily="34" charset="-122"/>
                <a:cs typeface="Times New Roman" pitchFamily="34" charset="-120"/>
              </a:rPr>
              <a:t>Ит өлген жер</a:t>
            </a:r>
            <a:pPr algn="ctr" indent="0" marL="0">
              <a:buNone/>
            </a:pPr>
            <a:r>
              <a:rPr lang="en-US" sz="2000" b="1" dirty="0">
                <a:solidFill>
                  <a:schemeClr val="accent2"/>
                </a:solidFill>
                <a:latin typeface="Times New Roman" pitchFamily="34" charset="0"/>
                <a:ea typeface="Times New Roman" pitchFamily="34" charset="-122"/>
                <a:cs typeface="Times New Roman" pitchFamily="34" charset="-120"/>
              </a:rPr>
              <a:t>»</a:t>
            </a:r>
            <a:endParaRPr lang="en-US" sz="2000" dirty="0"/>
          </a:p>
        </p:txBody>
      </p:sp>
      <p:sp>
        <p:nvSpPr>
          <p:cNvPr id="8" name="title-idiom-1"/>
          <p:cNvSpPr/>
          <p:nvPr/>
        </p:nvSpPr>
        <p:spPr>
          <a:xfrm>
            <a:off x="8001000" y="2788920"/>
            <a:ext cx="3520440" cy="914400"/>
          </a:xfrm>
          <a:prstGeom prst="roundRect">
            <a:avLst>
              <a:gd name="adj" fmla="val 12000"/>
            </a:avLst>
          </a:prstGeom>
          <a:solidFill>
            <a:schemeClr val="bg1"/>
          </a:solidFill>
          <a:ln w="15875">
            <a:solidFill>
              <a:schemeClr val="accent2"/>
            </a:solidFill>
            <a:prstDash val="solid"/>
          </a:ln>
        </p:spPr>
      </p:sp>
      <p:sp>
        <p:nvSpPr>
          <p:cNvPr id="9" name="title-idiom-1-text"/>
          <p:cNvSpPr txBox="1"/>
          <p:nvPr/>
        </p:nvSpPr>
        <p:spPr>
          <a:xfrm>
            <a:off x="8183880" y="2788920"/>
            <a:ext cx="3154680" cy="914400"/>
          </a:xfrm>
          <a:prstGeom prst="rect">
            <a:avLst/>
          </a:prstGeom>
          <a:noFill/>
          <a:ln/>
        </p:spPr>
        <p:txBody>
          <a:bodyPr wrap="square" lIns="0" tIns="0" rIns="0" bIns="0" rtlCol="0" anchor="ctr"/>
          <a:lstStyle/>
          <a:p>
            <a:pPr algn="ctr" indent="0" marL="0">
              <a:buNone/>
            </a:pPr>
            <a:r>
              <a:rPr lang="en-US" sz="2000" b="1" dirty="0">
                <a:solidFill>
                  <a:schemeClr val="accent2"/>
                </a:solidFill>
                <a:latin typeface="Times New Roman" pitchFamily="34" charset="0"/>
                <a:ea typeface="Times New Roman" pitchFamily="34" charset="-122"/>
                <a:cs typeface="Times New Roman" pitchFamily="34" charset="-120"/>
              </a:rPr>
              <a:t>«</a:t>
            </a:r>
            <a:pPr algn="ctr" indent="0" marL="0">
              <a:buNone/>
            </a:pPr>
            <a:r>
              <a:rPr lang="en-US" sz="2000" b="1" dirty="0">
                <a:solidFill>
                  <a:schemeClr val="tx2"/>
                </a:solidFill>
                <a:latin typeface="Times New Roman" pitchFamily="34" charset="0"/>
                <a:ea typeface="Times New Roman" pitchFamily="34" charset="-122"/>
                <a:cs typeface="Times New Roman" pitchFamily="34" charset="-120"/>
              </a:rPr>
              <a:t>Асығы алшысынан түсті</a:t>
            </a:r>
            <a:pPr algn="ctr" indent="0" marL="0">
              <a:buNone/>
            </a:pPr>
            <a:r>
              <a:rPr lang="en-US" sz="2000" b="1" dirty="0">
                <a:solidFill>
                  <a:schemeClr val="accent2"/>
                </a:solidFill>
                <a:latin typeface="Times New Roman" pitchFamily="34" charset="0"/>
                <a:ea typeface="Times New Roman" pitchFamily="34" charset="-122"/>
                <a:cs typeface="Times New Roman" pitchFamily="34" charset="-120"/>
              </a:rPr>
              <a:t>»</a:t>
            </a:r>
            <a:endParaRPr lang="en-US" sz="2000" dirty="0"/>
          </a:p>
        </p:txBody>
      </p:sp>
      <p:sp>
        <p:nvSpPr>
          <p:cNvPr id="10" name="title-idiom-2"/>
          <p:cNvSpPr/>
          <p:nvPr/>
        </p:nvSpPr>
        <p:spPr>
          <a:xfrm>
            <a:off x="8001000" y="4023360"/>
            <a:ext cx="3520440" cy="914400"/>
          </a:xfrm>
          <a:prstGeom prst="roundRect">
            <a:avLst>
              <a:gd name="adj" fmla="val 12000"/>
            </a:avLst>
          </a:prstGeom>
          <a:solidFill>
            <a:schemeClr val="bg1"/>
          </a:solidFill>
          <a:ln w="15875">
            <a:solidFill>
              <a:schemeClr val="accent2"/>
            </a:solidFill>
            <a:prstDash val="solid"/>
          </a:ln>
        </p:spPr>
      </p:sp>
      <p:sp>
        <p:nvSpPr>
          <p:cNvPr id="11" name="title-idiom-2-text"/>
          <p:cNvSpPr txBox="1"/>
          <p:nvPr/>
        </p:nvSpPr>
        <p:spPr>
          <a:xfrm>
            <a:off x="8183880" y="4023360"/>
            <a:ext cx="3154680" cy="914400"/>
          </a:xfrm>
          <a:prstGeom prst="rect">
            <a:avLst/>
          </a:prstGeom>
          <a:noFill/>
          <a:ln/>
        </p:spPr>
        <p:txBody>
          <a:bodyPr wrap="square" lIns="0" tIns="0" rIns="0" bIns="0" rtlCol="0" anchor="ctr"/>
          <a:lstStyle/>
          <a:p>
            <a:pPr algn="ctr" indent="0" marL="0">
              <a:buNone/>
            </a:pPr>
            <a:r>
              <a:rPr lang="en-US" sz="2000" b="1" dirty="0">
                <a:solidFill>
                  <a:schemeClr val="accent2"/>
                </a:solidFill>
                <a:latin typeface="Times New Roman" pitchFamily="34" charset="0"/>
                <a:ea typeface="Times New Roman" pitchFamily="34" charset="-122"/>
                <a:cs typeface="Times New Roman" pitchFamily="34" charset="-120"/>
              </a:rPr>
              <a:t>«</a:t>
            </a:r>
            <a:pPr algn="ctr" indent="0" marL="0">
              <a:buNone/>
            </a:pPr>
            <a:r>
              <a:rPr lang="en-US" sz="2000" b="1" dirty="0">
                <a:solidFill>
                  <a:schemeClr val="tx2"/>
                </a:solidFill>
                <a:latin typeface="Times New Roman" pitchFamily="34" charset="0"/>
                <a:ea typeface="Times New Roman" pitchFamily="34" charset="-122"/>
                <a:cs typeface="Times New Roman" pitchFamily="34" charset="-120"/>
              </a:rPr>
              <a:t>Жер қаптыру</a:t>
            </a:r>
            <a:pPr algn="ctr" indent="0" marL="0">
              <a:buNone/>
            </a:pPr>
            <a:r>
              <a:rPr lang="en-US" sz="2000" b="1" dirty="0">
                <a:solidFill>
                  <a:schemeClr val="accent2"/>
                </a:solidFill>
                <a:latin typeface="Times New Roman" pitchFamily="34" charset="0"/>
                <a:ea typeface="Times New Roman" pitchFamily="34" charset="-122"/>
                <a:cs typeface="Times New Roman" pitchFamily="34" charset="-120"/>
              </a:rPr>
              <a:t>»</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Бір тіркес – үш түрлі жауап</a:t>
            </a:r>
            <a:endParaRPr lang="en-US" sz="3200" dirty="0"/>
          </a:p>
        </p:txBody>
      </p:sp>
      <p:sp>
        <p:nvSpPr>
          <p:cNvPr id="3" name="hook-idiom"/>
          <p:cNvSpPr/>
          <p:nvPr/>
        </p:nvSpPr>
        <p:spPr>
          <a:xfrm>
            <a:off x="548640" y="1554480"/>
            <a:ext cx="4206240" cy="1371600"/>
          </a:xfrm>
          <a:prstGeom prst="roundRect">
            <a:avLst>
              <a:gd name="adj" fmla="val 8000"/>
            </a:avLst>
          </a:prstGeom>
          <a:solidFill>
            <a:schemeClr val="bg1"/>
          </a:solidFill>
          <a:ln w="15875">
            <a:solidFill>
              <a:schemeClr val="accent2"/>
            </a:solidFill>
            <a:prstDash val="solid"/>
          </a:ln>
        </p:spPr>
      </p:sp>
      <p:sp>
        <p:nvSpPr>
          <p:cNvPr id="4" name="hook-idiom-text"/>
          <p:cNvSpPr txBox="1"/>
          <p:nvPr/>
        </p:nvSpPr>
        <p:spPr>
          <a:xfrm>
            <a:off x="731520" y="1554480"/>
            <a:ext cx="3840480" cy="1371600"/>
          </a:xfrm>
          <a:prstGeom prst="rect">
            <a:avLst/>
          </a:prstGeom>
          <a:noFill/>
          <a:ln/>
        </p:spPr>
        <p:txBody>
          <a:bodyPr wrap="square" lIns="0" tIns="0" rIns="0" bIns="0" rtlCol="0" anchor="ctr"/>
          <a:lstStyle/>
          <a:p>
            <a:pPr algn="ctr" indent="0" marL="0">
              <a:buNone/>
            </a:pPr>
            <a:r>
              <a:rPr lang="en-US" sz="3000" b="1" dirty="0">
                <a:solidFill>
                  <a:schemeClr val="accent2"/>
                </a:solidFill>
                <a:latin typeface="Times New Roman" pitchFamily="34" charset="0"/>
                <a:ea typeface="Times New Roman" pitchFamily="34" charset="-122"/>
                <a:cs typeface="Times New Roman" pitchFamily="34" charset="-120"/>
              </a:rPr>
              <a:t>«</a:t>
            </a:r>
            <a:pPr algn="ctr" indent="0" marL="0">
              <a:buNone/>
            </a:pPr>
            <a:r>
              <a:rPr lang="en-US" sz="3000" b="1" dirty="0">
                <a:solidFill>
                  <a:schemeClr val="tx2"/>
                </a:solidFill>
                <a:latin typeface="Times New Roman" pitchFamily="34" charset="0"/>
                <a:ea typeface="Times New Roman" pitchFamily="34" charset="-122"/>
                <a:cs typeface="Times New Roman" pitchFamily="34" charset="-120"/>
              </a:rPr>
              <a:t>Жер қаптыру</a:t>
            </a:r>
            <a:pPr algn="ctr" indent="0" marL="0">
              <a:buNone/>
            </a:pPr>
            <a:r>
              <a:rPr lang="en-US" sz="3000" b="1" dirty="0">
                <a:solidFill>
                  <a:schemeClr val="accent2"/>
                </a:solidFill>
                <a:latin typeface="Times New Roman" pitchFamily="34" charset="0"/>
                <a:ea typeface="Times New Roman" pitchFamily="34" charset="-122"/>
                <a:cs typeface="Times New Roman" pitchFamily="34" charset="-120"/>
              </a:rPr>
              <a:t>»</a:t>
            </a:r>
            <a:endParaRPr lang="en-US" sz="3000" dirty="0"/>
          </a:p>
        </p:txBody>
      </p:sp>
      <p:sp>
        <p:nvSpPr>
          <p:cNvPr id="5" name="hook-dict-label"/>
          <p:cNvSpPr txBox="1"/>
          <p:nvPr/>
        </p:nvSpPr>
        <p:spPr>
          <a:xfrm>
            <a:off x="548640" y="3200400"/>
            <a:ext cx="4206240" cy="365760"/>
          </a:xfrm>
          <a:prstGeom prst="rect">
            <a:avLst/>
          </a:prstGeom>
          <a:noFill/>
          <a:ln/>
        </p:spPr>
        <p:txBody>
          <a:bodyPr wrap="square" lIns="0" tIns="0" rIns="0" bIns="0" rtlCol="0" anchor="ctr"/>
          <a:lstStyle/>
          <a:p>
            <a:pPr indent="0" marL="0">
              <a:buNone/>
            </a:pPr>
            <a:r>
              <a:rPr lang="en-US" sz="1400" dirty="0">
                <a:solidFill>
                  <a:schemeClr val="accent5"/>
                </a:solidFill>
              </a:rPr>
              <a:t>Сөздікте:</a:t>
            </a:r>
            <a:endParaRPr lang="en-US" sz="1400" dirty="0"/>
          </a:p>
        </p:txBody>
      </p:sp>
      <p:sp>
        <p:nvSpPr>
          <p:cNvPr id="6" name="hook-dict"/>
          <p:cNvSpPr txBox="1"/>
          <p:nvPr/>
        </p:nvSpPr>
        <p:spPr>
          <a:xfrm>
            <a:off x="548640" y="3566160"/>
            <a:ext cx="4206240" cy="640080"/>
          </a:xfrm>
          <a:prstGeom prst="rect">
            <a:avLst/>
          </a:prstGeom>
          <a:noFill/>
          <a:ln/>
        </p:spPr>
        <p:txBody>
          <a:bodyPr wrap="square" lIns="0" tIns="0" rIns="0" bIns="0" rtlCol="0" anchor="ctr"/>
          <a:lstStyle/>
          <a:p>
            <a:pPr indent="0" marL="0">
              <a:buNone/>
            </a:pPr>
            <a:r>
              <a:rPr lang="en-US" sz="3000" b="1" dirty="0">
                <a:solidFill>
                  <a:schemeClr val="accent4"/>
                </a:solidFill>
                <a:latin typeface="Times New Roman" pitchFamily="34" charset="0"/>
                <a:ea typeface="Times New Roman" pitchFamily="34" charset="-122"/>
                <a:cs typeface="Times New Roman" pitchFamily="34" charset="-120"/>
              </a:rPr>
              <a:t>алдау</a:t>
            </a:r>
            <a:endParaRPr lang="en-US" sz="3000" dirty="0"/>
          </a:p>
        </p:txBody>
      </p:sp>
      <p:sp>
        <p:nvSpPr>
          <p:cNvPr id="7" name="hook-row-0"/>
          <p:cNvSpPr/>
          <p:nvPr/>
        </p:nvSpPr>
        <p:spPr>
          <a:xfrm>
            <a:off x="5212080" y="1554480"/>
            <a:ext cx="6400800" cy="777240"/>
          </a:xfrm>
          <a:prstGeom prst="roundRect">
            <a:avLst>
              <a:gd name="adj" fmla="val 14118"/>
            </a:avLst>
          </a:prstGeom>
          <a:solidFill>
            <a:schemeClr val="bg2"/>
          </a:solidFill>
          <a:ln/>
        </p:spPr>
      </p:sp>
      <p:sp>
        <p:nvSpPr>
          <p:cNvPr id="8" name="hook-ai-0"/>
          <p:cNvSpPr txBox="1"/>
          <p:nvPr/>
        </p:nvSpPr>
        <p:spPr>
          <a:xfrm>
            <a:off x="5440680" y="1554480"/>
            <a:ext cx="1463040" cy="777240"/>
          </a:xfrm>
          <a:prstGeom prst="rect">
            <a:avLst/>
          </a:prstGeom>
          <a:noFill/>
          <a:ln/>
        </p:spPr>
        <p:txBody>
          <a:bodyPr wrap="square" lIns="0" tIns="0" rIns="0" bIns="0" rtlCol="0" anchor="ctr"/>
          <a:lstStyle/>
          <a:p>
            <a:pPr indent="0" marL="0">
              <a:buNone/>
            </a:pPr>
            <a:r>
              <a:rPr lang="en-US" sz="1600" b="1" dirty="0">
                <a:solidFill>
                  <a:schemeClr val="tx2"/>
                </a:solidFill>
              </a:rPr>
              <a:t>ChatGPT</a:t>
            </a:r>
            <a:endParaRPr lang="en-US" sz="1600" dirty="0"/>
          </a:p>
        </p:txBody>
      </p:sp>
      <p:sp>
        <p:nvSpPr>
          <p:cNvPr id="9" name="hook-ans-0"/>
          <p:cNvSpPr txBox="1"/>
          <p:nvPr/>
        </p:nvSpPr>
        <p:spPr>
          <a:xfrm>
            <a:off x="6949440" y="1554480"/>
            <a:ext cx="3840480" cy="777240"/>
          </a:xfrm>
          <a:prstGeom prst="rect">
            <a:avLst/>
          </a:prstGeom>
          <a:noFill/>
          <a:ln/>
        </p:spPr>
        <p:txBody>
          <a:bodyPr wrap="square" lIns="0" tIns="0" rIns="0" bIns="0" rtlCol="0" anchor="ctr"/>
          <a:lstStyle/>
          <a:p>
            <a:pPr indent="0" marL="0">
              <a:buNone/>
            </a:pPr>
            <a:r>
              <a:rPr lang="en-US" sz="1800" dirty="0">
                <a:solidFill>
                  <a:schemeClr val="tx1"/>
                </a:solidFill>
              </a:rPr>
              <a:t>«жеңу, жеңіліске ұшырату»</a:t>
            </a:r>
            <a:endParaRPr lang="en-US" sz="1800" dirty="0"/>
          </a:p>
        </p:txBody>
      </p:sp>
      <p:sp>
        <p:nvSpPr>
          <p:cNvPr id="10" name="hook-mark-0-circle"/>
          <p:cNvSpPr/>
          <p:nvPr/>
        </p:nvSpPr>
        <p:spPr>
          <a:xfrm>
            <a:off x="10927080" y="1709928"/>
            <a:ext cx="475488" cy="475488"/>
          </a:xfrm>
          <a:prstGeom prst="ellipse">
            <a:avLst/>
          </a:prstGeom>
          <a:solidFill>
            <a:schemeClr val="accent3"/>
          </a:solidFill>
          <a:ln/>
        </p:spPr>
      </p:sp>
      <p:pic>
        <p:nvPicPr>
          <p:cNvPr id="11" name="hook-mark-0-icon" descr="preencoded.png">    </p:cNvPr>
          <p:cNvPicPr>
            <a:picLocks noChangeAspect="1"/>
          </p:cNvPicPr>
          <p:nvPr/>
        </p:nvPicPr>
        <p:blipFill>
          <a:blip r:embed="rId1"/>
          <a:stretch>
            <a:fillRect/>
          </a:stretch>
        </p:blipFill>
        <p:spPr>
          <a:xfrm>
            <a:off x="11045952" y="1828800"/>
            <a:ext cx="237744" cy="237744"/>
          </a:xfrm>
          <a:prstGeom prst="rect">
            <a:avLst/>
          </a:prstGeom>
        </p:spPr>
      </p:pic>
      <p:sp>
        <p:nvSpPr>
          <p:cNvPr id="12" name="hook-row-1"/>
          <p:cNvSpPr/>
          <p:nvPr/>
        </p:nvSpPr>
        <p:spPr>
          <a:xfrm>
            <a:off x="5212080" y="2514600"/>
            <a:ext cx="6400800" cy="777240"/>
          </a:xfrm>
          <a:prstGeom prst="roundRect">
            <a:avLst>
              <a:gd name="adj" fmla="val 14118"/>
            </a:avLst>
          </a:prstGeom>
          <a:solidFill>
            <a:schemeClr val="bg2"/>
          </a:solidFill>
          <a:ln/>
        </p:spPr>
      </p:sp>
      <p:sp>
        <p:nvSpPr>
          <p:cNvPr id="13" name="hook-ai-1"/>
          <p:cNvSpPr txBox="1"/>
          <p:nvPr/>
        </p:nvSpPr>
        <p:spPr>
          <a:xfrm>
            <a:off x="5440680" y="2514600"/>
            <a:ext cx="1463040" cy="777240"/>
          </a:xfrm>
          <a:prstGeom prst="rect">
            <a:avLst/>
          </a:prstGeom>
          <a:noFill/>
          <a:ln/>
        </p:spPr>
        <p:txBody>
          <a:bodyPr wrap="square" lIns="0" tIns="0" rIns="0" bIns="0" rtlCol="0" anchor="ctr"/>
          <a:lstStyle/>
          <a:p>
            <a:pPr indent="0" marL="0">
              <a:buNone/>
            </a:pPr>
            <a:r>
              <a:rPr lang="en-US" sz="1600" b="1" dirty="0">
                <a:solidFill>
                  <a:schemeClr val="tx2"/>
                </a:solidFill>
              </a:rPr>
              <a:t>DeepSeek</a:t>
            </a:r>
            <a:endParaRPr lang="en-US" sz="1600" dirty="0"/>
          </a:p>
        </p:txBody>
      </p:sp>
      <p:sp>
        <p:nvSpPr>
          <p:cNvPr id="14" name="hook-ans-1"/>
          <p:cNvSpPr txBox="1"/>
          <p:nvPr/>
        </p:nvSpPr>
        <p:spPr>
          <a:xfrm>
            <a:off x="6949440" y="2514600"/>
            <a:ext cx="3840480" cy="777240"/>
          </a:xfrm>
          <a:prstGeom prst="rect">
            <a:avLst/>
          </a:prstGeom>
          <a:noFill/>
          <a:ln/>
        </p:spPr>
        <p:txBody>
          <a:bodyPr wrap="square" lIns="0" tIns="0" rIns="0" bIns="0" rtlCol="0" anchor="ctr"/>
          <a:lstStyle/>
          <a:p>
            <a:pPr indent="0" marL="0">
              <a:buNone/>
            </a:pPr>
            <a:r>
              <a:rPr lang="en-US" sz="1800" dirty="0">
                <a:solidFill>
                  <a:schemeClr val="tx1"/>
                </a:solidFill>
              </a:rPr>
              <a:t>«алдау, алаяқтық жасау»</a:t>
            </a:r>
            <a:endParaRPr lang="en-US" sz="1800" dirty="0"/>
          </a:p>
        </p:txBody>
      </p:sp>
      <p:sp>
        <p:nvSpPr>
          <p:cNvPr id="15" name="hook-mark-1-circle"/>
          <p:cNvSpPr/>
          <p:nvPr/>
        </p:nvSpPr>
        <p:spPr>
          <a:xfrm>
            <a:off x="10927080" y="2670048"/>
            <a:ext cx="475488" cy="475488"/>
          </a:xfrm>
          <a:prstGeom prst="ellipse">
            <a:avLst/>
          </a:prstGeom>
          <a:solidFill>
            <a:schemeClr val="accent4"/>
          </a:solidFill>
          <a:ln/>
        </p:spPr>
      </p:sp>
      <p:pic>
        <p:nvPicPr>
          <p:cNvPr id="16" name="hook-mark-1-icon" descr="preencoded.png">    </p:cNvPr>
          <p:cNvPicPr>
            <a:picLocks noChangeAspect="1"/>
          </p:cNvPicPr>
          <p:nvPr/>
        </p:nvPicPr>
        <p:blipFill>
          <a:blip r:embed="rId2"/>
          <a:stretch>
            <a:fillRect/>
          </a:stretch>
        </p:blipFill>
        <p:spPr>
          <a:xfrm>
            <a:off x="11045952" y="2788920"/>
            <a:ext cx="237744" cy="237744"/>
          </a:xfrm>
          <a:prstGeom prst="rect">
            <a:avLst/>
          </a:prstGeom>
        </p:spPr>
      </p:pic>
      <p:sp>
        <p:nvSpPr>
          <p:cNvPr id="17" name="hook-row-2"/>
          <p:cNvSpPr/>
          <p:nvPr/>
        </p:nvSpPr>
        <p:spPr>
          <a:xfrm>
            <a:off x="5212080" y="3474720"/>
            <a:ext cx="6400800" cy="777240"/>
          </a:xfrm>
          <a:prstGeom prst="roundRect">
            <a:avLst>
              <a:gd name="adj" fmla="val 14118"/>
            </a:avLst>
          </a:prstGeom>
          <a:solidFill>
            <a:schemeClr val="bg2"/>
          </a:solidFill>
          <a:ln/>
        </p:spPr>
      </p:sp>
      <p:sp>
        <p:nvSpPr>
          <p:cNvPr id="18" name="hook-ai-2"/>
          <p:cNvSpPr txBox="1"/>
          <p:nvPr/>
        </p:nvSpPr>
        <p:spPr>
          <a:xfrm>
            <a:off x="5440680" y="3474720"/>
            <a:ext cx="1463040" cy="777240"/>
          </a:xfrm>
          <a:prstGeom prst="rect">
            <a:avLst/>
          </a:prstGeom>
          <a:noFill/>
          <a:ln/>
        </p:spPr>
        <p:txBody>
          <a:bodyPr wrap="square" lIns="0" tIns="0" rIns="0" bIns="0" rtlCol="0" anchor="ctr"/>
          <a:lstStyle/>
          <a:p>
            <a:pPr indent="0" marL="0">
              <a:buNone/>
            </a:pPr>
            <a:r>
              <a:rPr lang="en-US" sz="1600" b="1" dirty="0">
                <a:solidFill>
                  <a:schemeClr val="tx2"/>
                </a:solidFill>
              </a:rPr>
              <a:t>Gemini</a:t>
            </a:r>
            <a:endParaRPr lang="en-US" sz="1600" dirty="0"/>
          </a:p>
        </p:txBody>
      </p:sp>
      <p:sp>
        <p:nvSpPr>
          <p:cNvPr id="19" name="hook-ans-2"/>
          <p:cNvSpPr txBox="1"/>
          <p:nvPr/>
        </p:nvSpPr>
        <p:spPr>
          <a:xfrm>
            <a:off x="6949440" y="3474720"/>
            <a:ext cx="3840480" cy="777240"/>
          </a:xfrm>
          <a:prstGeom prst="rect">
            <a:avLst/>
          </a:prstGeom>
          <a:noFill/>
          <a:ln/>
        </p:spPr>
        <p:txBody>
          <a:bodyPr wrap="square" lIns="0" tIns="0" rIns="0" bIns="0" rtlCol="0" anchor="ctr"/>
          <a:lstStyle/>
          <a:p>
            <a:pPr indent="0" marL="0">
              <a:buNone/>
            </a:pPr>
            <a:r>
              <a:rPr lang="en-US" sz="1800" dirty="0">
                <a:solidFill>
                  <a:schemeClr val="tx1"/>
                </a:solidFill>
              </a:rPr>
              <a:t>«біреуді ойсырата жеңу»</a:t>
            </a:r>
            <a:endParaRPr lang="en-US" sz="1800" dirty="0"/>
          </a:p>
        </p:txBody>
      </p:sp>
      <p:sp>
        <p:nvSpPr>
          <p:cNvPr id="20" name="hook-mark-2-circle"/>
          <p:cNvSpPr/>
          <p:nvPr/>
        </p:nvSpPr>
        <p:spPr>
          <a:xfrm>
            <a:off x="10927080" y="3630168"/>
            <a:ext cx="475488" cy="475488"/>
          </a:xfrm>
          <a:prstGeom prst="ellipse">
            <a:avLst/>
          </a:prstGeom>
          <a:solidFill>
            <a:schemeClr val="accent3"/>
          </a:solidFill>
          <a:ln/>
        </p:spPr>
      </p:sp>
      <p:pic>
        <p:nvPicPr>
          <p:cNvPr id="21" name="hook-mark-2-icon" descr="preencoded.png">    </p:cNvPr>
          <p:cNvPicPr>
            <a:picLocks noChangeAspect="1"/>
          </p:cNvPicPr>
          <p:nvPr/>
        </p:nvPicPr>
        <p:blipFill>
          <a:blip r:embed="rId3"/>
          <a:stretch>
            <a:fillRect/>
          </a:stretch>
        </p:blipFill>
        <p:spPr>
          <a:xfrm>
            <a:off x="11045952" y="3749040"/>
            <a:ext cx="237744" cy="237744"/>
          </a:xfrm>
          <a:prstGeom prst="rect">
            <a:avLst/>
          </a:prstGeom>
        </p:spPr>
      </p:pic>
      <p:sp>
        <p:nvSpPr>
          <p:cNvPr id="22" name="hook-question"/>
          <p:cNvSpPr/>
          <p:nvPr/>
        </p:nvSpPr>
        <p:spPr>
          <a:xfrm>
            <a:off x="548640" y="4754880"/>
            <a:ext cx="11064240" cy="1188720"/>
          </a:xfrm>
          <a:prstGeom prst="roundRect">
            <a:avLst>
              <a:gd name="adj" fmla="val 9231"/>
            </a:avLst>
          </a:prstGeom>
          <a:solidFill>
            <a:schemeClr val="tx2"/>
          </a:solidFill>
          <a:ln/>
        </p:spPr>
      </p:sp>
      <p:sp>
        <p:nvSpPr>
          <p:cNvPr id="23" name="hook-question-text"/>
          <p:cNvSpPr txBox="1"/>
          <p:nvPr/>
        </p:nvSpPr>
        <p:spPr>
          <a:xfrm>
            <a:off x="914400" y="4754880"/>
            <a:ext cx="10332720" cy="1188720"/>
          </a:xfrm>
          <a:prstGeom prst="rect">
            <a:avLst/>
          </a:prstGeom>
          <a:noFill/>
          <a:ln/>
        </p:spPr>
        <p:txBody>
          <a:bodyPr wrap="square" lIns="0" tIns="0" rIns="0" bIns="0" rtlCol="0" anchor="ctr"/>
          <a:lstStyle/>
          <a:p>
            <a:pPr indent="0" marL="0">
              <a:buNone/>
            </a:pPr>
            <a:r>
              <a:rPr lang="en-US" sz="2200" b="1" dirty="0">
                <a:solidFill>
                  <a:schemeClr val="bg1"/>
                </a:solidFill>
              </a:rPr>
              <a:t>ЖИ әрқашан сенімді жазады. Бірақ оның жауабына сенуге бола ма?</a:t>
            </a:r>
            <a:endParaRPr lang="en-US" sz="2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Зерттеу сұрағы мен болжам</a:t>
            </a:r>
            <a:endParaRPr lang="en-US" sz="3200" dirty="0"/>
          </a:p>
        </p:txBody>
      </p:sp>
      <p:sp>
        <p:nvSpPr>
          <p:cNvPr id="3" name="q-card"/>
          <p:cNvSpPr/>
          <p:nvPr/>
        </p:nvSpPr>
        <p:spPr>
          <a:xfrm>
            <a:off x="548640" y="1417320"/>
            <a:ext cx="11064240" cy="1325880"/>
          </a:xfrm>
          <a:prstGeom prst="roundRect">
            <a:avLst>
              <a:gd name="adj" fmla="val 8276"/>
            </a:avLst>
          </a:prstGeom>
          <a:solidFill>
            <a:schemeClr val="bg2"/>
          </a:solidFill>
          <a:ln/>
        </p:spPr>
      </p:sp>
      <p:sp>
        <p:nvSpPr>
          <p:cNvPr id="4" name="q-circle"/>
          <p:cNvSpPr/>
          <p:nvPr/>
        </p:nvSpPr>
        <p:spPr>
          <a:xfrm>
            <a:off x="868680" y="1691640"/>
            <a:ext cx="777240" cy="777240"/>
          </a:xfrm>
          <a:prstGeom prst="ellipse">
            <a:avLst/>
          </a:prstGeom>
          <a:solidFill>
            <a:schemeClr val="accent1"/>
          </a:solidFill>
          <a:ln/>
        </p:spPr>
      </p:sp>
      <p:pic>
        <p:nvPicPr>
          <p:cNvPr id="5" name="q-icon" descr="preencoded.png">    </p:cNvPr>
          <p:cNvPicPr>
            <a:picLocks noChangeAspect="1"/>
          </p:cNvPicPr>
          <p:nvPr/>
        </p:nvPicPr>
        <p:blipFill>
          <a:blip r:embed="rId1"/>
          <a:stretch>
            <a:fillRect/>
          </a:stretch>
        </p:blipFill>
        <p:spPr>
          <a:xfrm>
            <a:off x="1062990" y="1885950"/>
            <a:ext cx="388620" cy="388620"/>
          </a:xfrm>
          <a:prstGeom prst="rect">
            <a:avLst/>
          </a:prstGeom>
        </p:spPr>
      </p:pic>
      <p:sp>
        <p:nvSpPr>
          <p:cNvPr id="6" name="q-text"/>
          <p:cNvSpPr txBox="1"/>
          <p:nvPr/>
        </p:nvSpPr>
        <p:spPr>
          <a:xfrm>
            <a:off x="1920240" y="1417320"/>
            <a:ext cx="9418320" cy="1325880"/>
          </a:xfrm>
          <a:prstGeom prst="rect">
            <a:avLst/>
          </a:prstGeom>
          <a:noFill/>
          <a:ln/>
        </p:spPr>
        <p:txBody>
          <a:bodyPr wrap="square" lIns="0" tIns="0" rIns="0" bIns="0" rtlCol="0" anchor="ctr"/>
          <a:lstStyle/>
          <a:p>
            <a:pPr indent="0" marL="0">
              <a:buNone/>
            </a:pPr>
            <a:r>
              <a:rPr lang="en-US" sz="2100" b="1" dirty="0">
                <a:solidFill>
                  <a:schemeClr val="tx2"/>
                </a:solidFill>
              </a:rPr>
              <a:t>ЖИ чат-боттары қазақ тіліндегі тұрақты тіркестердің мағынасын қаншалықты дұрыс түсіндіреді және қандай қателер жібереді?</a:t>
            </a:r>
            <a:endParaRPr lang="en-US" sz="2100" dirty="0"/>
          </a:p>
        </p:txBody>
      </p:sp>
      <p:sp>
        <p:nvSpPr>
          <p:cNvPr id="7" name="aim-card-0"/>
          <p:cNvSpPr/>
          <p:nvPr/>
        </p:nvSpPr>
        <p:spPr>
          <a:xfrm>
            <a:off x="548640" y="3063240"/>
            <a:ext cx="5349240" cy="3017520"/>
          </a:xfrm>
          <a:prstGeom prst="roundRect">
            <a:avLst>
              <a:gd name="adj" fmla="val 3636"/>
            </a:avLst>
          </a:prstGeom>
          <a:solidFill>
            <a:schemeClr val="bg1"/>
          </a:solidFill>
          <a:ln w="15875">
            <a:solidFill>
              <a:srgbClr val="C9DDE0"/>
            </a:solidFill>
            <a:prstDash val="solid"/>
          </a:ln>
        </p:spPr>
      </p:sp>
      <p:sp>
        <p:nvSpPr>
          <p:cNvPr id="8" name="aim-0-circle"/>
          <p:cNvSpPr/>
          <p:nvPr/>
        </p:nvSpPr>
        <p:spPr>
          <a:xfrm>
            <a:off x="868680" y="3337560"/>
            <a:ext cx="685800" cy="685800"/>
          </a:xfrm>
          <a:prstGeom prst="ellipse">
            <a:avLst/>
          </a:prstGeom>
          <a:solidFill>
            <a:schemeClr val="accent1"/>
          </a:solidFill>
          <a:ln/>
        </p:spPr>
      </p:sp>
      <p:pic>
        <p:nvPicPr>
          <p:cNvPr id="9" name="aim-0-icon" descr="preencoded.png">    </p:cNvPr>
          <p:cNvPicPr>
            <a:picLocks noChangeAspect="1"/>
          </p:cNvPicPr>
          <p:nvPr/>
        </p:nvPicPr>
        <p:blipFill>
          <a:blip r:embed="rId2"/>
          <a:stretch>
            <a:fillRect/>
          </a:stretch>
        </p:blipFill>
        <p:spPr>
          <a:xfrm>
            <a:off x="1040130" y="3509010"/>
            <a:ext cx="342900" cy="342900"/>
          </a:xfrm>
          <a:prstGeom prst="rect">
            <a:avLst/>
          </a:prstGeom>
        </p:spPr>
      </p:pic>
      <p:sp>
        <p:nvSpPr>
          <p:cNvPr id="10" name="aim-title-0"/>
          <p:cNvSpPr txBox="1"/>
          <p:nvPr/>
        </p:nvSpPr>
        <p:spPr>
          <a:xfrm>
            <a:off x="1737360" y="3337560"/>
            <a:ext cx="3931920" cy="685800"/>
          </a:xfrm>
          <a:prstGeom prst="rect">
            <a:avLst/>
          </a:prstGeom>
          <a:noFill/>
          <a:ln/>
        </p:spPr>
        <p:txBody>
          <a:bodyPr wrap="square" lIns="0" tIns="0" rIns="0" bIns="0" rtlCol="0" anchor="ctr"/>
          <a:lstStyle/>
          <a:p>
            <a:pPr indent="0" marL="0">
              <a:buNone/>
            </a:pPr>
            <a:r>
              <a:rPr lang="en-US" sz="2200" b="1" dirty="0">
                <a:solidFill>
                  <a:schemeClr val="tx2"/>
                </a:solidFill>
              </a:rPr>
              <a:t>Мақсаты</a:t>
            </a:r>
            <a:endParaRPr lang="en-US" sz="2200" dirty="0"/>
          </a:p>
        </p:txBody>
      </p:sp>
      <p:sp>
        <p:nvSpPr>
          <p:cNvPr id="11" name="aim-text-0"/>
          <p:cNvSpPr txBox="1"/>
          <p:nvPr/>
        </p:nvSpPr>
        <p:spPr>
          <a:xfrm>
            <a:off x="868680" y="4206240"/>
            <a:ext cx="4709160" cy="1737360"/>
          </a:xfrm>
          <a:prstGeom prst="rect">
            <a:avLst/>
          </a:prstGeom>
          <a:noFill/>
          <a:ln/>
        </p:spPr>
        <p:txBody>
          <a:bodyPr wrap="square" lIns="0" tIns="0" rIns="0" bIns="0" rtlCol="0" anchor="t"/>
          <a:lstStyle/>
          <a:p>
            <a:pPr indent="0" marL="0">
              <a:buNone/>
            </a:pPr>
            <a:r>
              <a:rPr lang="en-US" sz="1800" dirty="0">
                <a:solidFill>
                  <a:schemeClr val="tx1"/>
                </a:solidFill>
              </a:rPr>
              <a:t>Үш ЖИ-дің тұрақты тіркестерді түсіндіруін сөздікпен салыстырып бағалау, қателерін анықтау және оқушыларға ЖИ жауабын тексеру жадынамасын жасау</a:t>
            </a:r>
            <a:endParaRPr lang="en-US" sz="1800" dirty="0"/>
          </a:p>
        </p:txBody>
      </p:sp>
      <p:sp>
        <p:nvSpPr>
          <p:cNvPr id="12" name="aim-card-1"/>
          <p:cNvSpPr/>
          <p:nvPr/>
        </p:nvSpPr>
        <p:spPr>
          <a:xfrm>
            <a:off x="6263640" y="3063240"/>
            <a:ext cx="5349240" cy="3017520"/>
          </a:xfrm>
          <a:prstGeom prst="roundRect">
            <a:avLst>
              <a:gd name="adj" fmla="val 3636"/>
            </a:avLst>
          </a:prstGeom>
          <a:solidFill>
            <a:schemeClr val="bg1"/>
          </a:solidFill>
          <a:ln w="15875">
            <a:solidFill>
              <a:srgbClr val="C9DDE0"/>
            </a:solidFill>
            <a:prstDash val="solid"/>
          </a:ln>
        </p:spPr>
      </p:sp>
      <p:sp>
        <p:nvSpPr>
          <p:cNvPr id="13" name="aim-1-circle"/>
          <p:cNvSpPr/>
          <p:nvPr/>
        </p:nvSpPr>
        <p:spPr>
          <a:xfrm>
            <a:off x="6583680" y="3337560"/>
            <a:ext cx="685800" cy="685800"/>
          </a:xfrm>
          <a:prstGeom prst="ellipse">
            <a:avLst/>
          </a:prstGeom>
          <a:solidFill>
            <a:schemeClr val="accent2"/>
          </a:solidFill>
          <a:ln/>
        </p:spPr>
      </p:sp>
      <p:pic>
        <p:nvPicPr>
          <p:cNvPr id="14" name="aim-1-icon" descr="preencoded.png">    </p:cNvPr>
          <p:cNvPicPr>
            <a:picLocks noChangeAspect="1"/>
          </p:cNvPicPr>
          <p:nvPr/>
        </p:nvPicPr>
        <p:blipFill>
          <a:blip r:embed="rId3"/>
          <a:stretch>
            <a:fillRect/>
          </a:stretch>
        </p:blipFill>
        <p:spPr>
          <a:xfrm>
            <a:off x="6755130" y="3509010"/>
            <a:ext cx="342900" cy="342900"/>
          </a:xfrm>
          <a:prstGeom prst="rect">
            <a:avLst/>
          </a:prstGeom>
        </p:spPr>
      </p:pic>
      <p:sp>
        <p:nvSpPr>
          <p:cNvPr id="15" name="aim-title-1"/>
          <p:cNvSpPr txBox="1"/>
          <p:nvPr/>
        </p:nvSpPr>
        <p:spPr>
          <a:xfrm>
            <a:off x="7452360" y="3337560"/>
            <a:ext cx="3931920" cy="685800"/>
          </a:xfrm>
          <a:prstGeom prst="rect">
            <a:avLst/>
          </a:prstGeom>
          <a:noFill/>
          <a:ln/>
        </p:spPr>
        <p:txBody>
          <a:bodyPr wrap="square" lIns="0" tIns="0" rIns="0" bIns="0" rtlCol="0" anchor="ctr"/>
          <a:lstStyle/>
          <a:p>
            <a:pPr indent="0" marL="0">
              <a:buNone/>
            </a:pPr>
            <a:r>
              <a:rPr lang="en-US" sz="2200" b="1" dirty="0">
                <a:solidFill>
                  <a:schemeClr val="tx2"/>
                </a:solidFill>
              </a:rPr>
              <a:t>Болжам</a:t>
            </a:r>
            <a:endParaRPr lang="en-US" sz="2200" dirty="0"/>
          </a:p>
        </p:txBody>
      </p:sp>
      <p:sp>
        <p:nvSpPr>
          <p:cNvPr id="16" name="aim-text-1"/>
          <p:cNvSpPr txBox="1"/>
          <p:nvPr/>
        </p:nvSpPr>
        <p:spPr>
          <a:xfrm>
            <a:off x="6583680" y="4206240"/>
            <a:ext cx="4709160" cy="1737360"/>
          </a:xfrm>
          <a:prstGeom prst="rect">
            <a:avLst/>
          </a:prstGeom>
          <a:noFill/>
          <a:ln/>
        </p:spPr>
        <p:txBody>
          <a:bodyPr wrap="square" lIns="0" tIns="0" rIns="0" bIns="0" rtlCol="0" anchor="t"/>
          <a:lstStyle/>
          <a:p>
            <a:pPr indent="0" marL="0">
              <a:buNone/>
            </a:pPr>
            <a:r>
              <a:rPr lang="en-US" sz="1800" dirty="0">
                <a:solidFill>
                  <a:schemeClr val="tx1"/>
                </a:solidFill>
              </a:rPr>
              <a:t>ЖИ мағынасы оңай түсінілетін тіркестерді жақсы түсіндіреді, ал ұлттық-мәдени тіркестерде жиі қателеседі: сөзбе-сөз түсіндіреді немесе мағынасын ойдан шығарады</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Неге тұрақты тіркес ЖИ-ге қиын болуы мүмкін?</a:t>
            </a:r>
            <a:endParaRPr lang="en-US" sz="3200" dirty="0"/>
          </a:p>
        </p:txBody>
      </p:sp>
      <p:sp>
        <p:nvSpPr>
          <p:cNvPr id="3" name="why-idiom"/>
          <p:cNvSpPr/>
          <p:nvPr/>
        </p:nvSpPr>
        <p:spPr>
          <a:xfrm>
            <a:off x="548640" y="1463040"/>
            <a:ext cx="5120640" cy="914400"/>
          </a:xfrm>
          <a:prstGeom prst="roundRect">
            <a:avLst>
              <a:gd name="adj" fmla="val 12000"/>
            </a:avLst>
          </a:prstGeom>
          <a:solidFill>
            <a:schemeClr val="bg1"/>
          </a:solidFill>
          <a:ln w="15875">
            <a:solidFill>
              <a:schemeClr val="accent2"/>
            </a:solidFill>
            <a:prstDash val="solid"/>
          </a:ln>
        </p:spPr>
      </p:sp>
      <p:sp>
        <p:nvSpPr>
          <p:cNvPr id="4" name="why-idiom-text"/>
          <p:cNvSpPr txBox="1"/>
          <p:nvPr/>
        </p:nvSpPr>
        <p:spPr>
          <a:xfrm>
            <a:off x="731520" y="1463040"/>
            <a:ext cx="4754880" cy="914400"/>
          </a:xfrm>
          <a:prstGeom prst="rect">
            <a:avLst/>
          </a:prstGeom>
          <a:noFill/>
          <a:ln/>
        </p:spPr>
        <p:txBody>
          <a:bodyPr wrap="square" lIns="0" tIns="0" rIns="0" bIns="0" rtlCol="0" anchor="ctr"/>
          <a:lstStyle/>
          <a:p>
            <a:pPr algn="ctr" indent="0" marL="0">
              <a:buNone/>
            </a:pPr>
            <a:r>
              <a:rPr lang="en-US" sz="2400" b="1" dirty="0">
                <a:solidFill>
                  <a:schemeClr val="accent2"/>
                </a:solidFill>
                <a:latin typeface="Times New Roman" pitchFamily="34" charset="0"/>
                <a:ea typeface="Times New Roman" pitchFamily="34" charset="-122"/>
                <a:cs typeface="Times New Roman" pitchFamily="34" charset="-120"/>
              </a:rPr>
              <a:t>«</a:t>
            </a:r>
            <a:pPr algn="ctr" indent="0" marL="0">
              <a:buNone/>
            </a:pPr>
            <a:r>
              <a:rPr lang="en-US" sz="2400" b="1" dirty="0">
                <a:solidFill>
                  <a:schemeClr val="tx2"/>
                </a:solidFill>
                <a:latin typeface="Times New Roman" pitchFamily="34" charset="0"/>
                <a:ea typeface="Times New Roman" pitchFamily="34" charset="-122"/>
                <a:cs typeface="Times New Roman" pitchFamily="34" charset="-120"/>
              </a:rPr>
              <a:t>Ит өлген жер</a:t>
            </a:r>
            <a:pPr algn="ctr" indent="0" marL="0">
              <a:buNone/>
            </a:pPr>
            <a:r>
              <a:rPr lang="en-US" sz="2400" b="1" dirty="0">
                <a:solidFill>
                  <a:schemeClr val="accent2"/>
                </a:solidFill>
                <a:latin typeface="Times New Roman" pitchFamily="34" charset="0"/>
                <a:ea typeface="Times New Roman" pitchFamily="34" charset="-122"/>
                <a:cs typeface="Times New Roman" pitchFamily="34" charset="-120"/>
              </a:rPr>
              <a:t>»</a:t>
            </a:r>
            <a:endParaRPr lang="en-US" sz="2400" dirty="0"/>
          </a:p>
        </p:txBody>
      </p:sp>
      <p:sp>
        <p:nvSpPr>
          <p:cNvPr id="5" name="why-literal"/>
          <p:cNvSpPr/>
          <p:nvPr/>
        </p:nvSpPr>
        <p:spPr>
          <a:xfrm>
            <a:off x="548640" y="2697480"/>
            <a:ext cx="5120640" cy="1234440"/>
          </a:xfrm>
          <a:prstGeom prst="roundRect">
            <a:avLst>
              <a:gd name="adj" fmla="val 8889"/>
            </a:avLst>
          </a:prstGeom>
          <a:solidFill>
            <a:srgbClr val="FBE9E9"/>
          </a:solidFill>
          <a:ln/>
        </p:spPr>
      </p:sp>
      <p:sp>
        <p:nvSpPr>
          <p:cNvPr id="6" name="why-literal-text"/>
          <p:cNvSpPr txBox="1"/>
          <p:nvPr/>
        </p:nvSpPr>
        <p:spPr>
          <a:xfrm>
            <a:off x="822960" y="2697480"/>
            <a:ext cx="4572000" cy="1234440"/>
          </a:xfrm>
          <a:prstGeom prst="rect">
            <a:avLst/>
          </a:prstGeom>
          <a:noFill/>
          <a:ln/>
        </p:spPr>
        <p:txBody>
          <a:bodyPr wrap="square" lIns="0" tIns="0" rIns="0" bIns="0" rtlCol="0" anchor="ctr"/>
          <a:lstStyle/>
          <a:p>
            <a:pPr indent="0" marL="0">
              <a:buNone/>
            </a:pPr>
            <a:r>
              <a:rPr lang="en-US" sz="1800" b="1" dirty="0">
                <a:solidFill>
                  <a:schemeClr val="accent3"/>
                </a:solidFill>
              </a:rPr>
              <a:t>ит + өлген + жер</a:t>
            </a:r>
            <a:endParaRPr lang="en-US" sz="1800" dirty="0"/>
          </a:p>
          <a:p>
            <a:pPr indent="0" marL="0">
              <a:buNone/>
            </a:pPr>
            <a:r>
              <a:rPr lang="en-US" sz="1800" dirty="0">
                <a:solidFill>
                  <a:schemeClr val="accent3"/>
                </a:solidFill>
              </a:rPr>
              <a:t>= «иттің өлген жері»  ✗</a:t>
            </a:r>
            <a:endParaRPr lang="en-US" sz="1800" dirty="0"/>
          </a:p>
        </p:txBody>
      </p:sp>
      <p:sp>
        <p:nvSpPr>
          <p:cNvPr id="7" name="why-figurative"/>
          <p:cNvSpPr/>
          <p:nvPr/>
        </p:nvSpPr>
        <p:spPr>
          <a:xfrm>
            <a:off x="548640" y="4160520"/>
            <a:ext cx="5120640" cy="1234440"/>
          </a:xfrm>
          <a:prstGeom prst="roundRect">
            <a:avLst>
              <a:gd name="adj" fmla="val 8889"/>
            </a:avLst>
          </a:prstGeom>
          <a:solidFill>
            <a:srgbClr val="E6F3EC"/>
          </a:solidFill>
          <a:ln/>
        </p:spPr>
      </p:sp>
      <p:sp>
        <p:nvSpPr>
          <p:cNvPr id="8" name="why-fig-text"/>
          <p:cNvSpPr txBox="1"/>
          <p:nvPr/>
        </p:nvSpPr>
        <p:spPr>
          <a:xfrm>
            <a:off x="822960" y="4160520"/>
            <a:ext cx="4572000" cy="1234440"/>
          </a:xfrm>
          <a:prstGeom prst="rect">
            <a:avLst/>
          </a:prstGeom>
          <a:noFill/>
          <a:ln/>
        </p:spPr>
        <p:txBody>
          <a:bodyPr wrap="square" lIns="0" tIns="0" rIns="0" bIns="0" rtlCol="0" anchor="ctr"/>
          <a:lstStyle/>
          <a:p>
            <a:pPr indent="0" marL="0">
              <a:buNone/>
            </a:pPr>
            <a:r>
              <a:rPr lang="en-US" sz="1800" b="1" dirty="0">
                <a:solidFill>
                  <a:schemeClr val="accent4"/>
                </a:solidFill>
              </a:rPr>
              <a:t>тұтас бейнелі мағына</a:t>
            </a:r>
            <a:endParaRPr lang="en-US" sz="1800" dirty="0"/>
          </a:p>
          <a:p>
            <a:pPr indent="0" marL="0">
              <a:buNone/>
            </a:pPr>
            <a:r>
              <a:rPr lang="en-US" sz="1800" dirty="0">
                <a:solidFill>
                  <a:schemeClr val="accent4"/>
                </a:solidFill>
              </a:rPr>
              <a:t>= «өте алыс жер»  ✓</a:t>
            </a:r>
            <a:endParaRPr lang="en-US" sz="1800" dirty="0"/>
          </a:p>
        </p:txBody>
      </p:sp>
      <p:sp>
        <p:nvSpPr>
          <p:cNvPr id="9" name="reason-0-circle"/>
          <p:cNvSpPr/>
          <p:nvPr/>
        </p:nvSpPr>
        <p:spPr>
          <a:xfrm>
            <a:off x="6217920" y="1554480"/>
            <a:ext cx="731520" cy="731520"/>
          </a:xfrm>
          <a:prstGeom prst="ellipse">
            <a:avLst/>
          </a:prstGeom>
          <a:solidFill>
            <a:schemeClr val="accent1"/>
          </a:solidFill>
          <a:ln/>
        </p:spPr>
      </p:sp>
      <p:pic>
        <p:nvPicPr>
          <p:cNvPr id="10" name="reason-0-icon" descr="preencoded.png">    </p:cNvPr>
          <p:cNvPicPr>
            <a:picLocks noChangeAspect="1"/>
          </p:cNvPicPr>
          <p:nvPr/>
        </p:nvPicPr>
        <p:blipFill>
          <a:blip r:embed="rId1"/>
          <a:stretch>
            <a:fillRect/>
          </a:stretch>
        </p:blipFill>
        <p:spPr>
          <a:xfrm>
            <a:off x="6400800" y="1737360"/>
            <a:ext cx="365760" cy="365760"/>
          </a:xfrm>
          <a:prstGeom prst="rect">
            <a:avLst/>
          </a:prstGeom>
        </p:spPr>
      </p:pic>
      <p:sp>
        <p:nvSpPr>
          <p:cNvPr id="11" name="reason-title-0"/>
          <p:cNvSpPr txBox="1"/>
          <p:nvPr/>
        </p:nvSpPr>
        <p:spPr>
          <a:xfrm>
            <a:off x="7178040" y="1463040"/>
            <a:ext cx="4434840" cy="457200"/>
          </a:xfrm>
          <a:prstGeom prst="rect">
            <a:avLst/>
          </a:prstGeom>
          <a:noFill/>
          <a:ln/>
        </p:spPr>
        <p:txBody>
          <a:bodyPr wrap="square" lIns="0" tIns="0" rIns="0" bIns="0" rtlCol="0" anchor="ctr"/>
          <a:lstStyle/>
          <a:p>
            <a:pPr indent="0" marL="0">
              <a:buNone/>
            </a:pPr>
            <a:r>
              <a:rPr lang="en-US" sz="1800" b="1" dirty="0">
                <a:solidFill>
                  <a:schemeClr val="tx2"/>
                </a:solidFill>
              </a:rPr>
              <a:t>Мағынасы сөздерден шықпайды</a:t>
            </a:r>
            <a:endParaRPr lang="en-US" sz="1800" dirty="0"/>
          </a:p>
        </p:txBody>
      </p:sp>
      <p:sp>
        <p:nvSpPr>
          <p:cNvPr id="12" name="reason-text-0"/>
          <p:cNvSpPr txBox="1"/>
          <p:nvPr/>
        </p:nvSpPr>
        <p:spPr>
          <a:xfrm>
            <a:off x="7178040" y="1920240"/>
            <a:ext cx="4434840" cy="685800"/>
          </a:xfrm>
          <a:prstGeom prst="rect">
            <a:avLst/>
          </a:prstGeom>
          <a:noFill/>
          <a:ln/>
        </p:spPr>
        <p:txBody>
          <a:bodyPr wrap="square" lIns="0" tIns="0" rIns="0" bIns="0" rtlCol="0" anchor="t"/>
          <a:lstStyle/>
          <a:p>
            <a:pPr indent="0" marL="0">
              <a:buNone/>
            </a:pPr>
            <a:r>
              <a:rPr lang="en-US" sz="1400" dirty="0">
                <a:solidFill>
                  <a:schemeClr val="tx1"/>
                </a:solidFill>
              </a:rPr>
              <a:t>ЖИ тіркесті сөзбе-сөз «жинап» түсіндіруі мүмкін</a:t>
            </a:r>
            <a:endParaRPr lang="en-US" sz="1400" dirty="0"/>
          </a:p>
        </p:txBody>
      </p:sp>
      <p:sp>
        <p:nvSpPr>
          <p:cNvPr id="13" name="reason-1-circle"/>
          <p:cNvSpPr/>
          <p:nvPr/>
        </p:nvSpPr>
        <p:spPr>
          <a:xfrm>
            <a:off x="6217920" y="2926080"/>
            <a:ext cx="731520" cy="731520"/>
          </a:xfrm>
          <a:prstGeom prst="ellipse">
            <a:avLst/>
          </a:prstGeom>
          <a:solidFill>
            <a:schemeClr val="accent1"/>
          </a:solidFill>
          <a:ln/>
        </p:spPr>
      </p:sp>
      <p:pic>
        <p:nvPicPr>
          <p:cNvPr id="14" name="reason-1-icon" descr="preencoded.png">    </p:cNvPr>
          <p:cNvPicPr>
            <a:picLocks noChangeAspect="1"/>
          </p:cNvPicPr>
          <p:nvPr/>
        </p:nvPicPr>
        <p:blipFill>
          <a:blip r:embed="rId2"/>
          <a:stretch>
            <a:fillRect/>
          </a:stretch>
        </p:blipFill>
        <p:spPr>
          <a:xfrm>
            <a:off x="6400800" y="3108960"/>
            <a:ext cx="365760" cy="365760"/>
          </a:xfrm>
          <a:prstGeom prst="rect">
            <a:avLst/>
          </a:prstGeom>
        </p:spPr>
      </p:pic>
      <p:sp>
        <p:nvSpPr>
          <p:cNvPr id="15" name="reason-title-1"/>
          <p:cNvSpPr txBox="1"/>
          <p:nvPr/>
        </p:nvSpPr>
        <p:spPr>
          <a:xfrm>
            <a:off x="7178040" y="2834640"/>
            <a:ext cx="4434840" cy="457200"/>
          </a:xfrm>
          <a:prstGeom prst="rect">
            <a:avLst/>
          </a:prstGeom>
          <a:noFill/>
          <a:ln/>
        </p:spPr>
        <p:txBody>
          <a:bodyPr wrap="square" lIns="0" tIns="0" rIns="0" bIns="0" rtlCol="0" anchor="ctr"/>
          <a:lstStyle/>
          <a:p>
            <a:pPr indent="0" marL="0">
              <a:buNone/>
            </a:pPr>
            <a:r>
              <a:rPr lang="en-US" sz="1800" b="1" dirty="0">
                <a:solidFill>
                  <a:schemeClr val="tx2"/>
                </a:solidFill>
              </a:rPr>
              <a:t>Қазақша мәтін аз</a:t>
            </a:r>
            <a:endParaRPr lang="en-US" sz="1800" dirty="0"/>
          </a:p>
        </p:txBody>
      </p:sp>
      <p:sp>
        <p:nvSpPr>
          <p:cNvPr id="16" name="reason-text-1"/>
          <p:cNvSpPr txBox="1"/>
          <p:nvPr/>
        </p:nvSpPr>
        <p:spPr>
          <a:xfrm>
            <a:off x="7178040" y="3291840"/>
            <a:ext cx="4434840" cy="685800"/>
          </a:xfrm>
          <a:prstGeom prst="rect">
            <a:avLst/>
          </a:prstGeom>
          <a:noFill/>
          <a:ln/>
        </p:spPr>
        <p:txBody>
          <a:bodyPr wrap="square" lIns="0" tIns="0" rIns="0" bIns="0" rtlCol="0" anchor="t"/>
          <a:lstStyle/>
          <a:p>
            <a:pPr indent="0" marL="0">
              <a:buNone/>
            </a:pPr>
            <a:r>
              <a:rPr lang="en-US" sz="1400" dirty="0">
                <a:solidFill>
                  <a:schemeClr val="tx1"/>
                </a:solidFill>
              </a:rPr>
              <a:t>Ғаламторда қазақ тіліндегі мәтін ағылшын тіліне қарағанда әлдеқайда аз</a:t>
            </a:r>
            <a:endParaRPr lang="en-US" sz="1400" dirty="0"/>
          </a:p>
        </p:txBody>
      </p:sp>
      <p:sp>
        <p:nvSpPr>
          <p:cNvPr id="17" name="reason-2-circle"/>
          <p:cNvSpPr/>
          <p:nvPr/>
        </p:nvSpPr>
        <p:spPr>
          <a:xfrm>
            <a:off x="6217920" y="4297680"/>
            <a:ext cx="731520" cy="731520"/>
          </a:xfrm>
          <a:prstGeom prst="ellipse">
            <a:avLst/>
          </a:prstGeom>
          <a:solidFill>
            <a:schemeClr val="accent1"/>
          </a:solidFill>
          <a:ln/>
        </p:spPr>
      </p:sp>
      <p:pic>
        <p:nvPicPr>
          <p:cNvPr id="18" name="reason-2-icon" descr="preencoded.png">    </p:cNvPr>
          <p:cNvPicPr>
            <a:picLocks noChangeAspect="1"/>
          </p:cNvPicPr>
          <p:nvPr/>
        </p:nvPicPr>
        <p:blipFill>
          <a:blip r:embed="rId3"/>
          <a:stretch>
            <a:fillRect/>
          </a:stretch>
        </p:blipFill>
        <p:spPr>
          <a:xfrm>
            <a:off x="6400800" y="4480560"/>
            <a:ext cx="365760" cy="365760"/>
          </a:xfrm>
          <a:prstGeom prst="rect">
            <a:avLst/>
          </a:prstGeom>
        </p:spPr>
      </p:pic>
      <p:sp>
        <p:nvSpPr>
          <p:cNvPr id="19" name="reason-title-2"/>
          <p:cNvSpPr txBox="1"/>
          <p:nvPr/>
        </p:nvSpPr>
        <p:spPr>
          <a:xfrm>
            <a:off x="7178040" y="4206240"/>
            <a:ext cx="4434840" cy="457200"/>
          </a:xfrm>
          <a:prstGeom prst="rect">
            <a:avLst/>
          </a:prstGeom>
          <a:noFill/>
          <a:ln/>
        </p:spPr>
        <p:txBody>
          <a:bodyPr wrap="square" lIns="0" tIns="0" rIns="0" bIns="0" rtlCol="0" anchor="ctr"/>
          <a:lstStyle/>
          <a:p>
            <a:pPr indent="0" marL="0">
              <a:buNone/>
            </a:pPr>
            <a:r>
              <a:rPr lang="en-US" sz="1800" b="1" dirty="0">
                <a:solidFill>
                  <a:schemeClr val="tx2"/>
                </a:solidFill>
              </a:rPr>
              <a:t>ЖИ ойдан шығара алады</a:t>
            </a:r>
            <a:endParaRPr lang="en-US" sz="1800" dirty="0"/>
          </a:p>
        </p:txBody>
      </p:sp>
      <p:sp>
        <p:nvSpPr>
          <p:cNvPr id="20" name="reason-text-2"/>
          <p:cNvSpPr txBox="1"/>
          <p:nvPr/>
        </p:nvSpPr>
        <p:spPr>
          <a:xfrm>
            <a:off x="7178040" y="4663440"/>
            <a:ext cx="4434840" cy="685800"/>
          </a:xfrm>
          <a:prstGeom prst="rect">
            <a:avLst/>
          </a:prstGeom>
          <a:noFill/>
          <a:ln/>
        </p:spPr>
        <p:txBody>
          <a:bodyPr wrap="square" lIns="0" tIns="0" rIns="0" bIns="0" rtlCol="0" anchor="t"/>
          <a:lstStyle/>
          <a:p>
            <a:pPr indent="0" marL="0">
              <a:buNone/>
            </a:pPr>
            <a:r>
              <a:rPr lang="en-US" sz="1400" dirty="0">
                <a:solidFill>
                  <a:schemeClr val="tx1"/>
                </a:solidFill>
              </a:rPr>
              <a:t>Білмегенін «білмеймін» демей, сенімді түрде жалған жауап береді («галлюцинация»)</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Алдымен 294 тіркесті жинап, санадым</a:t>
            </a:r>
            <a:endParaRPr lang="en-US" sz="3200" dirty="0"/>
          </a:p>
        </p:txBody>
      </p:sp>
      <p:sp>
        <p:nvSpPr>
          <p:cNvPr id="3" name="st-total-value"/>
          <p:cNvSpPr txBox="1"/>
          <p:nvPr/>
        </p:nvSpPr>
        <p:spPr>
          <a:xfrm>
            <a:off x="548640" y="1463040"/>
            <a:ext cx="4023360" cy="868680"/>
          </a:xfrm>
          <a:prstGeom prst="rect">
            <a:avLst/>
          </a:prstGeom>
          <a:noFill/>
          <a:ln/>
        </p:spPr>
        <p:txBody>
          <a:bodyPr wrap="square" lIns="0" tIns="0" rIns="0" bIns="0" rtlCol="0" anchor="ctr"/>
          <a:lstStyle/>
          <a:p>
            <a:pPr indent="0" marL="0">
              <a:buNone/>
            </a:pPr>
            <a:r>
              <a:rPr lang="en-US" sz="5400" b="1" dirty="0">
                <a:solidFill>
                  <a:schemeClr val="tx2"/>
                </a:solidFill>
                <a:latin typeface="Times New Roman" pitchFamily="34" charset="0"/>
                <a:ea typeface="Times New Roman" pitchFamily="34" charset="-122"/>
                <a:cs typeface="Times New Roman" pitchFamily="34" charset="-120"/>
              </a:rPr>
              <a:t>294</a:t>
            </a:r>
            <a:endParaRPr lang="en-US" sz="5400" dirty="0"/>
          </a:p>
        </p:txBody>
      </p:sp>
      <p:sp>
        <p:nvSpPr>
          <p:cNvPr id="4" name="st-total-label"/>
          <p:cNvSpPr txBox="1"/>
          <p:nvPr/>
        </p:nvSpPr>
        <p:spPr>
          <a:xfrm>
            <a:off x="548640" y="2331720"/>
            <a:ext cx="4023360" cy="548640"/>
          </a:xfrm>
          <a:prstGeom prst="rect">
            <a:avLst/>
          </a:prstGeom>
          <a:noFill/>
          <a:ln/>
        </p:spPr>
        <p:txBody>
          <a:bodyPr wrap="square" lIns="0" tIns="0" rIns="0" bIns="0" rtlCol="0" anchor="t"/>
          <a:lstStyle/>
          <a:p>
            <a:pPr indent="0" marL="0">
              <a:buNone/>
            </a:pPr>
            <a:r>
              <a:rPr lang="en-US" sz="1400" dirty="0">
                <a:solidFill>
                  <a:schemeClr val="tx1"/>
                </a:solidFill>
              </a:rPr>
              <a:t>тұрақты тіркес жинадым, 22 мағыналық топқа бөлдім</a:t>
            </a:r>
            <a:endParaRPr lang="en-US" sz="1400" dirty="0"/>
          </a:p>
        </p:txBody>
      </p:sp>
      <p:sp>
        <p:nvSpPr>
          <p:cNvPr id="5" name="st-body-value"/>
          <p:cNvSpPr txBox="1"/>
          <p:nvPr/>
        </p:nvSpPr>
        <p:spPr>
          <a:xfrm>
            <a:off x="548640" y="3063240"/>
            <a:ext cx="4023360" cy="868680"/>
          </a:xfrm>
          <a:prstGeom prst="rect">
            <a:avLst/>
          </a:prstGeom>
          <a:noFill/>
          <a:ln/>
        </p:spPr>
        <p:txBody>
          <a:bodyPr wrap="square" lIns="0" tIns="0" rIns="0" bIns="0" rtlCol="0" anchor="ctr"/>
          <a:lstStyle/>
          <a:p>
            <a:pPr indent="0" marL="0">
              <a:buNone/>
            </a:pPr>
            <a:r>
              <a:rPr lang="en-US" sz="5400" b="1" dirty="0">
                <a:solidFill>
                  <a:schemeClr val="accent1"/>
                </a:solidFill>
                <a:latin typeface="Times New Roman" pitchFamily="34" charset="0"/>
                <a:ea typeface="Times New Roman" pitchFamily="34" charset="-122"/>
                <a:cs typeface="Times New Roman" pitchFamily="34" charset="-120"/>
              </a:rPr>
              <a:t>41,8%</a:t>
            </a:r>
            <a:endParaRPr lang="en-US" sz="5400" dirty="0"/>
          </a:p>
        </p:txBody>
      </p:sp>
      <p:sp>
        <p:nvSpPr>
          <p:cNvPr id="6" name="st-body-label"/>
          <p:cNvSpPr txBox="1"/>
          <p:nvPr/>
        </p:nvSpPr>
        <p:spPr>
          <a:xfrm>
            <a:off x="548640" y="3931920"/>
            <a:ext cx="4023360" cy="548640"/>
          </a:xfrm>
          <a:prstGeom prst="rect">
            <a:avLst/>
          </a:prstGeom>
          <a:noFill/>
          <a:ln/>
        </p:spPr>
        <p:txBody>
          <a:bodyPr wrap="square" lIns="0" tIns="0" rIns="0" bIns="0" rtlCol="0" anchor="t"/>
          <a:lstStyle/>
          <a:p>
            <a:pPr indent="0" marL="0">
              <a:buNone/>
            </a:pPr>
            <a:r>
              <a:rPr lang="en-US" sz="1400" dirty="0">
                <a:solidFill>
                  <a:schemeClr val="tx1"/>
                </a:solidFill>
              </a:rPr>
              <a:t>тіркесте дене мүшесінің атауы бар</a:t>
            </a:r>
            <a:endParaRPr lang="en-US" sz="1400" dirty="0"/>
          </a:p>
        </p:txBody>
      </p:sp>
      <p:sp>
        <p:nvSpPr>
          <p:cNvPr id="7" name="st-animal-value"/>
          <p:cNvSpPr txBox="1"/>
          <p:nvPr/>
        </p:nvSpPr>
        <p:spPr>
          <a:xfrm>
            <a:off x="548640" y="4663440"/>
            <a:ext cx="4023360" cy="868680"/>
          </a:xfrm>
          <a:prstGeom prst="rect">
            <a:avLst/>
          </a:prstGeom>
          <a:noFill/>
          <a:ln/>
        </p:spPr>
        <p:txBody>
          <a:bodyPr wrap="square" lIns="0" tIns="0" rIns="0" bIns="0" rtlCol="0" anchor="ctr"/>
          <a:lstStyle/>
          <a:p>
            <a:pPr indent="0" marL="0">
              <a:buNone/>
            </a:pPr>
            <a:r>
              <a:rPr lang="en-US" sz="5400" b="1" dirty="0">
                <a:solidFill>
                  <a:schemeClr val="accent2"/>
                </a:solidFill>
                <a:latin typeface="Times New Roman" pitchFamily="34" charset="0"/>
                <a:ea typeface="Times New Roman" pitchFamily="34" charset="-122"/>
                <a:cs typeface="Times New Roman" pitchFamily="34" charset="-120"/>
              </a:rPr>
              <a:t>11,6%</a:t>
            </a:r>
            <a:endParaRPr lang="en-US" sz="5400" dirty="0"/>
          </a:p>
        </p:txBody>
      </p:sp>
      <p:sp>
        <p:nvSpPr>
          <p:cNvPr id="8" name="st-animal-label"/>
          <p:cNvSpPr txBox="1"/>
          <p:nvPr/>
        </p:nvSpPr>
        <p:spPr>
          <a:xfrm>
            <a:off x="548640" y="5532120"/>
            <a:ext cx="4023360" cy="548640"/>
          </a:xfrm>
          <a:prstGeom prst="rect">
            <a:avLst/>
          </a:prstGeom>
          <a:noFill/>
          <a:ln/>
        </p:spPr>
        <p:txBody>
          <a:bodyPr wrap="square" lIns="0" tIns="0" rIns="0" bIns="0" rtlCol="0" anchor="t"/>
          <a:lstStyle/>
          <a:p>
            <a:pPr indent="0" marL="0">
              <a:buNone/>
            </a:pPr>
            <a:r>
              <a:rPr lang="en-US" sz="1400" dirty="0">
                <a:solidFill>
                  <a:schemeClr val="tx1"/>
                </a:solidFill>
              </a:rPr>
              <a:t>тіркесте жануар атауы бар (ит, ат, қой)</a:t>
            </a:r>
            <a:endParaRPr lang="en-US" sz="1400" dirty="0"/>
          </a:p>
        </p:txBody>
      </p:sp>
      <p:graphicFrame>
        <p:nvGraphicFramePr>
          <p:cNvPr id="9" name="chart-body" descr=""/>
          <p:cNvGraphicFramePr/>
          <p:nvPr/>
        </p:nvGraphicFramePr>
        <p:xfrm>
          <a:off x="4937760" y="1371600"/>
          <a:ext cx="6675120" cy="475488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Тәжірибе қалай жүрді</a:t>
            </a:r>
            <a:endParaRPr lang="en-US" sz="3200" dirty="0"/>
          </a:p>
        </p:txBody>
      </p:sp>
      <p:sp>
        <p:nvSpPr>
          <p:cNvPr id="3" name="step-card-0"/>
          <p:cNvSpPr/>
          <p:nvPr/>
        </p:nvSpPr>
        <p:spPr>
          <a:xfrm>
            <a:off x="548640" y="1463040"/>
            <a:ext cx="2514600" cy="3886200"/>
          </a:xfrm>
          <a:prstGeom prst="roundRect">
            <a:avLst>
              <a:gd name="adj" fmla="val 4364"/>
            </a:avLst>
          </a:prstGeom>
          <a:solidFill>
            <a:schemeClr val="bg2"/>
          </a:solidFill>
          <a:ln/>
        </p:spPr>
      </p:sp>
      <p:sp>
        <p:nvSpPr>
          <p:cNvPr id="4" name="step-0-circle"/>
          <p:cNvSpPr/>
          <p:nvPr/>
        </p:nvSpPr>
        <p:spPr>
          <a:xfrm>
            <a:off x="1417320" y="1691640"/>
            <a:ext cx="777240" cy="777240"/>
          </a:xfrm>
          <a:prstGeom prst="ellipse">
            <a:avLst/>
          </a:prstGeom>
          <a:solidFill>
            <a:schemeClr val="accent1"/>
          </a:solidFill>
          <a:ln/>
        </p:spPr>
      </p:sp>
      <p:pic>
        <p:nvPicPr>
          <p:cNvPr id="5" name="step-0-icon" descr="preencoded.png">    </p:cNvPr>
          <p:cNvPicPr>
            <a:picLocks noChangeAspect="1"/>
          </p:cNvPicPr>
          <p:nvPr/>
        </p:nvPicPr>
        <p:blipFill>
          <a:blip r:embed="rId1"/>
          <a:stretch>
            <a:fillRect/>
          </a:stretch>
        </p:blipFill>
        <p:spPr>
          <a:xfrm>
            <a:off x="1611630" y="1885950"/>
            <a:ext cx="388620" cy="388620"/>
          </a:xfrm>
          <a:prstGeom prst="rect">
            <a:avLst/>
          </a:prstGeom>
        </p:spPr>
      </p:pic>
      <p:sp>
        <p:nvSpPr>
          <p:cNvPr id="6" name="step-title-0"/>
          <p:cNvSpPr txBox="1"/>
          <p:nvPr/>
        </p:nvSpPr>
        <p:spPr>
          <a:xfrm>
            <a:off x="731520" y="2606040"/>
            <a:ext cx="2148840" cy="548640"/>
          </a:xfrm>
          <a:prstGeom prst="rect">
            <a:avLst/>
          </a:prstGeom>
          <a:noFill/>
          <a:ln/>
        </p:spPr>
        <p:txBody>
          <a:bodyPr wrap="square" lIns="0" tIns="0" rIns="0" bIns="0" rtlCol="0" anchor="ctr"/>
          <a:lstStyle/>
          <a:p>
            <a:pPr algn="ctr" indent="0" marL="0">
              <a:buNone/>
            </a:pPr>
            <a:r>
              <a:rPr lang="en-US" sz="2000" b="1" dirty="0">
                <a:solidFill>
                  <a:schemeClr val="tx2"/>
                </a:solidFill>
              </a:rPr>
              <a:t>30 тіркес</a:t>
            </a:r>
            <a:endParaRPr lang="en-US" sz="2000" dirty="0"/>
          </a:p>
        </p:txBody>
      </p:sp>
      <p:sp>
        <p:nvSpPr>
          <p:cNvPr id="7" name="step-text-0"/>
          <p:cNvSpPr txBox="1"/>
          <p:nvPr/>
        </p:nvSpPr>
        <p:spPr>
          <a:xfrm>
            <a:off x="777240" y="3200400"/>
            <a:ext cx="2057400" cy="2011680"/>
          </a:xfrm>
          <a:prstGeom prst="rect">
            <a:avLst/>
          </a:prstGeom>
          <a:noFill/>
          <a:ln/>
        </p:spPr>
        <p:txBody>
          <a:bodyPr wrap="square" lIns="0" tIns="0" rIns="0" bIns="0" rtlCol="0" anchor="t"/>
          <a:lstStyle/>
          <a:p>
            <a:pPr indent="0" marL="0">
              <a:buNone/>
            </a:pPr>
            <a:r>
              <a:rPr lang="en-US" sz="1400" dirty="0">
                <a:solidFill>
                  <a:schemeClr val="tx1"/>
                </a:solidFill>
              </a:rPr>
              <a:t>3 топ:</a:t>
            </a:r>
            <a:endParaRPr lang="en-US" sz="1400" dirty="0"/>
          </a:p>
          <a:p>
            <a:pPr indent="0" marL="0">
              <a:buNone/>
            </a:pPr>
            <a:r>
              <a:rPr lang="en-US" sz="1400" dirty="0">
                <a:solidFill>
                  <a:schemeClr val="tx1"/>
                </a:solidFill>
              </a:rPr>
              <a:t>А – мөлдір бейнелі</a:t>
            </a:r>
            <a:endParaRPr lang="en-US" sz="1400" dirty="0"/>
          </a:p>
          <a:p>
            <a:pPr indent="0" marL="0">
              <a:buNone/>
            </a:pPr>
            <a:r>
              <a:rPr lang="en-US" sz="1400" dirty="0">
                <a:solidFill>
                  <a:schemeClr val="tx1"/>
                </a:solidFill>
              </a:rPr>
              <a:t>Ә – астарлы бейнелі</a:t>
            </a:r>
            <a:endParaRPr lang="en-US" sz="1400" dirty="0"/>
          </a:p>
          <a:p>
            <a:pPr indent="0" marL="0">
              <a:buNone/>
            </a:pPr>
            <a:r>
              <a:rPr lang="en-US" sz="1400" dirty="0">
                <a:solidFill>
                  <a:schemeClr val="tx1"/>
                </a:solidFill>
              </a:rPr>
              <a:t>Б – ұлттық-мәдени</a:t>
            </a:r>
            <a:endParaRPr lang="en-US" sz="1400" dirty="0"/>
          </a:p>
        </p:txBody>
      </p:sp>
      <p:sp>
        <p:nvSpPr>
          <p:cNvPr id="8" name="step-arrow-0"/>
          <p:cNvSpPr/>
          <p:nvPr/>
        </p:nvSpPr>
        <p:spPr>
          <a:xfrm>
            <a:off x="3108960" y="3246120"/>
            <a:ext cx="228600" cy="320040"/>
          </a:xfrm>
          <a:prstGeom prst="rightArrow">
            <a:avLst/>
          </a:prstGeom>
          <a:solidFill>
            <a:schemeClr val="accent5"/>
          </a:solidFill>
          <a:ln/>
        </p:spPr>
      </p:sp>
      <p:sp>
        <p:nvSpPr>
          <p:cNvPr id="9" name="step-card-1"/>
          <p:cNvSpPr/>
          <p:nvPr/>
        </p:nvSpPr>
        <p:spPr>
          <a:xfrm>
            <a:off x="3383280" y="1463040"/>
            <a:ext cx="2514600" cy="3886200"/>
          </a:xfrm>
          <a:prstGeom prst="roundRect">
            <a:avLst>
              <a:gd name="adj" fmla="val 4364"/>
            </a:avLst>
          </a:prstGeom>
          <a:solidFill>
            <a:schemeClr val="bg2"/>
          </a:solidFill>
          <a:ln/>
        </p:spPr>
      </p:sp>
      <p:sp>
        <p:nvSpPr>
          <p:cNvPr id="10" name="step-1-circle"/>
          <p:cNvSpPr/>
          <p:nvPr/>
        </p:nvSpPr>
        <p:spPr>
          <a:xfrm>
            <a:off x="4251960" y="1691640"/>
            <a:ext cx="777240" cy="777240"/>
          </a:xfrm>
          <a:prstGeom prst="ellipse">
            <a:avLst/>
          </a:prstGeom>
          <a:solidFill>
            <a:schemeClr val="accent1"/>
          </a:solidFill>
          <a:ln/>
        </p:spPr>
      </p:sp>
      <p:pic>
        <p:nvPicPr>
          <p:cNvPr id="11" name="step-1-icon" descr="preencoded.png">    </p:cNvPr>
          <p:cNvPicPr>
            <a:picLocks noChangeAspect="1"/>
          </p:cNvPicPr>
          <p:nvPr/>
        </p:nvPicPr>
        <p:blipFill>
          <a:blip r:embed="rId2"/>
          <a:stretch>
            <a:fillRect/>
          </a:stretch>
        </p:blipFill>
        <p:spPr>
          <a:xfrm>
            <a:off x="4446270" y="1885950"/>
            <a:ext cx="388620" cy="388620"/>
          </a:xfrm>
          <a:prstGeom prst="rect">
            <a:avLst/>
          </a:prstGeom>
        </p:spPr>
      </p:pic>
      <p:sp>
        <p:nvSpPr>
          <p:cNvPr id="12" name="step-title-1"/>
          <p:cNvSpPr txBox="1"/>
          <p:nvPr/>
        </p:nvSpPr>
        <p:spPr>
          <a:xfrm>
            <a:off x="3566160" y="2606040"/>
            <a:ext cx="2148840" cy="548640"/>
          </a:xfrm>
          <a:prstGeom prst="rect">
            <a:avLst/>
          </a:prstGeom>
          <a:noFill/>
          <a:ln/>
        </p:spPr>
        <p:txBody>
          <a:bodyPr wrap="square" lIns="0" tIns="0" rIns="0" bIns="0" rtlCol="0" anchor="ctr"/>
          <a:lstStyle/>
          <a:p>
            <a:pPr algn="ctr" indent="0" marL="0">
              <a:buNone/>
            </a:pPr>
            <a:r>
              <a:rPr lang="en-US" sz="2000" b="1" dirty="0">
                <a:solidFill>
                  <a:schemeClr val="tx2"/>
                </a:solidFill>
              </a:rPr>
              <a:t>3 ЖИ</a:t>
            </a:r>
            <a:endParaRPr lang="en-US" sz="2000" dirty="0"/>
          </a:p>
        </p:txBody>
      </p:sp>
      <p:sp>
        <p:nvSpPr>
          <p:cNvPr id="13" name="step-text-1"/>
          <p:cNvSpPr txBox="1"/>
          <p:nvPr/>
        </p:nvSpPr>
        <p:spPr>
          <a:xfrm>
            <a:off x="3611880" y="3200400"/>
            <a:ext cx="2057400" cy="2011680"/>
          </a:xfrm>
          <a:prstGeom prst="rect">
            <a:avLst/>
          </a:prstGeom>
          <a:noFill/>
          <a:ln/>
        </p:spPr>
        <p:txBody>
          <a:bodyPr wrap="square" lIns="0" tIns="0" rIns="0" bIns="0" rtlCol="0" anchor="t"/>
          <a:lstStyle/>
          <a:p>
            <a:pPr indent="0" marL="0">
              <a:buNone/>
            </a:pPr>
            <a:r>
              <a:rPr lang="en-US" sz="1400" dirty="0">
                <a:solidFill>
                  <a:schemeClr val="tx1"/>
                </a:solidFill>
              </a:rPr>
              <a:t>ChatGPT, DeepSeek, Gemini</a:t>
            </a:r>
            <a:endParaRPr lang="en-US" sz="1400" dirty="0"/>
          </a:p>
          <a:p>
            <a:pPr indent="0" marL="0">
              <a:buNone/>
            </a:pPr>
            <a:endParaRPr lang="en-US" sz="1400" dirty="0"/>
          </a:p>
          <a:p>
            <a:pPr indent="0" marL="0">
              <a:buNone/>
            </a:pPr>
            <a:r>
              <a:rPr lang="en-US" sz="1400" dirty="0">
                <a:solidFill>
                  <a:schemeClr val="tx1"/>
                </a:solidFill>
              </a:rPr>
              <a:t>әр сұраныс – жаңа чатта, мәтіні бірдей</a:t>
            </a:r>
            <a:endParaRPr lang="en-US" sz="1400" dirty="0"/>
          </a:p>
        </p:txBody>
      </p:sp>
      <p:sp>
        <p:nvSpPr>
          <p:cNvPr id="14" name="step-arrow-1"/>
          <p:cNvSpPr/>
          <p:nvPr/>
        </p:nvSpPr>
        <p:spPr>
          <a:xfrm>
            <a:off x="5943600" y="3246120"/>
            <a:ext cx="228600" cy="320040"/>
          </a:xfrm>
          <a:prstGeom prst="rightArrow">
            <a:avLst/>
          </a:prstGeom>
          <a:solidFill>
            <a:schemeClr val="accent5"/>
          </a:solidFill>
          <a:ln/>
        </p:spPr>
      </p:sp>
      <p:sp>
        <p:nvSpPr>
          <p:cNvPr id="15" name="step-card-2"/>
          <p:cNvSpPr/>
          <p:nvPr/>
        </p:nvSpPr>
        <p:spPr>
          <a:xfrm>
            <a:off x="6217920" y="1463040"/>
            <a:ext cx="2514600" cy="3886200"/>
          </a:xfrm>
          <a:prstGeom prst="roundRect">
            <a:avLst>
              <a:gd name="adj" fmla="val 4364"/>
            </a:avLst>
          </a:prstGeom>
          <a:solidFill>
            <a:schemeClr val="bg2"/>
          </a:solidFill>
          <a:ln/>
        </p:spPr>
      </p:sp>
      <p:sp>
        <p:nvSpPr>
          <p:cNvPr id="16" name="step-2-circle"/>
          <p:cNvSpPr/>
          <p:nvPr/>
        </p:nvSpPr>
        <p:spPr>
          <a:xfrm>
            <a:off x="7086600" y="1691640"/>
            <a:ext cx="777240" cy="777240"/>
          </a:xfrm>
          <a:prstGeom prst="ellipse">
            <a:avLst/>
          </a:prstGeom>
          <a:solidFill>
            <a:schemeClr val="accent1"/>
          </a:solidFill>
          <a:ln/>
        </p:spPr>
      </p:sp>
      <p:pic>
        <p:nvPicPr>
          <p:cNvPr id="17" name="step-2-icon" descr="preencoded.png">    </p:cNvPr>
          <p:cNvPicPr>
            <a:picLocks noChangeAspect="1"/>
          </p:cNvPicPr>
          <p:nvPr/>
        </p:nvPicPr>
        <p:blipFill>
          <a:blip r:embed="rId3"/>
          <a:stretch>
            <a:fillRect/>
          </a:stretch>
        </p:blipFill>
        <p:spPr>
          <a:xfrm>
            <a:off x="7280910" y="1885950"/>
            <a:ext cx="388620" cy="388620"/>
          </a:xfrm>
          <a:prstGeom prst="rect">
            <a:avLst/>
          </a:prstGeom>
        </p:spPr>
      </p:pic>
      <p:sp>
        <p:nvSpPr>
          <p:cNvPr id="18" name="step-title-2"/>
          <p:cNvSpPr txBox="1"/>
          <p:nvPr/>
        </p:nvSpPr>
        <p:spPr>
          <a:xfrm>
            <a:off x="6400800" y="2606040"/>
            <a:ext cx="2148840" cy="548640"/>
          </a:xfrm>
          <a:prstGeom prst="rect">
            <a:avLst/>
          </a:prstGeom>
          <a:noFill/>
          <a:ln/>
        </p:spPr>
        <p:txBody>
          <a:bodyPr wrap="square" lIns="0" tIns="0" rIns="0" bIns="0" rtlCol="0" anchor="ctr"/>
          <a:lstStyle/>
          <a:p>
            <a:pPr algn="ctr" indent="0" marL="0">
              <a:buNone/>
            </a:pPr>
            <a:r>
              <a:rPr lang="en-US" sz="2000" b="1" dirty="0">
                <a:solidFill>
                  <a:schemeClr val="tx2"/>
                </a:solidFill>
              </a:rPr>
              <a:t>3 тапсырма</a:t>
            </a:r>
            <a:endParaRPr lang="en-US" sz="2000" dirty="0"/>
          </a:p>
        </p:txBody>
      </p:sp>
      <p:sp>
        <p:nvSpPr>
          <p:cNvPr id="19" name="step-text-2"/>
          <p:cNvSpPr txBox="1"/>
          <p:nvPr/>
        </p:nvSpPr>
        <p:spPr>
          <a:xfrm>
            <a:off x="6446520" y="3200400"/>
            <a:ext cx="2057400" cy="2011680"/>
          </a:xfrm>
          <a:prstGeom prst="rect">
            <a:avLst/>
          </a:prstGeom>
          <a:noFill/>
          <a:ln/>
        </p:spPr>
        <p:txBody>
          <a:bodyPr wrap="square" lIns="0" tIns="0" rIns="0" bIns="0" rtlCol="0" anchor="t"/>
          <a:lstStyle/>
          <a:p>
            <a:pPr indent="0" marL="0">
              <a:buNone/>
            </a:pPr>
            <a:r>
              <a:rPr lang="en-US" sz="1400" dirty="0">
                <a:solidFill>
                  <a:schemeClr val="tx1"/>
                </a:solidFill>
              </a:rPr>
              <a:t>мағынасын түсіндіру – 90</a:t>
            </a:r>
            <a:endParaRPr lang="en-US" sz="1400" dirty="0"/>
          </a:p>
          <a:p>
            <a:pPr indent="0" marL="0">
              <a:buNone/>
            </a:pPr>
            <a:r>
              <a:rPr lang="en-US" sz="1400" dirty="0">
                <a:solidFill>
                  <a:schemeClr val="tx1"/>
                </a:solidFill>
              </a:rPr>
              <a:t>синоним, антоним – 18</a:t>
            </a:r>
            <a:endParaRPr lang="en-US" sz="1400" dirty="0"/>
          </a:p>
          <a:p>
            <a:pPr indent="0" marL="0">
              <a:buNone/>
            </a:pPr>
            <a:r>
              <a:rPr lang="en-US" sz="1400" dirty="0">
                <a:solidFill>
                  <a:schemeClr val="tx1"/>
                </a:solidFill>
              </a:rPr>
              <a:t>топ бойынша атау – 74</a:t>
            </a:r>
            <a:endParaRPr lang="en-US" sz="1400" dirty="0"/>
          </a:p>
        </p:txBody>
      </p:sp>
      <p:sp>
        <p:nvSpPr>
          <p:cNvPr id="20" name="step-arrow-2"/>
          <p:cNvSpPr/>
          <p:nvPr/>
        </p:nvSpPr>
        <p:spPr>
          <a:xfrm>
            <a:off x="8778240" y="3246120"/>
            <a:ext cx="228600" cy="320040"/>
          </a:xfrm>
          <a:prstGeom prst="rightArrow">
            <a:avLst/>
          </a:prstGeom>
          <a:solidFill>
            <a:schemeClr val="accent5"/>
          </a:solidFill>
          <a:ln/>
        </p:spPr>
      </p:sp>
      <p:sp>
        <p:nvSpPr>
          <p:cNvPr id="21" name="step-card-3"/>
          <p:cNvSpPr/>
          <p:nvPr/>
        </p:nvSpPr>
        <p:spPr>
          <a:xfrm>
            <a:off x="9052560" y="1463040"/>
            <a:ext cx="2514600" cy="3886200"/>
          </a:xfrm>
          <a:prstGeom prst="roundRect">
            <a:avLst>
              <a:gd name="adj" fmla="val 4364"/>
            </a:avLst>
          </a:prstGeom>
          <a:solidFill>
            <a:schemeClr val="bg2"/>
          </a:solidFill>
          <a:ln/>
        </p:spPr>
      </p:sp>
      <p:sp>
        <p:nvSpPr>
          <p:cNvPr id="22" name="step-3-circle"/>
          <p:cNvSpPr/>
          <p:nvPr/>
        </p:nvSpPr>
        <p:spPr>
          <a:xfrm>
            <a:off x="9921240" y="1691640"/>
            <a:ext cx="777240" cy="777240"/>
          </a:xfrm>
          <a:prstGeom prst="ellipse">
            <a:avLst/>
          </a:prstGeom>
          <a:solidFill>
            <a:schemeClr val="accent2"/>
          </a:solidFill>
          <a:ln/>
        </p:spPr>
      </p:sp>
      <p:pic>
        <p:nvPicPr>
          <p:cNvPr id="23" name="step-3-icon" descr="preencoded.png">    </p:cNvPr>
          <p:cNvPicPr>
            <a:picLocks noChangeAspect="1"/>
          </p:cNvPicPr>
          <p:nvPr/>
        </p:nvPicPr>
        <p:blipFill>
          <a:blip r:embed="rId4"/>
          <a:stretch>
            <a:fillRect/>
          </a:stretch>
        </p:blipFill>
        <p:spPr>
          <a:xfrm>
            <a:off x="10115550" y="1885950"/>
            <a:ext cx="388620" cy="388620"/>
          </a:xfrm>
          <a:prstGeom prst="rect">
            <a:avLst/>
          </a:prstGeom>
        </p:spPr>
      </p:pic>
      <p:sp>
        <p:nvSpPr>
          <p:cNvPr id="24" name="step-title-3"/>
          <p:cNvSpPr txBox="1"/>
          <p:nvPr/>
        </p:nvSpPr>
        <p:spPr>
          <a:xfrm>
            <a:off x="9235440" y="2606040"/>
            <a:ext cx="2148840" cy="548640"/>
          </a:xfrm>
          <a:prstGeom prst="rect">
            <a:avLst/>
          </a:prstGeom>
          <a:noFill/>
          <a:ln/>
        </p:spPr>
        <p:txBody>
          <a:bodyPr wrap="square" lIns="0" tIns="0" rIns="0" bIns="0" rtlCol="0" anchor="ctr"/>
          <a:lstStyle/>
          <a:p>
            <a:pPr algn="ctr" indent="0" marL="0">
              <a:buNone/>
            </a:pPr>
            <a:r>
              <a:rPr lang="en-US" sz="2000" b="1" dirty="0">
                <a:solidFill>
                  <a:schemeClr val="tx2"/>
                </a:solidFill>
              </a:rPr>
              <a:t>Сөздікпен тексеру</a:t>
            </a:r>
            <a:endParaRPr lang="en-US" sz="2000" dirty="0"/>
          </a:p>
        </p:txBody>
      </p:sp>
      <p:sp>
        <p:nvSpPr>
          <p:cNvPr id="25" name="step-text-3"/>
          <p:cNvSpPr txBox="1"/>
          <p:nvPr/>
        </p:nvSpPr>
        <p:spPr>
          <a:xfrm>
            <a:off x="9281160" y="3200400"/>
            <a:ext cx="2057400" cy="2011680"/>
          </a:xfrm>
          <a:prstGeom prst="rect">
            <a:avLst/>
          </a:prstGeom>
          <a:noFill/>
          <a:ln/>
        </p:spPr>
        <p:txBody>
          <a:bodyPr wrap="square" lIns="0" tIns="0" rIns="0" bIns="0" rtlCol="0" anchor="t"/>
          <a:lstStyle/>
          <a:p>
            <a:pPr indent="0" marL="0">
              <a:buNone/>
            </a:pPr>
            <a:r>
              <a:rPr lang="en-US" sz="1400" dirty="0">
                <a:solidFill>
                  <a:schemeClr val="tx1"/>
                </a:solidFill>
              </a:rPr>
              <a:t>Кеңесбаев сөздігі</a:t>
            </a:r>
            <a:endParaRPr lang="en-US" sz="1400" dirty="0"/>
          </a:p>
          <a:p>
            <a:pPr indent="0" marL="0">
              <a:buNone/>
            </a:pPr>
            <a:endParaRPr lang="en-US" sz="1400" dirty="0"/>
          </a:p>
          <a:p>
            <a:pPr indent="0" marL="0">
              <a:buNone/>
            </a:pPr>
            <a:r>
              <a:rPr lang="en-US" sz="1400" dirty="0">
                <a:solidFill>
                  <a:schemeClr val="tx1"/>
                </a:solidFill>
              </a:rPr>
              <a:t>2 – дұрыс</a:t>
            </a:r>
            <a:endParaRPr lang="en-US" sz="1400" dirty="0"/>
          </a:p>
          <a:p>
            <a:pPr indent="0" marL="0">
              <a:buNone/>
            </a:pPr>
            <a:r>
              <a:rPr lang="en-US" sz="1400" dirty="0">
                <a:solidFill>
                  <a:schemeClr val="tx1"/>
                </a:solidFill>
              </a:rPr>
              <a:t>1 – жартылай</a:t>
            </a:r>
            <a:endParaRPr lang="en-US" sz="1400" dirty="0"/>
          </a:p>
          <a:p>
            <a:pPr indent="0" marL="0">
              <a:buNone/>
            </a:pPr>
            <a:r>
              <a:rPr lang="en-US" sz="1400" dirty="0">
                <a:solidFill>
                  <a:schemeClr val="tx1"/>
                </a:solidFill>
              </a:rPr>
              <a:t>0 – қате</a:t>
            </a:r>
            <a:endParaRPr lang="en-US" sz="1400" dirty="0"/>
          </a:p>
        </p:txBody>
      </p:sp>
      <p:sp>
        <p:nvSpPr>
          <p:cNvPr id="26" name="steps-total"/>
          <p:cNvSpPr txBox="1"/>
          <p:nvPr/>
        </p:nvSpPr>
        <p:spPr>
          <a:xfrm>
            <a:off x="548640" y="5532120"/>
            <a:ext cx="11064240" cy="640080"/>
          </a:xfrm>
          <a:prstGeom prst="rect">
            <a:avLst/>
          </a:prstGeom>
          <a:noFill/>
          <a:ln/>
        </p:spPr>
        <p:txBody>
          <a:bodyPr wrap="square" lIns="0" tIns="0" rIns="0" bIns="0" rtlCol="0" anchor="ctr"/>
          <a:lstStyle/>
          <a:p>
            <a:pPr indent="0" marL="0">
              <a:buNone/>
            </a:pPr>
            <a:r>
              <a:rPr lang="en-US" sz="2800" b="1" dirty="0">
                <a:solidFill>
                  <a:schemeClr val="accent1"/>
                </a:solidFill>
                <a:latin typeface="Times New Roman" pitchFamily="34" charset="0"/>
                <a:ea typeface="Times New Roman" pitchFamily="34" charset="-122"/>
                <a:cs typeface="Times New Roman" pitchFamily="34" charset="-120"/>
              </a:rPr>
              <a:t>182</a:t>
            </a:r>
            <a:pPr indent="0" marL="0">
              <a:buNone/>
            </a:pPr>
            <a:r>
              <a:rPr lang="en-US" sz="1800" dirty="0">
                <a:solidFill>
                  <a:schemeClr val="tx1"/>
                </a:solidFill>
              </a:rPr>
              <a:t>  жауапты сөздікпен салыстырып, баллды өзім қойдым</a:t>
            </a:r>
            <a:endParaRPr lang="en-US" sz="2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ЖИ тіркестердің 94%-ын дұрыс түсіндірді</a:t>
            </a:r>
            <a:endParaRPr lang="en-US" sz="3200" dirty="0"/>
          </a:p>
        </p:txBody>
      </p:sp>
      <p:sp>
        <p:nvSpPr>
          <p:cNvPr id="3" name="r1-avg-value"/>
          <p:cNvSpPr txBox="1"/>
          <p:nvPr/>
        </p:nvSpPr>
        <p:spPr>
          <a:xfrm>
            <a:off x="548640" y="1463040"/>
            <a:ext cx="3566160" cy="868680"/>
          </a:xfrm>
          <a:prstGeom prst="rect">
            <a:avLst/>
          </a:prstGeom>
          <a:noFill/>
          <a:ln/>
        </p:spPr>
        <p:txBody>
          <a:bodyPr wrap="square" lIns="0" tIns="0" rIns="0" bIns="0" rtlCol="0" anchor="ctr"/>
          <a:lstStyle/>
          <a:p>
            <a:pPr indent="0" marL="0">
              <a:buNone/>
            </a:pPr>
            <a:r>
              <a:rPr lang="en-US" sz="6600" b="1" dirty="0">
                <a:solidFill>
                  <a:schemeClr val="accent1"/>
                </a:solidFill>
                <a:latin typeface="Times New Roman" pitchFamily="34" charset="0"/>
                <a:ea typeface="Times New Roman" pitchFamily="34" charset="-122"/>
                <a:cs typeface="Times New Roman" pitchFamily="34" charset="-120"/>
              </a:rPr>
              <a:t>93,9%</a:t>
            </a:r>
            <a:endParaRPr lang="en-US" sz="6600" dirty="0"/>
          </a:p>
        </p:txBody>
      </p:sp>
      <p:sp>
        <p:nvSpPr>
          <p:cNvPr id="4" name="r1-avg-label"/>
          <p:cNvSpPr txBox="1"/>
          <p:nvPr/>
        </p:nvSpPr>
        <p:spPr>
          <a:xfrm>
            <a:off x="548640" y="2331720"/>
            <a:ext cx="3566160" cy="548640"/>
          </a:xfrm>
          <a:prstGeom prst="rect">
            <a:avLst/>
          </a:prstGeom>
          <a:noFill/>
          <a:ln/>
        </p:spPr>
        <p:txBody>
          <a:bodyPr wrap="square" lIns="0" tIns="0" rIns="0" bIns="0" rtlCol="0" anchor="t"/>
          <a:lstStyle/>
          <a:p>
            <a:pPr indent="0" marL="0">
              <a:buNone/>
            </a:pPr>
            <a:r>
              <a:rPr lang="en-US" sz="1400" dirty="0">
                <a:solidFill>
                  <a:schemeClr val="tx1"/>
                </a:solidFill>
              </a:rPr>
              <a:t>1-тәжірибедегі орташа сапа көрсеткіші (90 жауап)</a:t>
            </a:r>
            <a:endParaRPr lang="en-US" sz="1400" dirty="0"/>
          </a:p>
        </p:txBody>
      </p:sp>
      <p:sp>
        <p:nvSpPr>
          <p:cNvPr id="5" name="r1-ai-card-0"/>
          <p:cNvSpPr/>
          <p:nvPr/>
        </p:nvSpPr>
        <p:spPr>
          <a:xfrm>
            <a:off x="548640" y="3246120"/>
            <a:ext cx="3566160" cy="685800"/>
          </a:xfrm>
          <a:prstGeom prst="roundRect">
            <a:avLst>
              <a:gd name="adj" fmla="val 16000"/>
            </a:avLst>
          </a:prstGeom>
          <a:solidFill>
            <a:schemeClr val="bg2"/>
          </a:solidFill>
          <a:ln/>
        </p:spPr>
      </p:sp>
      <p:sp>
        <p:nvSpPr>
          <p:cNvPr id="6" name="r1-ai-dot-0"/>
          <p:cNvSpPr/>
          <p:nvPr/>
        </p:nvSpPr>
        <p:spPr>
          <a:xfrm>
            <a:off x="731520" y="3465576"/>
            <a:ext cx="246888" cy="246888"/>
          </a:xfrm>
          <a:prstGeom prst="ellipse">
            <a:avLst/>
          </a:prstGeom>
          <a:solidFill>
            <a:srgbClr val="00A3B4"/>
          </a:solidFill>
          <a:ln/>
        </p:spPr>
      </p:sp>
      <p:sp>
        <p:nvSpPr>
          <p:cNvPr id="7" name="r1-ai-name-0"/>
          <p:cNvSpPr txBox="1"/>
          <p:nvPr/>
        </p:nvSpPr>
        <p:spPr>
          <a:xfrm>
            <a:off x="1143000" y="3246120"/>
            <a:ext cx="1645920" cy="685800"/>
          </a:xfrm>
          <a:prstGeom prst="rect">
            <a:avLst/>
          </a:prstGeom>
          <a:noFill/>
          <a:ln/>
        </p:spPr>
        <p:txBody>
          <a:bodyPr wrap="square" lIns="0" tIns="0" rIns="0" bIns="0" rtlCol="0" anchor="ctr"/>
          <a:lstStyle/>
          <a:p>
            <a:pPr indent="0" marL="0">
              <a:buNone/>
            </a:pPr>
            <a:r>
              <a:rPr lang="en-US" sz="1600" dirty="0">
                <a:solidFill>
                  <a:schemeClr val="tx1"/>
                </a:solidFill>
              </a:rPr>
              <a:t>ChatGPT</a:t>
            </a:r>
            <a:endParaRPr lang="en-US" sz="1600" dirty="0"/>
          </a:p>
        </p:txBody>
      </p:sp>
      <p:sp>
        <p:nvSpPr>
          <p:cNvPr id="8" name="r1-ai-val-0"/>
          <p:cNvSpPr txBox="1"/>
          <p:nvPr/>
        </p:nvSpPr>
        <p:spPr>
          <a:xfrm>
            <a:off x="2743200" y="3246120"/>
            <a:ext cx="1188720" cy="685800"/>
          </a:xfrm>
          <a:prstGeom prst="rect">
            <a:avLst/>
          </a:prstGeom>
          <a:noFill/>
          <a:ln/>
        </p:spPr>
        <p:txBody>
          <a:bodyPr wrap="square" lIns="0" tIns="0" rIns="0" bIns="0" rtlCol="0" anchor="ctr"/>
          <a:lstStyle/>
          <a:p>
            <a:pPr algn="r" indent="0" marL="0">
              <a:buNone/>
            </a:pPr>
            <a:r>
              <a:rPr lang="en-US" sz="2000" b="1" dirty="0">
                <a:solidFill>
                  <a:schemeClr val="tx2"/>
                </a:solidFill>
              </a:rPr>
              <a:t>96,7%</a:t>
            </a:r>
            <a:endParaRPr lang="en-US" sz="2000" dirty="0"/>
          </a:p>
        </p:txBody>
      </p:sp>
      <p:sp>
        <p:nvSpPr>
          <p:cNvPr id="9" name="r1-ai-card-1"/>
          <p:cNvSpPr/>
          <p:nvPr/>
        </p:nvSpPr>
        <p:spPr>
          <a:xfrm>
            <a:off x="548640" y="4114800"/>
            <a:ext cx="3566160" cy="685800"/>
          </a:xfrm>
          <a:prstGeom prst="roundRect">
            <a:avLst>
              <a:gd name="adj" fmla="val 16000"/>
            </a:avLst>
          </a:prstGeom>
          <a:solidFill>
            <a:schemeClr val="bg2"/>
          </a:solidFill>
          <a:ln/>
        </p:spPr>
      </p:sp>
      <p:sp>
        <p:nvSpPr>
          <p:cNvPr id="10" name="r1-ai-dot-1"/>
          <p:cNvSpPr/>
          <p:nvPr/>
        </p:nvSpPr>
        <p:spPr>
          <a:xfrm>
            <a:off x="731520" y="4334256"/>
            <a:ext cx="246888" cy="246888"/>
          </a:xfrm>
          <a:prstGeom prst="ellipse">
            <a:avLst/>
          </a:prstGeom>
          <a:solidFill>
            <a:srgbClr val="E8A900"/>
          </a:solidFill>
          <a:ln/>
        </p:spPr>
      </p:sp>
      <p:sp>
        <p:nvSpPr>
          <p:cNvPr id="11" name="r1-ai-name-1"/>
          <p:cNvSpPr txBox="1"/>
          <p:nvPr/>
        </p:nvSpPr>
        <p:spPr>
          <a:xfrm>
            <a:off x="1143000" y="4114800"/>
            <a:ext cx="1645920" cy="685800"/>
          </a:xfrm>
          <a:prstGeom prst="rect">
            <a:avLst/>
          </a:prstGeom>
          <a:noFill/>
          <a:ln/>
        </p:spPr>
        <p:txBody>
          <a:bodyPr wrap="square" lIns="0" tIns="0" rIns="0" bIns="0" rtlCol="0" anchor="ctr"/>
          <a:lstStyle/>
          <a:p>
            <a:pPr indent="0" marL="0">
              <a:buNone/>
            </a:pPr>
            <a:r>
              <a:rPr lang="en-US" sz="1600" dirty="0">
                <a:solidFill>
                  <a:schemeClr val="tx1"/>
                </a:solidFill>
              </a:rPr>
              <a:t>DeepSeek</a:t>
            </a:r>
            <a:endParaRPr lang="en-US" sz="1600" dirty="0"/>
          </a:p>
        </p:txBody>
      </p:sp>
      <p:sp>
        <p:nvSpPr>
          <p:cNvPr id="12" name="r1-ai-val-1"/>
          <p:cNvSpPr txBox="1"/>
          <p:nvPr/>
        </p:nvSpPr>
        <p:spPr>
          <a:xfrm>
            <a:off x="2743200" y="4114800"/>
            <a:ext cx="1188720" cy="685800"/>
          </a:xfrm>
          <a:prstGeom prst="rect">
            <a:avLst/>
          </a:prstGeom>
          <a:noFill/>
          <a:ln/>
        </p:spPr>
        <p:txBody>
          <a:bodyPr wrap="square" lIns="0" tIns="0" rIns="0" bIns="0" rtlCol="0" anchor="ctr"/>
          <a:lstStyle/>
          <a:p>
            <a:pPr algn="r" indent="0" marL="0">
              <a:buNone/>
            </a:pPr>
            <a:r>
              <a:rPr lang="en-US" sz="2000" b="1" dirty="0">
                <a:solidFill>
                  <a:schemeClr val="tx2"/>
                </a:solidFill>
              </a:rPr>
              <a:t>93,3%</a:t>
            </a:r>
            <a:endParaRPr lang="en-US" sz="2000" dirty="0"/>
          </a:p>
        </p:txBody>
      </p:sp>
      <p:sp>
        <p:nvSpPr>
          <p:cNvPr id="13" name="r1-ai-card-2"/>
          <p:cNvSpPr/>
          <p:nvPr/>
        </p:nvSpPr>
        <p:spPr>
          <a:xfrm>
            <a:off x="548640" y="4983480"/>
            <a:ext cx="3566160" cy="685800"/>
          </a:xfrm>
          <a:prstGeom prst="roundRect">
            <a:avLst>
              <a:gd name="adj" fmla="val 16000"/>
            </a:avLst>
          </a:prstGeom>
          <a:solidFill>
            <a:schemeClr val="bg2"/>
          </a:solidFill>
          <a:ln/>
        </p:spPr>
      </p:sp>
      <p:sp>
        <p:nvSpPr>
          <p:cNvPr id="14" name="r1-ai-dot-2"/>
          <p:cNvSpPr/>
          <p:nvPr/>
        </p:nvSpPr>
        <p:spPr>
          <a:xfrm>
            <a:off x="731520" y="5202936"/>
            <a:ext cx="246888" cy="246888"/>
          </a:xfrm>
          <a:prstGeom prst="ellipse">
            <a:avLst/>
          </a:prstGeom>
          <a:solidFill>
            <a:srgbClr val="0B3C49"/>
          </a:solidFill>
          <a:ln/>
        </p:spPr>
      </p:sp>
      <p:sp>
        <p:nvSpPr>
          <p:cNvPr id="15" name="r1-ai-name-2"/>
          <p:cNvSpPr txBox="1"/>
          <p:nvPr/>
        </p:nvSpPr>
        <p:spPr>
          <a:xfrm>
            <a:off x="1143000" y="4983480"/>
            <a:ext cx="1645920" cy="685800"/>
          </a:xfrm>
          <a:prstGeom prst="rect">
            <a:avLst/>
          </a:prstGeom>
          <a:noFill/>
          <a:ln/>
        </p:spPr>
        <p:txBody>
          <a:bodyPr wrap="square" lIns="0" tIns="0" rIns="0" bIns="0" rtlCol="0" anchor="ctr"/>
          <a:lstStyle/>
          <a:p>
            <a:pPr indent="0" marL="0">
              <a:buNone/>
            </a:pPr>
            <a:r>
              <a:rPr lang="en-US" sz="1600" dirty="0">
                <a:solidFill>
                  <a:schemeClr val="tx1"/>
                </a:solidFill>
              </a:rPr>
              <a:t>Gemini</a:t>
            </a:r>
            <a:endParaRPr lang="en-US" sz="1600" dirty="0"/>
          </a:p>
        </p:txBody>
      </p:sp>
      <p:sp>
        <p:nvSpPr>
          <p:cNvPr id="16" name="r1-ai-val-2"/>
          <p:cNvSpPr txBox="1"/>
          <p:nvPr/>
        </p:nvSpPr>
        <p:spPr>
          <a:xfrm>
            <a:off x="2743200" y="4983480"/>
            <a:ext cx="1188720" cy="685800"/>
          </a:xfrm>
          <a:prstGeom prst="rect">
            <a:avLst/>
          </a:prstGeom>
          <a:noFill/>
          <a:ln/>
        </p:spPr>
        <p:txBody>
          <a:bodyPr wrap="square" lIns="0" tIns="0" rIns="0" bIns="0" rtlCol="0" anchor="ctr"/>
          <a:lstStyle/>
          <a:p>
            <a:pPr algn="r" indent="0" marL="0">
              <a:buNone/>
            </a:pPr>
            <a:r>
              <a:rPr lang="en-US" sz="2000" b="1" dirty="0">
                <a:solidFill>
                  <a:schemeClr val="tx2"/>
                </a:solidFill>
              </a:rPr>
              <a:t>91,7%</a:t>
            </a:r>
            <a:endParaRPr lang="en-US" sz="2000" dirty="0"/>
          </a:p>
        </p:txBody>
      </p:sp>
      <p:graphicFrame>
        <p:nvGraphicFramePr>
          <p:cNvPr id="17" name="chart-groups" descr=""/>
          <p:cNvGraphicFramePr/>
          <p:nvPr/>
        </p:nvGraphicFramePr>
        <p:xfrm>
          <a:off x="4480560" y="1371600"/>
          <a:ext cx="7132320" cy="484632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Әлсіз тұс – ұлттық-мәдени тіркестер</a:t>
            </a:r>
            <a:endParaRPr lang="en-US" sz="3200" dirty="0"/>
          </a:p>
        </p:txBody>
      </p:sp>
      <p:sp>
        <p:nvSpPr>
          <p:cNvPr id="3" name="weak-stat-value"/>
          <p:cNvSpPr txBox="1"/>
          <p:nvPr/>
        </p:nvSpPr>
        <p:spPr>
          <a:xfrm>
            <a:off x="548640" y="1463040"/>
            <a:ext cx="3840480" cy="868680"/>
          </a:xfrm>
          <a:prstGeom prst="rect">
            <a:avLst/>
          </a:prstGeom>
          <a:noFill/>
          <a:ln/>
        </p:spPr>
        <p:txBody>
          <a:bodyPr wrap="square" lIns="0" tIns="0" rIns="0" bIns="0" rtlCol="0" anchor="ctr"/>
          <a:lstStyle/>
          <a:p>
            <a:pPr indent="0" marL="0">
              <a:buNone/>
            </a:pPr>
            <a:r>
              <a:rPr lang="en-US" sz="6600" b="1" dirty="0">
                <a:solidFill>
                  <a:schemeClr val="accent3"/>
                </a:solidFill>
                <a:latin typeface="Times New Roman" pitchFamily="34" charset="0"/>
                <a:ea typeface="Times New Roman" pitchFamily="34" charset="-122"/>
                <a:cs typeface="Times New Roman" pitchFamily="34" charset="-120"/>
              </a:rPr>
              <a:t>86,7%</a:t>
            </a:r>
            <a:endParaRPr lang="en-US" sz="6600" dirty="0"/>
          </a:p>
        </p:txBody>
      </p:sp>
      <p:sp>
        <p:nvSpPr>
          <p:cNvPr id="4" name="weak-stat-label"/>
          <p:cNvSpPr txBox="1"/>
          <p:nvPr/>
        </p:nvSpPr>
        <p:spPr>
          <a:xfrm>
            <a:off x="548640" y="2331720"/>
            <a:ext cx="3840480" cy="548640"/>
          </a:xfrm>
          <a:prstGeom prst="rect">
            <a:avLst/>
          </a:prstGeom>
          <a:noFill/>
          <a:ln/>
        </p:spPr>
        <p:txBody>
          <a:bodyPr wrap="square" lIns="0" tIns="0" rIns="0" bIns="0" rtlCol="0" anchor="t"/>
          <a:lstStyle/>
          <a:p>
            <a:pPr indent="0" marL="0">
              <a:buNone/>
            </a:pPr>
            <a:r>
              <a:rPr lang="en-US" sz="1400" dirty="0">
                <a:solidFill>
                  <a:schemeClr val="tx1"/>
                </a:solidFill>
              </a:rPr>
              <a:t>ұлттық-мәдени тіркестерде (А тобында – 95%, Ә тобында – 100%)</a:t>
            </a:r>
            <a:endParaRPr lang="en-US" sz="1400" dirty="0"/>
          </a:p>
        </p:txBody>
      </p:sp>
      <p:sp>
        <p:nvSpPr>
          <p:cNvPr id="5" name="weak-callout"/>
          <p:cNvSpPr/>
          <p:nvPr/>
        </p:nvSpPr>
        <p:spPr>
          <a:xfrm>
            <a:off x="548640" y="3566160"/>
            <a:ext cx="3840480" cy="2377440"/>
          </a:xfrm>
          <a:prstGeom prst="roundRect">
            <a:avLst>
              <a:gd name="adj" fmla="val 4615"/>
            </a:avLst>
          </a:prstGeom>
          <a:solidFill>
            <a:schemeClr val="tx2"/>
          </a:solidFill>
          <a:ln/>
        </p:spPr>
      </p:sp>
      <p:sp>
        <p:nvSpPr>
          <p:cNvPr id="6" name="weak-callout-text"/>
          <p:cNvSpPr txBox="1"/>
          <p:nvPr/>
        </p:nvSpPr>
        <p:spPr>
          <a:xfrm>
            <a:off x="868680" y="3566160"/>
            <a:ext cx="3291840" cy="2377440"/>
          </a:xfrm>
          <a:prstGeom prst="rect">
            <a:avLst/>
          </a:prstGeom>
          <a:noFill/>
          <a:ln/>
        </p:spPr>
        <p:txBody>
          <a:bodyPr wrap="square" lIns="0" tIns="0" rIns="0" bIns="0" rtlCol="0" anchor="ctr"/>
          <a:lstStyle/>
          <a:p>
            <a:pPr indent="0" marL="0">
              <a:buNone/>
            </a:pPr>
            <a:r>
              <a:rPr lang="en-US" sz="4400" b="1" dirty="0">
                <a:solidFill>
                  <a:schemeClr val="accent2"/>
                </a:solidFill>
                <a:latin typeface="Times New Roman" pitchFamily="34" charset="0"/>
                <a:ea typeface="Times New Roman" pitchFamily="34" charset="-122"/>
                <a:cs typeface="Times New Roman" pitchFamily="34" charset="-120"/>
              </a:rPr>
              <a:t>4 / 4</a:t>
            </a:r>
            <a:endParaRPr lang="en-US" sz="4400" dirty="0"/>
          </a:p>
          <a:p>
            <a:pPr indent="0" marL="0">
              <a:buNone/>
            </a:pPr>
            <a:r>
              <a:rPr lang="en-US" sz="1700" dirty="0">
                <a:solidFill>
                  <a:schemeClr val="bg1"/>
                </a:solidFill>
              </a:rPr>
              <a:t>0 балл алған жауаптың бәрі осы топта</a:t>
            </a:r>
            <a:endParaRPr lang="en-US" sz="4400" dirty="0"/>
          </a:p>
        </p:txBody>
      </p:sp>
      <p:sp>
        <p:nvSpPr>
          <p:cNvPr id="7" name="err-card-0"/>
          <p:cNvSpPr/>
          <p:nvPr/>
        </p:nvSpPr>
        <p:spPr>
          <a:xfrm>
            <a:off x="4846320" y="1463040"/>
            <a:ext cx="6766560" cy="1325880"/>
          </a:xfrm>
          <a:prstGeom prst="roundRect">
            <a:avLst>
              <a:gd name="adj" fmla="val 8276"/>
            </a:avLst>
          </a:prstGeom>
          <a:solidFill>
            <a:schemeClr val="bg2"/>
          </a:solidFill>
          <a:ln/>
        </p:spPr>
      </p:sp>
      <p:sp>
        <p:nvSpPr>
          <p:cNvPr id="8" name="err-idiom-0"/>
          <p:cNvSpPr txBox="1"/>
          <p:nvPr/>
        </p:nvSpPr>
        <p:spPr>
          <a:xfrm>
            <a:off x="5120640" y="1463040"/>
            <a:ext cx="3383280" cy="1325880"/>
          </a:xfrm>
          <a:prstGeom prst="rect">
            <a:avLst/>
          </a:prstGeom>
          <a:noFill/>
          <a:ln/>
        </p:spPr>
        <p:txBody>
          <a:bodyPr wrap="square" lIns="0" tIns="0" rIns="0" bIns="0" rtlCol="0" anchor="ctr"/>
          <a:lstStyle/>
          <a:p>
            <a:pPr indent="0" marL="0">
              <a:buNone/>
            </a:pPr>
            <a:r>
              <a:rPr lang="en-US" sz="2000" b="1" dirty="0">
                <a:solidFill>
                  <a:schemeClr val="tx2"/>
                </a:solidFill>
                <a:latin typeface="Times New Roman" pitchFamily="34" charset="0"/>
                <a:ea typeface="Times New Roman" pitchFamily="34" charset="-122"/>
                <a:cs typeface="Times New Roman" pitchFamily="34" charset="-120"/>
              </a:rPr>
              <a:t>«Есек құрты мұртына түсу»</a:t>
            </a:r>
            <a:endParaRPr lang="en-US" sz="2000" dirty="0"/>
          </a:p>
          <a:p>
            <a:pPr indent="0" marL="0">
              <a:buNone/>
            </a:pPr>
            <a:r>
              <a:rPr lang="en-US" sz="1400" dirty="0">
                <a:solidFill>
                  <a:schemeClr val="accent5"/>
                </a:solidFill>
              </a:rPr>
              <a:t>сөздікте: </a:t>
            </a:r>
            <a:pPr indent="0" marL="0">
              <a:buNone/>
            </a:pPr>
            <a:r>
              <a:rPr lang="en-US" sz="1400" b="1" dirty="0">
                <a:solidFill>
                  <a:schemeClr val="accent4"/>
                </a:solidFill>
              </a:rPr>
              <a:t>баю</a:t>
            </a:r>
            <a:endParaRPr lang="en-US" sz="2000" dirty="0"/>
          </a:p>
        </p:txBody>
      </p:sp>
      <p:sp>
        <p:nvSpPr>
          <p:cNvPr id="9" name="err-ai-0"/>
          <p:cNvSpPr txBox="1"/>
          <p:nvPr/>
        </p:nvSpPr>
        <p:spPr>
          <a:xfrm>
            <a:off x="8595360" y="1463040"/>
            <a:ext cx="2834640" cy="1325880"/>
          </a:xfrm>
          <a:prstGeom prst="rect">
            <a:avLst/>
          </a:prstGeom>
          <a:noFill/>
          <a:ln/>
        </p:spPr>
        <p:txBody>
          <a:bodyPr wrap="square" lIns="0" tIns="0" rIns="0" bIns="0" rtlCol="0" anchor="ctr"/>
          <a:lstStyle/>
          <a:p>
            <a:pPr indent="0" marL="0">
              <a:buNone/>
            </a:pPr>
            <a:r>
              <a:rPr lang="en-US" sz="1400" dirty="0">
                <a:solidFill>
                  <a:schemeClr val="accent5"/>
                </a:solidFill>
              </a:rPr>
              <a:t>Gemini:</a:t>
            </a:r>
            <a:endParaRPr lang="en-US" sz="1400" dirty="0"/>
          </a:p>
          <a:p>
            <a:pPr indent="0" marL="0">
              <a:buNone/>
            </a:pPr>
            <a:r>
              <a:rPr lang="en-US" sz="1700" b="1" dirty="0">
                <a:solidFill>
                  <a:schemeClr val="accent3"/>
                </a:solidFill>
              </a:rPr>
              <a:t>«ашуға міну, шамдану»</a:t>
            </a:r>
            <a:endParaRPr lang="en-US" sz="1400" dirty="0"/>
          </a:p>
        </p:txBody>
      </p:sp>
      <p:sp>
        <p:nvSpPr>
          <p:cNvPr id="10" name="err-card-1"/>
          <p:cNvSpPr/>
          <p:nvPr/>
        </p:nvSpPr>
        <p:spPr>
          <a:xfrm>
            <a:off x="4846320" y="2971800"/>
            <a:ext cx="6766560" cy="1325880"/>
          </a:xfrm>
          <a:prstGeom prst="roundRect">
            <a:avLst>
              <a:gd name="adj" fmla="val 8276"/>
            </a:avLst>
          </a:prstGeom>
          <a:solidFill>
            <a:schemeClr val="bg2"/>
          </a:solidFill>
          <a:ln/>
        </p:spPr>
      </p:sp>
      <p:sp>
        <p:nvSpPr>
          <p:cNvPr id="11" name="err-idiom-1"/>
          <p:cNvSpPr txBox="1"/>
          <p:nvPr/>
        </p:nvSpPr>
        <p:spPr>
          <a:xfrm>
            <a:off x="5120640" y="2971800"/>
            <a:ext cx="3383280" cy="1325880"/>
          </a:xfrm>
          <a:prstGeom prst="rect">
            <a:avLst/>
          </a:prstGeom>
          <a:noFill/>
          <a:ln/>
        </p:spPr>
        <p:txBody>
          <a:bodyPr wrap="square" lIns="0" tIns="0" rIns="0" bIns="0" rtlCol="0" anchor="ctr"/>
          <a:lstStyle/>
          <a:p>
            <a:pPr indent="0" marL="0">
              <a:buNone/>
            </a:pPr>
            <a:r>
              <a:rPr lang="en-US" sz="2000" b="1" dirty="0">
                <a:solidFill>
                  <a:schemeClr val="tx2"/>
                </a:solidFill>
                <a:latin typeface="Times New Roman" pitchFamily="34" charset="0"/>
                <a:ea typeface="Times New Roman" pitchFamily="34" charset="-122"/>
                <a:cs typeface="Times New Roman" pitchFamily="34" charset="-120"/>
              </a:rPr>
              <a:t>«Айдарынан жел есу»</a:t>
            </a:r>
            <a:endParaRPr lang="en-US" sz="2000" dirty="0"/>
          </a:p>
          <a:p>
            <a:pPr indent="0" marL="0">
              <a:buNone/>
            </a:pPr>
            <a:r>
              <a:rPr lang="en-US" sz="1400" dirty="0">
                <a:solidFill>
                  <a:schemeClr val="accent5"/>
                </a:solidFill>
              </a:rPr>
              <a:t>сөздікте: </a:t>
            </a:r>
            <a:pPr indent="0" marL="0">
              <a:buNone/>
            </a:pPr>
            <a:r>
              <a:rPr lang="en-US" sz="1400" b="1" dirty="0">
                <a:solidFill>
                  <a:schemeClr val="accent4"/>
                </a:solidFill>
              </a:rPr>
              <a:t>асқақтап, дәурен сүру</a:t>
            </a:r>
            <a:endParaRPr lang="en-US" sz="2000" dirty="0"/>
          </a:p>
        </p:txBody>
      </p:sp>
      <p:sp>
        <p:nvSpPr>
          <p:cNvPr id="12" name="err-ai-1"/>
          <p:cNvSpPr txBox="1"/>
          <p:nvPr/>
        </p:nvSpPr>
        <p:spPr>
          <a:xfrm>
            <a:off x="8595360" y="2971800"/>
            <a:ext cx="2834640" cy="1325880"/>
          </a:xfrm>
          <a:prstGeom prst="rect">
            <a:avLst/>
          </a:prstGeom>
          <a:noFill/>
          <a:ln/>
        </p:spPr>
        <p:txBody>
          <a:bodyPr wrap="square" lIns="0" tIns="0" rIns="0" bIns="0" rtlCol="0" anchor="ctr"/>
          <a:lstStyle/>
          <a:p>
            <a:pPr indent="0" marL="0">
              <a:buNone/>
            </a:pPr>
            <a:r>
              <a:rPr lang="en-US" sz="1400" dirty="0">
                <a:solidFill>
                  <a:schemeClr val="accent5"/>
                </a:solidFill>
              </a:rPr>
              <a:t>DeepSeek:</a:t>
            </a:r>
            <a:endParaRPr lang="en-US" sz="1400" dirty="0"/>
          </a:p>
          <a:p>
            <a:pPr indent="0" marL="0">
              <a:buNone/>
            </a:pPr>
            <a:r>
              <a:rPr lang="en-US" sz="1700" b="1" dirty="0">
                <a:solidFill>
                  <a:schemeClr val="accent3"/>
                </a:solidFill>
              </a:rPr>
              <a:t>«мақтанып, тәкаппарлану»</a:t>
            </a:r>
            <a:endParaRPr lang="en-US" sz="1400" dirty="0"/>
          </a:p>
        </p:txBody>
      </p:sp>
      <p:sp>
        <p:nvSpPr>
          <p:cNvPr id="13" name="err-card-2"/>
          <p:cNvSpPr/>
          <p:nvPr/>
        </p:nvSpPr>
        <p:spPr>
          <a:xfrm>
            <a:off x="4846320" y="4480560"/>
            <a:ext cx="6766560" cy="1325880"/>
          </a:xfrm>
          <a:prstGeom prst="roundRect">
            <a:avLst>
              <a:gd name="adj" fmla="val 8276"/>
            </a:avLst>
          </a:prstGeom>
          <a:solidFill>
            <a:schemeClr val="bg2"/>
          </a:solidFill>
          <a:ln/>
        </p:spPr>
      </p:sp>
      <p:sp>
        <p:nvSpPr>
          <p:cNvPr id="14" name="err-idiom-2"/>
          <p:cNvSpPr txBox="1"/>
          <p:nvPr/>
        </p:nvSpPr>
        <p:spPr>
          <a:xfrm>
            <a:off x="5120640" y="4480560"/>
            <a:ext cx="3383280" cy="1325880"/>
          </a:xfrm>
          <a:prstGeom prst="rect">
            <a:avLst/>
          </a:prstGeom>
          <a:noFill/>
          <a:ln/>
        </p:spPr>
        <p:txBody>
          <a:bodyPr wrap="square" lIns="0" tIns="0" rIns="0" bIns="0" rtlCol="0" anchor="ctr"/>
          <a:lstStyle/>
          <a:p>
            <a:pPr indent="0" marL="0">
              <a:buNone/>
            </a:pPr>
            <a:r>
              <a:rPr lang="en-US" sz="2000" b="1" dirty="0">
                <a:solidFill>
                  <a:schemeClr val="tx2"/>
                </a:solidFill>
                <a:latin typeface="Times New Roman" pitchFamily="34" charset="0"/>
                <a:ea typeface="Times New Roman" pitchFamily="34" charset="-122"/>
                <a:cs typeface="Times New Roman" pitchFamily="34" charset="-120"/>
              </a:rPr>
              <a:t>«Жер қаптыру»</a:t>
            </a:r>
            <a:endParaRPr lang="en-US" sz="2000" dirty="0"/>
          </a:p>
          <a:p>
            <a:pPr indent="0" marL="0">
              <a:buNone/>
            </a:pPr>
            <a:r>
              <a:rPr lang="en-US" sz="1400" dirty="0">
                <a:solidFill>
                  <a:schemeClr val="accent5"/>
                </a:solidFill>
              </a:rPr>
              <a:t>сөздікте: </a:t>
            </a:r>
            <a:pPr indent="0" marL="0">
              <a:buNone/>
            </a:pPr>
            <a:r>
              <a:rPr lang="en-US" sz="1400" b="1" dirty="0">
                <a:solidFill>
                  <a:schemeClr val="accent4"/>
                </a:solidFill>
              </a:rPr>
              <a:t>алдау</a:t>
            </a:r>
            <a:endParaRPr lang="en-US" sz="2000" dirty="0"/>
          </a:p>
        </p:txBody>
      </p:sp>
      <p:sp>
        <p:nvSpPr>
          <p:cNvPr id="15" name="err-ai-2"/>
          <p:cNvSpPr txBox="1"/>
          <p:nvPr/>
        </p:nvSpPr>
        <p:spPr>
          <a:xfrm>
            <a:off x="8595360" y="4480560"/>
            <a:ext cx="2834640" cy="1325880"/>
          </a:xfrm>
          <a:prstGeom prst="rect">
            <a:avLst/>
          </a:prstGeom>
          <a:noFill/>
          <a:ln/>
        </p:spPr>
        <p:txBody>
          <a:bodyPr wrap="square" lIns="0" tIns="0" rIns="0" bIns="0" rtlCol="0" anchor="ctr"/>
          <a:lstStyle/>
          <a:p>
            <a:pPr indent="0" marL="0">
              <a:buNone/>
            </a:pPr>
            <a:r>
              <a:rPr lang="en-US" sz="1400" dirty="0">
                <a:solidFill>
                  <a:schemeClr val="accent5"/>
                </a:solidFill>
              </a:rPr>
              <a:t>ChatGPT, Gemini:</a:t>
            </a:r>
            <a:endParaRPr lang="en-US" sz="1400" dirty="0"/>
          </a:p>
          <a:p>
            <a:pPr indent="0" marL="0">
              <a:buNone/>
            </a:pPr>
            <a:r>
              <a:rPr lang="en-US" sz="1700" b="1" dirty="0">
                <a:solidFill>
                  <a:schemeClr val="accent3"/>
                </a:solidFill>
              </a:rPr>
              <a:t>«жеңу»</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Күткенім мен шыққан нәтиже</a:t>
            </a:r>
            <a:endParaRPr lang="en-US" sz="3200" dirty="0"/>
          </a:p>
        </p:txBody>
      </p:sp>
      <p:sp>
        <p:nvSpPr>
          <p:cNvPr id="3" name="exp-col-0"/>
          <p:cNvSpPr txBox="1"/>
          <p:nvPr/>
        </p:nvSpPr>
        <p:spPr>
          <a:xfrm>
            <a:off x="548640" y="1417320"/>
            <a:ext cx="3566160" cy="502920"/>
          </a:xfrm>
          <a:prstGeom prst="rect">
            <a:avLst/>
          </a:prstGeom>
          <a:noFill/>
          <a:ln/>
        </p:spPr>
        <p:txBody>
          <a:bodyPr wrap="square" lIns="0" tIns="0" rIns="0" bIns="0" rtlCol="0" anchor="ctr"/>
          <a:lstStyle/>
          <a:p>
            <a:pPr indent="0" marL="0">
              <a:buNone/>
            </a:pPr>
            <a:r>
              <a:rPr lang="en-US" sz="2200" b="1" dirty="0">
                <a:solidFill>
                  <a:schemeClr val="accent5"/>
                </a:solidFill>
              </a:rPr>
              <a:t>Күттім</a:t>
            </a:r>
            <a:endParaRPr lang="en-US" sz="2200" dirty="0"/>
          </a:p>
        </p:txBody>
      </p:sp>
      <p:sp>
        <p:nvSpPr>
          <p:cNvPr id="4" name="exp-card-0-0"/>
          <p:cNvSpPr/>
          <p:nvPr/>
        </p:nvSpPr>
        <p:spPr>
          <a:xfrm>
            <a:off x="548640" y="2057400"/>
            <a:ext cx="3566160" cy="1280160"/>
          </a:xfrm>
          <a:prstGeom prst="roundRect">
            <a:avLst>
              <a:gd name="adj" fmla="val 8571"/>
            </a:avLst>
          </a:prstGeom>
          <a:solidFill>
            <a:srgbClr val="F2F4F5"/>
          </a:solidFill>
          <a:ln/>
        </p:spPr>
      </p:sp>
      <p:sp>
        <p:nvSpPr>
          <p:cNvPr id="5" name="exp-text-0-0"/>
          <p:cNvSpPr txBox="1"/>
          <p:nvPr/>
        </p:nvSpPr>
        <p:spPr>
          <a:xfrm>
            <a:off x="777240" y="2057400"/>
            <a:ext cx="3108960" cy="1280160"/>
          </a:xfrm>
          <a:prstGeom prst="rect">
            <a:avLst/>
          </a:prstGeom>
          <a:noFill/>
          <a:ln/>
        </p:spPr>
        <p:txBody>
          <a:bodyPr wrap="square" lIns="0" tIns="0" rIns="0" bIns="0" rtlCol="0" anchor="ctr"/>
          <a:lstStyle/>
          <a:p>
            <a:pPr indent="0" marL="0">
              <a:buNone/>
            </a:pPr>
            <a:r>
              <a:rPr lang="en-US" sz="1700" b="1" dirty="0">
                <a:solidFill>
                  <a:schemeClr val="tx2"/>
                </a:solidFill>
              </a:rPr>
              <a:t>Сөзбе-сөз түсіндіреді</a:t>
            </a:r>
            <a:endParaRPr lang="en-US" sz="1700" dirty="0"/>
          </a:p>
          <a:p>
            <a:pPr indent="0" marL="0">
              <a:buNone/>
            </a:pPr>
            <a:r>
              <a:rPr lang="en-US" sz="1300" dirty="0">
                <a:solidFill>
                  <a:schemeClr val="tx1"/>
                </a:solidFill>
              </a:rPr>
              <a:t>«иттің өлген жері»</a:t>
            </a:r>
            <a:endParaRPr lang="en-US" sz="1700" dirty="0"/>
          </a:p>
        </p:txBody>
      </p:sp>
      <p:sp>
        <p:nvSpPr>
          <p:cNvPr id="6" name="exp-card-0-1"/>
          <p:cNvSpPr/>
          <p:nvPr/>
        </p:nvSpPr>
        <p:spPr>
          <a:xfrm>
            <a:off x="548640" y="3520440"/>
            <a:ext cx="3566160" cy="1280160"/>
          </a:xfrm>
          <a:prstGeom prst="roundRect">
            <a:avLst>
              <a:gd name="adj" fmla="val 8571"/>
            </a:avLst>
          </a:prstGeom>
          <a:solidFill>
            <a:srgbClr val="F2F4F5"/>
          </a:solidFill>
          <a:ln/>
        </p:spPr>
      </p:sp>
      <p:sp>
        <p:nvSpPr>
          <p:cNvPr id="7" name="exp-text-0-1"/>
          <p:cNvSpPr txBox="1"/>
          <p:nvPr/>
        </p:nvSpPr>
        <p:spPr>
          <a:xfrm>
            <a:off x="777240" y="3520440"/>
            <a:ext cx="3108960" cy="1280160"/>
          </a:xfrm>
          <a:prstGeom prst="rect">
            <a:avLst/>
          </a:prstGeom>
          <a:noFill/>
          <a:ln/>
        </p:spPr>
        <p:txBody>
          <a:bodyPr wrap="square" lIns="0" tIns="0" rIns="0" bIns="0" rtlCol="0" anchor="ctr"/>
          <a:lstStyle/>
          <a:p>
            <a:pPr indent="0" marL="0">
              <a:buNone/>
            </a:pPr>
            <a:r>
              <a:rPr lang="en-US" sz="1700" b="1" dirty="0">
                <a:solidFill>
                  <a:schemeClr val="tx2"/>
                </a:solidFill>
              </a:rPr>
              <a:t>Жоқ тіркестерді ойлап табады</a:t>
            </a:r>
            <a:endParaRPr lang="en-US" sz="1700" dirty="0"/>
          </a:p>
          <a:p>
            <a:pPr indent="0" marL="0">
              <a:buNone/>
            </a:pPr>
            <a:r>
              <a:rPr lang="en-US" sz="1300" dirty="0">
                <a:solidFill>
                  <a:schemeClr val="tx1"/>
                </a:solidFill>
              </a:rPr>
              <a:t>сөздікте жоқ тіркестер</a:t>
            </a:r>
            <a:endParaRPr lang="en-US" sz="1700" dirty="0"/>
          </a:p>
        </p:txBody>
      </p:sp>
      <p:sp>
        <p:nvSpPr>
          <p:cNvPr id="8" name="exp-col-1"/>
          <p:cNvSpPr txBox="1"/>
          <p:nvPr/>
        </p:nvSpPr>
        <p:spPr>
          <a:xfrm>
            <a:off x="4480560" y="1417320"/>
            <a:ext cx="3566160" cy="502920"/>
          </a:xfrm>
          <a:prstGeom prst="rect">
            <a:avLst/>
          </a:prstGeom>
          <a:noFill/>
          <a:ln/>
        </p:spPr>
        <p:txBody>
          <a:bodyPr wrap="square" lIns="0" tIns="0" rIns="0" bIns="0" rtlCol="0" anchor="ctr"/>
          <a:lstStyle/>
          <a:p>
            <a:pPr indent="0" marL="0">
              <a:buNone/>
            </a:pPr>
            <a:r>
              <a:rPr lang="en-US" sz="2200" b="1" dirty="0">
                <a:solidFill>
                  <a:schemeClr val="accent1"/>
                </a:solidFill>
              </a:rPr>
              <a:t>Шықты</a:t>
            </a:r>
            <a:endParaRPr lang="en-US" sz="2200" dirty="0"/>
          </a:p>
        </p:txBody>
      </p:sp>
      <p:sp>
        <p:nvSpPr>
          <p:cNvPr id="9" name="exp-card-1-0"/>
          <p:cNvSpPr/>
          <p:nvPr/>
        </p:nvSpPr>
        <p:spPr>
          <a:xfrm>
            <a:off x="4480560" y="2057400"/>
            <a:ext cx="3566160" cy="1280160"/>
          </a:xfrm>
          <a:prstGeom prst="roundRect">
            <a:avLst>
              <a:gd name="adj" fmla="val 8571"/>
            </a:avLst>
          </a:prstGeom>
          <a:solidFill>
            <a:schemeClr val="bg2"/>
          </a:solidFill>
          <a:ln/>
        </p:spPr>
      </p:sp>
      <p:sp>
        <p:nvSpPr>
          <p:cNvPr id="10" name="exp-text-1-0"/>
          <p:cNvSpPr txBox="1"/>
          <p:nvPr/>
        </p:nvSpPr>
        <p:spPr>
          <a:xfrm>
            <a:off x="4709160" y="2057400"/>
            <a:ext cx="3108960" cy="1280160"/>
          </a:xfrm>
          <a:prstGeom prst="rect">
            <a:avLst/>
          </a:prstGeom>
          <a:noFill/>
          <a:ln/>
        </p:spPr>
        <p:txBody>
          <a:bodyPr wrap="square" lIns="0" tIns="0" rIns="0" bIns="0" rtlCol="0" anchor="ctr"/>
          <a:lstStyle/>
          <a:p>
            <a:pPr indent="0" marL="0">
              <a:buNone/>
            </a:pPr>
            <a:r>
              <a:rPr lang="en-US" sz="1700" b="1" dirty="0">
                <a:solidFill>
                  <a:schemeClr val="tx2"/>
                </a:solidFill>
              </a:rPr>
              <a:t>Сөзбе-сөз түсіндіру – 0</a:t>
            </a:r>
            <a:endParaRPr lang="en-US" sz="1700" dirty="0"/>
          </a:p>
          <a:p>
            <a:pPr indent="0" marL="0">
              <a:buNone/>
            </a:pPr>
            <a:r>
              <a:rPr lang="en-US" sz="1300" dirty="0">
                <a:solidFill>
                  <a:schemeClr val="tx1"/>
                </a:solidFill>
              </a:rPr>
              <a:t>ЖИ тіркестің бейнелі екенін әрқашан «сезді»</a:t>
            </a:r>
            <a:endParaRPr lang="en-US" sz="1700" dirty="0"/>
          </a:p>
        </p:txBody>
      </p:sp>
      <p:sp>
        <p:nvSpPr>
          <p:cNvPr id="11" name="exp-card-1-1"/>
          <p:cNvSpPr/>
          <p:nvPr/>
        </p:nvSpPr>
        <p:spPr>
          <a:xfrm>
            <a:off x="4480560" y="3520440"/>
            <a:ext cx="3566160" cy="1280160"/>
          </a:xfrm>
          <a:prstGeom prst="roundRect">
            <a:avLst>
              <a:gd name="adj" fmla="val 8571"/>
            </a:avLst>
          </a:prstGeom>
          <a:solidFill>
            <a:schemeClr val="bg2"/>
          </a:solidFill>
          <a:ln/>
        </p:spPr>
      </p:sp>
      <p:sp>
        <p:nvSpPr>
          <p:cNvPr id="12" name="exp-text-1-1"/>
          <p:cNvSpPr txBox="1"/>
          <p:nvPr/>
        </p:nvSpPr>
        <p:spPr>
          <a:xfrm>
            <a:off x="4709160" y="3520440"/>
            <a:ext cx="3108960" cy="1280160"/>
          </a:xfrm>
          <a:prstGeom prst="rect">
            <a:avLst/>
          </a:prstGeom>
          <a:noFill/>
          <a:ln/>
        </p:spPr>
        <p:txBody>
          <a:bodyPr wrap="square" lIns="0" tIns="0" rIns="0" bIns="0" rtlCol="0" anchor="ctr"/>
          <a:lstStyle/>
          <a:p>
            <a:pPr indent="0" marL="0">
              <a:buNone/>
            </a:pPr>
            <a:r>
              <a:rPr lang="en-US" sz="1700" b="1" dirty="0">
                <a:solidFill>
                  <a:schemeClr val="tx2"/>
                </a:solidFill>
              </a:rPr>
              <a:t>Жоқ тіркес – 0</a:t>
            </a:r>
            <a:endParaRPr lang="en-US" sz="1700" dirty="0"/>
          </a:p>
          <a:p>
            <a:pPr indent="0" marL="0">
              <a:buNone/>
            </a:pPr>
            <a:r>
              <a:rPr lang="en-US" sz="1300" dirty="0">
                <a:solidFill>
                  <a:schemeClr val="tx1"/>
                </a:solidFill>
              </a:rPr>
              <a:t>атаған тіркестердің бәрі тілде бар</a:t>
            </a:r>
            <a:endParaRPr lang="en-US" sz="1700" dirty="0"/>
          </a:p>
        </p:txBody>
      </p:sp>
      <p:sp>
        <p:nvSpPr>
          <p:cNvPr id="13" name="real-errors"/>
          <p:cNvSpPr/>
          <p:nvPr/>
        </p:nvSpPr>
        <p:spPr>
          <a:xfrm>
            <a:off x="8412480" y="1417320"/>
            <a:ext cx="3200400" cy="3337560"/>
          </a:xfrm>
          <a:prstGeom prst="roundRect">
            <a:avLst>
              <a:gd name="adj" fmla="val 3429"/>
            </a:avLst>
          </a:prstGeom>
          <a:solidFill>
            <a:schemeClr val="tx2"/>
          </a:solidFill>
          <a:ln/>
        </p:spPr>
      </p:sp>
      <p:sp>
        <p:nvSpPr>
          <p:cNvPr id="14" name="real-errors-text"/>
          <p:cNvSpPr txBox="1"/>
          <p:nvPr/>
        </p:nvSpPr>
        <p:spPr>
          <a:xfrm>
            <a:off x="8686800" y="1417320"/>
            <a:ext cx="2743200" cy="3337560"/>
          </a:xfrm>
          <a:prstGeom prst="rect">
            <a:avLst/>
          </a:prstGeom>
          <a:noFill/>
          <a:ln/>
        </p:spPr>
        <p:txBody>
          <a:bodyPr wrap="square" lIns="0" tIns="0" rIns="0" bIns="0" rtlCol="0" anchor="ctr"/>
          <a:lstStyle/>
          <a:p>
            <a:pPr indent="0" marL="0">
              <a:buNone/>
            </a:pPr>
            <a:r>
              <a:rPr lang="en-US" sz="1800" b="1" dirty="0">
                <a:solidFill>
                  <a:schemeClr val="accent2"/>
                </a:solidFill>
              </a:rPr>
              <a:t>Нақты қателер</a:t>
            </a:r>
            <a:endParaRPr lang="en-US" sz="1800" dirty="0"/>
          </a:p>
          <a:p>
            <a:pPr indent="0" marL="0">
              <a:buNone/>
            </a:pPr>
            <a:r>
              <a:rPr lang="en-US" sz="4000" b="1" dirty="0">
                <a:solidFill>
                  <a:schemeClr val="bg1"/>
                </a:solidFill>
                <a:latin typeface="Times New Roman" pitchFamily="34" charset="0"/>
                <a:ea typeface="Times New Roman" pitchFamily="34" charset="-122"/>
                <a:cs typeface="Times New Roman" pitchFamily="34" charset="-120"/>
              </a:rPr>
              <a:t>4</a:t>
            </a:r>
            <a:endParaRPr lang="en-US" sz="1800" dirty="0"/>
          </a:p>
          <a:p>
            <a:pPr indent="0" marL="0">
              <a:buNone/>
            </a:pPr>
            <a:r>
              <a:rPr lang="en-US" sz="1400" dirty="0">
                <a:solidFill>
                  <a:schemeClr val="bg1"/>
                </a:solidFill>
              </a:rPr>
              <a:t>сенімді ойдан шығару</a:t>
            </a:r>
            <a:endParaRPr lang="en-US" sz="1800" dirty="0"/>
          </a:p>
          <a:p>
            <a:pPr indent="0" marL="0">
              <a:buNone/>
            </a:pPr>
            <a:r>
              <a:rPr lang="en-US" sz="4000" b="1" dirty="0">
                <a:solidFill>
                  <a:schemeClr val="bg1"/>
                </a:solidFill>
                <a:latin typeface="Times New Roman" pitchFamily="34" charset="0"/>
                <a:ea typeface="Times New Roman" pitchFamily="34" charset="-122"/>
                <a:cs typeface="Times New Roman" pitchFamily="34" charset="-120"/>
              </a:rPr>
              <a:t>6</a:t>
            </a:r>
            <a:endParaRPr lang="en-US" sz="1800" dirty="0"/>
          </a:p>
          <a:p>
            <a:pPr indent="0" marL="0">
              <a:buNone/>
            </a:pPr>
            <a:r>
              <a:rPr lang="en-US" sz="1400" dirty="0">
                <a:solidFill>
                  <a:schemeClr val="bg1"/>
                </a:solidFill>
              </a:rPr>
              <a:t>сөздікте жоқ артық мағына қосу</a:t>
            </a:r>
            <a:endParaRPr lang="en-US" sz="1800" dirty="0"/>
          </a:p>
        </p:txBody>
      </p:sp>
      <p:sp>
        <p:nvSpPr>
          <p:cNvPr id="15" name="verdict"/>
          <p:cNvSpPr/>
          <p:nvPr/>
        </p:nvSpPr>
        <p:spPr>
          <a:xfrm>
            <a:off x="548640" y="5074920"/>
            <a:ext cx="11064240" cy="1005840"/>
          </a:xfrm>
          <a:prstGeom prst="roundRect">
            <a:avLst>
              <a:gd name="adj" fmla="val 10909"/>
            </a:avLst>
          </a:prstGeom>
          <a:solidFill>
            <a:srgbClr val="FFF6DC"/>
          </a:solidFill>
          <a:ln/>
        </p:spPr>
      </p:sp>
      <p:sp>
        <p:nvSpPr>
          <p:cNvPr id="16" name="verdict-circle"/>
          <p:cNvSpPr/>
          <p:nvPr/>
        </p:nvSpPr>
        <p:spPr>
          <a:xfrm>
            <a:off x="777240" y="5230368"/>
            <a:ext cx="685800" cy="685800"/>
          </a:xfrm>
          <a:prstGeom prst="ellipse">
            <a:avLst/>
          </a:prstGeom>
          <a:solidFill>
            <a:schemeClr val="accent2"/>
          </a:solidFill>
          <a:ln/>
        </p:spPr>
      </p:sp>
      <p:pic>
        <p:nvPicPr>
          <p:cNvPr id="17" name="verdict-icon" descr="preencoded.png">    </p:cNvPr>
          <p:cNvPicPr>
            <a:picLocks noChangeAspect="1"/>
          </p:cNvPicPr>
          <p:nvPr/>
        </p:nvPicPr>
        <p:blipFill>
          <a:blip r:embed="rId1"/>
          <a:stretch>
            <a:fillRect/>
          </a:stretch>
        </p:blipFill>
        <p:spPr>
          <a:xfrm>
            <a:off x="948690" y="5401818"/>
            <a:ext cx="342900" cy="342900"/>
          </a:xfrm>
          <a:prstGeom prst="rect">
            <a:avLst/>
          </a:prstGeom>
        </p:spPr>
      </p:pic>
      <p:sp>
        <p:nvSpPr>
          <p:cNvPr id="18" name="verdict-text"/>
          <p:cNvSpPr txBox="1"/>
          <p:nvPr/>
        </p:nvSpPr>
        <p:spPr>
          <a:xfrm>
            <a:off x="1691640" y="5074920"/>
            <a:ext cx="9692640" cy="1005840"/>
          </a:xfrm>
          <a:prstGeom prst="rect">
            <a:avLst/>
          </a:prstGeom>
          <a:noFill/>
          <a:ln/>
        </p:spPr>
        <p:txBody>
          <a:bodyPr wrap="square" lIns="0" tIns="0" rIns="0" bIns="0" rtlCol="0" anchor="ctr"/>
          <a:lstStyle/>
          <a:p>
            <a:pPr indent="0" marL="0">
              <a:buNone/>
            </a:pPr>
            <a:r>
              <a:rPr lang="en-US" sz="1600" b="1" dirty="0">
                <a:solidFill>
                  <a:schemeClr val="tx2"/>
                </a:solidFill>
              </a:rPr>
              <a:t>Болжам ішінара расталды: ЖИ ұлттық-мәдени тіркестерде қателесті, бірақ сөзбе-сөз емес – сенімді, сауатты, бірақ қате мағына берді</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ЖИ өзі тіркес таба ала ма?</a:t>
            </a:r>
            <a:endParaRPr lang="en-US" sz="3200" dirty="0"/>
          </a:p>
        </p:txBody>
      </p:sp>
      <p:sp>
        <p:nvSpPr>
          <p:cNvPr id="3" name="e2-stat-value"/>
          <p:cNvSpPr txBox="1"/>
          <p:nvPr/>
        </p:nvSpPr>
        <p:spPr>
          <a:xfrm>
            <a:off x="548640" y="1417320"/>
            <a:ext cx="2743200" cy="868680"/>
          </a:xfrm>
          <a:prstGeom prst="rect">
            <a:avLst/>
          </a:prstGeom>
          <a:noFill/>
          <a:ln/>
        </p:spPr>
        <p:txBody>
          <a:bodyPr wrap="square" lIns="0" tIns="0" rIns="0" bIns="0" rtlCol="0" anchor="ctr"/>
          <a:lstStyle/>
          <a:p>
            <a:pPr indent="0" marL="0">
              <a:buNone/>
            </a:pPr>
            <a:r>
              <a:rPr lang="en-US" sz="4600" b="1" dirty="0">
                <a:solidFill>
                  <a:schemeClr val="accent1"/>
                </a:solidFill>
                <a:latin typeface="Times New Roman" pitchFamily="34" charset="0"/>
                <a:ea typeface="Times New Roman" pitchFamily="34" charset="-122"/>
                <a:cs typeface="Times New Roman" pitchFamily="34" charset="-120"/>
              </a:rPr>
              <a:t>91,7%</a:t>
            </a:r>
            <a:endParaRPr lang="en-US" sz="4600" dirty="0"/>
          </a:p>
        </p:txBody>
      </p:sp>
      <p:sp>
        <p:nvSpPr>
          <p:cNvPr id="4" name="e2-stat-label"/>
          <p:cNvSpPr txBox="1"/>
          <p:nvPr/>
        </p:nvSpPr>
        <p:spPr>
          <a:xfrm>
            <a:off x="548640" y="2286000"/>
            <a:ext cx="2743200" cy="548640"/>
          </a:xfrm>
          <a:prstGeom prst="rect">
            <a:avLst/>
          </a:prstGeom>
          <a:noFill/>
          <a:ln/>
        </p:spPr>
        <p:txBody>
          <a:bodyPr wrap="square" lIns="0" tIns="0" rIns="0" bIns="0" rtlCol="0" anchor="t"/>
          <a:lstStyle/>
          <a:p>
            <a:pPr indent="0" marL="0">
              <a:buNone/>
            </a:pPr>
            <a:r>
              <a:rPr lang="en-US" sz="1400" dirty="0">
                <a:solidFill>
                  <a:schemeClr val="tx1"/>
                </a:solidFill>
              </a:rPr>
              <a:t>синоним мен антонимді дұрыс тапты (2-тәжірибе)</a:t>
            </a:r>
            <a:endParaRPr lang="en-US" sz="1400" dirty="0"/>
          </a:p>
        </p:txBody>
      </p:sp>
      <p:sp>
        <p:nvSpPr>
          <p:cNvPr id="5" name="e3-stat-value"/>
          <p:cNvSpPr txBox="1"/>
          <p:nvPr/>
        </p:nvSpPr>
        <p:spPr>
          <a:xfrm>
            <a:off x="3474720" y="1417320"/>
            <a:ext cx="2743200" cy="868680"/>
          </a:xfrm>
          <a:prstGeom prst="rect">
            <a:avLst/>
          </a:prstGeom>
          <a:noFill/>
          <a:ln/>
        </p:spPr>
        <p:txBody>
          <a:bodyPr wrap="square" lIns="0" tIns="0" rIns="0" bIns="0" rtlCol="0" anchor="ctr"/>
          <a:lstStyle/>
          <a:p>
            <a:pPr indent="0" marL="0">
              <a:buNone/>
            </a:pPr>
            <a:r>
              <a:rPr lang="en-US" sz="4600" b="1" dirty="0">
                <a:solidFill>
                  <a:schemeClr val="accent1"/>
                </a:solidFill>
                <a:latin typeface="Times New Roman" pitchFamily="34" charset="0"/>
                <a:ea typeface="Times New Roman" pitchFamily="34" charset="-122"/>
                <a:cs typeface="Times New Roman" pitchFamily="34" charset="-120"/>
              </a:rPr>
              <a:t>81,1%</a:t>
            </a:r>
            <a:endParaRPr lang="en-US" sz="4600" dirty="0"/>
          </a:p>
        </p:txBody>
      </p:sp>
      <p:sp>
        <p:nvSpPr>
          <p:cNvPr id="6" name="e3-stat-label"/>
          <p:cNvSpPr txBox="1"/>
          <p:nvPr/>
        </p:nvSpPr>
        <p:spPr>
          <a:xfrm>
            <a:off x="3474720" y="2286000"/>
            <a:ext cx="2743200" cy="548640"/>
          </a:xfrm>
          <a:prstGeom prst="rect">
            <a:avLst/>
          </a:prstGeom>
          <a:noFill/>
          <a:ln/>
        </p:spPr>
        <p:txBody>
          <a:bodyPr wrap="square" lIns="0" tIns="0" rIns="0" bIns="0" rtlCol="0" anchor="t"/>
          <a:lstStyle/>
          <a:p>
            <a:pPr indent="0" marL="0">
              <a:buNone/>
            </a:pPr>
            <a:r>
              <a:rPr lang="en-US" sz="1400" dirty="0">
                <a:solidFill>
                  <a:schemeClr val="tx1"/>
                </a:solidFill>
              </a:rPr>
              <a:t>атаған 74 тіркесі сөздікте бар әрі дұрыс (3-тәжірибе)</a:t>
            </a:r>
            <a:endParaRPr lang="en-US" sz="1400" dirty="0"/>
          </a:p>
        </p:txBody>
      </p:sp>
      <p:graphicFrame>
        <p:nvGraphicFramePr>
          <p:cNvPr id="7" name="chart-e3" descr=""/>
          <p:cNvGraphicFramePr/>
          <p:nvPr/>
        </p:nvGraphicFramePr>
        <p:xfrm>
          <a:off x="457200" y="3108960"/>
          <a:ext cx="5943600" cy="3108960"/>
        </p:xfrm>
        <a:graphic xmlns:a="http://schemas.openxmlformats.org/drawingml/2006/main">
          <a:graphicData uri="http://schemas.openxmlformats.org/drawingml/2006/chart">
            <c:chart xmlns:c="http://schemas.openxmlformats.org/drawingml/2006/chart" r:id="rId1"/>
          </a:graphicData>
        </a:graphic>
      </p:graphicFrame>
      <p:sp>
        <p:nvSpPr>
          <p:cNvPr id="8" name="near-card"/>
          <p:cNvSpPr/>
          <p:nvPr/>
        </p:nvSpPr>
        <p:spPr>
          <a:xfrm>
            <a:off x="6766560" y="1417320"/>
            <a:ext cx="4846320" cy="4754880"/>
          </a:xfrm>
          <a:prstGeom prst="roundRect">
            <a:avLst>
              <a:gd name="adj" fmla="val 2308"/>
            </a:avLst>
          </a:prstGeom>
          <a:solidFill>
            <a:schemeClr val="bg2"/>
          </a:solidFill>
          <a:ln/>
        </p:spPr>
      </p:sp>
      <p:sp>
        <p:nvSpPr>
          <p:cNvPr id="9" name="near-circle"/>
          <p:cNvSpPr/>
          <p:nvPr/>
        </p:nvSpPr>
        <p:spPr>
          <a:xfrm>
            <a:off x="7040880" y="1645920"/>
            <a:ext cx="685800" cy="685800"/>
          </a:xfrm>
          <a:prstGeom prst="ellipse">
            <a:avLst/>
          </a:prstGeom>
          <a:solidFill>
            <a:schemeClr val="accent2"/>
          </a:solidFill>
          <a:ln/>
        </p:spPr>
      </p:sp>
      <p:pic>
        <p:nvPicPr>
          <p:cNvPr id="10" name="near-icon" descr="preencoded.png">    </p:cNvPr>
          <p:cNvPicPr>
            <a:picLocks noChangeAspect="1"/>
          </p:cNvPicPr>
          <p:nvPr/>
        </p:nvPicPr>
        <p:blipFill>
          <a:blip r:embed="rId2"/>
          <a:stretch>
            <a:fillRect/>
          </a:stretch>
        </p:blipFill>
        <p:spPr>
          <a:xfrm>
            <a:off x="7212330" y="1817370"/>
            <a:ext cx="342900" cy="342900"/>
          </a:xfrm>
          <a:prstGeom prst="rect">
            <a:avLst/>
          </a:prstGeom>
        </p:spPr>
      </p:pic>
      <p:sp>
        <p:nvSpPr>
          <p:cNvPr id="11" name="near-title"/>
          <p:cNvSpPr txBox="1"/>
          <p:nvPr/>
        </p:nvSpPr>
        <p:spPr>
          <a:xfrm>
            <a:off x="7863840" y="1645920"/>
            <a:ext cx="3566160" cy="685800"/>
          </a:xfrm>
          <a:prstGeom prst="rect">
            <a:avLst/>
          </a:prstGeom>
          <a:noFill/>
          <a:ln/>
        </p:spPr>
        <p:txBody>
          <a:bodyPr wrap="square" lIns="0" tIns="0" rIns="0" bIns="0" rtlCol="0" anchor="ctr"/>
          <a:lstStyle/>
          <a:p>
            <a:pPr indent="0" marL="0">
              <a:buNone/>
            </a:pPr>
            <a:r>
              <a:rPr lang="en-US" sz="1800" b="1" dirty="0">
                <a:solidFill>
                  <a:schemeClr val="tx2"/>
                </a:solidFill>
              </a:rPr>
              <a:t>«Жақын» сөзі ЖИ-ді шатастырды</a:t>
            </a:r>
            <a:endParaRPr lang="en-US" sz="1800" dirty="0"/>
          </a:p>
        </p:txBody>
      </p:sp>
      <p:sp>
        <p:nvSpPr>
          <p:cNvPr id="12" name="near-intro"/>
          <p:cNvSpPr txBox="1"/>
          <p:nvPr/>
        </p:nvSpPr>
        <p:spPr>
          <a:xfrm>
            <a:off x="7040880" y="2514600"/>
            <a:ext cx="4343400" cy="731520"/>
          </a:xfrm>
          <a:prstGeom prst="rect">
            <a:avLst/>
          </a:prstGeom>
          <a:noFill/>
          <a:ln/>
        </p:spPr>
        <p:txBody>
          <a:bodyPr wrap="square" lIns="0" tIns="0" rIns="0" bIns="0" rtlCol="0" anchor="t"/>
          <a:lstStyle/>
          <a:p>
            <a:pPr indent="0" marL="0">
              <a:buNone/>
            </a:pPr>
            <a:r>
              <a:rPr lang="en-US" sz="1400" dirty="0">
                <a:solidFill>
                  <a:schemeClr val="tx1"/>
                </a:solidFill>
              </a:rPr>
              <a:t>«Жақын жер» мағынасындағы тіркестерді сұрағанда, DeepSeek былай деп жазды:</a:t>
            </a:r>
            <a:endParaRPr lang="en-US" sz="1400" dirty="0"/>
          </a:p>
        </p:txBody>
      </p:sp>
      <p:sp>
        <p:nvSpPr>
          <p:cNvPr id="13" name="near-i1"/>
          <p:cNvSpPr/>
          <p:nvPr/>
        </p:nvSpPr>
        <p:spPr>
          <a:xfrm>
            <a:off x="7040880" y="3291840"/>
            <a:ext cx="4343400" cy="685800"/>
          </a:xfrm>
          <a:prstGeom prst="roundRect">
            <a:avLst>
              <a:gd name="adj" fmla="val 16000"/>
            </a:avLst>
          </a:prstGeom>
          <a:solidFill>
            <a:schemeClr val="bg1"/>
          </a:solidFill>
          <a:ln w="15875">
            <a:solidFill>
              <a:schemeClr val="accent2"/>
            </a:solidFill>
            <a:prstDash val="solid"/>
          </a:ln>
        </p:spPr>
      </p:sp>
      <p:sp>
        <p:nvSpPr>
          <p:cNvPr id="14" name="near-i1-text"/>
          <p:cNvSpPr txBox="1"/>
          <p:nvPr/>
        </p:nvSpPr>
        <p:spPr>
          <a:xfrm>
            <a:off x="7223760" y="3291840"/>
            <a:ext cx="3977640" cy="685800"/>
          </a:xfrm>
          <a:prstGeom prst="rect">
            <a:avLst/>
          </a:prstGeom>
          <a:noFill/>
          <a:ln/>
        </p:spPr>
        <p:txBody>
          <a:bodyPr wrap="square" lIns="0" tIns="0" rIns="0" bIns="0" rtlCol="0" anchor="ctr"/>
          <a:lstStyle/>
          <a:p>
            <a:pPr algn="ctr" indent="0" marL="0">
              <a:buNone/>
            </a:pPr>
            <a:r>
              <a:rPr lang="en-US" sz="1500" b="1" dirty="0">
                <a:solidFill>
                  <a:schemeClr val="accent2"/>
                </a:solidFill>
                <a:latin typeface="Times New Roman" pitchFamily="34" charset="0"/>
                <a:ea typeface="Times New Roman" pitchFamily="34" charset="-122"/>
                <a:cs typeface="Times New Roman" pitchFamily="34" charset="-120"/>
              </a:rPr>
              <a:t>«</a:t>
            </a:r>
            <a:pPr algn="ctr" indent="0" marL="0">
              <a:buNone/>
            </a:pPr>
            <a:r>
              <a:rPr lang="en-US" sz="1500" b="1" dirty="0">
                <a:solidFill>
                  <a:schemeClr val="tx2"/>
                </a:solidFill>
                <a:latin typeface="Times New Roman" pitchFamily="34" charset="0"/>
                <a:ea typeface="Times New Roman" pitchFamily="34" charset="-122"/>
                <a:cs typeface="Times New Roman" pitchFamily="34" charset="-120"/>
              </a:rPr>
              <a:t>үш қайнаса сорпасы қосылмайтын</a:t>
            </a:r>
            <a:pPr algn="ctr" indent="0" marL="0">
              <a:buNone/>
            </a:pPr>
            <a:r>
              <a:rPr lang="en-US" sz="1500" b="1" dirty="0">
                <a:solidFill>
                  <a:schemeClr val="accent2"/>
                </a:solidFill>
                <a:latin typeface="Times New Roman" pitchFamily="34" charset="0"/>
                <a:ea typeface="Times New Roman" pitchFamily="34" charset="-122"/>
                <a:cs typeface="Times New Roman" pitchFamily="34" charset="-120"/>
              </a:rPr>
              <a:t>»</a:t>
            </a:r>
            <a:endParaRPr lang="en-US" sz="1500" dirty="0"/>
          </a:p>
        </p:txBody>
      </p:sp>
      <p:sp>
        <p:nvSpPr>
          <p:cNvPr id="15" name="near-i2"/>
          <p:cNvSpPr/>
          <p:nvPr/>
        </p:nvSpPr>
        <p:spPr>
          <a:xfrm>
            <a:off x="7040880" y="4114800"/>
            <a:ext cx="4343400" cy="685800"/>
          </a:xfrm>
          <a:prstGeom prst="roundRect">
            <a:avLst>
              <a:gd name="adj" fmla="val 16000"/>
            </a:avLst>
          </a:prstGeom>
          <a:solidFill>
            <a:schemeClr val="bg1"/>
          </a:solidFill>
          <a:ln w="15875">
            <a:solidFill>
              <a:schemeClr val="accent2"/>
            </a:solidFill>
            <a:prstDash val="solid"/>
          </a:ln>
        </p:spPr>
      </p:sp>
      <p:sp>
        <p:nvSpPr>
          <p:cNvPr id="16" name="near-i2-text"/>
          <p:cNvSpPr txBox="1"/>
          <p:nvPr/>
        </p:nvSpPr>
        <p:spPr>
          <a:xfrm>
            <a:off x="7223760" y="4114800"/>
            <a:ext cx="3977640" cy="685800"/>
          </a:xfrm>
          <a:prstGeom prst="rect">
            <a:avLst/>
          </a:prstGeom>
          <a:noFill/>
          <a:ln/>
        </p:spPr>
        <p:txBody>
          <a:bodyPr wrap="square" lIns="0" tIns="0" rIns="0" bIns="0" rtlCol="0" anchor="ctr"/>
          <a:lstStyle/>
          <a:p>
            <a:pPr algn="ctr" indent="0" marL="0">
              <a:buNone/>
            </a:pPr>
            <a:r>
              <a:rPr lang="en-US" sz="1500" b="1" dirty="0">
                <a:solidFill>
                  <a:schemeClr val="accent2"/>
                </a:solidFill>
                <a:latin typeface="Times New Roman" pitchFamily="34" charset="0"/>
                <a:ea typeface="Times New Roman" pitchFamily="34" charset="-122"/>
                <a:cs typeface="Times New Roman" pitchFamily="34" charset="-120"/>
              </a:rPr>
              <a:t>«</a:t>
            </a:r>
            <a:pPr algn="ctr" indent="0" marL="0">
              <a:buNone/>
            </a:pPr>
            <a:r>
              <a:rPr lang="en-US" sz="1500" b="1" dirty="0">
                <a:solidFill>
                  <a:schemeClr val="tx2"/>
                </a:solidFill>
                <a:latin typeface="Times New Roman" pitchFamily="34" charset="0"/>
                <a:ea typeface="Times New Roman" pitchFamily="34" charset="-122"/>
                <a:cs typeface="Times New Roman" pitchFamily="34" charset="-120"/>
              </a:rPr>
              <a:t>ат құлағында ойнайтын</a:t>
            </a:r>
            <a:pPr algn="ctr" indent="0" marL="0">
              <a:buNone/>
            </a:pPr>
            <a:r>
              <a:rPr lang="en-US" sz="1500" b="1" dirty="0">
                <a:solidFill>
                  <a:schemeClr val="accent2"/>
                </a:solidFill>
                <a:latin typeface="Times New Roman" pitchFamily="34" charset="0"/>
                <a:ea typeface="Times New Roman" pitchFamily="34" charset="-122"/>
                <a:cs typeface="Times New Roman" pitchFamily="34" charset="-120"/>
              </a:rPr>
              <a:t>»</a:t>
            </a:r>
            <a:endParaRPr lang="en-US" sz="1500" dirty="0"/>
          </a:p>
        </p:txBody>
      </p:sp>
      <p:sp>
        <p:nvSpPr>
          <p:cNvPr id="17" name="near-text"/>
          <p:cNvSpPr txBox="1"/>
          <p:nvPr/>
        </p:nvSpPr>
        <p:spPr>
          <a:xfrm>
            <a:off x="7040880" y="4937760"/>
            <a:ext cx="4343400" cy="1097280"/>
          </a:xfrm>
          <a:prstGeom prst="rect">
            <a:avLst/>
          </a:prstGeom>
          <a:noFill/>
          <a:ln/>
        </p:spPr>
        <p:txBody>
          <a:bodyPr wrap="square" lIns="0" tIns="0" rIns="0" bIns="0" rtlCol="0" anchor="t"/>
          <a:lstStyle/>
          <a:p>
            <a:pPr indent="0" marL="0">
              <a:buNone/>
            </a:pPr>
            <a:r>
              <a:rPr lang="en-US" sz="1400" dirty="0">
                <a:solidFill>
                  <a:schemeClr val="tx1"/>
                </a:solidFill>
              </a:rPr>
              <a:t>ЖИ «жақын» сөзін қашықтық емес, туыстық мағынада түсінді. Бұл топта атаған 14 тіркестің тек 9-ы дұрыс болды.</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Нәтижеден – өнімге: «ЖИ-ге сен, бірақ тексер»</a:t>
            </a:r>
            <a:endParaRPr lang="en-US" sz="3200" dirty="0"/>
          </a:p>
        </p:txBody>
      </p:sp>
      <p:sp>
        <p:nvSpPr>
          <p:cNvPr id="3" name="memo-card-0"/>
          <p:cNvSpPr/>
          <p:nvPr/>
        </p:nvSpPr>
        <p:spPr>
          <a:xfrm>
            <a:off x="548640" y="1463040"/>
            <a:ext cx="5349240" cy="2057400"/>
          </a:xfrm>
          <a:prstGeom prst="roundRect">
            <a:avLst>
              <a:gd name="adj" fmla="val 5333"/>
            </a:avLst>
          </a:prstGeom>
          <a:solidFill>
            <a:schemeClr val="bg2"/>
          </a:solidFill>
          <a:ln/>
        </p:spPr>
      </p:sp>
      <p:sp>
        <p:nvSpPr>
          <p:cNvPr id="4" name="memo-0-circle"/>
          <p:cNvSpPr/>
          <p:nvPr/>
        </p:nvSpPr>
        <p:spPr>
          <a:xfrm>
            <a:off x="868680" y="1783080"/>
            <a:ext cx="822960" cy="822960"/>
          </a:xfrm>
          <a:prstGeom prst="ellipse">
            <a:avLst/>
          </a:prstGeom>
          <a:solidFill>
            <a:schemeClr val="accent1"/>
          </a:solidFill>
          <a:ln/>
        </p:spPr>
      </p:sp>
      <p:pic>
        <p:nvPicPr>
          <p:cNvPr id="5" name="memo-0-icon" descr="preencoded.png">    </p:cNvPr>
          <p:cNvPicPr>
            <a:picLocks noChangeAspect="1"/>
          </p:cNvPicPr>
          <p:nvPr/>
        </p:nvPicPr>
        <p:blipFill>
          <a:blip r:embed="rId1"/>
          <a:stretch>
            <a:fillRect/>
          </a:stretch>
        </p:blipFill>
        <p:spPr>
          <a:xfrm>
            <a:off x="1074420" y="1988820"/>
            <a:ext cx="411480" cy="411480"/>
          </a:xfrm>
          <a:prstGeom prst="rect">
            <a:avLst/>
          </a:prstGeom>
        </p:spPr>
      </p:pic>
      <p:sp>
        <p:nvSpPr>
          <p:cNvPr id="6" name="memo-title-0"/>
          <p:cNvSpPr txBox="1"/>
          <p:nvPr/>
        </p:nvSpPr>
        <p:spPr>
          <a:xfrm>
            <a:off x="1920240" y="1737360"/>
            <a:ext cx="3749040" cy="548640"/>
          </a:xfrm>
          <a:prstGeom prst="rect">
            <a:avLst/>
          </a:prstGeom>
          <a:noFill/>
          <a:ln/>
        </p:spPr>
        <p:txBody>
          <a:bodyPr wrap="square" lIns="0" tIns="0" rIns="0" bIns="0" rtlCol="0" anchor="ctr"/>
          <a:lstStyle/>
          <a:p>
            <a:pPr indent="0" marL="0">
              <a:buNone/>
            </a:pPr>
            <a:r>
              <a:rPr lang="en-US" sz="2000" b="1" dirty="0">
                <a:solidFill>
                  <a:schemeClr val="tx2"/>
                </a:solidFill>
              </a:rPr>
              <a:t>1. Сөздікпен салыстыр</a:t>
            </a:r>
            <a:endParaRPr lang="en-US" sz="2000" dirty="0"/>
          </a:p>
        </p:txBody>
      </p:sp>
      <p:sp>
        <p:nvSpPr>
          <p:cNvPr id="7" name="memo-text-0"/>
          <p:cNvSpPr txBox="1"/>
          <p:nvPr/>
        </p:nvSpPr>
        <p:spPr>
          <a:xfrm>
            <a:off x="1920240" y="2331720"/>
            <a:ext cx="3749040" cy="1005840"/>
          </a:xfrm>
          <a:prstGeom prst="rect">
            <a:avLst/>
          </a:prstGeom>
          <a:noFill/>
          <a:ln/>
        </p:spPr>
        <p:txBody>
          <a:bodyPr wrap="square" lIns="0" tIns="0" rIns="0" bIns="0" rtlCol="0" anchor="t"/>
          <a:lstStyle/>
          <a:p>
            <a:pPr indent="0" marL="0">
              <a:buNone/>
            </a:pPr>
            <a:r>
              <a:rPr lang="en-US" sz="1500" dirty="0">
                <a:solidFill>
                  <a:schemeClr val="tx1"/>
                </a:solidFill>
              </a:rPr>
              <a:t>ЖИ сенімді жазса да, мағынасын фразеологиялық сөздіктен тексер</a:t>
            </a:r>
            <a:endParaRPr lang="en-US" sz="1500" dirty="0"/>
          </a:p>
        </p:txBody>
      </p:sp>
      <p:sp>
        <p:nvSpPr>
          <p:cNvPr id="8" name="memo-card-1"/>
          <p:cNvSpPr/>
          <p:nvPr/>
        </p:nvSpPr>
        <p:spPr>
          <a:xfrm>
            <a:off x="6263640" y="1463040"/>
            <a:ext cx="5349240" cy="2057400"/>
          </a:xfrm>
          <a:prstGeom prst="roundRect">
            <a:avLst>
              <a:gd name="adj" fmla="val 5333"/>
            </a:avLst>
          </a:prstGeom>
          <a:solidFill>
            <a:schemeClr val="bg2"/>
          </a:solidFill>
          <a:ln/>
        </p:spPr>
      </p:sp>
      <p:sp>
        <p:nvSpPr>
          <p:cNvPr id="9" name="memo-1-circle"/>
          <p:cNvSpPr/>
          <p:nvPr/>
        </p:nvSpPr>
        <p:spPr>
          <a:xfrm>
            <a:off x="6583680" y="1783080"/>
            <a:ext cx="822960" cy="822960"/>
          </a:xfrm>
          <a:prstGeom prst="ellipse">
            <a:avLst/>
          </a:prstGeom>
          <a:solidFill>
            <a:schemeClr val="accent2"/>
          </a:solidFill>
          <a:ln/>
        </p:spPr>
      </p:sp>
      <p:pic>
        <p:nvPicPr>
          <p:cNvPr id="10" name="memo-1-icon" descr="preencoded.png">    </p:cNvPr>
          <p:cNvPicPr>
            <a:picLocks noChangeAspect="1"/>
          </p:cNvPicPr>
          <p:nvPr/>
        </p:nvPicPr>
        <p:blipFill>
          <a:blip r:embed="rId2"/>
          <a:stretch>
            <a:fillRect/>
          </a:stretch>
        </p:blipFill>
        <p:spPr>
          <a:xfrm>
            <a:off x="6789420" y="1988820"/>
            <a:ext cx="411480" cy="411480"/>
          </a:xfrm>
          <a:prstGeom prst="rect">
            <a:avLst/>
          </a:prstGeom>
        </p:spPr>
      </p:pic>
      <p:sp>
        <p:nvSpPr>
          <p:cNvPr id="11" name="memo-title-1"/>
          <p:cNvSpPr txBox="1"/>
          <p:nvPr/>
        </p:nvSpPr>
        <p:spPr>
          <a:xfrm>
            <a:off x="7635240" y="1737360"/>
            <a:ext cx="3749040" cy="548640"/>
          </a:xfrm>
          <a:prstGeom prst="rect">
            <a:avLst/>
          </a:prstGeom>
          <a:noFill/>
          <a:ln/>
        </p:spPr>
        <p:txBody>
          <a:bodyPr wrap="square" lIns="0" tIns="0" rIns="0" bIns="0" rtlCol="0" anchor="ctr"/>
          <a:lstStyle/>
          <a:p>
            <a:pPr indent="0" marL="0">
              <a:buNone/>
            </a:pPr>
            <a:r>
              <a:rPr lang="en-US" sz="2000" b="1" dirty="0">
                <a:solidFill>
                  <a:schemeClr val="tx2"/>
                </a:solidFill>
              </a:rPr>
              <a:t>2. Ұлттық тіркеске сақ бол</a:t>
            </a:r>
            <a:endParaRPr lang="en-US" sz="2000" dirty="0"/>
          </a:p>
        </p:txBody>
      </p:sp>
      <p:sp>
        <p:nvSpPr>
          <p:cNvPr id="12" name="memo-text-1"/>
          <p:cNvSpPr txBox="1"/>
          <p:nvPr/>
        </p:nvSpPr>
        <p:spPr>
          <a:xfrm>
            <a:off x="7635240" y="2331720"/>
            <a:ext cx="3749040" cy="1005840"/>
          </a:xfrm>
          <a:prstGeom prst="rect">
            <a:avLst/>
          </a:prstGeom>
          <a:noFill/>
          <a:ln/>
        </p:spPr>
        <p:txBody>
          <a:bodyPr wrap="square" lIns="0" tIns="0" rIns="0" bIns="0" rtlCol="0" anchor="t"/>
          <a:lstStyle/>
          <a:p>
            <a:pPr indent="0" marL="0">
              <a:buNone/>
            </a:pPr>
            <a:r>
              <a:rPr lang="en-US" sz="1500" dirty="0">
                <a:solidFill>
                  <a:schemeClr val="tx1"/>
                </a:solidFill>
              </a:rPr>
              <a:t>Барлық қате жауап қазақ тұрмысы мен салтына байланысты тіркестерде болды</a:t>
            </a:r>
            <a:endParaRPr lang="en-US" sz="1500" dirty="0"/>
          </a:p>
        </p:txBody>
      </p:sp>
      <p:sp>
        <p:nvSpPr>
          <p:cNvPr id="13" name="memo-card-2"/>
          <p:cNvSpPr/>
          <p:nvPr/>
        </p:nvSpPr>
        <p:spPr>
          <a:xfrm>
            <a:off x="548640" y="3794760"/>
            <a:ext cx="5349240" cy="2057400"/>
          </a:xfrm>
          <a:prstGeom prst="roundRect">
            <a:avLst>
              <a:gd name="adj" fmla="val 5333"/>
            </a:avLst>
          </a:prstGeom>
          <a:solidFill>
            <a:schemeClr val="bg2"/>
          </a:solidFill>
          <a:ln/>
        </p:spPr>
      </p:sp>
      <p:sp>
        <p:nvSpPr>
          <p:cNvPr id="14" name="memo-2-circle"/>
          <p:cNvSpPr/>
          <p:nvPr/>
        </p:nvSpPr>
        <p:spPr>
          <a:xfrm>
            <a:off x="868680" y="4114800"/>
            <a:ext cx="822960" cy="822960"/>
          </a:xfrm>
          <a:prstGeom prst="ellipse">
            <a:avLst/>
          </a:prstGeom>
          <a:solidFill>
            <a:schemeClr val="accent1"/>
          </a:solidFill>
          <a:ln/>
        </p:spPr>
      </p:sp>
      <p:pic>
        <p:nvPicPr>
          <p:cNvPr id="15" name="memo-2-icon" descr="preencoded.png">    </p:cNvPr>
          <p:cNvPicPr>
            <a:picLocks noChangeAspect="1"/>
          </p:cNvPicPr>
          <p:nvPr/>
        </p:nvPicPr>
        <p:blipFill>
          <a:blip r:embed="rId3"/>
          <a:stretch>
            <a:fillRect/>
          </a:stretch>
        </p:blipFill>
        <p:spPr>
          <a:xfrm>
            <a:off x="1074420" y="4320540"/>
            <a:ext cx="411480" cy="411480"/>
          </a:xfrm>
          <a:prstGeom prst="rect">
            <a:avLst/>
          </a:prstGeom>
        </p:spPr>
      </p:pic>
      <p:sp>
        <p:nvSpPr>
          <p:cNvPr id="16" name="memo-title-2"/>
          <p:cNvSpPr txBox="1"/>
          <p:nvPr/>
        </p:nvSpPr>
        <p:spPr>
          <a:xfrm>
            <a:off x="1920240" y="4069080"/>
            <a:ext cx="3749040" cy="548640"/>
          </a:xfrm>
          <a:prstGeom prst="rect">
            <a:avLst/>
          </a:prstGeom>
          <a:noFill/>
          <a:ln/>
        </p:spPr>
        <p:txBody>
          <a:bodyPr wrap="square" lIns="0" tIns="0" rIns="0" bIns="0" rtlCol="0" anchor="ctr"/>
          <a:lstStyle/>
          <a:p>
            <a:pPr indent="0" marL="0">
              <a:buNone/>
            </a:pPr>
            <a:r>
              <a:rPr lang="en-US" sz="2000" b="1" dirty="0">
                <a:solidFill>
                  <a:schemeClr val="tx2"/>
                </a:solidFill>
              </a:rPr>
              <a:t>3. Артық мағынаны байқа</a:t>
            </a:r>
            <a:endParaRPr lang="en-US" sz="2000" dirty="0"/>
          </a:p>
        </p:txBody>
      </p:sp>
      <p:sp>
        <p:nvSpPr>
          <p:cNvPr id="17" name="memo-text-2"/>
          <p:cNvSpPr txBox="1"/>
          <p:nvPr/>
        </p:nvSpPr>
        <p:spPr>
          <a:xfrm>
            <a:off x="1920240" y="4663440"/>
            <a:ext cx="3749040" cy="1005840"/>
          </a:xfrm>
          <a:prstGeom prst="rect">
            <a:avLst/>
          </a:prstGeom>
          <a:noFill/>
          <a:ln/>
        </p:spPr>
        <p:txBody>
          <a:bodyPr wrap="square" lIns="0" tIns="0" rIns="0" bIns="0" rtlCol="0" anchor="t"/>
          <a:lstStyle/>
          <a:p>
            <a:pPr indent="0" marL="0">
              <a:buNone/>
            </a:pPr>
            <a:r>
              <a:rPr lang="en-US" sz="1500" dirty="0">
                <a:solidFill>
                  <a:schemeClr val="tx1"/>
                </a:solidFill>
              </a:rPr>
              <a:t>ЖИ дұрыс мағынаға сөздікте жоқ мағына қосуы мүмкін</a:t>
            </a:r>
            <a:endParaRPr lang="en-US" sz="1500" dirty="0"/>
          </a:p>
        </p:txBody>
      </p:sp>
      <p:sp>
        <p:nvSpPr>
          <p:cNvPr id="18" name="memo-card-3"/>
          <p:cNvSpPr/>
          <p:nvPr/>
        </p:nvSpPr>
        <p:spPr>
          <a:xfrm>
            <a:off x="6263640" y="3794760"/>
            <a:ext cx="5349240" cy="2057400"/>
          </a:xfrm>
          <a:prstGeom prst="roundRect">
            <a:avLst>
              <a:gd name="adj" fmla="val 5333"/>
            </a:avLst>
          </a:prstGeom>
          <a:solidFill>
            <a:schemeClr val="bg2"/>
          </a:solidFill>
          <a:ln/>
        </p:spPr>
      </p:sp>
      <p:sp>
        <p:nvSpPr>
          <p:cNvPr id="19" name="memo-3-circle"/>
          <p:cNvSpPr/>
          <p:nvPr/>
        </p:nvSpPr>
        <p:spPr>
          <a:xfrm>
            <a:off x="6583680" y="4114800"/>
            <a:ext cx="822960" cy="822960"/>
          </a:xfrm>
          <a:prstGeom prst="ellipse">
            <a:avLst/>
          </a:prstGeom>
          <a:solidFill>
            <a:schemeClr val="accent2"/>
          </a:solidFill>
          <a:ln/>
        </p:spPr>
      </p:sp>
      <p:pic>
        <p:nvPicPr>
          <p:cNvPr id="20" name="memo-3-icon" descr="preencoded.png">    </p:cNvPr>
          <p:cNvPicPr>
            <a:picLocks noChangeAspect="1"/>
          </p:cNvPicPr>
          <p:nvPr/>
        </p:nvPicPr>
        <p:blipFill>
          <a:blip r:embed="rId4"/>
          <a:stretch>
            <a:fillRect/>
          </a:stretch>
        </p:blipFill>
        <p:spPr>
          <a:xfrm>
            <a:off x="6789420" y="4320540"/>
            <a:ext cx="411480" cy="411480"/>
          </a:xfrm>
          <a:prstGeom prst="rect">
            <a:avLst/>
          </a:prstGeom>
        </p:spPr>
      </p:pic>
      <p:sp>
        <p:nvSpPr>
          <p:cNvPr id="21" name="memo-title-3"/>
          <p:cNvSpPr txBox="1"/>
          <p:nvPr/>
        </p:nvSpPr>
        <p:spPr>
          <a:xfrm>
            <a:off x="7635240" y="4069080"/>
            <a:ext cx="3749040" cy="548640"/>
          </a:xfrm>
          <a:prstGeom prst="rect">
            <a:avLst/>
          </a:prstGeom>
          <a:noFill/>
          <a:ln/>
        </p:spPr>
        <p:txBody>
          <a:bodyPr wrap="square" lIns="0" tIns="0" rIns="0" bIns="0" rtlCol="0" anchor="ctr"/>
          <a:lstStyle/>
          <a:p>
            <a:pPr indent="0" marL="0">
              <a:buNone/>
            </a:pPr>
            <a:r>
              <a:rPr lang="en-US" sz="2000" b="1" dirty="0">
                <a:solidFill>
                  <a:schemeClr val="tx2"/>
                </a:solidFill>
              </a:rPr>
              <a:t>4. Үлкендерден сұра</a:t>
            </a:r>
            <a:endParaRPr lang="en-US" sz="2000" dirty="0"/>
          </a:p>
        </p:txBody>
      </p:sp>
      <p:sp>
        <p:nvSpPr>
          <p:cNvPr id="22" name="memo-text-3"/>
          <p:cNvSpPr txBox="1"/>
          <p:nvPr/>
        </p:nvSpPr>
        <p:spPr>
          <a:xfrm>
            <a:off x="7635240" y="4663440"/>
            <a:ext cx="3749040" cy="1005840"/>
          </a:xfrm>
          <a:prstGeom prst="rect">
            <a:avLst/>
          </a:prstGeom>
          <a:noFill/>
          <a:ln/>
        </p:spPr>
        <p:txBody>
          <a:bodyPr wrap="square" lIns="0" tIns="0" rIns="0" bIns="0" rtlCol="0" anchor="t"/>
          <a:lstStyle/>
          <a:p>
            <a:pPr indent="0" marL="0">
              <a:buNone/>
            </a:pPr>
            <a:r>
              <a:rPr lang="en-US" sz="1500" dirty="0">
                <a:solidFill>
                  <a:schemeClr val="tx1"/>
                </a:solidFill>
              </a:rPr>
              <a:t>Күмәнің қалса – мұғалімнен, ата-әжеңнен сұра</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Қорытынды</a:t>
            </a:r>
            <a:endParaRPr lang="en-US" sz="3200" dirty="0"/>
          </a:p>
        </p:txBody>
      </p:sp>
      <p:sp>
        <p:nvSpPr>
          <p:cNvPr id="3" name="concl-num-bg-0"/>
          <p:cNvSpPr/>
          <p:nvPr/>
        </p:nvSpPr>
        <p:spPr>
          <a:xfrm>
            <a:off x="548640" y="1490472"/>
            <a:ext cx="566928" cy="566928"/>
          </a:xfrm>
          <a:prstGeom prst="ellipse">
            <a:avLst/>
          </a:prstGeom>
          <a:solidFill>
            <a:schemeClr val="accent1"/>
          </a:solidFill>
          <a:ln/>
        </p:spPr>
      </p:sp>
      <p:sp>
        <p:nvSpPr>
          <p:cNvPr id="4" name="concl-num-0"/>
          <p:cNvSpPr txBox="1"/>
          <p:nvPr/>
        </p:nvSpPr>
        <p:spPr>
          <a:xfrm>
            <a:off x="548640" y="1490472"/>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5" name="concl-text-0"/>
          <p:cNvSpPr txBox="1"/>
          <p:nvPr/>
        </p:nvSpPr>
        <p:spPr>
          <a:xfrm>
            <a:off x="1371600" y="1417320"/>
            <a:ext cx="10241280" cy="731520"/>
          </a:xfrm>
          <a:prstGeom prst="rect">
            <a:avLst/>
          </a:prstGeom>
          <a:noFill/>
          <a:ln/>
        </p:spPr>
        <p:txBody>
          <a:bodyPr wrap="square" lIns="0" tIns="0" rIns="0" bIns="0" rtlCol="0" anchor="ctr"/>
          <a:lstStyle/>
          <a:p>
            <a:pPr indent="0" marL="0">
              <a:buNone/>
            </a:pPr>
            <a:r>
              <a:rPr lang="en-US" sz="1900" dirty="0">
                <a:solidFill>
                  <a:schemeClr val="tx1"/>
                </a:solidFill>
              </a:rPr>
              <a:t>ЖИ тұрақты тіркестерді жалпы жақсы түсіндіреді – орташа 93,9%</a:t>
            </a:r>
            <a:endParaRPr lang="en-US" sz="1900" dirty="0"/>
          </a:p>
        </p:txBody>
      </p:sp>
      <p:sp>
        <p:nvSpPr>
          <p:cNvPr id="6" name="concl-num-bg-1"/>
          <p:cNvSpPr/>
          <p:nvPr/>
        </p:nvSpPr>
        <p:spPr>
          <a:xfrm>
            <a:off x="548640" y="2423160"/>
            <a:ext cx="566928" cy="566928"/>
          </a:xfrm>
          <a:prstGeom prst="ellipse">
            <a:avLst/>
          </a:prstGeom>
          <a:solidFill>
            <a:schemeClr val="accent1"/>
          </a:solidFill>
          <a:ln/>
        </p:spPr>
      </p:sp>
      <p:sp>
        <p:nvSpPr>
          <p:cNvPr id="7" name="concl-num-1"/>
          <p:cNvSpPr txBox="1"/>
          <p:nvPr/>
        </p:nvSpPr>
        <p:spPr>
          <a:xfrm>
            <a:off x="548640" y="242316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8" name="concl-text-1"/>
          <p:cNvSpPr txBox="1"/>
          <p:nvPr/>
        </p:nvSpPr>
        <p:spPr>
          <a:xfrm>
            <a:off x="1371600" y="2350008"/>
            <a:ext cx="10241280" cy="731520"/>
          </a:xfrm>
          <a:prstGeom prst="rect">
            <a:avLst/>
          </a:prstGeom>
          <a:noFill/>
          <a:ln/>
        </p:spPr>
        <p:txBody>
          <a:bodyPr wrap="square" lIns="0" tIns="0" rIns="0" bIns="0" rtlCol="0" anchor="ctr"/>
          <a:lstStyle/>
          <a:p>
            <a:pPr indent="0" marL="0">
              <a:buNone/>
            </a:pPr>
            <a:r>
              <a:rPr lang="en-US" sz="1900" dirty="0">
                <a:solidFill>
                  <a:schemeClr val="tx1"/>
                </a:solidFill>
              </a:rPr>
              <a:t>Ең әлсіз тұсы – ұлттық-мәдени тіркестер (86,7%): қате жауаптың бәрі осы топта</a:t>
            </a:r>
            <a:endParaRPr lang="en-US" sz="1900" dirty="0"/>
          </a:p>
        </p:txBody>
      </p:sp>
      <p:sp>
        <p:nvSpPr>
          <p:cNvPr id="9" name="concl-num-bg-2"/>
          <p:cNvSpPr/>
          <p:nvPr/>
        </p:nvSpPr>
        <p:spPr>
          <a:xfrm>
            <a:off x="548640" y="3355848"/>
            <a:ext cx="566928" cy="566928"/>
          </a:xfrm>
          <a:prstGeom prst="ellipse">
            <a:avLst/>
          </a:prstGeom>
          <a:solidFill>
            <a:schemeClr val="accent1"/>
          </a:solidFill>
          <a:ln/>
        </p:spPr>
      </p:sp>
      <p:sp>
        <p:nvSpPr>
          <p:cNvPr id="10" name="concl-num-2"/>
          <p:cNvSpPr txBox="1"/>
          <p:nvPr/>
        </p:nvSpPr>
        <p:spPr>
          <a:xfrm>
            <a:off x="548640" y="3355848"/>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1" name="concl-text-2"/>
          <p:cNvSpPr txBox="1"/>
          <p:nvPr/>
        </p:nvSpPr>
        <p:spPr>
          <a:xfrm>
            <a:off x="1371600" y="3282696"/>
            <a:ext cx="10241280" cy="731520"/>
          </a:xfrm>
          <a:prstGeom prst="rect">
            <a:avLst/>
          </a:prstGeom>
          <a:noFill/>
          <a:ln/>
        </p:spPr>
        <p:txBody>
          <a:bodyPr wrap="square" lIns="0" tIns="0" rIns="0" bIns="0" rtlCol="0" anchor="ctr"/>
          <a:lstStyle/>
          <a:p>
            <a:pPr indent="0" marL="0">
              <a:buNone/>
            </a:pPr>
            <a:r>
              <a:rPr lang="en-US" sz="1900" dirty="0">
                <a:solidFill>
                  <a:schemeClr val="tx1"/>
                </a:solidFill>
              </a:rPr>
              <a:t>ЖИ сөзбе-сөз түсіндірмейді, бірақ қате мағынаны сенімді жазады – сондықтан оны байқау қиын</a:t>
            </a:r>
            <a:endParaRPr lang="en-US" sz="1900" dirty="0"/>
          </a:p>
        </p:txBody>
      </p:sp>
      <p:sp>
        <p:nvSpPr>
          <p:cNvPr id="12" name="concl-num-bg-3"/>
          <p:cNvSpPr/>
          <p:nvPr/>
        </p:nvSpPr>
        <p:spPr>
          <a:xfrm>
            <a:off x="548640" y="4288536"/>
            <a:ext cx="566928" cy="566928"/>
          </a:xfrm>
          <a:prstGeom prst="ellipse">
            <a:avLst/>
          </a:prstGeom>
          <a:solidFill>
            <a:schemeClr val="accent1"/>
          </a:solidFill>
          <a:ln/>
        </p:spPr>
      </p:sp>
      <p:sp>
        <p:nvSpPr>
          <p:cNvPr id="13" name="concl-num-3"/>
          <p:cNvSpPr txBox="1"/>
          <p:nvPr/>
        </p:nvSpPr>
        <p:spPr>
          <a:xfrm>
            <a:off x="548640" y="4288536"/>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14" name="concl-text-3"/>
          <p:cNvSpPr txBox="1"/>
          <p:nvPr/>
        </p:nvSpPr>
        <p:spPr>
          <a:xfrm>
            <a:off x="1371600" y="4215384"/>
            <a:ext cx="10241280" cy="731520"/>
          </a:xfrm>
          <a:prstGeom prst="rect">
            <a:avLst/>
          </a:prstGeom>
          <a:noFill/>
          <a:ln/>
        </p:spPr>
        <p:txBody>
          <a:bodyPr wrap="square" lIns="0" tIns="0" rIns="0" bIns="0" rtlCol="0" anchor="ctr"/>
          <a:lstStyle/>
          <a:p>
            <a:pPr indent="0" marL="0">
              <a:buNone/>
            </a:pPr>
            <a:r>
              <a:rPr lang="en-US" sz="1900" dirty="0">
                <a:solidFill>
                  <a:schemeClr val="tx1"/>
                </a:solidFill>
              </a:rPr>
              <a:t>ЖИ – жақсы көмекші, бірақ шешімді сөздікке қарап адам қабылдауы керек</a:t>
            </a:r>
            <a:endParaRPr lang="en-US" sz="1900" dirty="0"/>
          </a:p>
        </p:txBody>
      </p:sp>
      <p:sp>
        <p:nvSpPr>
          <p:cNvPr id="15" name="limits"/>
          <p:cNvSpPr/>
          <p:nvPr/>
        </p:nvSpPr>
        <p:spPr>
          <a:xfrm>
            <a:off x="548640" y="5257800"/>
            <a:ext cx="5349240" cy="868680"/>
          </a:xfrm>
          <a:prstGeom prst="roundRect">
            <a:avLst>
              <a:gd name="adj" fmla="val 12632"/>
            </a:avLst>
          </a:prstGeom>
          <a:solidFill>
            <a:schemeClr val="bg2"/>
          </a:solidFill>
          <a:ln/>
        </p:spPr>
      </p:sp>
      <p:sp>
        <p:nvSpPr>
          <p:cNvPr id="16" name="limits-text"/>
          <p:cNvSpPr txBox="1"/>
          <p:nvPr/>
        </p:nvSpPr>
        <p:spPr>
          <a:xfrm>
            <a:off x="777240" y="5257800"/>
            <a:ext cx="4937760" cy="868680"/>
          </a:xfrm>
          <a:prstGeom prst="rect">
            <a:avLst/>
          </a:prstGeom>
          <a:noFill/>
          <a:ln/>
        </p:spPr>
        <p:txBody>
          <a:bodyPr wrap="square" lIns="0" tIns="0" rIns="0" bIns="0" rtlCol="0" anchor="ctr"/>
          <a:lstStyle/>
          <a:p>
            <a:pPr indent="0" marL="0">
              <a:buNone/>
            </a:pPr>
            <a:r>
              <a:rPr lang="en-US" sz="1400" b="1" dirty="0">
                <a:solidFill>
                  <a:schemeClr val="tx2"/>
                </a:solidFill>
              </a:rPr>
              <a:t>Шектеулер: </a:t>
            </a:r>
            <a:pPr indent="0" marL="0">
              <a:buNone/>
            </a:pPr>
            <a:r>
              <a:rPr lang="en-US" sz="1400" dirty="0">
                <a:solidFill>
                  <a:schemeClr val="tx1"/>
                </a:solidFill>
              </a:rPr>
              <a:t>30 тіркес, 3 ЖИ-дің тегін нұсқалары</a:t>
            </a:r>
            <a:endParaRPr lang="en-US" sz="1400" dirty="0"/>
          </a:p>
        </p:txBody>
      </p:sp>
      <p:sp>
        <p:nvSpPr>
          <p:cNvPr id="17" name="next"/>
          <p:cNvSpPr/>
          <p:nvPr/>
        </p:nvSpPr>
        <p:spPr>
          <a:xfrm>
            <a:off x="6263640" y="5257800"/>
            <a:ext cx="5349240" cy="868680"/>
          </a:xfrm>
          <a:prstGeom prst="roundRect">
            <a:avLst>
              <a:gd name="adj" fmla="val 12632"/>
            </a:avLst>
          </a:prstGeom>
          <a:solidFill>
            <a:schemeClr val="bg2"/>
          </a:solidFill>
          <a:ln/>
        </p:spPr>
      </p:sp>
      <p:sp>
        <p:nvSpPr>
          <p:cNvPr id="18" name="next-text"/>
          <p:cNvSpPr txBox="1"/>
          <p:nvPr/>
        </p:nvSpPr>
        <p:spPr>
          <a:xfrm>
            <a:off x="6492240" y="5257800"/>
            <a:ext cx="4937760" cy="868680"/>
          </a:xfrm>
          <a:prstGeom prst="rect">
            <a:avLst/>
          </a:prstGeom>
          <a:noFill/>
          <a:ln/>
        </p:spPr>
        <p:txBody>
          <a:bodyPr wrap="square" lIns="0" tIns="0" rIns="0" bIns="0" rtlCol="0" anchor="ctr"/>
          <a:lstStyle/>
          <a:p>
            <a:pPr indent="0" marL="0">
              <a:buNone/>
            </a:pPr>
            <a:r>
              <a:rPr lang="en-US" sz="1400" b="1" dirty="0">
                <a:solidFill>
                  <a:schemeClr val="tx2"/>
                </a:solidFill>
              </a:rPr>
              <a:t>Келешекте: </a:t>
            </a:r>
            <a:pPr indent="0" marL="0">
              <a:buNone/>
            </a:pPr>
            <a:r>
              <a:rPr lang="en-US" sz="1400" dirty="0">
                <a:solidFill>
                  <a:schemeClr val="tx1"/>
                </a:solidFill>
              </a:rPr>
              <a:t>мақал-мәтелдер, сөйлем ішіндегі тіркестер</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731520" y="1417320"/>
            <a:ext cx="6766560" cy="2377440"/>
          </a:xfrm>
          <a:prstGeom prst="rect">
            <a:avLst/>
          </a:prstGeom>
          <a:noFill/>
          <a:ln/>
        </p:spPr>
        <p:txBody>
          <a:bodyPr wrap="square" lIns="0" tIns="0" rIns="0" bIns="0" rtlCol="0" anchor="t"/>
          <a:lstStyle/>
          <a:p>
            <a:pPr algn="l" indent="0" marL="0">
              <a:buNone/>
            </a:pPr>
            <a:r>
              <a:rPr lang="en-US" sz="4000" b="1" dirty="0">
                <a:solidFill>
                  <a:schemeClr val="bg1"/>
                </a:solidFill>
              </a:rPr>
              <a:t>Шешімді адам қабылдайды – ЖИ тек көмектеседі</a:t>
            </a:r>
            <a:endParaRPr lang="en-US" sz="4000" dirty="0"/>
          </a:p>
        </p:txBody>
      </p:sp>
      <p:sp>
        <p:nvSpPr>
          <p:cNvPr id="3" name="Text 0"/>
          <p:cNvSpPr/>
          <p:nvPr>
            <p:ph idx="101" type="body" hasCustomPrompt="1"/>
          </p:nvPr>
        </p:nvSpPr>
        <p:spPr>
          <a:xfrm>
            <a:off x="731520" y="3931920"/>
            <a:ext cx="6766560" cy="822960"/>
          </a:xfrm>
          <a:prstGeom prst="rect">
            <a:avLst/>
          </a:prstGeom>
          <a:noFill/>
          <a:ln/>
        </p:spPr>
        <p:txBody>
          <a:bodyPr wrap="square" lIns="0" tIns="0" rIns="0" bIns="0" rtlCol="0" anchor="t"/>
          <a:lstStyle/>
          <a:p>
            <a:pPr algn="l" indent="0" marL="0">
              <a:buNone/>
            </a:pPr>
            <a:r>
              <a:rPr lang="en-US" sz="1800" i="1" dirty="0">
                <a:solidFill>
                  <a:schemeClr val="accent2"/>
                </a:solidFill>
              </a:rPr>
              <a:t>Назарларыңызға рахмет! Сұрақтарыңызға жауап беруге дайынмын</a:t>
            </a:r>
            <a:endParaRPr lang="en-US" sz="1800" dirty="0"/>
          </a:p>
        </p:txBody>
      </p:sp>
      <p:sp>
        <p:nvSpPr>
          <p:cNvPr id="4" name="end-stat-0"/>
          <p:cNvSpPr/>
          <p:nvPr/>
        </p:nvSpPr>
        <p:spPr>
          <a:xfrm>
            <a:off x="8138160" y="1463040"/>
            <a:ext cx="3383280" cy="1143000"/>
          </a:xfrm>
          <a:prstGeom prst="roundRect">
            <a:avLst>
              <a:gd name="adj" fmla="val 9600"/>
            </a:avLst>
          </a:prstGeom>
          <a:solidFill>
            <a:schemeClr val="bg1"/>
          </a:solidFill>
          <a:ln/>
        </p:spPr>
      </p:sp>
      <p:sp>
        <p:nvSpPr>
          <p:cNvPr id="5" name="end-stat-text-0"/>
          <p:cNvSpPr txBox="1"/>
          <p:nvPr/>
        </p:nvSpPr>
        <p:spPr>
          <a:xfrm>
            <a:off x="8412480" y="1463040"/>
            <a:ext cx="2926080" cy="1143000"/>
          </a:xfrm>
          <a:prstGeom prst="rect">
            <a:avLst/>
          </a:prstGeom>
          <a:noFill/>
          <a:ln/>
        </p:spPr>
        <p:txBody>
          <a:bodyPr wrap="square" lIns="0" tIns="0" rIns="0" bIns="0" rtlCol="0" anchor="ctr"/>
          <a:lstStyle/>
          <a:p>
            <a:pPr indent="0" marL="0">
              <a:buNone/>
            </a:pPr>
            <a:r>
              <a:rPr lang="en-US" sz="3000" b="1" dirty="0">
                <a:solidFill>
                  <a:schemeClr val="tx2"/>
                </a:solidFill>
                <a:latin typeface="Times New Roman" pitchFamily="34" charset="0"/>
                <a:ea typeface="Times New Roman" pitchFamily="34" charset="-122"/>
                <a:cs typeface="Times New Roman" pitchFamily="34" charset="-120"/>
              </a:rPr>
              <a:t>182 жауап</a:t>
            </a:r>
            <a:endParaRPr lang="en-US" sz="3000" dirty="0"/>
          </a:p>
          <a:p>
            <a:pPr indent="0" marL="0">
              <a:buNone/>
            </a:pPr>
            <a:r>
              <a:rPr lang="en-US" sz="1400" dirty="0">
                <a:solidFill>
                  <a:schemeClr val="accent5"/>
                </a:solidFill>
              </a:rPr>
              <a:t>Тәжірибе</a:t>
            </a:r>
            <a:endParaRPr lang="en-US" sz="3000" dirty="0"/>
          </a:p>
        </p:txBody>
      </p:sp>
      <p:sp>
        <p:nvSpPr>
          <p:cNvPr id="6" name="end-stat-1"/>
          <p:cNvSpPr/>
          <p:nvPr/>
        </p:nvSpPr>
        <p:spPr>
          <a:xfrm>
            <a:off x="8138160" y="2834640"/>
            <a:ext cx="3383280" cy="1143000"/>
          </a:xfrm>
          <a:prstGeom prst="roundRect">
            <a:avLst>
              <a:gd name="adj" fmla="val 9600"/>
            </a:avLst>
          </a:prstGeom>
          <a:solidFill>
            <a:schemeClr val="bg1"/>
          </a:solidFill>
          <a:ln/>
        </p:spPr>
      </p:sp>
      <p:sp>
        <p:nvSpPr>
          <p:cNvPr id="7" name="end-stat-text-1"/>
          <p:cNvSpPr txBox="1"/>
          <p:nvPr/>
        </p:nvSpPr>
        <p:spPr>
          <a:xfrm>
            <a:off x="8412480" y="2834640"/>
            <a:ext cx="2926080" cy="1143000"/>
          </a:xfrm>
          <a:prstGeom prst="rect">
            <a:avLst/>
          </a:prstGeom>
          <a:noFill/>
          <a:ln/>
        </p:spPr>
        <p:txBody>
          <a:bodyPr wrap="square" lIns="0" tIns="0" rIns="0" bIns="0" rtlCol="0" anchor="ctr"/>
          <a:lstStyle/>
          <a:p>
            <a:pPr indent="0" marL="0">
              <a:buNone/>
            </a:pPr>
            <a:r>
              <a:rPr lang="en-US" sz="3000" b="1" dirty="0">
                <a:solidFill>
                  <a:schemeClr val="tx2"/>
                </a:solidFill>
                <a:latin typeface="Times New Roman" pitchFamily="34" charset="0"/>
                <a:ea typeface="Times New Roman" pitchFamily="34" charset="-122"/>
                <a:cs typeface="Times New Roman" pitchFamily="34" charset="-120"/>
              </a:rPr>
              <a:t>93,9%</a:t>
            </a:r>
            <a:endParaRPr lang="en-US" sz="3000" dirty="0"/>
          </a:p>
          <a:p>
            <a:pPr indent="0" marL="0">
              <a:buNone/>
            </a:pPr>
            <a:r>
              <a:rPr lang="en-US" sz="1400" dirty="0">
                <a:solidFill>
                  <a:schemeClr val="accent5"/>
                </a:solidFill>
              </a:rPr>
              <a:t>Орташа сапа</a:t>
            </a:r>
            <a:endParaRPr lang="en-US" sz="3000" dirty="0"/>
          </a:p>
        </p:txBody>
      </p:sp>
      <p:sp>
        <p:nvSpPr>
          <p:cNvPr id="8" name="end-stat-2"/>
          <p:cNvSpPr/>
          <p:nvPr/>
        </p:nvSpPr>
        <p:spPr>
          <a:xfrm>
            <a:off x="8138160" y="4206240"/>
            <a:ext cx="3383280" cy="1143000"/>
          </a:xfrm>
          <a:prstGeom prst="roundRect">
            <a:avLst>
              <a:gd name="adj" fmla="val 9600"/>
            </a:avLst>
          </a:prstGeom>
          <a:solidFill>
            <a:schemeClr val="bg1"/>
          </a:solidFill>
          <a:ln/>
        </p:spPr>
      </p:sp>
      <p:sp>
        <p:nvSpPr>
          <p:cNvPr id="9" name="end-stat-text-2"/>
          <p:cNvSpPr txBox="1"/>
          <p:nvPr/>
        </p:nvSpPr>
        <p:spPr>
          <a:xfrm>
            <a:off x="8412480" y="4206240"/>
            <a:ext cx="2926080" cy="1143000"/>
          </a:xfrm>
          <a:prstGeom prst="rect">
            <a:avLst/>
          </a:prstGeom>
          <a:noFill/>
          <a:ln/>
        </p:spPr>
        <p:txBody>
          <a:bodyPr wrap="square" lIns="0" tIns="0" rIns="0" bIns="0" rtlCol="0" anchor="ctr"/>
          <a:lstStyle/>
          <a:p>
            <a:pPr indent="0" marL="0">
              <a:buNone/>
            </a:pPr>
            <a:r>
              <a:rPr lang="en-US" sz="3000" b="1" dirty="0">
                <a:solidFill>
                  <a:schemeClr val="tx2"/>
                </a:solidFill>
                <a:latin typeface="Times New Roman" pitchFamily="34" charset="0"/>
                <a:ea typeface="Times New Roman" pitchFamily="34" charset="-122"/>
                <a:cs typeface="Times New Roman" pitchFamily="34" charset="-120"/>
              </a:rPr>
              <a:t>4 / 90</a:t>
            </a:r>
            <a:endParaRPr lang="en-US" sz="3000" dirty="0"/>
          </a:p>
          <a:p>
            <a:pPr indent="0" marL="0">
              <a:buNone/>
            </a:pPr>
            <a:r>
              <a:rPr lang="en-US" sz="1400" dirty="0">
                <a:solidFill>
                  <a:schemeClr val="accent5"/>
                </a:solidFill>
              </a:rPr>
              <a:t>Қате жауаптар</a:t>
            </a:r>
            <a:endParaRPr lang="en-US" sz="3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Қосымша: бағалау шкаласы және қате түрлері</a:t>
            </a:r>
            <a:endParaRPr lang="en-US" sz="3200" dirty="0"/>
          </a:p>
        </p:txBody>
      </p:sp>
      <p:graphicFrame>
        <p:nvGraphicFramePr>
          <p:cNvPr id="15" name="table-scale"/>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1005840"/>
                <a:gridCol w="2377440"/>
                <a:gridCol w="6035040"/>
                <a:gridCol w="1645920"/>
              </a:tblGrid>
              <a:tr h="566928">
                <a:tc>
                  <a:txBody>
                    <a:bodyPr/>
                    <a:lstStyle/>
                    <a:p>
                      <a:pPr indent="0" marL="0">
                        <a:buNone/>
                      </a:pPr>
                      <a:r>
                        <a:rPr lang="en-US" sz="1400" b="1" dirty="0">
                          <a:solidFill>
                            <a:srgbClr val="FFFFFF"/>
                          </a:solidFill>
                          <a:latin typeface="+mn-lt" pitchFamily="34" charset="0"/>
                          <a:ea typeface="+mn-lt" pitchFamily="34" charset="-122"/>
                          <a:cs typeface="+mn-lt" pitchFamily="34" charset="-120"/>
                        </a:rPr>
                        <a:t>Белгі</a:t>
                      </a:r>
                      <a:endParaRPr lang="en-US" sz="1400" dirty="0">
                        <a:latin typeface="+mn-lt" charset="0"/>
                        <a:ea typeface="+mn-lt" charset="0"/>
                        <a:cs typeface="+mn-lt" charset="0"/>
                      </a:endParaRPr>
                    </a:p>
                  </a:txBody>
                  <a:tcPr marL="91440" marR="91440" marT="45720" marB="45720" anchor="ctr">
                    <a:lnL w="9525" cap="flat" cmpd="sng" algn="ctr">
                      <a:solidFill>
                        <a:srgbClr val="C9DDE0"/>
                      </a:solidFill>
                      <a:prstDash val="solid"/>
                      <a:round/>
                      <a:headEnd type="none" w="med" len="med"/>
                      <a:tailEnd type="none" w="med" len="med"/>
                    </a:lnL>
                    <a:lnR w="9525" cap="flat" cmpd="sng" algn="ctr">
                      <a:solidFill>
                        <a:srgbClr val="C9DDE0"/>
                      </a:solidFill>
                      <a:prstDash val="solid"/>
                      <a:round/>
                      <a:headEnd type="none" w="med" len="med"/>
                      <a:tailEnd type="none" w="med" len="med"/>
                    </a:lnR>
                    <a:lnT w="9525" cap="flat" cmpd="sng" algn="ctr">
                      <a:solidFill>
                        <a:srgbClr val="C9DDE0"/>
                      </a:solidFill>
                      <a:prstDash val="solid"/>
                      <a:round/>
                      <a:headEnd type="none" w="med" len="med"/>
                      <a:tailEnd type="none" w="med" len="med"/>
                    </a:lnT>
                    <a:lnB w="9525" cap="flat" cmpd="sng" algn="ctr">
                      <a:solidFill>
                        <a:srgbClr val="C9DDE0"/>
                      </a:solidFill>
                      <a:prstDash val="solid"/>
                      <a:round/>
                      <a:headEnd type="none" w="med" len="med"/>
                      <a:tailEnd type="none" w="med" len="med"/>
                    </a:lnB>
                    <a:solidFill>
                      <a:srgbClr val="0B3C49"/>
                    </a:solidFill>
                  </a:tcPr>
                </a:tc>
                <a:tc>
                  <a:txBody>
                    <a:bodyPr/>
                    <a:lstStyle/>
                    <a:p>
                      <a:pPr indent="0" marL="0">
                        <a:buNone/>
                      </a:pPr>
                      <a:r>
                        <a:rPr lang="en-US" sz="1400" b="1" dirty="0">
                          <a:solidFill>
                            <a:srgbClr val="FFFFFF"/>
                          </a:solidFill>
                          <a:latin typeface="+mn-lt" pitchFamily="34" charset="0"/>
                          <a:ea typeface="+mn-lt" pitchFamily="34" charset="-122"/>
                          <a:cs typeface="+mn-lt" pitchFamily="34" charset="-120"/>
                        </a:rPr>
                        <a:t>Атауы</a:t>
                      </a:r>
                      <a:endParaRPr lang="en-US" sz="1400" dirty="0">
                        <a:latin typeface="+mn-lt" charset="0"/>
                        <a:ea typeface="+mn-lt" charset="0"/>
                        <a:cs typeface="+mn-lt" charset="0"/>
                      </a:endParaRPr>
                    </a:p>
                  </a:txBody>
                  <a:tcPr marL="91440" marR="91440" marT="45720" marB="45720" anchor="ctr">
                    <a:lnL w="9525" cap="flat" cmpd="sng" algn="ctr">
                      <a:solidFill>
                        <a:srgbClr val="C9DDE0"/>
                      </a:solidFill>
                      <a:prstDash val="solid"/>
                      <a:round/>
                      <a:headEnd type="none" w="med" len="med"/>
                      <a:tailEnd type="none" w="med" len="med"/>
                    </a:lnL>
                    <a:lnR w="9525" cap="flat" cmpd="sng" algn="ctr">
                      <a:solidFill>
                        <a:srgbClr val="C9DDE0"/>
                      </a:solidFill>
                      <a:prstDash val="solid"/>
                      <a:round/>
                      <a:headEnd type="none" w="med" len="med"/>
                      <a:tailEnd type="none" w="med" len="med"/>
                    </a:lnR>
                    <a:lnT w="9525" cap="flat" cmpd="sng" algn="ctr">
                      <a:solidFill>
                        <a:srgbClr val="C9DDE0"/>
                      </a:solidFill>
                      <a:prstDash val="solid"/>
                      <a:round/>
                      <a:headEnd type="none" w="med" len="med"/>
                      <a:tailEnd type="none" w="med" len="med"/>
                    </a:lnT>
                    <a:lnB w="9525" cap="flat" cmpd="sng" algn="ctr">
                      <a:solidFill>
                        <a:srgbClr val="C9DDE0"/>
                      </a:solidFill>
                      <a:prstDash val="solid"/>
                      <a:round/>
                      <a:headEnd type="none" w="med" len="med"/>
                      <a:tailEnd type="none" w="med" len="med"/>
                    </a:lnB>
                    <a:solidFill>
                      <a:srgbClr val="0B3C49"/>
                    </a:solidFill>
                  </a:tcPr>
                </a:tc>
                <a:tc>
                  <a:txBody>
                    <a:bodyPr/>
                    <a:lstStyle/>
                    <a:p>
                      <a:pPr indent="0" marL="0">
                        <a:buNone/>
                      </a:pPr>
                      <a:r>
                        <a:rPr lang="en-US" sz="1400" b="1" dirty="0">
                          <a:solidFill>
                            <a:srgbClr val="FFFFFF"/>
                          </a:solidFill>
                          <a:latin typeface="+mn-lt" pitchFamily="34" charset="0"/>
                          <a:ea typeface="+mn-lt" pitchFamily="34" charset="-122"/>
                          <a:cs typeface="+mn-lt" pitchFamily="34" charset="-120"/>
                        </a:rPr>
                        <a:t>Сипаттамасы</a:t>
                      </a:r>
                      <a:endParaRPr lang="en-US" sz="1400" dirty="0">
                        <a:latin typeface="+mn-lt" charset="0"/>
                        <a:ea typeface="+mn-lt" charset="0"/>
                        <a:cs typeface="+mn-lt" charset="0"/>
                      </a:endParaRPr>
                    </a:p>
                  </a:txBody>
                  <a:tcPr marL="91440" marR="91440" marT="45720" marB="45720" anchor="ctr">
                    <a:lnL w="9525" cap="flat" cmpd="sng" algn="ctr">
                      <a:solidFill>
                        <a:srgbClr val="C9DDE0"/>
                      </a:solidFill>
                      <a:prstDash val="solid"/>
                      <a:round/>
                      <a:headEnd type="none" w="med" len="med"/>
                      <a:tailEnd type="none" w="med" len="med"/>
                    </a:lnL>
                    <a:lnR w="9525" cap="flat" cmpd="sng" algn="ctr">
                      <a:solidFill>
                        <a:srgbClr val="C9DDE0"/>
                      </a:solidFill>
                      <a:prstDash val="solid"/>
                      <a:round/>
                      <a:headEnd type="none" w="med" len="med"/>
                      <a:tailEnd type="none" w="med" len="med"/>
                    </a:lnR>
                    <a:lnT w="9525" cap="flat" cmpd="sng" algn="ctr">
                      <a:solidFill>
                        <a:srgbClr val="C9DDE0"/>
                      </a:solidFill>
                      <a:prstDash val="solid"/>
                      <a:round/>
                      <a:headEnd type="none" w="med" len="med"/>
                      <a:tailEnd type="none" w="med" len="med"/>
                    </a:lnT>
                    <a:lnB w="9525" cap="flat" cmpd="sng" algn="ctr">
                      <a:solidFill>
                        <a:srgbClr val="C9DDE0"/>
                      </a:solidFill>
                      <a:prstDash val="solid"/>
                      <a:round/>
                      <a:headEnd type="none" w="med" len="med"/>
                      <a:tailEnd type="none" w="med" len="med"/>
                    </a:lnB>
                    <a:solidFill>
                      <a:srgbClr val="0B3C49"/>
                    </a:solidFill>
                  </a:tcPr>
                </a:tc>
                <a:tc>
                  <a:txBody>
                    <a:bodyPr/>
                    <a:lstStyle/>
                    <a:p>
                      <a:pPr indent="0" marL="0">
                        <a:buNone/>
                      </a:pPr>
                      <a:r>
                        <a:rPr lang="en-US" sz="1400" b="1" dirty="0">
                          <a:solidFill>
                            <a:srgbClr val="FFFFFF"/>
                          </a:solidFill>
                          <a:latin typeface="+mn-lt" pitchFamily="34" charset="0"/>
                          <a:ea typeface="+mn-lt" pitchFamily="34" charset="-122"/>
                          <a:cs typeface="+mn-lt" pitchFamily="34" charset="-120"/>
                        </a:rPr>
                        <a:t>Саны</a:t>
                      </a:r>
                      <a:endParaRPr lang="en-US" sz="1400" dirty="0">
                        <a:latin typeface="+mn-lt" charset="0"/>
                        <a:ea typeface="+mn-lt" charset="0"/>
                        <a:cs typeface="+mn-lt" charset="0"/>
                      </a:endParaRPr>
                    </a:p>
                  </a:txBody>
                  <a:tcPr marL="91440" marR="91440" marT="45720" marB="45720" anchor="ctr">
                    <a:lnL w="9525" cap="flat" cmpd="sng" algn="ctr">
                      <a:solidFill>
                        <a:srgbClr val="C9DDE0"/>
                      </a:solidFill>
                      <a:prstDash val="solid"/>
                      <a:round/>
                      <a:headEnd type="none" w="med" len="med"/>
                      <a:tailEnd type="none" w="med" len="med"/>
                    </a:lnL>
                    <a:lnR w="9525" cap="flat" cmpd="sng" algn="ctr">
                      <a:solidFill>
                        <a:srgbClr val="C9DDE0"/>
                      </a:solidFill>
                      <a:prstDash val="solid"/>
                      <a:round/>
                      <a:headEnd type="none" w="med" len="med"/>
                      <a:tailEnd type="none" w="med" len="med"/>
                    </a:lnR>
                    <a:lnT w="9525" cap="flat" cmpd="sng" algn="ctr">
                      <a:solidFill>
                        <a:srgbClr val="C9DDE0"/>
                      </a:solidFill>
                      <a:prstDash val="solid"/>
                      <a:round/>
                      <a:headEnd type="none" w="med" len="med"/>
                      <a:tailEnd type="none" w="med" len="med"/>
                    </a:lnT>
                    <a:lnB w="9525" cap="flat" cmpd="sng" algn="ctr">
                      <a:solidFill>
                        <a:srgbClr val="C9DDE0"/>
                      </a:solidFill>
                      <a:prstDash val="solid"/>
                      <a:round/>
                      <a:headEnd type="none" w="med" len="med"/>
                      <a:tailEnd type="none" w="med" len="med"/>
                    </a:lnB>
                    <a:solidFill>
                      <a:srgbClr val="0B3C49"/>
                    </a:solidFill>
                  </a:tcPr>
                </a:tc>
              </a:tr>
              <a:tr h="566928">
                <a:tc>
                  <a:txBody>
                    <a:bodyPr/>
                    <a:lstStyle/>
                    <a:p>
                      <a:pPr indent="0" marL="0">
                        <a:buNone/>
                      </a:pPr>
                      <a:r>
                        <a:rPr lang="en-US" sz="1400" dirty="0">
                          <a:solidFill>
                            <a:srgbClr val="1B2A30"/>
                          </a:solidFill>
                          <a:latin typeface="+mn-lt" pitchFamily="34" charset="0"/>
                          <a:ea typeface="+mn-lt" pitchFamily="34" charset="-122"/>
                          <a:cs typeface="+mn-lt" pitchFamily="34" charset="-120"/>
                        </a:rPr>
                        <a:t>2</a:t>
                      </a:r>
                      <a:endParaRPr lang="en-US" sz="1400" dirty="0">
                        <a:latin typeface="+mn-lt" charset="0"/>
                        <a:ea typeface="+mn-lt" charset="0"/>
                        <a:cs typeface="+mn-lt" charset="0"/>
                      </a:endParaRPr>
                    </a:p>
                  </a:txBody>
                  <a:tcPr marL="91440" marR="91440" marT="45720" marB="45720" anchor="ctr">
                    <a:lnL w="9525" cap="flat" cmpd="sng" algn="ctr">
                      <a:solidFill>
                        <a:srgbClr val="C9DDE0"/>
                      </a:solidFill>
                      <a:prstDash val="solid"/>
                      <a:round/>
                      <a:headEnd type="none" w="med" len="med"/>
                      <a:tailEnd type="none" w="med" len="med"/>
                    </a:lnL>
                    <a:lnR w="9525" cap="flat" cmpd="sng" algn="ctr">
                      <a:solidFill>
                        <a:srgbClr val="C9DDE0"/>
                      </a:solidFill>
                      <a:prstDash val="solid"/>
                      <a:round/>
                      <a:headEnd type="none" w="med" len="med"/>
                      <a:tailEnd type="none" w="med" len="med"/>
                    </a:lnR>
                    <a:lnT w="9525" cap="flat" cmpd="sng" algn="ctr">
                      <a:solidFill>
                        <a:srgbClr val="C9DDE0"/>
                      </a:solidFill>
                      <a:prstDash val="solid"/>
                      <a:round/>
                      <a:headEnd type="none" w="med" len="med"/>
                      <a:tailEnd type="none" w="med" len="med"/>
                    </a:lnT>
                    <a:lnB w="9525" cap="flat" cmpd="sng" algn="ctr">
                      <a:solidFill>
                        <a:srgbClr val="C9DDE0"/>
                      </a:solidFill>
                      <a:prstDash val="solid"/>
                      <a:round/>
                      <a:headEnd type="none" w="med" len="med"/>
                      <a:tailEnd type="none" w="med" len="med"/>
                    </a:lnB>
                  </a:tcPr>
                </a:tc>
                <a:tc>
                  <a:txBody>
                    <a:bodyPr/>
                    <a:lstStyle/>
                    <a:p>
                      <a:pPr indent="0" marL="0">
                        <a:buNone/>
                      </a:pPr>
                      <a:r>
                        <a:rPr lang="en-US" sz="1400" dirty="0">
                          <a:solidFill>
                            <a:srgbClr val="1B2A30"/>
                          </a:solidFill>
                          <a:latin typeface="+mn-lt" pitchFamily="34" charset="0"/>
                          <a:ea typeface="+mn-lt" pitchFamily="34" charset="-122"/>
                          <a:cs typeface="+mn-lt" pitchFamily="34" charset="-120"/>
                        </a:rPr>
                        <a:t>Дұрыс</a:t>
                      </a:r>
                      <a:endParaRPr lang="en-US" sz="1400" dirty="0">
                        <a:latin typeface="+mn-lt" charset="0"/>
                        <a:ea typeface="+mn-lt" charset="0"/>
                        <a:cs typeface="+mn-lt" charset="0"/>
                      </a:endParaRPr>
                    </a:p>
                  </a:txBody>
                  <a:tcPr marL="91440" marR="91440" marT="45720" marB="45720" anchor="ctr">
                    <a:lnL w="9525" cap="flat" cmpd="sng" algn="ctr">
                      <a:solidFill>
                        <a:srgbClr val="C9DDE0"/>
                      </a:solidFill>
                      <a:prstDash val="solid"/>
                      <a:round/>
                      <a:headEnd type="none" w="med" len="med"/>
                      <a:tailEnd type="none" w="med" len="med"/>
                    </a:lnL>
                    <a:lnR w="9525" cap="flat" cmpd="sng" algn="ctr">
                      <a:solidFill>
                        <a:srgbClr val="C9DDE0"/>
                      </a:solidFill>
                      <a:prstDash val="solid"/>
                      <a:round/>
                      <a:headEnd type="none" w="med" len="med"/>
                      <a:tailEnd type="none" w="med" len="med"/>
                    </a:lnR>
                    <a:lnT w="9525" cap="flat" cmpd="sng" algn="ctr">
                      <a:solidFill>
                        <a:srgbClr val="C9DDE0"/>
                      </a:solidFill>
                      <a:prstDash val="solid"/>
                      <a:round/>
                      <a:headEnd type="none" w="med" len="med"/>
                      <a:tailEnd type="none" w="med" len="med"/>
                    </a:lnT>
                    <a:lnB w="9525" cap="flat" cmpd="sng" algn="ctr">
                      <a:solidFill>
                        <a:srgbClr val="C9DDE0"/>
                      </a:solidFill>
                      <a:prstDash val="solid"/>
                      <a:round/>
                      <a:headEnd type="none" w="med" len="med"/>
                      <a:tailEnd type="none" w="med" len="med"/>
                    </a:lnB>
                  </a:tcPr>
                </a:tc>
                <a:tc>
                  <a:txBody>
                    <a:bodyPr/>
                    <a:lstStyle/>
                    <a:p>
                      <a:pPr indent="0" marL="0">
                        <a:buNone/>
                      </a:pPr>
                      <a:r>
                        <a:rPr lang="en-US" sz="1400" dirty="0">
                          <a:solidFill>
                            <a:srgbClr val="1B2A30"/>
                          </a:solidFill>
                          <a:latin typeface="+mn-lt" pitchFamily="34" charset="0"/>
                          <a:ea typeface="+mn-lt" pitchFamily="34" charset="-122"/>
                          <a:cs typeface="+mn-lt" pitchFamily="34" charset="-120"/>
                        </a:rPr>
                        <a:t>Мағынасы сөздікпен сәйкес келеді, мысал сөйлем орынды</a:t>
                      </a:r>
                      <a:endParaRPr lang="en-US" sz="1400" dirty="0">
                        <a:latin typeface="+mn-lt" charset="0"/>
                        <a:ea typeface="+mn-lt" charset="0"/>
                        <a:cs typeface="+mn-lt" charset="0"/>
                      </a:endParaRPr>
                    </a:p>
                  </a:txBody>
                  <a:tcPr marL="91440" marR="91440" marT="45720" marB="45720" anchor="ctr">
                    <a:lnL w="9525" cap="flat" cmpd="sng" algn="ctr">
                      <a:solidFill>
                        <a:srgbClr val="C9DDE0"/>
                      </a:solidFill>
                      <a:prstDash val="solid"/>
                      <a:round/>
                      <a:headEnd type="none" w="med" len="med"/>
                      <a:tailEnd type="none" w="med" len="med"/>
                    </a:lnL>
                    <a:lnR w="9525" cap="flat" cmpd="sng" algn="ctr">
                      <a:solidFill>
                        <a:srgbClr val="C9DDE0"/>
                      </a:solidFill>
                      <a:prstDash val="solid"/>
                      <a:round/>
                      <a:headEnd type="none" w="med" len="med"/>
                      <a:tailEnd type="none" w="med" len="med"/>
                    </a:lnR>
                    <a:lnT w="9525" cap="flat" cmpd="sng" algn="ctr">
                      <a:solidFill>
                        <a:srgbClr val="C9DDE0"/>
                      </a:solidFill>
                      <a:prstDash val="solid"/>
                      <a:round/>
                      <a:headEnd type="none" w="med" len="med"/>
                      <a:tailEnd type="none" w="med" len="med"/>
                    </a:lnT>
                    <a:lnB w="9525" cap="flat" cmpd="sng" algn="ctr">
                      <a:solidFill>
                        <a:srgbClr val="C9DDE0"/>
                      </a:solidFill>
                      <a:prstDash val="solid"/>
                      <a:round/>
                      <a:headEnd type="none" w="med" len="med"/>
                      <a:tailEnd type="none" w="med" len="med"/>
                    </a:lnB>
                  </a:tcPr>
                </a:tc>
                <a:tc>
                  <a:txBody>
                    <a:bodyPr/>
                    <a:lstStyle/>
                    <a:p>
                      <a:pPr indent="0" marL="0">
                        <a:buNone/>
                      </a:pPr>
                      <a:r>
                        <a:rPr lang="en-US" sz="1400" dirty="0">
                          <a:solidFill>
                            <a:srgbClr val="1B2A30"/>
                          </a:solidFill>
                          <a:latin typeface="+mn-lt" pitchFamily="34" charset="0"/>
                          <a:ea typeface="+mn-lt" pitchFamily="34" charset="-122"/>
                          <a:cs typeface="+mn-lt" pitchFamily="34" charset="-120"/>
                        </a:rPr>
                        <a:t>83 (1-тәж.)</a:t>
                      </a:r>
                      <a:endParaRPr lang="en-US" sz="1400" dirty="0">
                        <a:latin typeface="+mn-lt" charset="0"/>
                        <a:ea typeface="+mn-lt" charset="0"/>
                        <a:cs typeface="+mn-lt" charset="0"/>
                      </a:endParaRPr>
                    </a:p>
                  </a:txBody>
                  <a:tcPr marL="91440" marR="91440" marT="45720" marB="45720" anchor="ctr">
                    <a:lnL w="9525" cap="flat" cmpd="sng" algn="ctr">
                      <a:solidFill>
                        <a:srgbClr val="C9DDE0"/>
                      </a:solidFill>
                      <a:prstDash val="solid"/>
                      <a:round/>
                      <a:headEnd type="none" w="med" len="med"/>
                      <a:tailEnd type="none" w="med" len="med"/>
                    </a:lnL>
                    <a:lnR w="9525" cap="flat" cmpd="sng" algn="ctr">
                      <a:solidFill>
                        <a:srgbClr val="C9DDE0"/>
                      </a:solidFill>
                      <a:prstDash val="solid"/>
                      <a:round/>
                      <a:headEnd type="none" w="med" len="med"/>
                      <a:tailEnd type="none" w="med" len="med"/>
                    </a:lnR>
                    <a:lnT w="9525" cap="flat" cmpd="sng" algn="ctr">
                      <a:solidFill>
                        <a:srgbClr val="C9DDE0"/>
                      </a:solidFill>
                      <a:prstDash val="solid"/>
                      <a:round/>
                      <a:headEnd type="none" w="med" len="med"/>
                      <a:tailEnd type="none" w="med" len="med"/>
                    </a:lnT>
                    <a:lnB w="9525" cap="flat" cmpd="sng" algn="ctr">
                      <a:solidFill>
                        <a:srgbClr val="C9DDE0"/>
                      </a:solidFill>
                      <a:prstDash val="solid"/>
                      <a:round/>
                      <a:headEnd type="none" w="med" len="med"/>
                      <a:tailEnd type="none" w="med" len="med"/>
                    </a:lnB>
                  </a:tcPr>
                </a:tc>
              </a:tr>
              <a:tr h="566928">
                <a:tc>
                  <a:txBody>
                    <a:bodyPr/>
                    <a:lstStyle/>
                    <a:p>
                      <a:pPr indent="0" marL="0">
                        <a:buNone/>
                      </a:pPr>
                      <a:r>
                        <a:rPr lang="en-US" sz="1400" dirty="0">
                          <a:solidFill>
                            <a:srgbClr val="1B2A30"/>
                          </a:solidFill>
                          <a:latin typeface="+mn-lt" pitchFamily="34" charset="0"/>
                          <a:ea typeface="+mn-lt" pitchFamily="34" charset="-122"/>
                          <a:cs typeface="+mn-lt" pitchFamily="34" charset="-120"/>
                        </a:rPr>
                        <a:t>1</a:t>
                      </a:r>
                      <a:endParaRPr lang="en-US" sz="1400" dirty="0">
                        <a:latin typeface="+mn-lt" charset="0"/>
                        <a:ea typeface="+mn-lt" charset="0"/>
                        <a:cs typeface="+mn-lt" charset="0"/>
                      </a:endParaRPr>
                    </a:p>
                  </a:txBody>
                  <a:tcPr marL="91440" marR="91440" marT="45720" marB="45720" anchor="ctr">
                    <a:lnL w="9525" cap="flat" cmpd="sng" algn="ctr">
                      <a:solidFill>
                        <a:srgbClr val="C9DDE0"/>
                      </a:solidFill>
                      <a:prstDash val="solid"/>
                      <a:round/>
                      <a:headEnd type="none" w="med" len="med"/>
                      <a:tailEnd type="none" w="med" len="med"/>
                    </a:lnL>
                    <a:lnR w="9525" cap="flat" cmpd="sng" algn="ctr">
                      <a:solidFill>
                        <a:srgbClr val="C9DDE0"/>
                      </a:solidFill>
                      <a:prstDash val="solid"/>
                      <a:round/>
                      <a:headEnd type="none" w="med" len="med"/>
                      <a:tailEnd type="none" w="med" len="med"/>
                    </a:lnR>
                    <a:lnT w="9525" cap="flat" cmpd="sng" algn="ctr">
                      <a:solidFill>
                        <a:srgbClr val="C9DDE0"/>
                      </a:solidFill>
                      <a:prstDash val="solid"/>
                      <a:round/>
                      <a:headEnd type="none" w="med" len="med"/>
                      <a:tailEnd type="none" w="med" len="med"/>
                    </a:lnT>
                    <a:lnB w="9525" cap="flat" cmpd="sng" algn="ctr">
                      <a:solidFill>
                        <a:srgbClr val="C9DDE0"/>
                      </a:solidFill>
                      <a:prstDash val="solid"/>
                      <a:round/>
                      <a:headEnd type="none" w="med" len="med"/>
                      <a:tailEnd type="none" w="med" len="med"/>
                    </a:lnB>
                  </a:tcPr>
                </a:tc>
                <a:tc>
                  <a:txBody>
                    <a:bodyPr/>
                    <a:lstStyle/>
                    <a:p>
                      <a:pPr indent="0" marL="0">
                        <a:buNone/>
                      </a:pPr>
                      <a:r>
                        <a:rPr lang="en-US" sz="1400" dirty="0">
                          <a:solidFill>
                            <a:srgbClr val="1B2A30"/>
                          </a:solidFill>
                          <a:latin typeface="+mn-lt" pitchFamily="34" charset="0"/>
                          <a:ea typeface="+mn-lt" pitchFamily="34" charset="-122"/>
                          <a:cs typeface="+mn-lt" pitchFamily="34" charset="-120"/>
                        </a:rPr>
                        <a:t>Жартылай дұрыс</a:t>
                      </a:r>
                      <a:endParaRPr lang="en-US" sz="1400" dirty="0">
                        <a:latin typeface="+mn-lt" charset="0"/>
                        <a:ea typeface="+mn-lt" charset="0"/>
                        <a:cs typeface="+mn-lt" charset="0"/>
                      </a:endParaRPr>
                    </a:p>
                  </a:txBody>
                  <a:tcPr marL="91440" marR="91440" marT="45720" marB="45720" anchor="ctr">
                    <a:lnL w="9525" cap="flat" cmpd="sng" algn="ctr">
                      <a:solidFill>
                        <a:srgbClr val="C9DDE0"/>
                      </a:solidFill>
                      <a:prstDash val="solid"/>
                      <a:round/>
                      <a:headEnd type="none" w="med" len="med"/>
                      <a:tailEnd type="none" w="med" len="med"/>
                    </a:lnL>
                    <a:lnR w="9525" cap="flat" cmpd="sng" algn="ctr">
                      <a:solidFill>
                        <a:srgbClr val="C9DDE0"/>
                      </a:solidFill>
                      <a:prstDash val="solid"/>
                      <a:round/>
                      <a:headEnd type="none" w="med" len="med"/>
                      <a:tailEnd type="none" w="med" len="med"/>
                    </a:lnR>
                    <a:lnT w="9525" cap="flat" cmpd="sng" algn="ctr">
                      <a:solidFill>
                        <a:srgbClr val="C9DDE0"/>
                      </a:solidFill>
                      <a:prstDash val="solid"/>
                      <a:round/>
                      <a:headEnd type="none" w="med" len="med"/>
                      <a:tailEnd type="none" w="med" len="med"/>
                    </a:lnT>
                    <a:lnB w="9525" cap="flat" cmpd="sng" algn="ctr">
                      <a:solidFill>
                        <a:srgbClr val="C9DDE0"/>
                      </a:solidFill>
                      <a:prstDash val="solid"/>
                      <a:round/>
                      <a:headEnd type="none" w="med" len="med"/>
                      <a:tailEnd type="none" w="med" len="med"/>
                    </a:lnB>
                  </a:tcPr>
                </a:tc>
                <a:tc>
                  <a:txBody>
                    <a:bodyPr/>
                    <a:lstStyle/>
                    <a:p>
                      <a:pPr indent="0" marL="0">
                        <a:buNone/>
                      </a:pPr>
                      <a:r>
                        <a:rPr lang="en-US" sz="1400" dirty="0">
                          <a:solidFill>
                            <a:srgbClr val="1B2A30"/>
                          </a:solidFill>
                          <a:latin typeface="+mn-lt" pitchFamily="34" charset="0"/>
                          <a:ea typeface="+mn-lt" pitchFamily="34" charset="-122"/>
                          <a:cs typeface="+mn-lt" pitchFamily="34" charset="-120"/>
                        </a:rPr>
                        <a:t>Мағынасына жақын, бірақ дәл емес, тым жалпы немесе артық мағына қосылған</a:t>
                      </a:r>
                      <a:endParaRPr lang="en-US" sz="1400" dirty="0">
                        <a:latin typeface="+mn-lt" charset="0"/>
                        <a:ea typeface="+mn-lt" charset="0"/>
                        <a:cs typeface="+mn-lt" charset="0"/>
                      </a:endParaRPr>
                    </a:p>
                  </a:txBody>
                  <a:tcPr marL="91440" marR="91440" marT="45720" marB="45720" anchor="ctr">
                    <a:lnL w="9525" cap="flat" cmpd="sng" algn="ctr">
                      <a:solidFill>
                        <a:srgbClr val="C9DDE0"/>
                      </a:solidFill>
                      <a:prstDash val="solid"/>
                      <a:round/>
                      <a:headEnd type="none" w="med" len="med"/>
                      <a:tailEnd type="none" w="med" len="med"/>
                    </a:lnL>
                    <a:lnR w="9525" cap="flat" cmpd="sng" algn="ctr">
                      <a:solidFill>
                        <a:srgbClr val="C9DDE0"/>
                      </a:solidFill>
                      <a:prstDash val="solid"/>
                      <a:round/>
                      <a:headEnd type="none" w="med" len="med"/>
                      <a:tailEnd type="none" w="med" len="med"/>
                    </a:lnR>
                    <a:lnT w="9525" cap="flat" cmpd="sng" algn="ctr">
                      <a:solidFill>
                        <a:srgbClr val="C9DDE0"/>
                      </a:solidFill>
                      <a:prstDash val="solid"/>
                      <a:round/>
                      <a:headEnd type="none" w="med" len="med"/>
                      <a:tailEnd type="none" w="med" len="med"/>
                    </a:lnT>
                    <a:lnB w="9525" cap="flat" cmpd="sng" algn="ctr">
                      <a:solidFill>
                        <a:srgbClr val="C9DDE0"/>
                      </a:solidFill>
                      <a:prstDash val="solid"/>
                      <a:round/>
                      <a:headEnd type="none" w="med" len="med"/>
                      <a:tailEnd type="none" w="med" len="med"/>
                    </a:lnB>
                  </a:tcPr>
                </a:tc>
                <a:tc>
                  <a:txBody>
                    <a:bodyPr/>
                    <a:lstStyle/>
                    <a:p>
                      <a:pPr indent="0" marL="0">
                        <a:buNone/>
                      </a:pPr>
                      <a:r>
                        <a:rPr lang="en-US" sz="1400" dirty="0">
                          <a:solidFill>
                            <a:srgbClr val="1B2A30"/>
                          </a:solidFill>
                          <a:latin typeface="+mn-lt" pitchFamily="34" charset="0"/>
                          <a:ea typeface="+mn-lt" pitchFamily="34" charset="-122"/>
                          <a:cs typeface="+mn-lt" pitchFamily="34" charset="-120"/>
                        </a:rPr>
                        <a:t>3 (1-тәж.)</a:t>
                      </a:r>
                      <a:endParaRPr lang="en-US" sz="1400" dirty="0">
                        <a:latin typeface="+mn-lt" charset="0"/>
                        <a:ea typeface="+mn-lt" charset="0"/>
                        <a:cs typeface="+mn-lt" charset="0"/>
                      </a:endParaRPr>
                    </a:p>
                  </a:txBody>
                  <a:tcPr marL="91440" marR="91440" marT="45720" marB="45720" anchor="ctr">
                    <a:lnL w="9525" cap="flat" cmpd="sng" algn="ctr">
                      <a:solidFill>
                        <a:srgbClr val="C9DDE0"/>
                      </a:solidFill>
                      <a:prstDash val="solid"/>
                      <a:round/>
                      <a:headEnd type="none" w="med" len="med"/>
                      <a:tailEnd type="none" w="med" len="med"/>
                    </a:lnL>
                    <a:lnR w="9525" cap="flat" cmpd="sng" algn="ctr">
                      <a:solidFill>
                        <a:srgbClr val="C9DDE0"/>
                      </a:solidFill>
                      <a:prstDash val="solid"/>
                      <a:round/>
                      <a:headEnd type="none" w="med" len="med"/>
                      <a:tailEnd type="none" w="med" len="med"/>
                    </a:lnR>
                    <a:lnT w="9525" cap="flat" cmpd="sng" algn="ctr">
                      <a:solidFill>
                        <a:srgbClr val="C9DDE0"/>
                      </a:solidFill>
                      <a:prstDash val="solid"/>
                      <a:round/>
                      <a:headEnd type="none" w="med" len="med"/>
                      <a:tailEnd type="none" w="med" len="med"/>
                    </a:lnT>
                    <a:lnB w="9525" cap="flat" cmpd="sng" algn="ctr">
                      <a:solidFill>
                        <a:srgbClr val="C9DDE0"/>
                      </a:solidFill>
                      <a:prstDash val="solid"/>
                      <a:round/>
                      <a:headEnd type="none" w="med" len="med"/>
                      <a:tailEnd type="none" w="med" len="med"/>
                    </a:lnB>
                  </a:tcPr>
                </a:tc>
              </a:tr>
              <a:tr h="566928">
                <a:tc>
                  <a:txBody>
                    <a:bodyPr/>
                    <a:lstStyle/>
                    <a:p>
                      <a:pPr indent="0" marL="0">
                        <a:buNone/>
                      </a:pPr>
                      <a:r>
                        <a:rPr lang="en-US" sz="1400" dirty="0">
                          <a:solidFill>
                            <a:srgbClr val="1B2A30"/>
                          </a:solidFill>
                          <a:latin typeface="+mn-lt" pitchFamily="34" charset="0"/>
                          <a:ea typeface="+mn-lt" pitchFamily="34" charset="-122"/>
                          <a:cs typeface="+mn-lt" pitchFamily="34" charset="-120"/>
                        </a:rPr>
                        <a:t>0</a:t>
                      </a:r>
                      <a:endParaRPr lang="en-US" sz="1400" dirty="0">
                        <a:latin typeface="+mn-lt" charset="0"/>
                        <a:ea typeface="+mn-lt" charset="0"/>
                        <a:cs typeface="+mn-lt" charset="0"/>
                      </a:endParaRPr>
                    </a:p>
                  </a:txBody>
                  <a:tcPr marL="91440" marR="91440" marT="45720" marB="45720" anchor="ctr">
                    <a:lnL w="9525" cap="flat" cmpd="sng" algn="ctr">
                      <a:solidFill>
                        <a:srgbClr val="C9DDE0"/>
                      </a:solidFill>
                      <a:prstDash val="solid"/>
                      <a:round/>
                      <a:headEnd type="none" w="med" len="med"/>
                      <a:tailEnd type="none" w="med" len="med"/>
                    </a:lnL>
                    <a:lnR w="9525" cap="flat" cmpd="sng" algn="ctr">
                      <a:solidFill>
                        <a:srgbClr val="C9DDE0"/>
                      </a:solidFill>
                      <a:prstDash val="solid"/>
                      <a:round/>
                      <a:headEnd type="none" w="med" len="med"/>
                      <a:tailEnd type="none" w="med" len="med"/>
                    </a:lnR>
                    <a:lnT w="9525" cap="flat" cmpd="sng" algn="ctr">
                      <a:solidFill>
                        <a:srgbClr val="C9DDE0"/>
                      </a:solidFill>
                      <a:prstDash val="solid"/>
                      <a:round/>
                      <a:headEnd type="none" w="med" len="med"/>
                      <a:tailEnd type="none" w="med" len="med"/>
                    </a:lnT>
                    <a:lnB w="9525" cap="flat" cmpd="sng" algn="ctr">
                      <a:solidFill>
                        <a:srgbClr val="C9DDE0"/>
                      </a:solidFill>
                      <a:prstDash val="solid"/>
                      <a:round/>
                      <a:headEnd type="none" w="med" len="med"/>
                      <a:tailEnd type="none" w="med" len="med"/>
                    </a:lnB>
                  </a:tcPr>
                </a:tc>
                <a:tc>
                  <a:txBody>
                    <a:bodyPr/>
                    <a:lstStyle/>
                    <a:p>
                      <a:pPr indent="0" marL="0">
                        <a:buNone/>
                      </a:pPr>
                      <a:r>
                        <a:rPr lang="en-US" sz="1400" dirty="0">
                          <a:solidFill>
                            <a:srgbClr val="1B2A30"/>
                          </a:solidFill>
                          <a:latin typeface="+mn-lt" pitchFamily="34" charset="0"/>
                          <a:ea typeface="+mn-lt" pitchFamily="34" charset="-122"/>
                          <a:cs typeface="+mn-lt" pitchFamily="34" charset="-120"/>
                        </a:rPr>
                        <a:t>Қате</a:t>
                      </a:r>
                      <a:endParaRPr lang="en-US" sz="1400" dirty="0">
                        <a:latin typeface="+mn-lt" charset="0"/>
                        <a:ea typeface="+mn-lt" charset="0"/>
                        <a:cs typeface="+mn-lt" charset="0"/>
                      </a:endParaRPr>
                    </a:p>
                  </a:txBody>
                  <a:tcPr marL="91440" marR="91440" marT="45720" marB="45720" anchor="ctr">
                    <a:lnL w="9525" cap="flat" cmpd="sng" algn="ctr">
                      <a:solidFill>
                        <a:srgbClr val="C9DDE0"/>
                      </a:solidFill>
                      <a:prstDash val="solid"/>
                      <a:round/>
                      <a:headEnd type="none" w="med" len="med"/>
                      <a:tailEnd type="none" w="med" len="med"/>
                    </a:lnL>
                    <a:lnR w="9525" cap="flat" cmpd="sng" algn="ctr">
                      <a:solidFill>
                        <a:srgbClr val="C9DDE0"/>
                      </a:solidFill>
                      <a:prstDash val="solid"/>
                      <a:round/>
                      <a:headEnd type="none" w="med" len="med"/>
                      <a:tailEnd type="none" w="med" len="med"/>
                    </a:lnR>
                    <a:lnT w="9525" cap="flat" cmpd="sng" algn="ctr">
                      <a:solidFill>
                        <a:srgbClr val="C9DDE0"/>
                      </a:solidFill>
                      <a:prstDash val="solid"/>
                      <a:round/>
                      <a:headEnd type="none" w="med" len="med"/>
                      <a:tailEnd type="none" w="med" len="med"/>
                    </a:lnT>
                    <a:lnB w="9525" cap="flat" cmpd="sng" algn="ctr">
                      <a:solidFill>
                        <a:srgbClr val="C9DDE0"/>
                      </a:solidFill>
                      <a:prstDash val="solid"/>
                      <a:round/>
                      <a:headEnd type="none" w="med" len="med"/>
                      <a:tailEnd type="none" w="med" len="med"/>
                    </a:lnB>
                  </a:tcPr>
                </a:tc>
                <a:tc>
                  <a:txBody>
                    <a:bodyPr/>
                    <a:lstStyle/>
                    <a:p>
                      <a:pPr indent="0" marL="0">
                        <a:buNone/>
                      </a:pPr>
                      <a:r>
                        <a:rPr lang="en-US" sz="1400" dirty="0">
                          <a:solidFill>
                            <a:srgbClr val="1B2A30"/>
                          </a:solidFill>
                          <a:latin typeface="+mn-lt" pitchFamily="34" charset="0"/>
                          <a:ea typeface="+mn-lt" pitchFamily="34" charset="-122"/>
                          <a:cs typeface="+mn-lt" pitchFamily="34" charset="-120"/>
                        </a:rPr>
                        <a:t>Мағынасы сөздікке сәйкес келмейді</a:t>
                      </a:r>
                      <a:endParaRPr lang="en-US" sz="1400" dirty="0">
                        <a:latin typeface="+mn-lt" charset="0"/>
                        <a:ea typeface="+mn-lt" charset="0"/>
                        <a:cs typeface="+mn-lt" charset="0"/>
                      </a:endParaRPr>
                    </a:p>
                  </a:txBody>
                  <a:tcPr marL="91440" marR="91440" marT="45720" marB="45720" anchor="ctr">
                    <a:lnL w="9525" cap="flat" cmpd="sng" algn="ctr">
                      <a:solidFill>
                        <a:srgbClr val="C9DDE0"/>
                      </a:solidFill>
                      <a:prstDash val="solid"/>
                      <a:round/>
                      <a:headEnd type="none" w="med" len="med"/>
                      <a:tailEnd type="none" w="med" len="med"/>
                    </a:lnL>
                    <a:lnR w="9525" cap="flat" cmpd="sng" algn="ctr">
                      <a:solidFill>
                        <a:srgbClr val="C9DDE0"/>
                      </a:solidFill>
                      <a:prstDash val="solid"/>
                      <a:round/>
                      <a:headEnd type="none" w="med" len="med"/>
                      <a:tailEnd type="none" w="med" len="med"/>
                    </a:lnR>
                    <a:lnT w="9525" cap="flat" cmpd="sng" algn="ctr">
                      <a:solidFill>
                        <a:srgbClr val="C9DDE0"/>
                      </a:solidFill>
                      <a:prstDash val="solid"/>
                      <a:round/>
                      <a:headEnd type="none" w="med" len="med"/>
                      <a:tailEnd type="none" w="med" len="med"/>
                    </a:lnT>
                    <a:lnB w="9525" cap="flat" cmpd="sng" algn="ctr">
                      <a:solidFill>
                        <a:srgbClr val="C9DDE0"/>
                      </a:solidFill>
                      <a:prstDash val="solid"/>
                      <a:round/>
                      <a:headEnd type="none" w="med" len="med"/>
                      <a:tailEnd type="none" w="med" len="med"/>
                    </a:lnB>
                  </a:tcPr>
                </a:tc>
                <a:tc>
                  <a:txBody>
                    <a:bodyPr/>
                    <a:lstStyle/>
                    <a:p>
                      <a:pPr indent="0" marL="0">
                        <a:buNone/>
                      </a:pPr>
                      <a:r>
                        <a:rPr lang="en-US" sz="1400" dirty="0">
                          <a:solidFill>
                            <a:srgbClr val="1B2A30"/>
                          </a:solidFill>
                          <a:latin typeface="+mn-lt" pitchFamily="34" charset="0"/>
                          <a:ea typeface="+mn-lt" pitchFamily="34" charset="-122"/>
                          <a:cs typeface="+mn-lt" pitchFamily="34" charset="-120"/>
                        </a:rPr>
                        <a:t>4 (1-тәж.)</a:t>
                      </a:r>
                      <a:endParaRPr lang="en-US" sz="1400" dirty="0">
                        <a:latin typeface="+mn-lt" charset="0"/>
                        <a:ea typeface="+mn-lt" charset="0"/>
                        <a:cs typeface="+mn-lt" charset="0"/>
                      </a:endParaRPr>
                    </a:p>
                  </a:txBody>
                  <a:tcPr marL="91440" marR="91440" marT="45720" marB="45720" anchor="ctr">
                    <a:lnL w="9525" cap="flat" cmpd="sng" algn="ctr">
                      <a:solidFill>
                        <a:srgbClr val="C9DDE0"/>
                      </a:solidFill>
                      <a:prstDash val="solid"/>
                      <a:round/>
                      <a:headEnd type="none" w="med" len="med"/>
                      <a:tailEnd type="none" w="med" len="med"/>
                    </a:lnL>
                    <a:lnR w="9525" cap="flat" cmpd="sng" algn="ctr">
                      <a:solidFill>
                        <a:srgbClr val="C9DDE0"/>
                      </a:solidFill>
                      <a:prstDash val="solid"/>
                      <a:round/>
                      <a:headEnd type="none" w="med" len="med"/>
                      <a:tailEnd type="none" w="med" len="med"/>
                    </a:lnR>
                    <a:lnT w="9525" cap="flat" cmpd="sng" algn="ctr">
                      <a:solidFill>
                        <a:srgbClr val="C9DDE0"/>
                      </a:solidFill>
                      <a:prstDash val="solid"/>
                      <a:round/>
                      <a:headEnd type="none" w="med" len="med"/>
                      <a:tailEnd type="none" w="med" len="med"/>
                    </a:lnT>
                    <a:lnB w="9525" cap="flat" cmpd="sng" algn="ctr">
                      <a:solidFill>
                        <a:srgbClr val="C9DDE0"/>
                      </a:solidFill>
                      <a:prstDash val="solid"/>
                      <a:round/>
                      <a:headEnd type="none" w="med" len="med"/>
                      <a:tailEnd type="none" w="med" len="med"/>
                    </a:lnB>
                  </a:tcPr>
                </a:tc>
              </a:tr>
              <a:tr h="566928">
                <a:tc>
                  <a:txBody>
                    <a:bodyPr/>
                    <a:lstStyle/>
                    <a:p>
                      <a:pPr indent="0" marL="0">
                        <a:buNone/>
                      </a:pPr>
                      <a:r>
                        <a:rPr lang="en-US" sz="1400" dirty="0">
                          <a:solidFill>
                            <a:srgbClr val="1B2A30"/>
                          </a:solidFill>
                          <a:latin typeface="+mn-lt" pitchFamily="34" charset="0"/>
                          <a:ea typeface="+mn-lt" pitchFamily="34" charset="-122"/>
                          <a:cs typeface="+mn-lt" pitchFamily="34" charset="-120"/>
                        </a:rPr>
                        <a:t>С</a:t>
                      </a:r>
                      <a:endParaRPr lang="en-US" sz="1400" dirty="0">
                        <a:latin typeface="+mn-lt" charset="0"/>
                        <a:ea typeface="+mn-lt" charset="0"/>
                        <a:cs typeface="+mn-lt" charset="0"/>
                      </a:endParaRPr>
                    </a:p>
                  </a:txBody>
                  <a:tcPr marL="91440" marR="91440" marT="45720" marB="45720" anchor="ctr">
                    <a:lnL w="9525" cap="flat" cmpd="sng" algn="ctr">
                      <a:solidFill>
                        <a:srgbClr val="C9DDE0"/>
                      </a:solidFill>
                      <a:prstDash val="solid"/>
                      <a:round/>
                      <a:headEnd type="none" w="med" len="med"/>
                      <a:tailEnd type="none" w="med" len="med"/>
                    </a:lnL>
                    <a:lnR w="9525" cap="flat" cmpd="sng" algn="ctr">
                      <a:solidFill>
                        <a:srgbClr val="C9DDE0"/>
                      </a:solidFill>
                      <a:prstDash val="solid"/>
                      <a:round/>
                      <a:headEnd type="none" w="med" len="med"/>
                      <a:tailEnd type="none" w="med" len="med"/>
                    </a:lnR>
                    <a:lnT w="9525" cap="flat" cmpd="sng" algn="ctr">
                      <a:solidFill>
                        <a:srgbClr val="C9DDE0"/>
                      </a:solidFill>
                      <a:prstDash val="solid"/>
                      <a:round/>
                      <a:headEnd type="none" w="med" len="med"/>
                      <a:tailEnd type="none" w="med" len="med"/>
                    </a:lnT>
                    <a:lnB w="9525" cap="flat" cmpd="sng" algn="ctr">
                      <a:solidFill>
                        <a:srgbClr val="C9DDE0"/>
                      </a:solidFill>
                      <a:prstDash val="solid"/>
                      <a:round/>
                      <a:headEnd type="none" w="med" len="med"/>
                      <a:tailEnd type="none" w="med" len="med"/>
                    </a:lnB>
                  </a:tcPr>
                </a:tc>
                <a:tc>
                  <a:txBody>
                    <a:bodyPr/>
                    <a:lstStyle/>
                    <a:p>
                      <a:pPr indent="0" marL="0">
                        <a:buNone/>
                      </a:pPr>
                      <a:r>
                        <a:rPr lang="en-US" sz="1400" dirty="0">
                          <a:solidFill>
                            <a:srgbClr val="1B2A30"/>
                          </a:solidFill>
                          <a:latin typeface="+mn-lt" pitchFamily="34" charset="0"/>
                          <a:ea typeface="+mn-lt" pitchFamily="34" charset="-122"/>
                          <a:cs typeface="+mn-lt" pitchFamily="34" charset="-120"/>
                        </a:rPr>
                        <a:t>Сөзбе-сөз түсіндіру</a:t>
                      </a:r>
                      <a:endParaRPr lang="en-US" sz="1400" dirty="0">
                        <a:latin typeface="+mn-lt" charset="0"/>
                        <a:ea typeface="+mn-lt" charset="0"/>
                        <a:cs typeface="+mn-lt" charset="0"/>
                      </a:endParaRPr>
                    </a:p>
                  </a:txBody>
                  <a:tcPr marL="91440" marR="91440" marT="45720" marB="45720" anchor="ctr">
                    <a:lnL w="9525" cap="flat" cmpd="sng" algn="ctr">
                      <a:solidFill>
                        <a:srgbClr val="C9DDE0"/>
                      </a:solidFill>
                      <a:prstDash val="solid"/>
                      <a:round/>
                      <a:headEnd type="none" w="med" len="med"/>
                      <a:tailEnd type="none" w="med" len="med"/>
                    </a:lnL>
                    <a:lnR w="9525" cap="flat" cmpd="sng" algn="ctr">
                      <a:solidFill>
                        <a:srgbClr val="C9DDE0"/>
                      </a:solidFill>
                      <a:prstDash val="solid"/>
                      <a:round/>
                      <a:headEnd type="none" w="med" len="med"/>
                      <a:tailEnd type="none" w="med" len="med"/>
                    </a:lnR>
                    <a:lnT w="9525" cap="flat" cmpd="sng" algn="ctr">
                      <a:solidFill>
                        <a:srgbClr val="C9DDE0"/>
                      </a:solidFill>
                      <a:prstDash val="solid"/>
                      <a:round/>
                      <a:headEnd type="none" w="med" len="med"/>
                      <a:tailEnd type="none" w="med" len="med"/>
                    </a:lnT>
                    <a:lnB w="9525" cap="flat" cmpd="sng" algn="ctr">
                      <a:solidFill>
                        <a:srgbClr val="C9DDE0"/>
                      </a:solidFill>
                      <a:prstDash val="solid"/>
                      <a:round/>
                      <a:headEnd type="none" w="med" len="med"/>
                      <a:tailEnd type="none" w="med" len="med"/>
                    </a:lnB>
                  </a:tcPr>
                </a:tc>
                <a:tc>
                  <a:txBody>
                    <a:bodyPr/>
                    <a:lstStyle/>
                    <a:p>
                      <a:pPr indent="0" marL="0">
                        <a:buNone/>
                      </a:pPr>
                      <a:r>
                        <a:rPr lang="en-US" sz="1400" dirty="0">
                          <a:solidFill>
                            <a:srgbClr val="1B2A30"/>
                          </a:solidFill>
                          <a:latin typeface="+mn-lt" pitchFamily="34" charset="0"/>
                          <a:ea typeface="+mn-lt" pitchFamily="34" charset="-122"/>
                          <a:cs typeface="+mn-lt" pitchFamily="34" charset="-120"/>
                        </a:rPr>
                        <a:t>Тіркесті құрамындағы сөздердің тура мағынасымен түсіндіреді</a:t>
                      </a:r>
                      <a:endParaRPr lang="en-US" sz="1400" dirty="0">
                        <a:latin typeface="+mn-lt" charset="0"/>
                        <a:ea typeface="+mn-lt" charset="0"/>
                        <a:cs typeface="+mn-lt" charset="0"/>
                      </a:endParaRPr>
                    </a:p>
                  </a:txBody>
                  <a:tcPr marL="91440" marR="91440" marT="45720" marB="45720" anchor="ctr">
                    <a:lnL w="9525" cap="flat" cmpd="sng" algn="ctr">
                      <a:solidFill>
                        <a:srgbClr val="C9DDE0"/>
                      </a:solidFill>
                      <a:prstDash val="solid"/>
                      <a:round/>
                      <a:headEnd type="none" w="med" len="med"/>
                      <a:tailEnd type="none" w="med" len="med"/>
                    </a:lnL>
                    <a:lnR w="9525" cap="flat" cmpd="sng" algn="ctr">
                      <a:solidFill>
                        <a:srgbClr val="C9DDE0"/>
                      </a:solidFill>
                      <a:prstDash val="solid"/>
                      <a:round/>
                      <a:headEnd type="none" w="med" len="med"/>
                      <a:tailEnd type="none" w="med" len="med"/>
                    </a:lnR>
                    <a:lnT w="9525" cap="flat" cmpd="sng" algn="ctr">
                      <a:solidFill>
                        <a:srgbClr val="C9DDE0"/>
                      </a:solidFill>
                      <a:prstDash val="solid"/>
                      <a:round/>
                      <a:headEnd type="none" w="med" len="med"/>
                      <a:tailEnd type="none" w="med" len="med"/>
                    </a:lnT>
                    <a:lnB w="9525" cap="flat" cmpd="sng" algn="ctr">
                      <a:solidFill>
                        <a:srgbClr val="C9DDE0"/>
                      </a:solidFill>
                      <a:prstDash val="solid"/>
                      <a:round/>
                      <a:headEnd type="none" w="med" len="med"/>
                      <a:tailEnd type="none" w="med" len="med"/>
                    </a:lnB>
                  </a:tcPr>
                </a:tc>
                <a:tc>
                  <a:txBody>
                    <a:bodyPr/>
                    <a:lstStyle/>
                    <a:p>
                      <a:pPr indent="0" marL="0">
                        <a:buNone/>
                      </a:pPr>
                      <a:r>
                        <a:rPr lang="en-US" sz="1400" dirty="0">
                          <a:solidFill>
                            <a:srgbClr val="1B2A30"/>
                          </a:solidFill>
                          <a:latin typeface="+mn-lt" pitchFamily="34" charset="0"/>
                          <a:ea typeface="+mn-lt" pitchFamily="34" charset="-122"/>
                          <a:cs typeface="+mn-lt" pitchFamily="34" charset="-120"/>
                        </a:rPr>
                        <a:t>0</a:t>
                      </a:r>
                      <a:endParaRPr lang="en-US" sz="1400" dirty="0">
                        <a:latin typeface="+mn-lt" charset="0"/>
                        <a:ea typeface="+mn-lt" charset="0"/>
                        <a:cs typeface="+mn-lt" charset="0"/>
                      </a:endParaRPr>
                    </a:p>
                  </a:txBody>
                  <a:tcPr marL="91440" marR="91440" marT="45720" marB="45720" anchor="ctr">
                    <a:lnL w="9525" cap="flat" cmpd="sng" algn="ctr">
                      <a:solidFill>
                        <a:srgbClr val="C9DDE0"/>
                      </a:solidFill>
                      <a:prstDash val="solid"/>
                      <a:round/>
                      <a:headEnd type="none" w="med" len="med"/>
                      <a:tailEnd type="none" w="med" len="med"/>
                    </a:lnL>
                    <a:lnR w="9525" cap="flat" cmpd="sng" algn="ctr">
                      <a:solidFill>
                        <a:srgbClr val="C9DDE0"/>
                      </a:solidFill>
                      <a:prstDash val="solid"/>
                      <a:round/>
                      <a:headEnd type="none" w="med" len="med"/>
                      <a:tailEnd type="none" w="med" len="med"/>
                    </a:lnR>
                    <a:lnT w="9525" cap="flat" cmpd="sng" algn="ctr">
                      <a:solidFill>
                        <a:srgbClr val="C9DDE0"/>
                      </a:solidFill>
                      <a:prstDash val="solid"/>
                      <a:round/>
                      <a:headEnd type="none" w="med" len="med"/>
                      <a:tailEnd type="none" w="med" len="med"/>
                    </a:lnT>
                    <a:lnB w="9525" cap="flat" cmpd="sng" algn="ctr">
                      <a:solidFill>
                        <a:srgbClr val="C9DDE0"/>
                      </a:solidFill>
                      <a:prstDash val="solid"/>
                      <a:round/>
                      <a:headEnd type="none" w="med" len="med"/>
                      <a:tailEnd type="none" w="med" len="med"/>
                    </a:lnB>
                  </a:tcPr>
                </a:tc>
              </a:tr>
              <a:tr h="566928">
                <a:tc>
                  <a:txBody>
                    <a:bodyPr/>
                    <a:lstStyle/>
                    <a:p>
                      <a:pPr indent="0" marL="0">
                        <a:buNone/>
                      </a:pPr>
                      <a:r>
                        <a:rPr lang="en-US" sz="1400" dirty="0">
                          <a:solidFill>
                            <a:srgbClr val="1B2A30"/>
                          </a:solidFill>
                          <a:latin typeface="+mn-lt" pitchFamily="34" charset="0"/>
                          <a:ea typeface="+mn-lt" pitchFamily="34" charset="-122"/>
                          <a:cs typeface="+mn-lt" pitchFamily="34" charset="-120"/>
                        </a:rPr>
                        <a:t>Б</a:t>
                      </a:r>
                      <a:endParaRPr lang="en-US" sz="1400" dirty="0">
                        <a:latin typeface="+mn-lt" charset="0"/>
                        <a:ea typeface="+mn-lt" charset="0"/>
                        <a:cs typeface="+mn-lt" charset="0"/>
                      </a:endParaRPr>
                    </a:p>
                  </a:txBody>
                  <a:tcPr marL="91440" marR="91440" marT="45720" marB="45720" anchor="ctr">
                    <a:lnL w="9525" cap="flat" cmpd="sng" algn="ctr">
                      <a:solidFill>
                        <a:srgbClr val="C9DDE0"/>
                      </a:solidFill>
                      <a:prstDash val="solid"/>
                      <a:round/>
                      <a:headEnd type="none" w="med" len="med"/>
                      <a:tailEnd type="none" w="med" len="med"/>
                    </a:lnL>
                    <a:lnR w="9525" cap="flat" cmpd="sng" algn="ctr">
                      <a:solidFill>
                        <a:srgbClr val="C9DDE0"/>
                      </a:solidFill>
                      <a:prstDash val="solid"/>
                      <a:round/>
                      <a:headEnd type="none" w="med" len="med"/>
                      <a:tailEnd type="none" w="med" len="med"/>
                    </a:lnR>
                    <a:lnT w="9525" cap="flat" cmpd="sng" algn="ctr">
                      <a:solidFill>
                        <a:srgbClr val="C9DDE0"/>
                      </a:solidFill>
                      <a:prstDash val="solid"/>
                      <a:round/>
                      <a:headEnd type="none" w="med" len="med"/>
                      <a:tailEnd type="none" w="med" len="med"/>
                    </a:lnT>
                    <a:lnB w="9525" cap="flat" cmpd="sng" algn="ctr">
                      <a:solidFill>
                        <a:srgbClr val="C9DDE0"/>
                      </a:solidFill>
                      <a:prstDash val="solid"/>
                      <a:round/>
                      <a:headEnd type="none" w="med" len="med"/>
                      <a:tailEnd type="none" w="med" len="med"/>
                    </a:lnB>
                  </a:tcPr>
                </a:tc>
                <a:tc>
                  <a:txBody>
                    <a:bodyPr/>
                    <a:lstStyle/>
                    <a:p>
                      <a:pPr indent="0" marL="0">
                        <a:buNone/>
                      </a:pPr>
                      <a:r>
                        <a:rPr lang="en-US" sz="1400" dirty="0">
                          <a:solidFill>
                            <a:srgbClr val="1B2A30"/>
                          </a:solidFill>
                          <a:latin typeface="+mn-lt" pitchFamily="34" charset="0"/>
                          <a:ea typeface="+mn-lt" pitchFamily="34" charset="-122"/>
                          <a:cs typeface="+mn-lt" pitchFamily="34" charset="-120"/>
                        </a:rPr>
                        <a:t>Басқа мағына беру</a:t>
                      </a:r>
                      <a:endParaRPr lang="en-US" sz="1400" dirty="0">
                        <a:latin typeface="+mn-lt" charset="0"/>
                        <a:ea typeface="+mn-lt" charset="0"/>
                        <a:cs typeface="+mn-lt" charset="0"/>
                      </a:endParaRPr>
                    </a:p>
                  </a:txBody>
                  <a:tcPr marL="91440" marR="91440" marT="45720" marB="45720" anchor="ctr">
                    <a:lnL w="9525" cap="flat" cmpd="sng" algn="ctr">
                      <a:solidFill>
                        <a:srgbClr val="C9DDE0"/>
                      </a:solidFill>
                      <a:prstDash val="solid"/>
                      <a:round/>
                      <a:headEnd type="none" w="med" len="med"/>
                      <a:tailEnd type="none" w="med" len="med"/>
                    </a:lnL>
                    <a:lnR w="9525" cap="flat" cmpd="sng" algn="ctr">
                      <a:solidFill>
                        <a:srgbClr val="C9DDE0"/>
                      </a:solidFill>
                      <a:prstDash val="solid"/>
                      <a:round/>
                      <a:headEnd type="none" w="med" len="med"/>
                      <a:tailEnd type="none" w="med" len="med"/>
                    </a:lnR>
                    <a:lnT w="9525" cap="flat" cmpd="sng" algn="ctr">
                      <a:solidFill>
                        <a:srgbClr val="C9DDE0"/>
                      </a:solidFill>
                      <a:prstDash val="solid"/>
                      <a:round/>
                      <a:headEnd type="none" w="med" len="med"/>
                      <a:tailEnd type="none" w="med" len="med"/>
                    </a:lnT>
                    <a:lnB w="9525" cap="flat" cmpd="sng" algn="ctr">
                      <a:solidFill>
                        <a:srgbClr val="C9DDE0"/>
                      </a:solidFill>
                      <a:prstDash val="solid"/>
                      <a:round/>
                      <a:headEnd type="none" w="med" len="med"/>
                      <a:tailEnd type="none" w="med" len="med"/>
                    </a:lnB>
                  </a:tcPr>
                </a:tc>
                <a:tc>
                  <a:txBody>
                    <a:bodyPr/>
                    <a:lstStyle/>
                    <a:p>
                      <a:pPr indent="0" marL="0">
                        <a:buNone/>
                      </a:pPr>
                      <a:r>
                        <a:rPr lang="en-US" sz="1400" dirty="0">
                          <a:solidFill>
                            <a:srgbClr val="1B2A30"/>
                          </a:solidFill>
                          <a:latin typeface="+mn-lt" pitchFamily="34" charset="0"/>
                          <a:ea typeface="+mn-lt" pitchFamily="34" charset="-122"/>
                          <a:cs typeface="+mn-lt" pitchFamily="34" charset="-120"/>
                        </a:rPr>
                        <a:t>Бейнелі мағына береді, бірақ ол сөздіктегі мағына емес</a:t>
                      </a:r>
                      <a:endParaRPr lang="en-US" sz="1400" dirty="0">
                        <a:latin typeface="+mn-lt" charset="0"/>
                        <a:ea typeface="+mn-lt" charset="0"/>
                        <a:cs typeface="+mn-lt" charset="0"/>
                      </a:endParaRPr>
                    </a:p>
                  </a:txBody>
                  <a:tcPr marL="91440" marR="91440" marT="45720" marB="45720" anchor="ctr">
                    <a:lnL w="9525" cap="flat" cmpd="sng" algn="ctr">
                      <a:solidFill>
                        <a:srgbClr val="C9DDE0"/>
                      </a:solidFill>
                      <a:prstDash val="solid"/>
                      <a:round/>
                      <a:headEnd type="none" w="med" len="med"/>
                      <a:tailEnd type="none" w="med" len="med"/>
                    </a:lnL>
                    <a:lnR w="9525" cap="flat" cmpd="sng" algn="ctr">
                      <a:solidFill>
                        <a:srgbClr val="C9DDE0"/>
                      </a:solidFill>
                      <a:prstDash val="solid"/>
                      <a:round/>
                      <a:headEnd type="none" w="med" len="med"/>
                      <a:tailEnd type="none" w="med" len="med"/>
                    </a:lnR>
                    <a:lnT w="9525" cap="flat" cmpd="sng" algn="ctr">
                      <a:solidFill>
                        <a:srgbClr val="C9DDE0"/>
                      </a:solidFill>
                      <a:prstDash val="solid"/>
                      <a:round/>
                      <a:headEnd type="none" w="med" len="med"/>
                      <a:tailEnd type="none" w="med" len="med"/>
                    </a:lnT>
                    <a:lnB w="9525" cap="flat" cmpd="sng" algn="ctr">
                      <a:solidFill>
                        <a:srgbClr val="C9DDE0"/>
                      </a:solidFill>
                      <a:prstDash val="solid"/>
                      <a:round/>
                      <a:headEnd type="none" w="med" len="med"/>
                      <a:tailEnd type="none" w="med" len="med"/>
                    </a:lnB>
                  </a:tcPr>
                </a:tc>
                <a:tc>
                  <a:txBody>
                    <a:bodyPr/>
                    <a:lstStyle/>
                    <a:p>
                      <a:pPr indent="0" marL="0">
                        <a:buNone/>
                      </a:pPr>
                      <a:r>
                        <a:rPr lang="en-US" sz="1400" dirty="0">
                          <a:solidFill>
                            <a:srgbClr val="1B2A30"/>
                          </a:solidFill>
                          <a:latin typeface="+mn-lt" pitchFamily="34" charset="0"/>
                          <a:ea typeface="+mn-lt" pitchFamily="34" charset="-122"/>
                          <a:cs typeface="+mn-lt" pitchFamily="34" charset="-120"/>
                        </a:rPr>
                        <a:t>0</a:t>
                      </a:r>
                      <a:endParaRPr lang="en-US" sz="1400" dirty="0">
                        <a:latin typeface="+mn-lt" charset="0"/>
                        <a:ea typeface="+mn-lt" charset="0"/>
                        <a:cs typeface="+mn-lt" charset="0"/>
                      </a:endParaRPr>
                    </a:p>
                  </a:txBody>
                  <a:tcPr marL="91440" marR="91440" marT="45720" marB="45720" anchor="ctr">
                    <a:lnL w="9525" cap="flat" cmpd="sng" algn="ctr">
                      <a:solidFill>
                        <a:srgbClr val="C9DDE0"/>
                      </a:solidFill>
                      <a:prstDash val="solid"/>
                      <a:round/>
                      <a:headEnd type="none" w="med" len="med"/>
                      <a:tailEnd type="none" w="med" len="med"/>
                    </a:lnL>
                    <a:lnR w="9525" cap="flat" cmpd="sng" algn="ctr">
                      <a:solidFill>
                        <a:srgbClr val="C9DDE0"/>
                      </a:solidFill>
                      <a:prstDash val="solid"/>
                      <a:round/>
                      <a:headEnd type="none" w="med" len="med"/>
                      <a:tailEnd type="none" w="med" len="med"/>
                    </a:lnR>
                    <a:lnT w="9525" cap="flat" cmpd="sng" algn="ctr">
                      <a:solidFill>
                        <a:srgbClr val="C9DDE0"/>
                      </a:solidFill>
                      <a:prstDash val="solid"/>
                      <a:round/>
                      <a:headEnd type="none" w="med" len="med"/>
                      <a:tailEnd type="none" w="med" len="med"/>
                    </a:lnT>
                    <a:lnB w="9525" cap="flat" cmpd="sng" algn="ctr">
                      <a:solidFill>
                        <a:srgbClr val="C9DDE0"/>
                      </a:solidFill>
                      <a:prstDash val="solid"/>
                      <a:round/>
                      <a:headEnd type="none" w="med" len="med"/>
                      <a:tailEnd type="none" w="med" len="med"/>
                    </a:lnB>
                  </a:tcPr>
                </a:tc>
              </a:tr>
              <a:tr h="566928">
                <a:tc>
                  <a:txBody>
                    <a:bodyPr/>
                    <a:lstStyle/>
                    <a:p>
                      <a:pPr indent="0" marL="0">
                        <a:buNone/>
                      </a:pPr>
                      <a:r>
                        <a:rPr lang="en-US" sz="1400" dirty="0">
                          <a:solidFill>
                            <a:srgbClr val="1B2A30"/>
                          </a:solidFill>
                          <a:latin typeface="+mn-lt" pitchFamily="34" charset="0"/>
                          <a:ea typeface="+mn-lt" pitchFamily="34" charset="-122"/>
                          <a:cs typeface="+mn-lt" pitchFamily="34" charset="-120"/>
                        </a:rPr>
                        <a:t>О</a:t>
                      </a:r>
                      <a:endParaRPr lang="en-US" sz="1400" dirty="0">
                        <a:latin typeface="+mn-lt" charset="0"/>
                        <a:ea typeface="+mn-lt" charset="0"/>
                        <a:cs typeface="+mn-lt" charset="0"/>
                      </a:endParaRPr>
                    </a:p>
                  </a:txBody>
                  <a:tcPr marL="91440" marR="91440" marT="45720" marB="45720" anchor="ctr">
                    <a:lnL w="9525" cap="flat" cmpd="sng" algn="ctr">
                      <a:solidFill>
                        <a:srgbClr val="C9DDE0"/>
                      </a:solidFill>
                      <a:prstDash val="solid"/>
                      <a:round/>
                      <a:headEnd type="none" w="med" len="med"/>
                      <a:tailEnd type="none" w="med" len="med"/>
                    </a:lnL>
                    <a:lnR w="9525" cap="flat" cmpd="sng" algn="ctr">
                      <a:solidFill>
                        <a:srgbClr val="C9DDE0"/>
                      </a:solidFill>
                      <a:prstDash val="solid"/>
                      <a:round/>
                      <a:headEnd type="none" w="med" len="med"/>
                      <a:tailEnd type="none" w="med" len="med"/>
                    </a:lnR>
                    <a:lnT w="9525" cap="flat" cmpd="sng" algn="ctr">
                      <a:solidFill>
                        <a:srgbClr val="C9DDE0"/>
                      </a:solidFill>
                      <a:prstDash val="solid"/>
                      <a:round/>
                      <a:headEnd type="none" w="med" len="med"/>
                      <a:tailEnd type="none" w="med" len="med"/>
                    </a:lnT>
                    <a:lnB w="9525" cap="flat" cmpd="sng" algn="ctr">
                      <a:solidFill>
                        <a:srgbClr val="C9DDE0"/>
                      </a:solidFill>
                      <a:prstDash val="solid"/>
                      <a:round/>
                      <a:headEnd type="none" w="med" len="med"/>
                      <a:tailEnd type="none" w="med" len="med"/>
                    </a:lnB>
                  </a:tcPr>
                </a:tc>
                <a:tc>
                  <a:txBody>
                    <a:bodyPr/>
                    <a:lstStyle/>
                    <a:p>
                      <a:pPr indent="0" marL="0">
                        <a:buNone/>
                      </a:pPr>
                      <a:r>
                        <a:rPr lang="en-US" sz="1400" dirty="0">
                          <a:solidFill>
                            <a:srgbClr val="1B2A30"/>
                          </a:solidFill>
                          <a:latin typeface="+mn-lt" pitchFamily="34" charset="0"/>
                          <a:ea typeface="+mn-lt" pitchFamily="34" charset="-122"/>
                          <a:cs typeface="+mn-lt" pitchFamily="34" charset="-120"/>
                        </a:rPr>
                        <a:t>Ойдан шығару</a:t>
                      </a:r>
                      <a:endParaRPr lang="en-US" sz="1400" dirty="0">
                        <a:latin typeface="+mn-lt" charset="0"/>
                        <a:ea typeface="+mn-lt" charset="0"/>
                        <a:cs typeface="+mn-lt" charset="0"/>
                      </a:endParaRPr>
                    </a:p>
                  </a:txBody>
                  <a:tcPr marL="91440" marR="91440" marT="45720" marB="45720" anchor="ctr">
                    <a:lnL w="9525" cap="flat" cmpd="sng" algn="ctr">
                      <a:solidFill>
                        <a:srgbClr val="C9DDE0"/>
                      </a:solidFill>
                      <a:prstDash val="solid"/>
                      <a:round/>
                      <a:headEnd type="none" w="med" len="med"/>
                      <a:tailEnd type="none" w="med" len="med"/>
                    </a:lnL>
                    <a:lnR w="9525" cap="flat" cmpd="sng" algn="ctr">
                      <a:solidFill>
                        <a:srgbClr val="C9DDE0"/>
                      </a:solidFill>
                      <a:prstDash val="solid"/>
                      <a:round/>
                      <a:headEnd type="none" w="med" len="med"/>
                      <a:tailEnd type="none" w="med" len="med"/>
                    </a:lnR>
                    <a:lnT w="9525" cap="flat" cmpd="sng" algn="ctr">
                      <a:solidFill>
                        <a:srgbClr val="C9DDE0"/>
                      </a:solidFill>
                      <a:prstDash val="solid"/>
                      <a:round/>
                      <a:headEnd type="none" w="med" len="med"/>
                      <a:tailEnd type="none" w="med" len="med"/>
                    </a:lnT>
                    <a:lnB w="9525" cap="flat" cmpd="sng" algn="ctr">
                      <a:solidFill>
                        <a:srgbClr val="C9DDE0"/>
                      </a:solidFill>
                      <a:prstDash val="solid"/>
                      <a:round/>
                      <a:headEnd type="none" w="med" len="med"/>
                      <a:tailEnd type="none" w="med" len="med"/>
                    </a:lnB>
                  </a:tcPr>
                </a:tc>
                <a:tc>
                  <a:txBody>
                    <a:bodyPr/>
                    <a:lstStyle/>
                    <a:p>
                      <a:pPr indent="0" marL="0">
                        <a:buNone/>
                      </a:pPr>
                      <a:r>
                        <a:rPr lang="en-US" sz="1400" dirty="0">
                          <a:solidFill>
                            <a:srgbClr val="1B2A30"/>
                          </a:solidFill>
                          <a:latin typeface="+mn-lt" pitchFamily="34" charset="0"/>
                          <a:ea typeface="+mn-lt" pitchFamily="34" charset="-122"/>
                          <a:cs typeface="+mn-lt" pitchFamily="34" charset="-120"/>
                        </a:rPr>
                        <a:t>Жоқ тарихты, жоқ тіркесті немесе жоқ дереккөзді «жасап» шығарады</a:t>
                      </a:r>
                      <a:endParaRPr lang="en-US" sz="1400" dirty="0">
                        <a:latin typeface="+mn-lt" charset="0"/>
                        <a:ea typeface="+mn-lt" charset="0"/>
                        <a:cs typeface="+mn-lt" charset="0"/>
                      </a:endParaRPr>
                    </a:p>
                  </a:txBody>
                  <a:tcPr marL="91440" marR="91440" marT="45720" marB="45720" anchor="ctr">
                    <a:lnL w="9525" cap="flat" cmpd="sng" algn="ctr">
                      <a:solidFill>
                        <a:srgbClr val="C9DDE0"/>
                      </a:solidFill>
                      <a:prstDash val="solid"/>
                      <a:round/>
                      <a:headEnd type="none" w="med" len="med"/>
                      <a:tailEnd type="none" w="med" len="med"/>
                    </a:lnL>
                    <a:lnR w="9525" cap="flat" cmpd="sng" algn="ctr">
                      <a:solidFill>
                        <a:srgbClr val="C9DDE0"/>
                      </a:solidFill>
                      <a:prstDash val="solid"/>
                      <a:round/>
                      <a:headEnd type="none" w="med" len="med"/>
                      <a:tailEnd type="none" w="med" len="med"/>
                    </a:lnR>
                    <a:lnT w="9525" cap="flat" cmpd="sng" algn="ctr">
                      <a:solidFill>
                        <a:srgbClr val="C9DDE0"/>
                      </a:solidFill>
                      <a:prstDash val="solid"/>
                      <a:round/>
                      <a:headEnd type="none" w="med" len="med"/>
                      <a:tailEnd type="none" w="med" len="med"/>
                    </a:lnT>
                    <a:lnB w="9525" cap="flat" cmpd="sng" algn="ctr">
                      <a:solidFill>
                        <a:srgbClr val="C9DDE0"/>
                      </a:solidFill>
                      <a:prstDash val="solid"/>
                      <a:round/>
                      <a:headEnd type="none" w="med" len="med"/>
                      <a:tailEnd type="none" w="med" len="med"/>
                    </a:lnB>
                  </a:tcPr>
                </a:tc>
                <a:tc>
                  <a:txBody>
                    <a:bodyPr/>
                    <a:lstStyle/>
                    <a:p>
                      <a:pPr indent="0" marL="0">
                        <a:buNone/>
                      </a:pPr>
                      <a:r>
                        <a:rPr lang="en-US" sz="1400" dirty="0">
                          <a:solidFill>
                            <a:srgbClr val="1B2A30"/>
                          </a:solidFill>
                          <a:latin typeface="+mn-lt" pitchFamily="34" charset="0"/>
                          <a:ea typeface="+mn-lt" pitchFamily="34" charset="-122"/>
                          <a:cs typeface="+mn-lt" pitchFamily="34" charset="-120"/>
                        </a:rPr>
                        <a:t>4</a:t>
                      </a:r>
                      <a:endParaRPr lang="en-US" sz="1400" dirty="0">
                        <a:latin typeface="+mn-lt" charset="0"/>
                        <a:ea typeface="+mn-lt" charset="0"/>
                        <a:cs typeface="+mn-lt" charset="0"/>
                      </a:endParaRPr>
                    </a:p>
                  </a:txBody>
                  <a:tcPr marL="91440" marR="91440" marT="45720" marB="45720" anchor="ctr">
                    <a:lnL w="9525" cap="flat" cmpd="sng" algn="ctr">
                      <a:solidFill>
                        <a:srgbClr val="C9DDE0"/>
                      </a:solidFill>
                      <a:prstDash val="solid"/>
                      <a:round/>
                      <a:headEnd type="none" w="med" len="med"/>
                      <a:tailEnd type="none" w="med" len="med"/>
                    </a:lnL>
                    <a:lnR w="9525" cap="flat" cmpd="sng" algn="ctr">
                      <a:solidFill>
                        <a:srgbClr val="C9DDE0"/>
                      </a:solidFill>
                      <a:prstDash val="solid"/>
                      <a:round/>
                      <a:headEnd type="none" w="med" len="med"/>
                      <a:tailEnd type="none" w="med" len="med"/>
                    </a:lnR>
                    <a:lnT w="9525" cap="flat" cmpd="sng" algn="ctr">
                      <a:solidFill>
                        <a:srgbClr val="C9DDE0"/>
                      </a:solidFill>
                      <a:prstDash val="solid"/>
                      <a:round/>
                      <a:headEnd type="none" w="med" len="med"/>
                      <a:tailEnd type="none" w="med" len="med"/>
                    </a:lnT>
                    <a:lnB w="9525" cap="flat" cmpd="sng" algn="ctr">
                      <a:solidFill>
                        <a:srgbClr val="C9DDE0"/>
                      </a:solidFill>
                      <a:prstDash val="solid"/>
                      <a:round/>
                      <a:headEnd type="none" w="med" len="med"/>
                      <a:tailEnd type="none" w="med" len="med"/>
                    </a:lnB>
                  </a:tcPr>
                </a:tc>
              </a:tr>
              <a:tr h="566928">
                <a:tc>
                  <a:txBody>
                    <a:bodyPr/>
                    <a:lstStyle/>
                    <a:p>
                      <a:pPr indent="0" marL="0">
                        <a:buNone/>
                      </a:pPr>
                      <a:r>
                        <a:rPr lang="en-US" sz="1400" dirty="0">
                          <a:solidFill>
                            <a:srgbClr val="1B2A30"/>
                          </a:solidFill>
                          <a:latin typeface="+mn-lt" pitchFamily="34" charset="0"/>
                          <a:ea typeface="+mn-lt" pitchFamily="34" charset="-122"/>
                          <a:cs typeface="+mn-lt" pitchFamily="34" charset="-120"/>
                        </a:rPr>
                        <a:t>Ж</a:t>
                      </a:r>
                      <a:endParaRPr lang="en-US" sz="1400" dirty="0">
                        <a:latin typeface="+mn-lt" charset="0"/>
                        <a:ea typeface="+mn-lt" charset="0"/>
                        <a:cs typeface="+mn-lt" charset="0"/>
                      </a:endParaRPr>
                    </a:p>
                  </a:txBody>
                  <a:tcPr marL="91440" marR="91440" marT="45720" marB="45720" anchor="ctr">
                    <a:lnL w="9525" cap="flat" cmpd="sng" algn="ctr">
                      <a:solidFill>
                        <a:srgbClr val="C9DDE0"/>
                      </a:solidFill>
                      <a:prstDash val="solid"/>
                      <a:round/>
                      <a:headEnd type="none" w="med" len="med"/>
                      <a:tailEnd type="none" w="med" len="med"/>
                    </a:lnL>
                    <a:lnR w="9525" cap="flat" cmpd="sng" algn="ctr">
                      <a:solidFill>
                        <a:srgbClr val="C9DDE0"/>
                      </a:solidFill>
                      <a:prstDash val="solid"/>
                      <a:round/>
                      <a:headEnd type="none" w="med" len="med"/>
                      <a:tailEnd type="none" w="med" len="med"/>
                    </a:lnR>
                    <a:lnT w="9525" cap="flat" cmpd="sng" algn="ctr">
                      <a:solidFill>
                        <a:srgbClr val="C9DDE0"/>
                      </a:solidFill>
                      <a:prstDash val="solid"/>
                      <a:round/>
                      <a:headEnd type="none" w="med" len="med"/>
                      <a:tailEnd type="none" w="med" len="med"/>
                    </a:lnT>
                    <a:lnB w="9525" cap="flat" cmpd="sng" algn="ctr">
                      <a:solidFill>
                        <a:srgbClr val="C9DDE0"/>
                      </a:solidFill>
                      <a:prstDash val="solid"/>
                      <a:round/>
                      <a:headEnd type="none" w="med" len="med"/>
                      <a:tailEnd type="none" w="med" len="med"/>
                    </a:lnB>
                  </a:tcPr>
                </a:tc>
                <a:tc>
                  <a:txBody>
                    <a:bodyPr/>
                    <a:lstStyle/>
                    <a:p>
                      <a:pPr indent="0" marL="0">
                        <a:buNone/>
                      </a:pPr>
                      <a:r>
                        <a:rPr lang="en-US" sz="1400" dirty="0">
                          <a:solidFill>
                            <a:srgbClr val="1B2A30"/>
                          </a:solidFill>
                          <a:latin typeface="+mn-lt" pitchFamily="34" charset="0"/>
                          <a:ea typeface="+mn-lt" pitchFamily="34" charset="-122"/>
                          <a:cs typeface="+mn-lt" pitchFamily="34" charset="-120"/>
                        </a:rPr>
                        <a:t>Жалпылама жауап</a:t>
                      </a:r>
                      <a:endParaRPr lang="en-US" sz="1400" dirty="0">
                        <a:latin typeface="+mn-lt" charset="0"/>
                        <a:ea typeface="+mn-lt" charset="0"/>
                        <a:cs typeface="+mn-lt" charset="0"/>
                      </a:endParaRPr>
                    </a:p>
                  </a:txBody>
                  <a:tcPr marL="91440" marR="91440" marT="45720" marB="45720" anchor="ctr">
                    <a:lnL w="9525" cap="flat" cmpd="sng" algn="ctr">
                      <a:solidFill>
                        <a:srgbClr val="C9DDE0"/>
                      </a:solidFill>
                      <a:prstDash val="solid"/>
                      <a:round/>
                      <a:headEnd type="none" w="med" len="med"/>
                      <a:tailEnd type="none" w="med" len="med"/>
                    </a:lnL>
                    <a:lnR w="9525" cap="flat" cmpd="sng" algn="ctr">
                      <a:solidFill>
                        <a:srgbClr val="C9DDE0"/>
                      </a:solidFill>
                      <a:prstDash val="solid"/>
                      <a:round/>
                      <a:headEnd type="none" w="med" len="med"/>
                      <a:tailEnd type="none" w="med" len="med"/>
                    </a:lnR>
                    <a:lnT w="9525" cap="flat" cmpd="sng" algn="ctr">
                      <a:solidFill>
                        <a:srgbClr val="C9DDE0"/>
                      </a:solidFill>
                      <a:prstDash val="solid"/>
                      <a:round/>
                      <a:headEnd type="none" w="med" len="med"/>
                      <a:tailEnd type="none" w="med" len="med"/>
                    </a:lnT>
                    <a:lnB w="9525" cap="flat" cmpd="sng" algn="ctr">
                      <a:solidFill>
                        <a:srgbClr val="C9DDE0"/>
                      </a:solidFill>
                      <a:prstDash val="solid"/>
                      <a:round/>
                      <a:headEnd type="none" w="med" len="med"/>
                      <a:tailEnd type="none" w="med" len="med"/>
                    </a:lnB>
                  </a:tcPr>
                </a:tc>
                <a:tc>
                  <a:txBody>
                    <a:bodyPr/>
                    <a:lstStyle/>
                    <a:p>
                      <a:pPr indent="0" marL="0">
                        <a:buNone/>
                      </a:pPr>
                      <a:r>
                        <a:rPr lang="en-US" sz="1400" dirty="0">
                          <a:solidFill>
                            <a:srgbClr val="1B2A30"/>
                          </a:solidFill>
                          <a:latin typeface="+mn-lt" pitchFamily="34" charset="0"/>
                          <a:ea typeface="+mn-lt" pitchFamily="34" charset="-122"/>
                          <a:cs typeface="+mn-lt" pitchFamily="34" charset="-120"/>
                        </a:rPr>
                        <a:t>Мағынаның бір бөлігін ғана береді немесе нақты айтпайды</a:t>
                      </a:r>
                      <a:endParaRPr lang="en-US" sz="1400" dirty="0">
                        <a:latin typeface="+mn-lt" charset="0"/>
                        <a:ea typeface="+mn-lt" charset="0"/>
                        <a:cs typeface="+mn-lt" charset="0"/>
                      </a:endParaRPr>
                    </a:p>
                  </a:txBody>
                  <a:tcPr marL="91440" marR="91440" marT="45720" marB="45720" anchor="ctr">
                    <a:lnL w="9525" cap="flat" cmpd="sng" algn="ctr">
                      <a:solidFill>
                        <a:srgbClr val="C9DDE0"/>
                      </a:solidFill>
                      <a:prstDash val="solid"/>
                      <a:round/>
                      <a:headEnd type="none" w="med" len="med"/>
                      <a:tailEnd type="none" w="med" len="med"/>
                    </a:lnL>
                    <a:lnR w="9525" cap="flat" cmpd="sng" algn="ctr">
                      <a:solidFill>
                        <a:srgbClr val="C9DDE0"/>
                      </a:solidFill>
                      <a:prstDash val="solid"/>
                      <a:round/>
                      <a:headEnd type="none" w="med" len="med"/>
                      <a:tailEnd type="none" w="med" len="med"/>
                    </a:lnR>
                    <a:lnT w="9525" cap="flat" cmpd="sng" algn="ctr">
                      <a:solidFill>
                        <a:srgbClr val="C9DDE0"/>
                      </a:solidFill>
                      <a:prstDash val="solid"/>
                      <a:round/>
                      <a:headEnd type="none" w="med" len="med"/>
                      <a:tailEnd type="none" w="med" len="med"/>
                    </a:lnT>
                    <a:lnB w="9525" cap="flat" cmpd="sng" algn="ctr">
                      <a:solidFill>
                        <a:srgbClr val="C9DDE0"/>
                      </a:solidFill>
                      <a:prstDash val="solid"/>
                      <a:round/>
                      <a:headEnd type="none" w="med" len="med"/>
                      <a:tailEnd type="none" w="med" len="med"/>
                    </a:lnB>
                  </a:tcPr>
                </a:tc>
                <a:tc>
                  <a:txBody>
                    <a:bodyPr/>
                    <a:lstStyle/>
                    <a:p>
                      <a:pPr indent="0" marL="0">
                        <a:buNone/>
                      </a:pPr>
                      <a:r>
                        <a:rPr lang="en-US" sz="1400" dirty="0">
                          <a:solidFill>
                            <a:srgbClr val="1B2A30"/>
                          </a:solidFill>
                          <a:latin typeface="+mn-lt" pitchFamily="34" charset="0"/>
                          <a:ea typeface="+mn-lt" pitchFamily="34" charset="-122"/>
                          <a:cs typeface="+mn-lt" pitchFamily="34" charset="-120"/>
                        </a:rPr>
                        <a:t>6</a:t>
                      </a:r>
                      <a:endParaRPr lang="en-US" sz="1400" dirty="0">
                        <a:latin typeface="+mn-lt" charset="0"/>
                        <a:ea typeface="+mn-lt" charset="0"/>
                        <a:cs typeface="+mn-lt" charset="0"/>
                      </a:endParaRPr>
                    </a:p>
                  </a:txBody>
                  <a:tcPr marL="91440" marR="91440" marT="45720" marB="45720" anchor="ctr">
                    <a:lnL w="9525" cap="flat" cmpd="sng" algn="ctr">
                      <a:solidFill>
                        <a:srgbClr val="C9DDE0"/>
                      </a:solidFill>
                      <a:prstDash val="solid"/>
                      <a:round/>
                      <a:headEnd type="none" w="med" len="med"/>
                      <a:tailEnd type="none" w="med" len="med"/>
                    </a:lnL>
                    <a:lnR w="9525" cap="flat" cmpd="sng" algn="ctr">
                      <a:solidFill>
                        <a:srgbClr val="C9DDE0"/>
                      </a:solidFill>
                      <a:prstDash val="solid"/>
                      <a:round/>
                      <a:headEnd type="none" w="med" len="med"/>
                      <a:tailEnd type="none" w="med" len="med"/>
                    </a:lnR>
                    <a:lnT w="9525" cap="flat" cmpd="sng" algn="ctr">
                      <a:solidFill>
                        <a:srgbClr val="C9DDE0"/>
                      </a:solidFill>
                      <a:prstDash val="solid"/>
                      <a:round/>
                      <a:headEnd type="none" w="med" len="med"/>
                      <a:tailEnd type="none" w="med" len="med"/>
                    </a:lnT>
                    <a:lnB w="9525" cap="flat" cmpd="sng" algn="ctr">
                      <a:solidFill>
                        <a:srgbClr val="C9DDE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Қосымша: Б тобындағы 10 тіркестің нәтижесі</a:t>
            </a:r>
            <a:endParaRPr lang="en-US" sz="3200" dirty="0"/>
          </a:p>
        </p:txBody>
      </p:sp>
      <p:graphicFrame>
        <p:nvGraphicFramePr>
          <p:cNvPr id="16" name="table-groupB"/>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3657600"/>
                <a:gridCol w="3657600"/>
                <a:gridCol w="1252728"/>
                <a:gridCol w="1252728"/>
                <a:gridCol w="1243584"/>
              </a:tblGrid>
              <a:tr h="429768">
                <a:tc>
                  <a:txBody>
                    <a:bodyPr/>
                    <a:lstStyle/>
                    <a:p>
                      <a:pPr indent="0" marL="0">
                        <a:buNone/>
                      </a:pPr>
                      <a:r>
                        <a:rPr lang="en-US" sz="1400" b="1" dirty="0">
                          <a:solidFill>
                            <a:srgbClr val="FFFFFF"/>
                          </a:solidFill>
                          <a:latin typeface="+mn-lt" pitchFamily="34" charset="0"/>
                          <a:ea typeface="+mn-lt" pitchFamily="34" charset="-122"/>
                          <a:cs typeface="+mn-lt" pitchFamily="34" charset="-120"/>
                        </a:rPr>
                        <a:t>Тіркес</a:t>
                      </a:r>
                      <a:endParaRPr lang="en-US" sz="1400" dirty="0">
                        <a:latin typeface="+mn-lt" charset="0"/>
                        <a:ea typeface="+mn-lt" charset="0"/>
                        <a:cs typeface="+mn-lt" charset="0"/>
                      </a:endParaRPr>
                    </a:p>
                  </a:txBody>
                  <a:tcPr marL="91440" marR="91440" marT="45720" marB="45720" anchor="ctr">
                    <a:lnL w="9525" cap="flat" cmpd="sng" algn="ctr">
                      <a:solidFill>
                        <a:srgbClr val="C9DDE0"/>
                      </a:solidFill>
                      <a:prstDash val="solid"/>
                      <a:round/>
                      <a:headEnd type="none" w="med" len="med"/>
                      <a:tailEnd type="none" w="med" len="med"/>
                    </a:lnL>
                    <a:lnR w="9525" cap="flat" cmpd="sng" algn="ctr">
                      <a:solidFill>
                        <a:srgbClr val="C9DDE0"/>
                      </a:solidFill>
                      <a:prstDash val="solid"/>
                      <a:round/>
                      <a:headEnd type="none" w="med" len="med"/>
                      <a:tailEnd type="none" w="med" len="med"/>
                    </a:lnR>
                    <a:lnT w="9525" cap="flat" cmpd="sng" algn="ctr">
                      <a:solidFill>
                        <a:srgbClr val="C9DDE0"/>
                      </a:solidFill>
                      <a:prstDash val="solid"/>
                      <a:round/>
                      <a:headEnd type="none" w="med" len="med"/>
                      <a:tailEnd type="none" w="med" len="med"/>
                    </a:lnT>
                    <a:lnB w="9525" cap="flat" cmpd="sng" algn="ctr">
                      <a:solidFill>
                        <a:srgbClr val="C9DDE0"/>
                      </a:solidFill>
                      <a:prstDash val="solid"/>
                      <a:round/>
                      <a:headEnd type="none" w="med" len="med"/>
                      <a:tailEnd type="none" w="med" len="med"/>
                    </a:lnB>
                    <a:solidFill>
                      <a:srgbClr val="0B3C49"/>
                    </a:solidFill>
                  </a:tcPr>
                </a:tc>
                <a:tc>
                  <a:txBody>
                    <a:bodyPr/>
                    <a:lstStyle/>
                    <a:p>
                      <a:pPr indent="0" marL="0">
                        <a:buNone/>
                      </a:pPr>
                      <a:r>
                        <a:rPr lang="en-US" sz="1400" b="1" dirty="0">
                          <a:solidFill>
                            <a:srgbClr val="FFFFFF"/>
                          </a:solidFill>
                          <a:latin typeface="+mn-lt" pitchFamily="34" charset="0"/>
                          <a:ea typeface="+mn-lt" pitchFamily="34" charset="-122"/>
                          <a:cs typeface="+mn-lt" pitchFamily="34" charset="-120"/>
                        </a:rPr>
                        <a:t>Сөздікте</a:t>
                      </a:r>
                      <a:endParaRPr lang="en-US" sz="1400" dirty="0">
                        <a:latin typeface="+mn-lt" charset="0"/>
                        <a:ea typeface="+mn-lt" charset="0"/>
                        <a:cs typeface="+mn-lt" charset="0"/>
                      </a:endParaRPr>
                    </a:p>
                  </a:txBody>
                  <a:tcPr marL="91440" marR="91440" marT="45720" marB="45720" anchor="ctr">
                    <a:lnL w="9525" cap="flat" cmpd="sng" algn="ctr">
                      <a:solidFill>
                        <a:srgbClr val="C9DDE0"/>
                      </a:solidFill>
                      <a:prstDash val="solid"/>
                      <a:round/>
                      <a:headEnd type="none" w="med" len="med"/>
                      <a:tailEnd type="none" w="med" len="med"/>
                    </a:lnL>
                    <a:lnR w="9525" cap="flat" cmpd="sng" algn="ctr">
                      <a:solidFill>
                        <a:srgbClr val="C9DDE0"/>
                      </a:solidFill>
                      <a:prstDash val="solid"/>
                      <a:round/>
                      <a:headEnd type="none" w="med" len="med"/>
                      <a:tailEnd type="none" w="med" len="med"/>
                    </a:lnR>
                    <a:lnT w="9525" cap="flat" cmpd="sng" algn="ctr">
                      <a:solidFill>
                        <a:srgbClr val="C9DDE0"/>
                      </a:solidFill>
                      <a:prstDash val="solid"/>
                      <a:round/>
                      <a:headEnd type="none" w="med" len="med"/>
                      <a:tailEnd type="none" w="med" len="med"/>
                    </a:lnT>
                    <a:lnB w="9525" cap="flat" cmpd="sng" algn="ctr">
                      <a:solidFill>
                        <a:srgbClr val="C9DDE0"/>
                      </a:solidFill>
                      <a:prstDash val="solid"/>
                      <a:round/>
                      <a:headEnd type="none" w="med" len="med"/>
                      <a:tailEnd type="none" w="med" len="med"/>
                    </a:lnB>
                    <a:solidFill>
                      <a:srgbClr val="0B3C49"/>
                    </a:solidFill>
                  </a:tcPr>
                </a:tc>
                <a:tc>
                  <a:txBody>
                    <a:bodyPr/>
                    <a:lstStyle/>
                    <a:p>
                      <a:pPr algn="ctr" indent="0" marL="0">
                        <a:buNone/>
                      </a:pPr>
                      <a:r>
                        <a:rPr lang="en-US" sz="1400" b="1" dirty="0">
                          <a:solidFill>
                            <a:srgbClr val="FFFFFF"/>
                          </a:solidFill>
                          <a:latin typeface="+mn-lt" pitchFamily="34" charset="0"/>
                          <a:ea typeface="+mn-lt" pitchFamily="34" charset="-122"/>
                          <a:cs typeface="+mn-lt" pitchFamily="34" charset="-120"/>
                        </a:rPr>
                        <a:t>ChatGPT</a:t>
                      </a:r>
                      <a:endParaRPr lang="en-US" sz="1400" dirty="0">
                        <a:latin typeface="+mn-lt" charset="0"/>
                        <a:ea typeface="+mn-lt" charset="0"/>
                        <a:cs typeface="+mn-lt" charset="0"/>
                      </a:endParaRPr>
                    </a:p>
                  </a:txBody>
                  <a:tcPr marL="91440" marR="91440" marT="45720" marB="45720" anchor="ctr">
                    <a:lnL w="9525" cap="flat" cmpd="sng" algn="ctr">
                      <a:solidFill>
                        <a:srgbClr val="C9DDE0"/>
                      </a:solidFill>
                      <a:prstDash val="solid"/>
                      <a:round/>
                      <a:headEnd type="none" w="med" len="med"/>
                      <a:tailEnd type="none" w="med" len="med"/>
                    </a:lnL>
                    <a:lnR w="9525" cap="flat" cmpd="sng" algn="ctr">
                      <a:solidFill>
                        <a:srgbClr val="C9DDE0"/>
                      </a:solidFill>
                      <a:prstDash val="solid"/>
                      <a:round/>
                      <a:headEnd type="none" w="med" len="med"/>
                      <a:tailEnd type="none" w="med" len="med"/>
                    </a:lnR>
                    <a:lnT w="9525" cap="flat" cmpd="sng" algn="ctr">
                      <a:solidFill>
                        <a:srgbClr val="C9DDE0"/>
                      </a:solidFill>
                      <a:prstDash val="solid"/>
                      <a:round/>
                      <a:headEnd type="none" w="med" len="med"/>
                      <a:tailEnd type="none" w="med" len="med"/>
                    </a:lnT>
                    <a:lnB w="9525" cap="flat" cmpd="sng" algn="ctr">
                      <a:solidFill>
                        <a:srgbClr val="C9DDE0"/>
                      </a:solidFill>
                      <a:prstDash val="solid"/>
                      <a:round/>
                      <a:headEnd type="none" w="med" len="med"/>
                      <a:tailEnd type="none" w="med" len="med"/>
                    </a:lnB>
                    <a:solidFill>
                      <a:srgbClr val="0B3C49"/>
                    </a:solidFill>
                  </a:tcPr>
                </a:tc>
                <a:tc>
                  <a:txBody>
                    <a:bodyPr/>
                    <a:lstStyle/>
                    <a:p>
                      <a:pPr algn="ctr" indent="0" marL="0">
                        <a:buNone/>
                      </a:pPr>
                      <a:r>
                        <a:rPr lang="en-US" sz="1400" b="1" dirty="0">
                          <a:solidFill>
                            <a:srgbClr val="FFFFFF"/>
                          </a:solidFill>
                          <a:latin typeface="+mn-lt" pitchFamily="34" charset="0"/>
                          <a:ea typeface="+mn-lt" pitchFamily="34" charset="-122"/>
                          <a:cs typeface="+mn-lt" pitchFamily="34" charset="-120"/>
                        </a:rPr>
                        <a:t>DeepSeek</a:t>
                      </a:r>
                      <a:endParaRPr lang="en-US" sz="1400" dirty="0">
                        <a:latin typeface="+mn-lt" charset="0"/>
                        <a:ea typeface="+mn-lt" charset="0"/>
                        <a:cs typeface="+mn-lt" charset="0"/>
                      </a:endParaRPr>
                    </a:p>
                  </a:txBody>
                  <a:tcPr marL="91440" marR="91440" marT="45720" marB="45720" anchor="ctr">
                    <a:lnL w="9525" cap="flat" cmpd="sng" algn="ctr">
                      <a:solidFill>
                        <a:srgbClr val="C9DDE0"/>
                      </a:solidFill>
                      <a:prstDash val="solid"/>
                      <a:round/>
                      <a:headEnd type="none" w="med" len="med"/>
                      <a:tailEnd type="none" w="med" len="med"/>
                    </a:lnL>
                    <a:lnR w="9525" cap="flat" cmpd="sng" algn="ctr">
                      <a:solidFill>
                        <a:srgbClr val="C9DDE0"/>
                      </a:solidFill>
                      <a:prstDash val="solid"/>
                      <a:round/>
                      <a:headEnd type="none" w="med" len="med"/>
                      <a:tailEnd type="none" w="med" len="med"/>
                    </a:lnR>
                    <a:lnT w="9525" cap="flat" cmpd="sng" algn="ctr">
                      <a:solidFill>
                        <a:srgbClr val="C9DDE0"/>
                      </a:solidFill>
                      <a:prstDash val="solid"/>
                      <a:round/>
                      <a:headEnd type="none" w="med" len="med"/>
                      <a:tailEnd type="none" w="med" len="med"/>
                    </a:lnT>
                    <a:lnB w="9525" cap="flat" cmpd="sng" algn="ctr">
                      <a:solidFill>
                        <a:srgbClr val="C9DDE0"/>
                      </a:solidFill>
                      <a:prstDash val="solid"/>
                      <a:round/>
                      <a:headEnd type="none" w="med" len="med"/>
                      <a:tailEnd type="none" w="med" len="med"/>
                    </a:lnB>
                    <a:solidFill>
                      <a:srgbClr val="0B3C49"/>
                    </a:solidFill>
                  </a:tcPr>
                </a:tc>
                <a:tc>
                  <a:txBody>
                    <a:bodyPr/>
                    <a:lstStyle/>
                    <a:p>
                      <a:pPr algn="ctr" indent="0" marL="0">
                        <a:buNone/>
                      </a:pPr>
                      <a:r>
                        <a:rPr lang="en-US" sz="1400" b="1" dirty="0">
                          <a:solidFill>
                            <a:srgbClr val="FFFFFF"/>
                          </a:solidFill>
                          <a:latin typeface="+mn-lt" pitchFamily="34" charset="0"/>
                          <a:ea typeface="+mn-lt" pitchFamily="34" charset="-122"/>
                          <a:cs typeface="+mn-lt" pitchFamily="34" charset="-120"/>
                        </a:rPr>
                        <a:t>Gemini</a:t>
                      </a:r>
                      <a:endParaRPr lang="en-US" sz="1400" dirty="0">
                        <a:latin typeface="+mn-lt" charset="0"/>
                        <a:ea typeface="+mn-lt" charset="0"/>
                        <a:cs typeface="+mn-lt" charset="0"/>
                      </a:endParaRPr>
                    </a:p>
                  </a:txBody>
                  <a:tcPr marL="91440" marR="91440" marT="45720" marB="45720" anchor="ctr">
                    <a:lnL w="9525" cap="flat" cmpd="sng" algn="ctr">
                      <a:solidFill>
                        <a:srgbClr val="C9DDE0"/>
                      </a:solidFill>
                      <a:prstDash val="solid"/>
                      <a:round/>
                      <a:headEnd type="none" w="med" len="med"/>
                      <a:tailEnd type="none" w="med" len="med"/>
                    </a:lnL>
                    <a:lnR w="9525" cap="flat" cmpd="sng" algn="ctr">
                      <a:solidFill>
                        <a:srgbClr val="C9DDE0"/>
                      </a:solidFill>
                      <a:prstDash val="solid"/>
                      <a:round/>
                      <a:headEnd type="none" w="med" len="med"/>
                      <a:tailEnd type="none" w="med" len="med"/>
                    </a:lnR>
                    <a:lnT w="9525" cap="flat" cmpd="sng" algn="ctr">
                      <a:solidFill>
                        <a:srgbClr val="C9DDE0"/>
                      </a:solidFill>
                      <a:prstDash val="solid"/>
                      <a:round/>
                      <a:headEnd type="none" w="med" len="med"/>
                      <a:tailEnd type="none" w="med" len="med"/>
                    </a:lnT>
                    <a:lnB w="9525" cap="flat" cmpd="sng" algn="ctr">
                      <a:solidFill>
                        <a:srgbClr val="C9DDE0"/>
                      </a:solidFill>
                      <a:prstDash val="solid"/>
                      <a:round/>
                      <a:headEnd type="none" w="med" len="med"/>
                      <a:tailEnd type="none" w="med" len="med"/>
                    </a:lnB>
                    <a:solidFill>
                      <a:srgbClr val="0B3C49"/>
                    </a:solidFill>
                  </a:tcPr>
                </a:tc>
              </a:tr>
              <a:tr h="429768">
                <a:tc>
                  <a:txBody>
                    <a:bodyPr/>
                    <a:lstStyle/>
                    <a:p>
                      <a:pPr indent="0" marL="0">
                        <a:buNone/>
                      </a:pPr>
                      <a:r>
                        <a:rPr lang="en-US" sz="1400" dirty="0">
                          <a:solidFill>
                            <a:srgbClr val="1B2A30"/>
                          </a:solidFill>
                          <a:latin typeface="+mn-lt" pitchFamily="34" charset="0"/>
                          <a:ea typeface="+mn-lt" pitchFamily="34" charset="-122"/>
                          <a:cs typeface="+mn-lt" pitchFamily="34" charset="-120"/>
                        </a:rPr>
                        <a:t>Ақ киізге көтерді</a:t>
                      </a:r>
                      <a:endParaRPr lang="en-US" sz="1400" dirty="0">
                        <a:latin typeface="+mn-lt" charset="0"/>
                        <a:ea typeface="+mn-lt" charset="0"/>
                        <a:cs typeface="+mn-lt" charset="0"/>
                      </a:endParaRPr>
                    </a:p>
                  </a:txBody>
                  <a:tcPr marL="91440" marR="91440" marT="45720" marB="45720" anchor="ctr">
                    <a:lnL w="9525" cap="flat" cmpd="sng" algn="ctr">
                      <a:solidFill>
                        <a:srgbClr val="C9DDE0"/>
                      </a:solidFill>
                      <a:prstDash val="solid"/>
                      <a:round/>
                      <a:headEnd type="none" w="med" len="med"/>
                      <a:tailEnd type="none" w="med" len="med"/>
                    </a:lnL>
                    <a:lnR w="9525" cap="flat" cmpd="sng" algn="ctr">
                      <a:solidFill>
                        <a:srgbClr val="C9DDE0"/>
                      </a:solidFill>
                      <a:prstDash val="solid"/>
                      <a:round/>
                      <a:headEnd type="none" w="med" len="med"/>
                      <a:tailEnd type="none" w="med" len="med"/>
                    </a:lnR>
                    <a:lnT w="9525" cap="flat" cmpd="sng" algn="ctr">
                      <a:solidFill>
                        <a:srgbClr val="C9DDE0"/>
                      </a:solidFill>
                      <a:prstDash val="solid"/>
                      <a:round/>
                      <a:headEnd type="none" w="med" len="med"/>
                      <a:tailEnd type="none" w="med" len="med"/>
                    </a:lnT>
                    <a:lnB w="9525" cap="flat" cmpd="sng" algn="ctr">
                      <a:solidFill>
                        <a:srgbClr val="C9DDE0"/>
                      </a:solidFill>
                      <a:prstDash val="solid"/>
                      <a:round/>
                      <a:headEnd type="none" w="med" len="med"/>
                      <a:tailEnd type="none" w="med" len="med"/>
                    </a:lnB>
                  </a:tcPr>
                </a:tc>
                <a:tc>
                  <a:txBody>
                    <a:bodyPr/>
                    <a:lstStyle/>
                    <a:p>
                      <a:pPr indent="0" marL="0">
                        <a:buNone/>
                      </a:pPr>
                      <a:r>
                        <a:rPr lang="en-US" sz="1400" dirty="0">
                          <a:solidFill>
                            <a:srgbClr val="1B2A30"/>
                          </a:solidFill>
                          <a:latin typeface="+mn-lt" pitchFamily="34" charset="0"/>
                          <a:ea typeface="+mn-lt" pitchFamily="34" charset="-122"/>
                          <a:cs typeface="+mn-lt" pitchFamily="34" charset="-120"/>
                        </a:rPr>
                        <a:t>хан сайлады</a:t>
                      </a:r>
                      <a:endParaRPr lang="en-US" sz="1400" dirty="0">
                        <a:latin typeface="+mn-lt" charset="0"/>
                        <a:ea typeface="+mn-lt" charset="0"/>
                        <a:cs typeface="+mn-lt" charset="0"/>
                      </a:endParaRPr>
                    </a:p>
                  </a:txBody>
                  <a:tcPr marL="91440" marR="91440" marT="45720" marB="45720" anchor="ctr">
                    <a:lnL w="9525" cap="flat" cmpd="sng" algn="ctr">
                      <a:solidFill>
                        <a:srgbClr val="C9DDE0"/>
                      </a:solidFill>
                      <a:prstDash val="solid"/>
                      <a:round/>
                      <a:headEnd type="none" w="med" len="med"/>
                      <a:tailEnd type="none" w="med" len="med"/>
                    </a:lnL>
                    <a:lnR w="9525" cap="flat" cmpd="sng" algn="ctr">
                      <a:solidFill>
                        <a:srgbClr val="C9DDE0"/>
                      </a:solidFill>
                      <a:prstDash val="solid"/>
                      <a:round/>
                      <a:headEnd type="none" w="med" len="med"/>
                      <a:tailEnd type="none" w="med" len="med"/>
                    </a:lnR>
                    <a:lnT w="9525" cap="flat" cmpd="sng" algn="ctr">
                      <a:solidFill>
                        <a:srgbClr val="C9DDE0"/>
                      </a:solidFill>
                      <a:prstDash val="solid"/>
                      <a:round/>
                      <a:headEnd type="none" w="med" len="med"/>
                      <a:tailEnd type="none" w="med" len="med"/>
                    </a:lnT>
                    <a:lnB w="9525" cap="flat" cmpd="sng" algn="ctr">
                      <a:solidFill>
                        <a:srgbClr val="C9DDE0"/>
                      </a:solidFill>
                      <a:prstDash val="solid"/>
                      <a:round/>
                      <a:headEnd type="none" w="med" len="med"/>
                      <a:tailEnd type="none" w="med" len="med"/>
                    </a:lnB>
                  </a:tcPr>
                </a:tc>
                <a:tc>
                  <a:txBody>
                    <a:bodyPr/>
                    <a:lstStyle/>
                    <a:p>
                      <a:pPr algn="ctr" indent="0" marL="0">
                        <a:buNone/>
                      </a:pPr>
                      <a:r>
                        <a:rPr lang="en-US" sz="1400" b="1" dirty="0">
                          <a:solidFill>
                            <a:srgbClr val="2E8B57"/>
                          </a:solidFill>
                          <a:latin typeface="+mn-lt" pitchFamily="34" charset="0"/>
                          <a:ea typeface="+mn-lt" pitchFamily="34" charset="-122"/>
                          <a:cs typeface="+mn-lt" pitchFamily="34" charset="-120"/>
                        </a:rPr>
                        <a:t>2</a:t>
                      </a:r>
                      <a:endParaRPr lang="en-US" sz="1400" dirty="0">
                        <a:latin typeface="+mn-lt" charset="0"/>
                        <a:ea typeface="+mn-lt" charset="0"/>
                        <a:cs typeface="+mn-lt" charset="0"/>
                      </a:endParaRPr>
                    </a:p>
                  </a:txBody>
                  <a:tcPr marL="91440" marR="91440" marT="45720" marB="45720" anchor="ctr">
                    <a:lnL w="9525" cap="flat" cmpd="sng" algn="ctr">
                      <a:solidFill>
                        <a:srgbClr val="C9DDE0"/>
                      </a:solidFill>
                      <a:prstDash val="solid"/>
                      <a:round/>
                      <a:headEnd type="none" w="med" len="med"/>
                      <a:tailEnd type="none" w="med" len="med"/>
                    </a:lnL>
                    <a:lnR w="9525" cap="flat" cmpd="sng" algn="ctr">
                      <a:solidFill>
                        <a:srgbClr val="C9DDE0"/>
                      </a:solidFill>
                      <a:prstDash val="solid"/>
                      <a:round/>
                      <a:headEnd type="none" w="med" len="med"/>
                      <a:tailEnd type="none" w="med" len="med"/>
                    </a:lnR>
                    <a:lnT w="9525" cap="flat" cmpd="sng" algn="ctr">
                      <a:solidFill>
                        <a:srgbClr val="C9DDE0"/>
                      </a:solidFill>
                      <a:prstDash val="solid"/>
                      <a:round/>
                      <a:headEnd type="none" w="med" len="med"/>
                      <a:tailEnd type="none" w="med" len="med"/>
                    </a:lnT>
                    <a:lnB w="9525" cap="flat" cmpd="sng" algn="ctr">
                      <a:solidFill>
                        <a:srgbClr val="C9DDE0"/>
                      </a:solidFill>
                      <a:prstDash val="solid"/>
                      <a:round/>
                      <a:headEnd type="none" w="med" len="med"/>
                      <a:tailEnd type="none" w="med" len="med"/>
                    </a:lnB>
                  </a:tcPr>
                </a:tc>
                <a:tc>
                  <a:txBody>
                    <a:bodyPr/>
                    <a:lstStyle/>
                    <a:p>
                      <a:pPr algn="ctr" indent="0" marL="0">
                        <a:buNone/>
                      </a:pPr>
                      <a:r>
                        <a:rPr lang="en-US" sz="1400" b="1" dirty="0">
                          <a:solidFill>
                            <a:srgbClr val="2E8B57"/>
                          </a:solidFill>
                          <a:latin typeface="+mn-lt" pitchFamily="34" charset="0"/>
                          <a:ea typeface="+mn-lt" pitchFamily="34" charset="-122"/>
                          <a:cs typeface="+mn-lt" pitchFamily="34" charset="-120"/>
                        </a:rPr>
                        <a:t>2</a:t>
                      </a:r>
                      <a:endParaRPr lang="en-US" sz="1400" dirty="0">
                        <a:latin typeface="+mn-lt" charset="0"/>
                        <a:ea typeface="+mn-lt" charset="0"/>
                        <a:cs typeface="+mn-lt" charset="0"/>
                      </a:endParaRPr>
                    </a:p>
                  </a:txBody>
                  <a:tcPr marL="91440" marR="91440" marT="45720" marB="45720" anchor="ctr">
                    <a:lnL w="9525" cap="flat" cmpd="sng" algn="ctr">
                      <a:solidFill>
                        <a:srgbClr val="C9DDE0"/>
                      </a:solidFill>
                      <a:prstDash val="solid"/>
                      <a:round/>
                      <a:headEnd type="none" w="med" len="med"/>
                      <a:tailEnd type="none" w="med" len="med"/>
                    </a:lnL>
                    <a:lnR w="9525" cap="flat" cmpd="sng" algn="ctr">
                      <a:solidFill>
                        <a:srgbClr val="C9DDE0"/>
                      </a:solidFill>
                      <a:prstDash val="solid"/>
                      <a:round/>
                      <a:headEnd type="none" w="med" len="med"/>
                      <a:tailEnd type="none" w="med" len="med"/>
                    </a:lnR>
                    <a:lnT w="9525" cap="flat" cmpd="sng" algn="ctr">
                      <a:solidFill>
                        <a:srgbClr val="C9DDE0"/>
                      </a:solidFill>
                      <a:prstDash val="solid"/>
                      <a:round/>
                      <a:headEnd type="none" w="med" len="med"/>
                      <a:tailEnd type="none" w="med" len="med"/>
                    </a:lnT>
                    <a:lnB w="9525" cap="flat" cmpd="sng" algn="ctr">
                      <a:solidFill>
                        <a:srgbClr val="C9DDE0"/>
                      </a:solidFill>
                      <a:prstDash val="solid"/>
                      <a:round/>
                      <a:headEnd type="none" w="med" len="med"/>
                      <a:tailEnd type="none" w="med" len="med"/>
                    </a:lnB>
                  </a:tcPr>
                </a:tc>
                <a:tc>
                  <a:txBody>
                    <a:bodyPr/>
                    <a:lstStyle/>
                    <a:p>
                      <a:pPr algn="ctr" indent="0" marL="0">
                        <a:buNone/>
                      </a:pPr>
                      <a:r>
                        <a:rPr lang="en-US" sz="1400" b="1" dirty="0">
                          <a:solidFill>
                            <a:srgbClr val="2E8B57"/>
                          </a:solidFill>
                          <a:latin typeface="+mn-lt" pitchFamily="34" charset="0"/>
                          <a:ea typeface="+mn-lt" pitchFamily="34" charset="-122"/>
                          <a:cs typeface="+mn-lt" pitchFamily="34" charset="-120"/>
                        </a:rPr>
                        <a:t>2</a:t>
                      </a:r>
                      <a:endParaRPr lang="en-US" sz="1400" dirty="0">
                        <a:latin typeface="+mn-lt" charset="0"/>
                        <a:ea typeface="+mn-lt" charset="0"/>
                        <a:cs typeface="+mn-lt" charset="0"/>
                      </a:endParaRPr>
                    </a:p>
                  </a:txBody>
                  <a:tcPr marL="91440" marR="91440" marT="45720" marB="45720" anchor="ctr">
                    <a:lnL w="9525" cap="flat" cmpd="sng" algn="ctr">
                      <a:solidFill>
                        <a:srgbClr val="C9DDE0"/>
                      </a:solidFill>
                      <a:prstDash val="solid"/>
                      <a:round/>
                      <a:headEnd type="none" w="med" len="med"/>
                      <a:tailEnd type="none" w="med" len="med"/>
                    </a:lnL>
                    <a:lnR w="9525" cap="flat" cmpd="sng" algn="ctr">
                      <a:solidFill>
                        <a:srgbClr val="C9DDE0"/>
                      </a:solidFill>
                      <a:prstDash val="solid"/>
                      <a:round/>
                      <a:headEnd type="none" w="med" len="med"/>
                      <a:tailEnd type="none" w="med" len="med"/>
                    </a:lnR>
                    <a:lnT w="9525" cap="flat" cmpd="sng" algn="ctr">
                      <a:solidFill>
                        <a:srgbClr val="C9DDE0"/>
                      </a:solidFill>
                      <a:prstDash val="solid"/>
                      <a:round/>
                      <a:headEnd type="none" w="med" len="med"/>
                      <a:tailEnd type="none" w="med" len="med"/>
                    </a:lnT>
                    <a:lnB w="9525" cap="flat" cmpd="sng" algn="ctr">
                      <a:solidFill>
                        <a:srgbClr val="C9DDE0"/>
                      </a:solidFill>
                      <a:prstDash val="solid"/>
                      <a:round/>
                      <a:headEnd type="none" w="med" len="med"/>
                      <a:tailEnd type="none" w="med" len="med"/>
                    </a:lnB>
                  </a:tcPr>
                </a:tc>
              </a:tr>
              <a:tr h="429768">
                <a:tc>
                  <a:txBody>
                    <a:bodyPr/>
                    <a:lstStyle/>
                    <a:p>
                      <a:pPr indent="0" marL="0">
                        <a:buNone/>
                      </a:pPr>
                      <a:r>
                        <a:rPr lang="en-US" sz="1400" dirty="0">
                          <a:solidFill>
                            <a:srgbClr val="1B2A30"/>
                          </a:solidFill>
                          <a:latin typeface="+mn-lt" pitchFamily="34" charset="0"/>
                          <a:ea typeface="+mn-lt" pitchFamily="34" charset="-122"/>
                          <a:cs typeface="+mn-lt" pitchFamily="34" charset="-120"/>
                        </a:rPr>
                        <a:t>Асығы алшысынан түсті</a:t>
                      </a:r>
                      <a:endParaRPr lang="en-US" sz="1400" dirty="0">
                        <a:latin typeface="+mn-lt" charset="0"/>
                        <a:ea typeface="+mn-lt" charset="0"/>
                        <a:cs typeface="+mn-lt" charset="0"/>
                      </a:endParaRPr>
                    </a:p>
                  </a:txBody>
                  <a:tcPr marL="91440" marR="91440" marT="45720" marB="45720" anchor="ctr">
                    <a:lnL w="9525" cap="flat" cmpd="sng" algn="ctr">
                      <a:solidFill>
                        <a:srgbClr val="C9DDE0"/>
                      </a:solidFill>
                      <a:prstDash val="solid"/>
                      <a:round/>
                      <a:headEnd type="none" w="med" len="med"/>
                      <a:tailEnd type="none" w="med" len="med"/>
                    </a:lnL>
                    <a:lnR w="9525" cap="flat" cmpd="sng" algn="ctr">
                      <a:solidFill>
                        <a:srgbClr val="C9DDE0"/>
                      </a:solidFill>
                      <a:prstDash val="solid"/>
                      <a:round/>
                      <a:headEnd type="none" w="med" len="med"/>
                      <a:tailEnd type="none" w="med" len="med"/>
                    </a:lnR>
                    <a:lnT w="9525" cap="flat" cmpd="sng" algn="ctr">
                      <a:solidFill>
                        <a:srgbClr val="C9DDE0"/>
                      </a:solidFill>
                      <a:prstDash val="solid"/>
                      <a:round/>
                      <a:headEnd type="none" w="med" len="med"/>
                      <a:tailEnd type="none" w="med" len="med"/>
                    </a:lnT>
                    <a:lnB w="9525" cap="flat" cmpd="sng" algn="ctr">
                      <a:solidFill>
                        <a:srgbClr val="C9DDE0"/>
                      </a:solidFill>
                      <a:prstDash val="solid"/>
                      <a:round/>
                      <a:headEnd type="none" w="med" len="med"/>
                      <a:tailEnd type="none" w="med" len="med"/>
                    </a:lnB>
                  </a:tcPr>
                </a:tc>
                <a:tc>
                  <a:txBody>
                    <a:bodyPr/>
                    <a:lstStyle/>
                    <a:p>
                      <a:pPr indent="0" marL="0">
                        <a:buNone/>
                      </a:pPr>
                      <a:r>
                        <a:rPr lang="en-US" sz="1400" dirty="0">
                          <a:solidFill>
                            <a:srgbClr val="1B2A30"/>
                          </a:solidFill>
                          <a:latin typeface="+mn-lt" pitchFamily="34" charset="0"/>
                          <a:ea typeface="+mn-lt" pitchFamily="34" charset="-122"/>
                          <a:cs typeface="+mn-lt" pitchFamily="34" charset="-120"/>
                        </a:rPr>
                        <a:t>жолы болды</a:t>
                      </a:r>
                      <a:endParaRPr lang="en-US" sz="1400" dirty="0">
                        <a:latin typeface="+mn-lt" charset="0"/>
                        <a:ea typeface="+mn-lt" charset="0"/>
                        <a:cs typeface="+mn-lt" charset="0"/>
                      </a:endParaRPr>
                    </a:p>
                  </a:txBody>
                  <a:tcPr marL="91440" marR="91440" marT="45720" marB="45720" anchor="ctr">
                    <a:lnL w="9525" cap="flat" cmpd="sng" algn="ctr">
                      <a:solidFill>
                        <a:srgbClr val="C9DDE0"/>
                      </a:solidFill>
                      <a:prstDash val="solid"/>
                      <a:round/>
                      <a:headEnd type="none" w="med" len="med"/>
                      <a:tailEnd type="none" w="med" len="med"/>
                    </a:lnL>
                    <a:lnR w="9525" cap="flat" cmpd="sng" algn="ctr">
                      <a:solidFill>
                        <a:srgbClr val="C9DDE0"/>
                      </a:solidFill>
                      <a:prstDash val="solid"/>
                      <a:round/>
                      <a:headEnd type="none" w="med" len="med"/>
                      <a:tailEnd type="none" w="med" len="med"/>
                    </a:lnR>
                    <a:lnT w="9525" cap="flat" cmpd="sng" algn="ctr">
                      <a:solidFill>
                        <a:srgbClr val="C9DDE0"/>
                      </a:solidFill>
                      <a:prstDash val="solid"/>
                      <a:round/>
                      <a:headEnd type="none" w="med" len="med"/>
                      <a:tailEnd type="none" w="med" len="med"/>
                    </a:lnT>
                    <a:lnB w="9525" cap="flat" cmpd="sng" algn="ctr">
                      <a:solidFill>
                        <a:srgbClr val="C9DDE0"/>
                      </a:solidFill>
                      <a:prstDash val="solid"/>
                      <a:round/>
                      <a:headEnd type="none" w="med" len="med"/>
                      <a:tailEnd type="none" w="med" len="med"/>
                    </a:lnB>
                  </a:tcPr>
                </a:tc>
                <a:tc>
                  <a:txBody>
                    <a:bodyPr/>
                    <a:lstStyle/>
                    <a:p>
                      <a:pPr algn="ctr" indent="0" marL="0">
                        <a:buNone/>
                      </a:pPr>
                      <a:r>
                        <a:rPr lang="en-US" sz="1400" b="1" dirty="0">
                          <a:solidFill>
                            <a:srgbClr val="2E8B57"/>
                          </a:solidFill>
                          <a:latin typeface="+mn-lt" pitchFamily="34" charset="0"/>
                          <a:ea typeface="+mn-lt" pitchFamily="34" charset="-122"/>
                          <a:cs typeface="+mn-lt" pitchFamily="34" charset="-120"/>
                        </a:rPr>
                        <a:t>2</a:t>
                      </a:r>
                      <a:endParaRPr lang="en-US" sz="1400" dirty="0">
                        <a:latin typeface="+mn-lt" charset="0"/>
                        <a:ea typeface="+mn-lt" charset="0"/>
                        <a:cs typeface="+mn-lt" charset="0"/>
                      </a:endParaRPr>
                    </a:p>
                  </a:txBody>
                  <a:tcPr marL="91440" marR="91440" marT="45720" marB="45720" anchor="ctr">
                    <a:lnL w="9525" cap="flat" cmpd="sng" algn="ctr">
                      <a:solidFill>
                        <a:srgbClr val="C9DDE0"/>
                      </a:solidFill>
                      <a:prstDash val="solid"/>
                      <a:round/>
                      <a:headEnd type="none" w="med" len="med"/>
                      <a:tailEnd type="none" w="med" len="med"/>
                    </a:lnL>
                    <a:lnR w="9525" cap="flat" cmpd="sng" algn="ctr">
                      <a:solidFill>
                        <a:srgbClr val="C9DDE0"/>
                      </a:solidFill>
                      <a:prstDash val="solid"/>
                      <a:round/>
                      <a:headEnd type="none" w="med" len="med"/>
                      <a:tailEnd type="none" w="med" len="med"/>
                    </a:lnR>
                    <a:lnT w="9525" cap="flat" cmpd="sng" algn="ctr">
                      <a:solidFill>
                        <a:srgbClr val="C9DDE0"/>
                      </a:solidFill>
                      <a:prstDash val="solid"/>
                      <a:round/>
                      <a:headEnd type="none" w="med" len="med"/>
                      <a:tailEnd type="none" w="med" len="med"/>
                    </a:lnT>
                    <a:lnB w="9525" cap="flat" cmpd="sng" algn="ctr">
                      <a:solidFill>
                        <a:srgbClr val="C9DDE0"/>
                      </a:solidFill>
                      <a:prstDash val="solid"/>
                      <a:round/>
                      <a:headEnd type="none" w="med" len="med"/>
                      <a:tailEnd type="none" w="med" len="med"/>
                    </a:lnB>
                  </a:tcPr>
                </a:tc>
                <a:tc>
                  <a:txBody>
                    <a:bodyPr/>
                    <a:lstStyle/>
                    <a:p>
                      <a:pPr algn="ctr" indent="0" marL="0">
                        <a:buNone/>
                      </a:pPr>
                      <a:r>
                        <a:rPr lang="en-US" sz="1400" b="1" dirty="0">
                          <a:solidFill>
                            <a:srgbClr val="2E8B57"/>
                          </a:solidFill>
                          <a:latin typeface="+mn-lt" pitchFamily="34" charset="0"/>
                          <a:ea typeface="+mn-lt" pitchFamily="34" charset="-122"/>
                          <a:cs typeface="+mn-lt" pitchFamily="34" charset="-120"/>
                        </a:rPr>
                        <a:t>2</a:t>
                      </a:r>
                      <a:endParaRPr lang="en-US" sz="1400" dirty="0">
                        <a:latin typeface="+mn-lt" charset="0"/>
                        <a:ea typeface="+mn-lt" charset="0"/>
                        <a:cs typeface="+mn-lt" charset="0"/>
                      </a:endParaRPr>
                    </a:p>
                  </a:txBody>
                  <a:tcPr marL="91440" marR="91440" marT="45720" marB="45720" anchor="ctr">
                    <a:lnL w="9525" cap="flat" cmpd="sng" algn="ctr">
                      <a:solidFill>
                        <a:srgbClr val="C9DDE0"/>
                      </a:solidFill>
                      <a:prstDash val="solid"/>
                      <a:round/>
                      <a:headEnd type="none" w="med" len="med"/>
                      <a:tailEnd type="none" w="med" len="med"/>
                    </a:lnL>
                    <a:lnR w="9525" cap="flat" cmpd="sng" algn="ctr">
                      <a:solidFill>
                        <a:srgbClr val="C9DDE0"/>
                      </a:solidFill>
                      <a:prstDash val="solid"/>
                      <a:round/>
                      <a:headEnd type="none" w="med" len="med"/>
                      <a:tailEnd type="none" w="med" len="med"/>
                    </a:lnR>
                    <a:lnT w="9525" cap="flat" cmpd="sng" algn="ctr">
                      <a:solidFill>
                        <a:srgbClr val="C9DDE0"/>
                      </a:solidFill>
                      <a:prstDash val="solid"/>
                      <a:round/>
                      <a:headEnd type="none" w="med" len="med"/>
                      <a:tailEnd type="none" w="med" len="med"/>
                    </a:lnT>
                    <a:lnB w="9525" cap="flat" cmpd="sng" algn="ctr">
                      <a:solidFill>
                        <a:srgbClr val="C9DDE0"/>
                      </a:solidFill>
                      <a:prstDash val="solid"/>
                      <a:round/>
                      <a:headEnd type="none" w="med" len="med"/>
                      <a:tailEnd type="none" w="med" len="med"/>
                    </a:lnB>
                  </a:tcPr>
                </a:tc>
                <a:tc>
                  <a:txBody>
                    <a:bodyPr/>
                    <a:lstStyle/>
                    <a:p>
                      <a:pPr algn="ctr" indent="0" marL="0">
                        <a:buNone/>
                      </a:pPr>
                      <a:r>
                        <a:rPr lang="en-US" sz="1400" b="1" dirty="0">
                          <a:solidFill>
                            <a:srgbClr val="2E8B57"/>
                          </a:solidFill>
                          <a:latin typeface="+mn-lt" pitchFamily="34" charset="0"/>
                          <a:ea typeface="+mn-lt" pitchFamily="34" charset="-122"/>
                          <a:cs typeface="+mn-lt" pitchFamily="34" charset="-120"/>
                        </a:rPr>
                        <a:t>2</a:t>
                      </a:r>
                      <a:endParaRPr lang="en-US" sz="1400" dirty="0">
                        <a:latin typeface="+mn-lt" charset="0"/>
                        <a:ea typeface="+mn-lt" charset="0"/>
                        <a:cs typeface="+mn-lt" charset="0"/>
                      </a:endParaRPr>
                    </a:p>
                  </a:txBody>
                  <a:tcPr marL="91440" marR="91440" marT="45720" marB="45720" anchor="ctr">
                    <a:lnL w="9525" cap="flat" cmpd="sng" algn="ctr">
                      <a:solidFill>
                        <a:srgbClr val="C9DDE0"/>
                      </a:solidFill>
                      <a:prstDash val="solid"/>
                      <a:round/>
                      <a:headEnd type="none" w="med" len="med"/>
                      <a:tailEnd type="none" w="med" len="med"/>
                    </a:lnL>
                    <a:lnR w="9525" cap="flat" cmpd="sng" algn="ctr">
                      <a:solidFill>
                        <a:srgbClr val="C9DDE0"/>
                      </a:solidFill>
                      <a:prstDash val="solid"/>
                      <a:round/>
                      <a:headEnd type="none" w="med" len="med"/>
                      <a:tailEnd type="none" w="med" len="med"/>
                    </a:lnR>
                    <a:lnT w="9525" cap="flat" cmpd="sng" algn="ctr">
                      <a:solidFill>
                        <a:srgbClr val="C9DDE0"/>
                      </a:solidFill>
                      <a:prstDash val="solid"/>
                      <a:round/>
                      <a:headEnd type="none" w="med" len="med"/>
                      <a:tailEnd type="none" w="med" len="med"/>
                    </a:lnT>
                    <a:lnB w="9525" cap="flat" cmpd="sng" algn="ctr">
                      <a:solidFill>
                        <a:srgbClr val="C9DDE0"/>
                      </a:solidFill>
                      <a:prstDash val="solid"/>
                      <a:round/>
                      <a:headEnd type="none" w="med" len="med"/>
                      <a:tailEnd type="none" w="med" len="med"/>
                    </a:lnB>
                  </a:tcPr>
                </a:tc>
              </a:tr>
              <a:tr h="429768">
                <a:tc>
                  <a:txBody>
                    <a:bodyPr/>
                    <a:lstStyle/>
                    <a:p>
                      <a:pPr indent="0" marL="0">
                        <a:buNone/>
                      </a:pPr>
                      <a:r>
                        <a:rPr lang="en-US" sz="1400" dirty="0">
                          <a:solidFill>
                            <a:srgbClr val="1B2A30"/>
                          </a:solidFill>
                          <a:latin typeface="+mn-lt" pitchFamily="34" charset="0"/>
                          <a:ea typeface="+mn-lt" pitchFamily="34" charset="-122"/>
                          <a:cs typeface="+mn-lt" pitchFamily="34" charset="-120"/>
                        </a:rPr>
                        <a:t>Ит басына іркіт төгілу</a:t>
                      </a:r>
                      <a:endParaRPr lang="en-US" sz="1400" dirty="0">
                        <a:latin typeface="+mn-lt" charset="0"/>
                        <a:ea typeface="+mn-lt" charset="0"/>
                        <a:cs typeface="+mn-lt" charset="0"/>
                      </a:endParaRPr>
                    </a:p>
                  </a:txBody>
                  <a:tcPr marL="91440" marR="91440" marT="45720" marB="45720" anchor="ctr">
                    <a:lnL w="9525" cap="flat" cmpd="sng" algn="ctr">
                      <a:solidFill>
                        <a:srgbClr val="C9DDE0"/>
                      </a:solidFill>
                      <a:prstDash val="solid"/>
                      <a:round/>
                      <a:headEnd type="none" w="med" len="med"/>
                      <a:tailEnd type="none" w="med" len="med"/>
                    </a:lnL>
                    <a:lnR w="9525" cap="flat" cmpd="sng" algn="ctr">
                      <a:solidFill>
                        <a:srgbClr val="C9DDE0"/>
                      </a:solidFill>
                      <a:prstDash val="solid"/>
                      <a:round/>
                      <a:headEnd type="none" w="med" len="med"/>
                      <a:tailEnd type="none" w="med" len="med"/>
                    </a:lnR>
                    <a:lnT w="9525" cap="flat" cmpd="sng" algn="ctr">
                      <a:solidFill>
                        <a:srgbClr val="C9DDE0"/>
                      </a:solidFill>
                      <a:prstDash val="solid"/>
                      <a:round/>
                      <a:headEnd type="none" w="med" len="med"/>
                      <a:tailEnd type="none" w="med" len="med"/>
                    </a:lnT>
                    <a:lnB w="9525" cap="flat" cmpd="sng" algn="ctr">
                      <a:solidFill>
                        <a:srgbClr val="C9DDE0"/>
                      </a:solidFill>
                      <a:prstDash val="solid"/>
                      <a:round/>
                      <a:headEnd type="none" w="med" len="med"/>
                      <a:tailEnd type="none" w="med" len="med"/>
                    </a:lnB>
                  </a:tcPr>
                </a:tc>
                <a:tc>
                  <a:txBody>
                    <a:bodyPr/>
                    <a:lstStyle/>
                    <a:p>
                      <a:pPr indent="0" marL="0">
                        <a:buNone/>
                      </a:pPr>
                      <a:r>
                        <a:rPr lang="en-US" sz="1400" dirty="0">
                          <a:solidFill>
                            <a:srgbClr val="1B2A30"/>
                          </a:solidFill>
                          <a:latin typeface="+mn-lt" pitchFamily="34" charset="0"/>
                          <a:ea typeface="+mn-lt" pitchFamily="34" charset="-122"/>
                          <a:cs typeface="+mn-lt" pitchFamily="34" charset="-120"/>
                        </a:rPr>
                        <a:t>молшылық орнау</a:t>
                      </a:r>
                      <a:endParaRPr lang="en-US" sz="1400" dirty="0">
                        <a:latin typeface="+mn-lt" charset="0"/>
                        <a:ea typeface="+mn-lt" charset="0"/>
                        <a:cs typeface="+mn-lt" charset="0"/>
                      </a:endParaRPr>
                    </a:p>
                  </a:txBody>
                  <a:tcPr marL="91440" marR="91440" marT="45720" marB="45720" anchor="ctr">
                    <a:lnL w="9525" cap="flat" cmpd="sng" algn="ctr">
                      <a:solidFill>
                        <a:srgbClr val="C9DDE0"/>
                      </a:solidFill>
                      <a:prstDash val="solid"/>
                      <a:round/>
                      <a:headEnd type="none" w="med" len="med"/>
                      <a:tailEnd type="none" w="med" len="med"/>
                    </a:lnL>
                    <a:lnR w="9525" cap="flat" cmpd="sng" algn="ctr">
                      <a:solidFill>
                        <a:srgbClr val="C9DDE0"/>
                      </a:solidFill>
                      <a:prstDash val="solid"/>
                      <a:round/>
                      <a:headEnd type="none" w="med" len="med"/>
                      <a:tailEnd type="none" w="med" len="med"/>
                    </a:lnR>
                    <a:lnT w="9525" cap="flat" cmpd="sng" algn="ctr">
                      <a:solidFill>
                        <a:srgbClr val="C9DDE0"/>
                      </a:solidFill>
                      <a:prstDash val="solid"/>
                      <a:round/>
                      <a:headEnd type="none" w="med" len="med"/>
                      <a:tailEnd type="none" w="med" len="med"/>
                    </a:lnT>
                    <a:lnB w="9525" cap="flat" cmpd="sng" algn="ctr">
                      <a:solidFill>
                        <a:srgbClr val="C9DDE0"/>
                      </a:solidFill>
                      <a:prstDash val="solid"/>
                      <a:round/>
                      <a:headEnd type="none" w="med" len="med"/>
                      <a:tailEnd type="none" w="med" len="med"/>
                    </a:lnB>
                  </a:tcPr>
                </a:tc>
                <a:tc>
                  <a:txBody>
                    <a:bodyPr/>
                    <a:lstStyle/>
                    <a:p>
                      <a:pPr algn="ctr" indent="0" marL="0">
                        <a:buNone/>
                      </a:pPr>
                      <a:r>
                        <a:rPr lang="en-US" sz="1400" b="1" dirty="0">
                          <a:solidFill>
                            <a:srgbClr val="2E8B57"/>
                          </a:solidFill>
                          <a:latin typeface="+mn-lt" pitchFamily="34" charset="0"/>
                          <a:ea typeface="+mn-lt" pitchFamily="34" charset="-122"/>
                          <a:cs typeface="+mn-lt" pitchFamily="34" charset="-120"/>
                        </a:rPr>
                        <a:t>2</a:t>
                      </a:r>
                      <a:endParaRPr lang="en-US" sz="1400" dirty="0">
                        <a:latin typeface="+mn-lt" charset="0"/>
                        <a:ea typeface="+mn-lt" charset="0"/>
                        <a:cs typeface="+mn-lt" charset="0"/>
                      </a:endParaRPr>
                    </a:p>
                  </a:txBody>
                  <a:tcPr marL="91440" marR="91440" marT="45720" marB="45720" anchor="ctr">
                    <a:lnL w="9525" cap="flat" cmpd="sng" algn="ctr">
                      <a:solidFill>
                        <a:srgbClr val="C9DDE0"/>
                      </a:solidFill>
                      <a:prstDash val="solid"/>
                      <a:round/>
                      <a:headEnd type="none" w="med" len="med"/>
                      <a:tailEnd type="none" w="med" len="med"/>
                    </a:lnL>
                    <a:lnR w="9525" cap="flat" cmpd="sng" algn="ctr">
                      <a:solidFill>
                        <a:srgbClr val="C9DDE0"/>
                      </a:solidFill>
                      <a:prstDash val="solid"/>
                      <a:round/>
                      <a:headEnd type="none" w="med" len="med"/>
                      <a:tailEnd type="none" w="med" len="med"/>
                    </a:lnR>
                    <a:lnT w="9525" cap="flat" cmpd="sng" algn="ctr">
                      <a:solidFill>
                        <a:srgbClr val="C9DDE0"/>
                      </a:solidFill>
                      <a:prstDash val="solid"/>
                      <a:round/>
                      <a:headEnd type="none" w="med" len="med"/>
                      <a:tailEnd type="none" w="med" len="med"/>
                    </a:lnT>
                    <a:lnB w="9525" cap="flat" cmpd="sng" algn="ctr">
                      <a:solidFill>
                        <a:srgbClr val="C9DDE0"/>
                      </a:solidFill>
                      <a:prstDash val="solid"/>
                      <a:round/>
                      <a:headEnd type="none" w="med" len="med"/>
                      <a:tailEnd type="none" w="med" len="med"/>
                    </a:lnB>
                  </a:tcPr>
                </a:tc>
                <a:tc>
                  <a:txBody>
                    <a:bodyPr/>
                    <a:lstStyle/>
                    <a:p>
                      <a:pPr algn="ctr" indent="0" marL="0">
                        <a:buNone/>
                      </a:pPr>
                      <a:r>
                        <a:rPr lang="en-US" sz="1400" b="1" dirty="0">
                          <a:solidFill>
                            <a:srgbClr val="2E8B57"/>
                          </a:solidFill>
                          <a:latin typeface="+mn-lt" pitchFamily="34" charset="0"/>
                          <a:ea typeface="+mn-lt" pitchFamily="34" charset="-122"/>
                          <a:cs typeface="+mn-lt" pitchFamily="34" charset="-120"/>
                        </a:rPr>
                        <a:t>2</a:t>
                      </a:r>
                      <a:endParaRPr lang="en-US" sz="1400" dirty="0">
                        <a:latin typeface="+mn-lt" charset="0"/>
                        <a:ea typeface="+mn-lt" charset="0"/>
                        <a:cs typeface="+mn-lt" charset="0"/>
                      </a:endParaRPr>
                    </a:p>
                  </a:txBody>
                  <a:tcPr marL="91440" marR="91440" marT="45720" marB="45720" anchor="ctr">
                    <a:lnL w="9525" cap="flat" cmpd="sng" algn="ctr">
                      <a:solidFill>
                        <a:srgbClr val="C9DDE0"/>
                      </a:solidFill>
                      <a:prstDash val="solid"/>
                      <a:round/>
                      <a:headEnd type="none" w="med" len="med"/>
                      <a:tailEnd type="none" w="med" len="med"/>
                    </a:lnL>
                    <a:lnR w="9525" cap="flat" cmpd="sng" algn="ctr">
                      <a:solidFill>
                        <a:srgbClr val="C9DDE0"/>
                      </a:solidFill>
                      <a:prstDash val="solid"/>
                      <a:round/>
                      <a:headEnd type="none" w="med" len="med"/>
                      <a:tailEnd type="none" w="med" len="med"/>
                    </a:lnR>
                    <a:lnT w="9525" cap="flat" cmpd="sng" algn="ctr">
                      <a:solidFill>
                        <a:srgbClr val="C9DDE0"/>
                      </a:solidFill>
                      <a:prstDash val="solid"/>
                      <a:round/>
                      <a:headEnd type="none" w="med" len="med"/>
                      <a:tailEnd type="none" w="med" len="med"/>
                    </a:lnT>
                    <a:lnB w="9525" cap="flat" cmpd="sng" algn="ctr">
                      <a:solidFill>
                        <a:srgbClr val="C9DDE0"/>
                      </a:solidFill>
                      <a:prstDash val="solid"/>
                      <a:round/>
                      <a:headEnd type="none" w="med" len="med"/>
                      <a:tailEnd type="none" w="med" len="med"/>
                    </a:lnB>
                  </a:tcPr>
                </a:tc>
                <a:tc>
                  <a:txBody>
                    <a:bodyPr/>
                    <a:lstStyle/>
                    <a:p>
                      <a:pPr algn="ctr" indent="0" marL="0">
                        <a:buNone/>
                      </a:pPr>
                      <a:r>
                        <a:rPr lang="en-US" sz="1400" b="1" dirty="0">
                          <a:solidFill>
                            <a:srgbClr val="2E8B57"/>
                          </a:solidFill>
                          <a:latin typeface="+mn-lt" pitchFamily="34" charset="0"/>
                          <a:ea typeface="+mn-lt" pitchFamily="34" charset="-122"/>
                          <a:cs typeface="+mn-lt" pitchFamily="34" charset="-120"/>
                        </a:rPr>
                        <a:t>2</a:t>
                      </a:r>
                      <a:endParaRPr lang="en-US" sz="1400" dirty="0">
                        <a:latin typeface="+mn-lt" charset="0"/>
                        <a:ea typeface="+mn-lt" charset="0"/>
                        <a:cs typeface="+mn-lt" charset="0"/>
                      </a:endParaRPr>
                    </a:p>
                  </a:txBody>
                  <a:tcPr marL="91440" marR="91440" marT="45720" marB="45720" anchor="ctr">
                    <a:lnL w="9525" cap="flat" cmpd="sng" algn="ctr">
                      <a:solidFill>
                        <a:srgbClr val="C9DDE0"/>
                      </a:solidFill>
                      <a:prstDash val="solid"/>
                      <a:round/>
                      <a:headEnd type="none" w="med" len="med"/>
                      <a:tailEnd type="none" w="med" len="med"/>
                    </a:lnL>
                    <a:lnR w="9525" cap="flat" cmpd="sng" algn="ctr">
                      <a:solidFill>
                        <a:srgbClr val="C9DDE0"/>
                      </a:solidFill>
                      <a:prstDash val="solid"/>
                      <a:round/>
                      <a:headEnd type="none" w="med" len="med"/>
                      <a:tailEnd type="none" w="med" len="med"/>
                    </a:lnR>
                    <a:lnT w="9525" cap="flat" cmpd="sng" algn="ctr">
                      <a:solidFill>
                        <a:srgbClr val="C9DDE0"/>
                      </a:solidFill>
                      <a:prstDash val="solid"/>
                      <a:round/>
                      <a:headEnd type="none" w="med" len="med"/>
                      <a:tailEnd type="none" w="med" len="med"/>
                    </a:lnT>
                    <a:lnB w="9525" cap="flat" cmpd="sng" algn="ctr">
                      <a:solidFill>
                        <a:srgbClr val="C9DDE0"/>
                      </a:solidFill>
                      <a:prstDash val="solid"/>
                      <a:round/>
                      <a:headEnd type="none" w="med" len="med"/>
                      <a:tailEnd type="none" w="med" len="med"/>
                    </a:lnB>
                  </a:tcPr>
                </a:tc>
              </a:tr>
              <a:tr h="429768">
                <a:tc>
                  <a:txBody>
                    <a:bodyPr/>
                    <a:lstStyle/>
                    <a:p>
                      <a:pPr indent="0" marL="0">
                        <a:buNone/>
                      </a:pPr>
                      <a:r>
                        <a:rPr lang="en-US" sz="1400" dirty="0">
                          <a:solidFill>
                            <a:srgbClr val="1B2A30"/>
                          </a:solidFill>
                          <a:latin typeface="+mn-lt" pitchFamily="34" charset="0"/>
                          <a:ea typeface="+mn-lt" pitchFamily="34" charset="-122"/>
                          <a:cs typeface="+mn-lt" pitchFamily="34" charset="-120"/>
                        </a:rPr>
                        <a:t>Қой үстіне бозторғай жұмыртқалау</a:t>
                      </a:r>
                      <a:endParaRPr lang="en-US" sz="1400" dirty="0">
                        <a:latin typeface="+mn-lt" charset="0"/>
                        <a:ea typeface="+mn-lt" charset="0"/>
                        <a:cs typeface="+mn-lt" charset="0"/>
                      </a:endParaRPr>
                    </a:p>
                  </a:txBody>
                  <a:tcPr marL="91440" marR="91440" marT="45720" marB="45720" anchor="ctr">
                    <a:lnL w="9525" cap="flat" cmpd="sng" algn="ctr">
                      <a:solidFill>
                        <a:srgbClr val="C9DDE0"/>
                      </a:solidFill>
                      <a:prstDash val="solid"/>
                      <a:round/>
                      <a:headEnd type="none" w="med" len="med"/>
                      <a:tailEnd type="none" w="med" len="med"/>
                    </a:lnL>
                    <a:lnR w="9525" cap="flat" cmpd="sng" algn="ctr">
                      <a:solidFill>
                        <a:srgbClr val="C9DDE0"/>
                      </a:solidFill>
                      <a:prstDash val="solid"/>
                      <a:round/>
                      <a:headEnd type="none" w="med" len="med"/>
                      <a:tailEnd type="none" w="med" len="med"/>
                    </a:lnR>
                    <a:lnT w="9525" cap="flat" cmpd="sng" algn="ctr">
                      <a:solidFill>
                        <a:srgbClr val="C9DDE0"/>
                      </a:solidFill>
                      <a:prstDash val="solid"/>
                      <a:round/>
                      <a:headEnd type="none" w="med" len="med"/>
                      <a:tailEnd type="none" w="med" len="med"/>
                    </a:lnT>
                    <a:lnB w="9525" cap="flat" cmpd="sng" algn="ctr">
                      <a:solidFill>
                        <a:srgbClr val="C9DDE0"/>
                      </a:solidFill>
                      <a:prstDash val="solid"/>
                      <a:round/>
                      <a:headEnd type="none" w="med" len="med"/>
                      <a:tailEnd type="none" w="med" len="med"/>
                    </a:lnB>
                  </a:tcPr>
                </a:tc>
                <a:tc>
                  <a:txBody>
                    <a:bodyPr/>
                    <a:lstStyle/>
                    <a:p>
                      <a:pPr indent="0" marL="0">
                        <a:buNone/>
                      </a:pPr>
                      <a:r>
                        <a:rPr lang="en-US" sz="1400" dirty="0">
                          <a:solidFill>
                            <a:srgbClr val="1B2A30"/>
                          </a:solidFill>
                          <a:latin typeface="+mn-lt" pitchFamily="34" charset="0"/>
                          <a:ea typeface="+mn-lt" pitchFamily="34" charset="-122"/>
                          <a:cs typeface="+mn-lt" pitchFamily="34" charset="-120"/>
                        </a:rPr>
                        <a:t>тыныш, бейбіт заман орнау</a:t>
                      </a:r>
                      <a:endParaRPr lang="en-US" sz="1400" dirty="0">
                        <a:latin typeface="+mn-lt" charset="0"/>
                        <a:ea typeface="+mn-lt" charset="0"/>
                        <a:cs typeface="+mn-lt" charset="0"/>
                      </a:endParaRPr>
                    </a:p>
                  </a:txBody>
                  <a:tcPr marL="91440" marR="91440" marT="45720" marB="45720" anchor="ctr">
                    <a:lnL w="9525" cap="flat" cmpd="sng" algn="ctr">
                      <a:solidFill>
                        <a:srgbClr val="C9DDE0"/>
                      </a:solidFill>
                      <a:prstDash val="solid"/>
                      <a:round/>
                      <a:headEnd type="none" w="med" len="med"/>
                      <a:tailEnd type="none" w="med" len="med"/>
                    </a:lnL>
                    <a:lnR w="9525" cap="flat" cmpd="sng" algn="ctr">
                      <a:solidFill>
                        <a:srgbClr val="C9DDE0"/>
                      </a:solidFill>
                      <a:prstDash val="solid"/>
                      <a:round/>
                      <a:headEnd type="none" w="med" len="med"/>
                      <a:tailEnd type="none" w="med" len="med"/>
                    </a:lnR>
                    <a:lnT w="9525" cap="flat" cmpd="sng" algn="ctr">
                      <a:solidFill>
                        <a:srgbClr val="C9DDE0"/>
                      </a:solidFill>
                      <a:prstDash val="solid"/>
                      <a:round/>
                      <a:headEnd type="none" w="med" len="med"/>
                      <a:tailEnd type="none" w="med" len="med"/>
                    </a:lnT>
                    <a:lnB w="9525" cap="flat" cmpd="sng" algn="ctr">
                      <a:solidFill>
                        <a:srgbClr val="C9DDE0"/>
                      </a:solidFill>
                      <a:prstDash val="solid"/>
                      <a:round/>
                      <a:headEnd type="none" w="med" len="med"/>
                      <a:tailEnd type="none" w="med" len="med"/>
                    </a:lnB>
                  </a:tcPr>
                </a:tc>
                <a:tc>
                  <a:txBody>
                    <a:bodyPr/>
                    <a:lstStyle/>
                    <a:p>
                      <a:pPr algn="ctr" indent="0" marL="0">
                        <a:buNone/>
                      </a:pPr>
                      <a:r>
                        <a:rPr lang="en-US" sz="1400" b="1" dirty="0">
                          <a:solidFill>
                            <a:srgbClr val="2E8B57"/>
                          </a:solidFill>
                          <a:latin typeface="+mn-lt" pitchFamily="34" charset="0"/>
                          <a:ea typeface="+mn-lt" pitchFamily="34" charset="-122"/>
                          <a:cs typeface="+mn-lt" pitchFamily="34" charset="-120"/>
                        </a:rPr>
                        <a:t>2</a:t>
                      </a:r>
                      <a:endParaRPr lang="en-US" sz="1400" dirty="0">
                        <a:latin typeface="+mn-lt" charset="0"/>
                        <a:ea typeface="+mn-lt" charset="0"/>
                        <a:cs typeface="+mn-lt" charset="0"/>
                      </a:endParaRPr>
                    </a:p>
                  </a:txBody>
                  <a:tcPr marL="91440" marR="91440" marT="45720" marB="45720" anchor="ctr">
                    <a:lnL w="9525" cap="flat" cmpd="sng" algn="ctr">
                      <a:solidFill>
                        <a:srgbClr val="C9DDE0"/>
                      </a:solidFill>
                      <a:prstDash val="solid"/>
                      <a:round/>
                      <a:headEnd type="none" w="med" len="med"/>
                      <a:tailEnd type="none" w="med" len="med"/>
                    </a:lnL>
                    <a:lnR w="9525" cap="flat" cmpd="sng" algn="ctr">
                      <a:solidFill>
                        <a:srgbClr val="C9DDE0"/>
                      </a:solidFill>
                      <a:prstDash val="solid"/>
                      <a:round/>
                      <a:headEnd type="none" w="med" len="med"/>
                      <a:tailEnd type="none" w="med" len="med"/>
                    </a:lnR>
                    <a:lnT w="9525" cap="flat" cmpd="sng" algn="ctr">
                      <a:solidFill>
                        <a:srgbClr val="C9DDE0"/>
                      </a:solidFill>
                      <a:prstDash val="solid"/>
                      <a:round/>
                      <a:headEnd type="none" w="med" len="med"/>
                      <a:tailEnd type="none" w="med" len="med"/>
                    </a:lnT>
                    <a:lnB w="9525" cap="flat" cmpd="sng" algn="ctr">
                      <a:solidFill>
                        <a:srgbClr val="C9DDE0"/>
                      </a:solidFill>
                      <a:prstDash val="solid"/>
                      <a:round/>
                      <a:headEnd type="none" w="med" len="med"/>
                      <a:tailEnd type="none" w="med" len="med"/>
                    </a:lnB>
                  </a:tcPr>
                </a:tc>
                <a:tc>
                  <a:txBody>
                    <a:bodyPr/>
                    <a:lstStyle/>
                    <a:p>
                      <a:pPr algn="ctr" indent="0" marL="0">
                        <a:buNone/>
                      </a:pPr>
                      <a:r>
                        <a:rPr lang="en-US" sz="1400" b="1" dirty="0">
                          <a:solidFill>
                            <a:srgbClr val="2E8B57"/>
                          </a:solidFill>
                          <a:latin typeface="+mn-lt" pitchFamily="34" charset="0"/>
                          <a:ea typeface="+mn-lt" pitchFamily="34" charset="-122"/>
                          <a:cs typeface="+mn-lt" pitchFamily="34" charset="-120"/>
                        </a:rPr>
                        <a:t>2</a:t>
                      </a:r>
                      <a:endParaRPr lang="en-US" sz="1400" dirty="0">
                        <a:latin typeface="+mn-lt" charset="0"/>
                        <a:ea typeface="+mn-lt" charset="0"/>
                        <a:cs typeface="+mn-lt" charset="0"/>
                      </a:endParaRPr>
                    </a:p>
                  </a:txBody>
                  <a:tcPr marL="91440" marR="91440" marT="45720" marB="45720" anchor="ctr">
                    <a:lnL w="9525" cap="flat" cmpd="sng" algn="ctr">
                      <a:solidFill>
                        <a:srgbClr val="C9DDE0"/>
                      </a:solidFill>
                      <a:prstDash val="solid"/>
                      <a:round/>
                      <a:headEnd type="none" w="med" len="med"/>
                      <a:tailEnd type="none" w="med" len="med"/>
                    </a:lnL>
                    <a:lnR w="9525" cap="flat" cmpd="sng" algn="ctr">
                      <a:solidFill>
                        <a:srgbClr val="C9DDE0"/>
                      </a:solidFill>
                      <a:prstDash val="solid"/>
                      <a:round/>
                      <a:headEnd type="none" w="med" len="med"/>
                      <a:tailEnd type="none" w="med" len="med"/>
                    </a:lnR>
                    <a:lnT w="9525" cap="flat" cmpd="sng" algn="ctr">
                      <a:solidFill>
                        <a:srgbClr val="C9DDE0"/>
                      </a:solidFill>
                      <a:prstDash val="solid"/>
                      <a:round/>
                      <a:headEnd type="none" w="med" len="med"/>
                      <a:tailEnd type="none" w="med" len="med"/>
                    </a:lnT>
                    <a:lnB w="9525" cap="flat" cmpd="sng" algn="ctr">
                      <a:solidFill>
                        <a:srgbClr val="C9DDE0"/>
                      </a:solidFill>
                      <a:prstDash val="solid"/>
                      <a:round/>
                      <a:headEnd type="none" w="med" len="med"/>
                      <a:tailEnd type="none" w="med" len="med"/>
                    </a:lnB>
                  </a:tcPr>
                </a:tc>
                <a:tc>
                  <a:txBody>
                    <a:bodyPr/>
                    <a:lstStyle/>
                    <a:p>
                      <a:pPr algn="ctr" indent="0" marL="0">
                        <a:buNone/>
                      </a:pPr>
                      <a:r>
                        <a:rPr lang="en-US" sz="1400" b="1" dirty="0">
                          <a:solidFill>
                            <a:srgbClr val="2E8B57"/>
                          </a:solidFill>
                          <a:latin typeface="+mn-lt" pitchFamily="34" charset="0"/>
                          <a:ea typeface="+mn-lt" pitchFamily="34" charset="-122"/>
                          <a:cs typeface="+mn-lt" pitchFamily="34" charset="-120"/>
                        </a:rPr>
                        <a:t>2</a:t>
                      </a:r>
                      <a:endParaRPr lang="en-US" sz="1400" dirty="0">
                        <a:latin typeface="+mn-lt" charset="0"/>
                        <a:ea typeface="+mn-lt" charset="0"/>
                        <a:cs typeface="+mn-lt" charset="0"/>
                      </a:endParaRPr>
                    </a:p>
                  </a:txBody>
                  <a:tcPr marL="91440" marR="91440" marT="45720" marB="45720" anchor="ctr">
                    <a:lnL w="9525" cap="flat" cmpd="sng" algn="ctr">
                      <a:solidFill>
                        <a:srgbClr val="C9DDE0"/>
                      </a:solidFill>
                      <a:prstDash val="solid"/>
                      <a:round/>
                      <a:headEnd type="none" w="med" len="med"/>
                      <a:tailEnd type="none" w="med" len="med"/>
                    </a:lnL>
                    <a:lnR w="9525" cap="flat" cmpd="sng" algn="ctr">
                      <a:solidFill>
                        <a:srgbClr val="C9DDE0"/>
                      </a:solidFill>
                      <a:prstDash val="solid"/>
                      <a:round/>
                      <a:headEnd type="none" w="med" len="med"/>
                      <a:tailEnd type="none" w="med" len="med"/>
                    </a:lnR>
                    <a:lnT w="9525" cap="flat" cmpd="sng" algn="ctr">
                      <a:solidFill>
                        <a:srgbClr val="C9DDE0"/>
                      </a:solidFill>
                      <a:prstDash val="solid"/>
                      <a:round/>
                      <a:headEnd type="none" w="med" len="med"/>
                      <a:tailEnd type="none" w="med" len="med"/>
                    </a:lnT>
                    <a:lnB w="9525" cap="flat" cmpd="sng" algn="ctr">
                      <a:solidFill>
                        <a:srgbClr val="C9DDE0"/>
                      </a:solidFill>
                      <a:prstDash val="solid"/>
                      <a:round/>
                      <a:headEnd type="none" w="med" len="med"/>
                      <a:tailEnd type="none" w="med" len="med"/>
                    </a:lnB>
                  </a:tcPr>
                </a:tc>
              </a:tr>
              <a:tr h="429768">
                <a:tc>
                  <a:txBody>
                    <a:bodyPr/>
                    <a:lstStyle/>
                    <a:p>
                      <a:pPr indent="0" marL="0">
                        <a:buNone/>
                      </a:pPr>
                      <a:r>
                        <a:rPr lang="en-US" sz="1400" dirty="0">
                          <a:solidFill>
                            <a:srgbClr val="1B2A30"/>
                          </a:solidFill>
                          <a:latin typeface="+mn-lt" pitchFamily="34" charset="0"/>
                          <a:ea typeface="+mn-lt" pitchFamily="34" charset="-122"/>
                          <a:cs typeface="+mn-lt" pitchFamily="34" charset="-120"/>
                        </a:rPr>
                        <a:t>Есек құрты мұртына түсу</a:t>
                      </a:r>
                      <a:endParaRPr lang="en-US" sz="1400" dirty="0">
                        <a:latin typeface="+mn-lt" charset="0"/>
                        <a:ea typeface="+mn-lt" charset="0"/>
                        <a:cs typeface="+mn-lt" charset="0"/>
                      </a:endParaRPr>
                    </a:p>
                  </a:txBody>
                  <a:tcPr marL="91440" marR="91440" marT="45720" marB="45720" anchor="ctr">
                    <a:lnL w="9525" cap="flat" cmpd="sng" algn="ctr">
                      <a:solidFill>
                        <a:srgbClr val="C9DDE0"/>
                      </a:solidFill>
                      <a:prstDash val="solid"/>
                      <a:round/>
                      <a:headEnd type="none" w="med" len="med"/>
                      <a:tailEnd type="none" w="med" len="med"/>
                    </a:lnL>
                    <a:lnR w="9525" cap="flat" cmpd="sng" algn="ctr">
                      <a:solidFill>
                        <a:srgbClr val="C9DDE0"/>
                      </a:solidFill>
                      <a:prstDash val="solid"/>
                      <a:round/>
                      <a:headEnd type="none" w="med" len="med"/>
                      <a:tailEnd type="none" w="med" len="med"/>
                    </a:lnR>
                    <a:lnT w="9525" cap="flat" cmpd="sng" algn="ctr">
                      <a:solidFill>
                        <a:srgbClr val="C9DDE0"/>
                      </a:solidFill>
                      <a:prstDash val="solid"/>
                      <a:round/>
                      <a:headEnd type="none" w="med" len="med"/>
                      <a:tailEnd type="none" w="med" len="med"/>
                    </a:lnT>
                    <a:lnB w="9525" cap="flat" cmpd="sng" algn="ctr">
                      <a:solidFill>
                        <a:srgbClr val="C9DDE0"/>
                      </a:solidFill>
                      <a:prstDash val="solid"/>
                      <a:round/>
                      <a:headEnd type="none" w="med" len="med"/>
                      <a:tailEnd type="none" w="med" len="med"/>
                    </a:lnB>
                  </a:tcPr>
                </a:tc>
                <a:tc>
                  <a:txBody>
                    <a:bodyPr/>
                    <a:lstStyle/>
                    <a:p>
                      <a:pPr indent="0" marL="0">
                        <a:buNone/>
                      </a:pPr>
                      <a:r>
                        <a:rPr lang="en-US" sz="1400" dirty="0">
                          <a:solidFill>
                            <a:srgbClr val="1B2A30"/>
                          </a:solidFill>
                          <a:latin typeface="+mn-lt" pitchFamily="34" charset="0"/>
                          <a:ea typeface="+mn-lt" pitchFamily="34" charset="-122"/>
                          <a:cs typeface="+mn-lt" pitchFamily="34" charset="-120"/>
                        </a:rPr>
                        <a:t>баю</a:t>
                      </a:r>
                      <a:endParaRPr lang="en-US" sz="1400" dirty="0">
                        <a:latin typeface="+mn-lt" charset="0"/>
                        <a:ea typeface="+mn-lt" charset="0"/>
                        <a:cs typeface="+mn-lt" charset="0"/>
                      </a:endParaRPr>
                    </a:p>
                  </a:txBody>
                  <a:tcPr marL="91440" marR="91440" marT="45720" marB="45720" anchor="ctr">
                    <a:lnL w="9525" cap="flat" cmpd="sng" algn="ctr">
                      <a:solidFill>
                        <a:srgbClr val="C9DDE0"/>
                      </a:solidFill>
                      <a:prstDash val="solid"/>
                      <a:round/>
                      <a:headEnd type="none" w="med" len="med"/>
                      <a:tailEnd type="none" w="med" len="med"/>
                    </a:lnL>
                    <a:lnR w="9525" cap="flat" cmpd="sng" algn="ctr">
                      <a:solidFill>
                        <a:srgbClr val="C9DDE0"/>
                      </a:solidFill>
                      <a:prstDash val="solid"/>
                      <a:round/>
                      <a:headEnd type="none" w="med" len="med"/>
                      <a:tailEnd type="none" w="med" len="med"/>
                    </a:lnR>
                    <a:lnT w="9525" cap="flat" cmpd="sng" algn="ctr">
                      <a:solidFill>
                        <a:srgbClr val="C9DDE0"/>
                      </a:solidFill>
                      <a:prstDash val="solid"/>
                      <a:round/>
                      <a:headEnd type="none" w="med" len="med"/>
                      <a:tailEnd type="none" w="med" len="med"/>
                    </a:lnT>
                    <a:lnB w="9525" cap="flat" cmpd="sng" algn="ctr">
                      <a:solidFill>
                        <a:srgbClr val="C9DDE0"/>
                      </a:solidFill>
                      <a:prstDash val="solid"/>
                      <a:round/>
                      <a:headEnd type="none" w="med" len="med"/>
                      <a:tailEnd type="none" w="med" len="med"/>
                    </a:lnB>
                  </a:tcPr>
                </a:tc>
                <a:tc>
                  <a:txBody>
                    <a:bodyPr/>
                    <a:lstStyle/>
                    <a:p>
                      <a:pPr algn="ctr" indent="0" marL="0">
                        <a:buNone/>
                      </a:pPr>
                      <a:r>
                        <a:rPr lang="en-US" sz="1400" b="1" dirty="0">
                          <a:solidFill>
                            <a:srgbClr val="2E8B57"/>
                          </a:solidFill>
                          <a:latin typeface="+mn-lt" pitchFamily="34" charset="0"/>
                          <a:ea typeface="+mn-lt" pitchFamily="34" charset="-122"/>
                          <a:cs typeface="+mn-lt" pitchFamily="34" charset="-120"/>
                        </a:rPr>
                        <a:t>2</a:t>
                      </a:r>
                      <a:endParaRPr lang="en-US" sz="1400" dirty="0">
                        <a:latin typeface="+mn-lt" charset="0"/>
                        <a:ea typeface="+mn-lt" charset="0"/>
                        <a:cs typeface="+mn-lt" charset="0"/>
                      </a:endParaRPr>
                    </a:p>
                  </a:txBody>
                  <a:tcPr marL="91440" marR="91440" marT="45720" marB="45720" anchor="ctr">
                    <a:lnL w="9525" cap="flat" cmpd="sng" algn="ctr">
                      <a:solidFill>
                        <a:srgbClr val="C9DDE0"/>
                      </a:solidFill>
                      <a:prstDash val="solid"/>
                      <a:round/>
                      <a:headEnd type="none" w="med" len="med"/>
                      <a:tailEnd type="none" w="med" len="med"/>
                    </a:lnL>
                    <a:lnR w="9525" cap="flat" cmpd="sng" algn="ctr">
                      <a:solidFill>
                        <a:srgbClr val="C9DDE0"/>
                      </a:solidFill>
                      <a:prstDash val="solid"/>
                      <a:round/>
                      <a:headEnd type="none" w="med" len="med"/>
                      <a:tailEnd type="none" w="med" len="med"/>
                    </a:lnR>
                    <a:lnT w="9525" cap="flat" cmpd="sng" algn="ctr">
                      <a:solidFill>
                        <a:srgbClr val="C9DDE0"/>
                      </a:solidFill>
                      <a:prstDash val="solid"/>
                      <a:round/>
                      <a:headEnd type="none" w="med" len="med"/>
                      <a:tailEnd type="none" w="med" len="med"/>
                    </a:lnT>
                    <a:lnB w="9525" cap="flat" cmpd="sng" algn="ctr">
                      <a:solidFill>
                        <a:srgbClr val="C9DDE0"/>
                      </a:solidFill>
                      <a:prstDash val="solid"/>
                      <a:round/>
                      <a:headEnd type="none" w="med" len="med"/>
                      <a:tailEnd type="none" w="med" len="med"/>
                    </a:lnB>
                  </a:tcPr>
                </a:tc>
                <a:tc>
                  <a:txBody>
                    <a:bodyPr/>
                    <a:lstStyle/>
                    <a:p>
                      <a:pPr algn="ctr" indent="0" marL="0">
                        <a:buNone/>
                      </a:pPr>
                      <a:r>
                        <a:rPr lang="en-US" sz="1400" b="1" dirty="0">
                          <a:solidFill>
                            <a:srgbClr val="2E8B57"/>
                          </a:solidFill>
                          <a:latin typeface="+mn-lt" pitchFamily="34" charset="0"/>
                          <a:ea typeface="+mn-lt" pitchFamily="34" charset="-122"/>
                          <a:cs typeface="+mn-lt" pitchFamily="34" charset="-120"/>
                        </a:rPr>
                        <a:t>2</a:t>
                      </a:r>
                      <a:endParaRPr lang="en-US" sz="1400" dirty="0">
                        <a:latin typeface="+mn-lt" charset="0"/>
                        <a:ea typeface="+mn-lt" charset="0"/>
                        <a:cs typeface="+mn-lt" charset="0"/>
                      </a:endParaRPr>
                    </a:p>
                  </a:txBody>
                  <a:tcPr marL="91440" marR="91440" marT="45720" marB="45720" anchor="ctr">
                    <a:lnL w="9525" cap="flat" cmpd="sng" algn="ctr">
                      <a:solidFill>
                        <a:srgbClr val="C9DDE0"/>
                      </a:solidFill>
                      <a:prstDash val="solid"/>
                      <a:round/>
                      <a:headEnd type="none" w="med" len="med"/>
                      <a:tailEnd type="none" w="med" len="med"/>
                    </a:lnL>
                    <a:lnR w="9525" cap="flat" cmpd="sng" algn="ctr">
                      <a:solidFill>
                        <a:srgbClr val="C9DDE0"/>
                      </a:solidFill>
                      <a:prstDash val="solid"/>
                      <a:round/>
                      <a:headEnd type="none" w="med" len="med"/>
                      <a:tailEnd type="none" w="med" len="med"/>
                    </a:lnR>
                    <a:lnT w="9525" cap="flat" cmpd="sng" algn="ctr">
                      <a:solidFill>
                        <a:srgbClr val="C9DDE0"/>
                      </a:solidFill>
                      <a:prstDash val="solid"/>
                      <a:round/>
                      <a:headEnd type="none" w="med" len="med"/>
                      <a:tailEnd type="none" w="med" len="med"/>
                    </a:lnT>
                    <a:lnB w="9525" cap="flat" cmpd="sng" algn="ctr">
                      <a:solidFill>
                        <a:srgbClr val="C9DDE0"/>
                      </a:solidFill>
                      <a:prstDash val="solid"/>
                      <a:round/>
                      <a:headEnd type="none" w="med" len="med"/>
                      <a:tailEnd type="none" w="med" len="med"/>
                    </a:lnB>
                  </a:tcPr>
                </a:tc>
                <a:tc>
                  <a:txBody>
                    <a:bodyPr/>
                    <a:lstStyle/>
                    <a:p>
                      <a:pPr algn="ctr" indent="0" marL="0">
                        <a:buNone/>
                      </a:pPr>
                      <a:r>
                        <a:rPr lang="en-US" sz="1400" b="1" dirty="0">
                          <a:solidFill>
                            <a:srgbClr val="D64545"/>
                          </a:solidFill>
                          <a:latin typeface="+mn-lt" pitchFamily="34" charset="0"/>
                          <a:ea typeface="+mn-lt" pitchFamily="34" charset="-122"/>
                          <a:cs typeface="+mn-lt" pitchFamily="34" charset="-120"/>
                        </a:rPr>
                        <a:t>0</a:t>
                      </a:r>
                      <a:endParaRPr lang="en-US" sz="1400" dirty="0">
                        <a:latin typeface="+mn-lt" charset="0"/>
                        <a:ea typeface="+mn-lt" charset="0"/>
                        <a:cs typeface="+mn-lt" charset="0"/>
                      </a:endParaRPr>
                    </a:p>
                  </a:txBody>
                  <a:tcPr marL="91440" marR="91440" marT="45720" marB="45720" anchor="ctr">
                    <a:lnL w="9525" cap="flat" cmpd="sng" algn="ctr">
                      <a:solidFill>
                        <a:srgbClr val="C9DDE0"/>
                      </a:solidFill>
                      <a:prstDash val="solid"/>
                      <a:round/>
                      <a:headEnd type="none" w="med" len="med"/>
                      <a:tailEnd type="none" w="med" len="med"/>
                    </a:lnL>
                    <a:lnR w="9525" cap="flat" cmpd="sng" algn="ctr">
                      <a:solidFill>
                        <a:srgbClr val="C9DDE0"/>
                      </a:solidFill>
                      <a:prstDash val="solid"/>
                      <a:round/>
                      <a:headEnd type="none" w="med" len="med"/>
                      <a:tailEnd type="none" w="med" len="med"/>
                    </a:lnR>
                    <a:lnT w="9525" cap="flat" cmpd="sng" algn="ctr">
                      <a:solidFill>
                        <a:srgbClr val="C9DDE0"/>
                      </a:solidFill>
                      <a:prstDash val="solid"/>
                      <a:round/>
                      <a:headEnd type="none" w="med" len="med"/>
                      <a:tailEnd type="none" w="med" len="med"/>
                    </a:lnT>
                    <a:lnB w="9525" cap="flat" cmpd="sng" algn="ctr">
                      <a:solidFill>
                        <a:srgbClr val="C9DDE0"/>
                      </a:solidFill>
                      <a:prstDash val="solid"/>
                      <a:round/>
                      <a:headEnd type="none" w="med" len="med"/>
                      <a:tailEnd type="none" w="med" len="med"/>
                    </a:lnB>
                  </a:tcPr>
                </a:tc>
              </a:tr>
              <a:tr h="429768">
                <a:tc>
                  <a:txBody>
                    <a:bodyPr/>
                    <a:lstStyle/>
                    <a:p>
                      <a:pPr indent="0" marL="0">
                        <a:buNone/>
                      </a:pPr>
                      <a:r>
                        <a:rPr lang="en-US" sz="1400" dirty="0">
                          <a:solidFill>
                            <a:srgbClr val="1B2A30"/>
                          </a:solidFill>
                          <a:latin typeface="+mn-lt" pitchFamily="34" charset="0"/>
                          <a:ea typeface="+mn-lt" pitchFamily="34" charset="-122"/>
                          <a:cs typeface="+mn-lt" pitchFamily="34" charset="-120"/>
                        </a:rPr>
                        <a:t>Ит терісін басына қаптау</a:t>
                      </a:r>
                      <a:endParaRPr lang="en-US" sz="1400" dirty="0">
                        <a:latin typeface="+mn-lt" charset="0"/>
                        <a:ea typeface="+mn-lt" charset="0"/>
                        <a:cs typeface="+mn-lt" charset="0"/>
                      </a:endParaRPr>
                    </a:p>
                  </a:txBody>
                  <a:tcPr marL="91440" marR="91440" marT="45720" marB="45720" anchor="ctr">
                    <a:lnL w="9525" cap="flat" cmpd="sng" algn="ctr">
                      <a:solidFill>
                        <a:srgbClr val="C9DDE0"/>
                      </a:solidFill>
                      <a:prstDash val="solid"/>
                      <a:round/>
                      <a:headEnd type="none" w="med" len="med"/>
                      <a:tailEnd type="none" w="med" len="med"/>
                    </a:lnL>
                    <a:lnR w="9525" cap="flat" cmpd="sng" algn="ctr">
                      <a:solidFill>
                        <a:srgbClr val="C9DDE0"/>
                      </a:solidFill>
                      <a:prstDash val="solid"/>
                      <a:round/>
                      <a:headEnd type="none" w="med" len="med"/>
                      <a:tailEnd type="none" w="med" len="med"/>
                    </a:lnR>
                    <a:lnT w="9525" cap="flat" cmpd="sng" algn="ctr">
                      <a:solidFill>
                        <a:srgbClr val="C9DDE0"/>
                      </a:solidFill>
                      <a:prstDash val="solid"/>
                      <a:round/>
                      <a:headEnd type="none" w="med" len="med"/>
                      <a:tailEnd type="none" w="med" len="med"/>
                    </a:lnT>
                    <a:lnB w="9525" cap="flat" cmpd="sng" algn="ctr">
                      <a:solidFill>
                        <a:srgbClr val="C9DDE0"/>
                      </a:solidFill>
                      <a:prstDash val="solid"/>
                      <a:round/>
                      <a:headEnd type="none" w="med" len="med"/>
                      <a:tailEnd type="none" w="med" len="med"/>
                    </a:lnB>
                  </a:tcPr>
                </a:tc>
                <a:tc>
                  <a:txBody>
                    <a:bodyPr/>
                    <a:lstStyle/>
                    <a:p>
                      <a:pPr indent="0" marL="0">
                        <a:buNone/>
                      </a:pPr>
                      <a:r>
                        <a:rPr lang="en-US" sz="1400" dirty="0">
                          <a:solidFill>
                            <a:srgbClr val="1B2A30"/>
                          </a:solidFill>
                          <a:latin typeface="+mn-lt" pitchFamily="34" charset="0"/>
                          <a:ea typeface="+mn-lt" pitchFamily="34" charset="-122"/>
                          <a:cs typeface="+mn-lt" pitchFamily="34" charset="-120"/>
                        </a:rPr>
                        <a:t>қатты ұрысу, балағаттау</a:t>
                      </a:r>
                      <a:endParaRPr lang="en-US" sz="1400" dirty="0">
                        <a:latin typeface="+mn-lt" charset="0"/>
                        <a:ea typeface="+mn-lt" charset="0"/>
                        <a:cs typeface="+mn-lt" charset="0"/>
                      </a:endParaRPr>
                    </a:p>
                  </a:txBody>
                  <a:tcPr marL="91440" marR="91440" marT="45720" marB="45720" anchor="ctr">
                    <a:lnL w="9525" cap="flat" cmpd="sng" algn="ctr">
                      <a:solidFill>
                        <a:srgbClr val="C9DDE0"/>
                      </a:solidFill>
                      <a:prstDash val="solid"/>
                      <a:round/>
                      <a:headEnd type="none" w="med" len="med"/>
                      <a:tailEnd type="none" w="med" len="med"/>
                    </a:lnL>
                    <a:lnR w="9525" cap="flat" cmpd="sng" algn="ctr">
                      <a:solidFill>
                        <a:srgbClr val="C9DDE0"/>
                      </a:solidFill>
                      <a:prstDash val="solid"/>
                      <a:round/>
                      <a:headEnd type="none" w="med" len="med"/>
                      <a:tailEnd type="none" w="med" len="med"/>
                    </a:lnR>
                    <a:lnT w="9525" cap="flat" cmpd="sng" algn="ctr">
                      <a:solidFill>
                        <a:srgbClr val="C9DDE0"/>
                      </a:solidFill>
                      <a:prstDash val="solid"/>
                      <a:round/>
                      <a:headEnd type="none" w="med" len="med"/>
                      <a:tailEnd type="none" w="med" len="med"/>
                    </a:lnT>
                    <a:lnB w="9525" cap="flat" cmpd="sng" algn="ctr">
                      <a:solidFill>
                        <a:srgbClr val="C9DDE0"/>
                      </a:solidFill>
                      <a:prstDash val="solid"/>
                      <a:round/>
                      <a:headEnd type="none" w="med" len="med"/>
                      <a:tailEnd type="none" w="med" len="med"/>
                    </a:lnB>
                  </a:tcPr>
                </a:tc>
                <a:tc>
                  <a:txBody>
                    <a:bodyPr/>
                    <a:lstStyle/>
                    <a:p>
                      <a:pPr algn="ctr" indent="0" marL="0">
                        <a:buNone/>
                      </a:pPr>
                      <a:r>
                        <a:rPr lang="en-US" sz="1400" b="1" dirty="0">
                          <a:solidFill>
                            <a:srgbClr val="2E8B57"/>
                          </a:solidFill>
                          <a:latin typeface="+mn-lt" pitchFamily="34" charset="0"/>
                          <a:ea typeface="+mn-lt" pitchFamily="34" charset="-122"/>
                          <a:cs typeface="+mn-lt" pitchFamily="34" charset="-120"/>
                        </a:rPr>
                        <a:t>2</a:t>
                      </a:r>
                      <a:endParaRPr lang="en-US" sz="1400" dirty="0">
                        <a:latin typeface="+mn-lt" charset="0"/>
                        <a:ea typeface="+mn-lt" charset="0"/>
                        <a:cs typeface="+mn-lt" charset="0"/>
                      </a:endParaRPr>
                    </a:p>
                  </a:txBody>
                  <a:tcPr marL="91440" marR="91440" marT="45720" marB="45720" anchor="ctr">
                    <a:lnL w="9525" cap="flat" cmpd="sng" algn="ctr">
                      <a:solidFill>
                        <a:srgbClr val="C9DDE0"/>
                      </a:solidFill>
                      <a:prstDash val="solid"/>
                      <a:round/>
                      <a:headEnd type="none" w="med" len="med"/>
                      <a:tailEnd type="none" w="med" len="med"/>
                    </a:lnL>
                    <a:lnR w="9525" cap="flat" cmpd="sng" algn="ctr">
                      <a:solidFill>
                        <a:srgbClr val="C9DDE0"/>
                      </a:solidFill>
                      <a:prstDash val="solid"/>
                      <a:round/>
                      <a:headEnd type="none" w="med" len="med"/>
                      <a:tailEnd type="none" w="med" len="med"/>
                    </a:lnR>
                    <a:lnT w="9525" cap="flat" cmpd="sng" algn="ctr">
                      <a:solidFill>
                        <a:srgbClr val="C9DDE0"/>
                      </a:solidFill>
                      <a:prstDash val="solid"/>
                      <a:round/>
                      <a:headEnd type="none" w="med" len="med"/>
                      <a:tailEnd type="none" w="med" len="med"/>
                    </a:lnT>
                    <a:lnB w="9525" cap="flat" cmpd="sng" algn="ctr">
                      <a:solidFill>
                        <a:srgbClr val="C9DDE0"/>
                      </a:solidFill>
                      <a:prstDash val="solid"/>
                      <a:round/>
                      <a:headEnd type="none" w="med" len="med"/>
                      <a:tailEnd type="none" w="med" len="med"/>
                    </a:lnB>
                  </a:tcPr>
                </a:tc>
                <a:tc>
                  <a:txBody>
                    <a:bodyPr/>
                    <a:lstStyle/>
                    <a:p>
                      <a:pPr algn="ctr" indent="0" marL="0">
                        <a:buNone/>
                      </a:pPr>
                      <a:r>
                        <a:rPr lang="en-US" sz="1400" b="1" dirty="0">
                          <a:solidFill>
                            <a:srgbClr val="2E8B57"/>
                          </a:solidFill>
                          <a:latin typeface="+mn-lt" pitchFamily="34" charset="0"/>
                          <a:ea typeface="+mn-lt" pitchFamily="34" charset="-122"/>
                          <a:cs typeface="+mn-lt" pitchFamily="34" charset="-120"/>
                        </a:rPr>
                        <a:t>2</a:t>
                      </a:r>
                      <a:endParaRPr lang="en-US" sz="1400" dirty="0">
                        <a:latin typeface="+mn-lt" charset="0"/>
                        <a:ea typeface="+mn-lt" charset="0"/>
                        <a:cs typeface="+mn-lt" charset="0"/>
                      </a:endParaRPr>
                    </a:p>
                  </a:txBody>
                  <a:tcPr marL="91440" marR="91440" marT="45720" marB="45720" anchor="ctr">
                    <a:lnL w="9525" cap="flat" cmpd="sng" algn="ctr">
                      <a:solidFill>
                        <a:srgbClr val="C9DDE0"/>
                      </a:solidFill>
                      <a:prstDash val="solid"/>
                      <a:round/>
                      <a:headEnd type="none" w="med" len="med"/>
                      <a:tailEnd type="none" w="med" len="med"/>
                    </a:lnL>
                    <a:lnR w="9525" cap="flat" cmpd="sng" algn="ctr">
                      <a:solidFill>
                        <a:srgbClr val="C9DDE0"/>
                      </a:solidFill>
                      <a:prstDash val="solid"/>
                      <a:round/>
                      <a:headEnd type="none" w="med" len="med"/>
                      <a:tailEnd type="none" w="med" len="med"/>
                    </a:lnR>
                    <a:lnT w="9525" cap="flat" cmpd="sng" algn="ctr">
                      <a:solidFill>
                        <a:srgbClr val="C9DDE0"/>
                      </a:solidFill>
                      <a:prstDash val="solid"/>
                      <a:round/>
                      <a:headEnd type="none" w="med" len="med"/>
                      <a:tailEnd type="none" w="med" len="med"/>
                    </a:lnT>
                    <a:lnB w="9525" cap="flat" cmpd="sng" algn="ctr">
                      <a:solidFill>
                        <a:srgbClr val="C9DDE0"/>
                      </a:solidFill>
                      <a:prstDash val="solid"/>
                      <a:round/>
                      <a:headEnd type="none" w="med" len="med"/>
                      <a:tailEnd type="none" w="med" len="med"/>
                    </a:lnB>
                  </a:tcPr>
                </a:tc>
                <a:tc>
                  <a:txBody>
                    <a:bodyPr/>
                    <a:lstStyle/>
                    <a:p>
                      <a:pPr algn="ctr" indent="0" marL="0">
                        <a:buNone/>
                      </a:pPr>
                      <a:r>
                        <a:rPr lang="en-US" sz="1400" b="1" dirty="0">
                          <a:solidFill>
                            <a:srgbClr val="2E8B57"/>
                          </a:solidFill>
                          <a:latin typeface="+mn-lt" pitchFamily="34" charset="0"/>
                          <a:ea typeface="+mn-lt" pitchFamily="34" charset="-122"/>
                          <a:cs typeface="+mn-lt" pitchFamily="34" charset="-120"/>
                        </a:rPr>
                        <a:t>2</a:t>
                      </a:r>
                      <a:endParaRPr lang="en-US" sz="1400" dirty="0">
                        <a:latin typeface="+mn-lt" charset="0"/>
                        <a:ea typeface="+mn-lt" charset="0"/>
                        <a:cs typeface="+mn-lt" charset="0"/>
                      </a:endParaRPr>
                    </a:p>
                  </a:txBody>
                  <a:tcPr marL="91440" marR="91440" marT="45720" marB="45720" anchor="ctr">
                    <a:lnL w="9525" cap="flat" cmpd="sng" algn="ctr">
                      <a:solidFill>
                        <a:srgbClr val="C9DDE0"/>
                      </a:solidFill>
                      <a:prstDash val="solid"/>
                      <a:round/>
                      <a:headEnd type="none" w="med" len="med"/>
                      <a:tailEnd type="none" w="med" len="med"/>
                    </a:lnL>
                    <a:lnR w="9525" cap="flat" cmpd="sng" algn="ctr">
                      <a:solidFill>
                        <a:srgbClr val="C9DDE0"/>
                      </a:solidFill>
                      <a:prstDash val="solid"/>
                      <a:round/>
                      <a:headEnd type="none" w="med" len="med"/>
                      <a:tailEnd type="none" w="med" len="med"/>
                    </a:lnR>
                    <a:lnT w="9525" cap="flat" cmpd="sng" algn="ctr">
                      <a:solidFill>
                        <a:srgbClr val="C9DDE0"/>
                      </a:solidFill>
                      <a:prstDash val="solid"/>
                      <a:round/>
                      <a:headEnd type="none" w="med" len="med"/>
                      <a:tailEnd type="none" w="med" len="med"/>
                    </a:lnT>
                    <a:lnB w="9525" cap="flat" cmpd="sng" algn="ctr">
                      <a:solidFill>
                        <a:srgbClr val="C9DDE0"/>
                      </a:solidFill>
                      <a:prstDash val="solid"/>
                      <a:round/>
                      <a:headEnd type="none" w="med" len="med"/>
                      <a:tailEnd type="none" w="med" len="med"/>
                    </a:lnB>
                  </a:tcPr>
                </a:tc>
              </a:tr>
              <a:tr h="429768">
                <a:tc>
                  <a:txBody>
                    <a:bodyPr/>
                    <a:lstStyle/>
                    <a:p>
                      <a:pPr indent="0" marL="0">
                        <a:buNone/>
                      </a:pPr>
                      <a:r>
                        <a:rPr lang="en-US" sz="1400" dirty="0">
                          <a:solidFill>
                            <a:srgbClr val="1B2A30"/>
                          </a:solidFill>
                          <a:latin typeface="+mn-lt" pitchFamily="34" charset="0"/>
                          <a:ea typeface="+mn-lt" pitchFamily="34" charset="-122"/>
                          <a:cs typeface="+mn-lt" pitchFamily="34" charset="-120"/>
                        </a:rPr>
                        <a:t>Жер қаптыру</a:t>
                      </a:r>
                      <a:endParaRPr lang="en-US" sz="1400" dirty="0">
                        <a:latin typeface="+mn-lt" charset="0"/>
                        <a:ea typeface="+mn-lt" charset="0"/>
                        <a:cs typeface="+mn-lt" charset="0"/>
                      </a:endParaRPr>
                    </a:p>
                  </a:txBody>
                  <a:tcPr marL="91440" marR="91440" marT="45720" marB="45720" anchor="ctr">
                    <a:lnL w="9525" cap="flat" cmpd="sng" algn="ctr">
                      <a:solidFill>
                        <a:srgbClr val="C9DDE0"/>
                      </a:solidFill>
                      <a:prstDash val="solid"/>
                      <a:round/>
                      <a:headEnd type="none" w="med" len="med"/>
                      <a:tailEnd type="none" w="med" len="med"/>
                    </a:lnL>
                    <a:lnR w="9525" cap="flat" cmpd="sng" algn="ctr">
                      <a:solidFill>
                        <a:srgbClr val="C9DDE0"/>
                      </a:solidFill>
                      <a:prstDash val="solid"/>
                      <a:round/>
                      <a:headEnd type="none" w="med" len="med"/>
                      <a:tailEnd type="none" w="med" len="med"/>
                    </a:lnR>
                    <a:lnT w="9525" cap="flat" cmpd="sng" algn="ctr">
                      <a:solidFill>
                        <a:srgbClr val="C9DDE0"/>
                      </a:solidFill>
                      <a:prstDash val="solid"/>
                      <a:round/>
                      <a:headEnd type="none" w="med" len="med"/>
                      <a:tailEnd type="none" w="med" len="med"/>
                    </a:lnT>
                    <a:lnB w="9525" cap="flat" cmpd="sng" algn="ctr">
                      <a:solidFill>
                        <a:srgbClr val="C9DDE0"/>
                      </a:solidFill>
                      <a:prstDash val="solid"/>
                      <a:round/>
                      <a:headEnd type="none" w="med" len="med"/>
                      <a:tailEnd type="none" w="med" len="med"/>
                    </a:lnB>
                  </a:tcPr>
                </a:tc>
                <a:tc>
                  <a:txBody>
                    <a:bodyPr/>
                    <a:lstStyle/>
                    <a:p>
                      <a:pPr indent="0" marL="0">
                        <a:buNone/>
                      </a:pPr>
                      <a:r>
                        <a:rPr lang="en-US" sz="1400" dirty="0">
                          <a:solidFill>
                            <a:srgbClr val="1B2A30"/>
                          </a:solidFill>
                          <a:latin typeface="+mn-lt" pitchFamily="34" charset="0"/>
                          <a:ea typeface="+mn-lt" pitchFamily="34" charset="-122"/>
                          <a:cs typeface="+mn-lt" pitchFamily="34" charset="-120"/>
                        </a:rPr>
                        <a:t>алдау</a:t>
                      </a:r>
                      <a:endParaRPr lang="en-US" sz="1400" dirty="0">
                        <a:latin typeface="+mn-lt" charset="0"/>
                        <a:ea typeface="+mn-lt" charset="0"/>
                        <a:cs typeface="+mn-lt" charset="0"/>
                      </a:endParaRPr>
                    </a:p>
                  </a:txBody>
                  <a:tcPr marL="91440" marR="91440" marT="45720" marB="45720" anchor="ctr">
                    <a:lnL w="9525" cap="flat" cmpd="sng" algn="ctr">
                      <a:solidFill>
                        <a:srgbClr val="C9DDE0"/>
                      </a:solidFill>
                      <a:prstDash val="solid"/>
                      <a:round/>
                      <a:headEnd type="none" w="med" len="med"/>
                      <a:tailEnd type="none" w="med" len="med"/>
                    </a:lnL>
                    <a:lnR w="9525" cap="flat" cmpd="sng" algn="ctr">
                      <a:solidFill>
                        <a:srgbClr val="C9DDE0"/>
                      </a:solidFill>
                      <a:prstDash val="solid"/>
                      <a:round/>
                      <a:headEnd type="none" w="med" len="med"/>
                      <a:tailEnd type="none" w="med" len="med"/>
                    </a:lnR>
                    <a:lnT w="9525" cap="flat" cmpd="sng" algn="ctr">
                      <a:solidFill>
                        <a:srgbClr val="C9DDE0"/>
                      </a:solidFill>
                      <a:prstDash val="solid"/>
                      <a:round/>
                      <a:headEnd type="none" w="med" len="med"/>
                      <a:tailEnd type="none" w="med" len="med"/>
                    </a:lnT>
                    <a:lnB w="9525" cap="flat" cmpd="sng" algn="ctr">
                      <a:solidFill>
                        <a:srgbClr val="C9DDE0"/>
                      </a:solidFill>
                      <a:prstDash val="solid"/>
                      <a:round/>
                      <a:headEnd type="none" w="med" len="med"/>
                      <a:tailEnd type="none" w="med" len="med"/>
                    </a:lnB>
                  </a:tcPr>
                </a:tc>
                <a:tc>
                  <a:txBody>
                    <a:bodyPr/>
                    <a:lstStyle/>
                    <a:p>
                      <a:pPr algn="ctr" indent="0" marL="0">
                        <a:buNone/>
                      </a:pPr>
                      <a:r>
                        <a:rPr lang="en-US" sz="1400" b="1" dirty="0">
                          <a:solidFill>
                            <a:srgbClr val="D64545"/>
                          </a:solidFill>
                          <a:latin typeface="+mn-lt" pitchFamily="34" charset="0"/>
                          <a:ea typeface="+mn-lt" pitchFamily="34" charset="-122"/>
                          <a:cs typeface="+mn-lt" pitchFamily="34" charset="-120"/>
                        </a:rPr>
                        <a:t>0</a:t>
                      </a:r>
                      <a:endParaRPr lang="en-US" sz="1400" dirty="0">
                        <a:latin typeface="+mn-lt" charset="0"/>
                        <a:ea typeface="+mn-lt" charset="0"/>
                        <a:cs typeface="+mn-lt" charset="0"/>
                      </a:endParaRPr>
                    </a:p>
                  </a:txBody>
                  <a:tcPr marL="91440" marR="91440" marT="45720" marB="45720" anchor="ctr">
                    <a:lnL w="9525" cap="flat" cmpd="sng" algn="ctr">
                      <a:solidFill>
                        <a:srgbClr val="C9DDE0"/>
                      </a:solidFill>
                      <a:prstDash val="solid"/>
                      <a:round/>
                      <a:headEnd type="none" w="med" len="med"/>
                      <a:tailEnd type="none" w="med" len="med"/>
                    </a:lnL>
                    <a:lnR w="9525" cap="flat" cmpd="sng" algn="ctr">
                      <a:solidFill>
                        <a:srgbClr val="C9DDE0"/>
                      </a:solidFill>
                      <a:prstDash val="solid"/>
                      <a:round/>
                      <a:headEnd type="none" w="med" len="med"/>
                      <a:tailEnd type="none" w="med" len="med"/>
                    </a:lnR>
                    <a:lnT w="9525" cap="flat" cmpd="sng" algn="ctr">
                      <a:solidFill>
                        <a:srgbClr val="C9DDE0"/>
                      </a:solidFill>
                      <a:prstDash val="solid"/>
                      <a:round/>
                      <a:headEnd type="none" w="med" len="med"/>
                      <a:tailEnd type="none" w="med" len="med"/>
                    </a:lnT>
                    <a:lnB w="9525" cap="flat" cmpd="sng" algn="ctr">
                      <a:solidFill>
                        <a:srgbClr val="C9DDE0"/>
                      </a:solidFill>
                      <a:prstDash val="solid"/>
                      <a:round/>
                      <a:headEnd type="none" w="med" len="med"/>
                      <a:tailEnd type="none" w="med" len="med"/>
                    </a:lnB>
                  </a:tcPr>
                </a:tc>
                <a:tc>
                  <a:txBody>
                    <a:bodyPr/>
                    <a:lstStyle/>
                    <a:p>
                      <a:pPr algn="ctr" indent="0" marL="0">
                        <a:buNone/>
                      </a:pPr>
                      <a:r>
                        <a:rPr lang="en-US" sz="1400" b="1" dirty="0">
                          <a:solidFill>
                            <a:srgbClr val="2E8B57"/>
                          </a:solidFill>
                          <a:latin typeface="+mn-lt" pitchFamily="34" charset="0"/>
                          <a:ea typeface="+mn-lt" pitchFamily="34" charset="-122"/>
                          <a:cs typeface="+mn-lt" pitchFamily="34" charset="-120"/>
                        </a:rPr>
                        <a:t>2</a:t>
                      </a:r>
                      <a:endParaRPr lang="en-US" sz="1400" dirty="0">
                        <a:latin typeface="+mn-lt" charset="0"/>
                        <a:ea typeface="+mn-lt" charset="0"/>
                        <a:cs typeface="+mn-lt" charset="0"/>
                      </a:endParaRPr>
                    </a:p>
                  </a:txBody>
                  <a:tcPr marL="91440" marR="91440" marT="45720" marB="45720" anchor="ctr">
                    <a:lnL w="9525" cap="flat" cmpd="sng" algn="ctr">
                      <a:solidFill>
                        <a:srgbClr val="C9DDE0"/>
                      </a:solidFill>
                      <a:prstDash val="solid"/>
                      <a:round/>
                      <a:headEnd type="none" w="med" len="med"/>
                      <a:tailEnd type="none" w="med" len="med"/>
                    </a:lnL>
                    <a:lnR w="9525" cap="flat" cmpd="sng" algn="ctr">
                      <a:solidFill>
                        <a:srgbClr val="C9DDE0"/>
                      </a:solidFill>
                      <a:prstDash val="solid"/>
                      <a:round/>
                      <a:headEnd type="none" w="med" len="med"/>
                      <a:tailEnd type="none" w="med" len="med"/>
                    </a:lnR>
                    <a:lnT w="9525" cap="flat" cmpd="sng" algn="ctr">
                      <a:solidFill>
                        <a:srgbClr val="C9DDE0"/>
                      </a:solidFill>
                      <a:prstDash val="solid"/>
                      <a:round/>
                      <a:headEnd type="none" w="med" len="med"/>
                      <a:tailEnd type="none" w="med" len="med"/>
                    </a:lnT>
                    <a:lnB w="9525" cap="flat" cmpd="sng" algn="ctr">
                      <a:solidFill>
                        <a:srgbClr val="C9DDE0"/>
                      </a:solidFill>
                      <a:prstDash val="solid"/>
                      <a:round/>
                      <a:headEnd type="none" w="med" len="med"/>
                      <a:tailEnd type="none" w="med" len="med"/>
                    </a:lnB>
                  </a:tcPr>
                </a:tc>
                <a:tc>
                  <a:txBody>
                    <a:bodyPr/>
                    <a:lstStyle/>
                    <a:p>
                      <a:pPr algn="ctr" indent="0" marL="0">
                        <a:buNone/>
                      </a:pPr>
                      <a:r>
                        <a:rPr lang="en-US" sz="1400" b="1" dirty="0">
                          <a:solidFill>
                            <a:srgbClr val="D64545"/>
                          </a:solidFill>
                          <a:latin typeface="+mn-lt" pitchFamily="34" charset="0"/>
                          <a:ea typeface="+mn-lt" pitchFamily="34" charset="-122"/>
                          <a:cs typeface="+mn-lt" pitchFamily="34" charset="-120"/>
                        </a:rPr>
                        <a:t>0</a:t>
                      </a:r>
                      <a:endParaRPr lang="en-US" sz="1400" dirty="0">
                        <a:latin typeface="+mn-lt" charset="0"/>
                        <a:ea typeface="+mn-lt" charset="0"/>
                        <a:cs typeface="+mn-lt" charset="0"/>
                      </a:endParaRPr>
                    </a:p>
                  </a:txBody>
                  <a:tcPr marL="91440" marR="91440" marT="45720" marB="45720" anchor="ctr">
                    <a:lnL w="9525" cap="flat" cmpd="sng" algn="ctr">
                      <a:solidFill>
                        <a:srgbClr val="C9DDE0"/>
                      </a:solidFill>
                      <a:prstDash val="solid"/>
                      <a:round/>
                      <a:headEnd type="none" w="med" len="med"/>
                      <a:tailEnd type="none" w="med" len="med"/>
                    </a:lnL>
                    <a:lnR w="9525" cap="flat" cmpd="sng" algn="ctr">
                      <a:solidFill>
                        <a:srgbClr val="C9DDE0"/>
                      </a:solidFill>
                      <a:prstDash val="solid"/>
                      <a:round/>
                      <a:headEnd type="none" w="med" len="med"/>
                      <a:tailEnd type="none" w="med" len="med"/>
                    </a:lnR>
                    <a:lnT w="9525" cap="flat" cmpd="sng" algn="ctr">
                      <a:solidFill>
                        <a:srgbClr val="C9DDE0"/>
                      </a:solidFill>
                      <a:prstDash val="solid"/>
                      <a:round/>
                      <a:headEnd type="none" w="med" len="med"/>
                      <a:tailEnd type="none" w="med" len="med"/>
                    </a:lnT>
                    <a:lnB w="9525" cap="flat" cmpd="sng" algn="ctr">
                      <a:solidFill>
                        <a:srgbClr val="C9DDE0"/>
                      </a:solidFill>
                      <a:prstDash val="solid"/>
                      <a:round/>
                      <a:headEnd type="none" w="med" len="med"/>
                      <a:tailEnd type="none" w="med" len="med"/>
                    </a:lnB>
                  </a:tcPr>
                </a:tc>
              </a:tr>
              <a:tr h="429768">
                <a:tc>
                  <a:txBody>
                    <a:bodyPr/>
                    <a:lstStyle/>
                    <a:p>
                      <a:pPr indent="0" marL="0">
                        <a:buNone/>
                      </a:pPr>
                      <a:r>
                        <a:rPr lang="en-US" sz="1400" dirty="0">
                          <a:solidFill>
                            <a:srgbClr val="1B2A30"/>
                          </a:solidFill>
                          <a:latin typeface="+mn-lt" pitchFamily="34" charset="0"/>
                          <a:ea typeface="+mn-lt" pitchFamily="34" charset="-122"/>
                          <a:cs typeface="+mn-lt" pitchFamily="34" charset="-120"/>
                        </a:rPr>
                        <a:t>Ит өлген жер</a:t>
                      </a:r>
                      <a:endParaRPr lang="en-US" sz="1400" dirty="0">
                        <a:latin typeface="+mn-lt" charset="0"/>
                        <a:ea typeface="+mn-lt" charset="0"/>
                        <a:cs typeface="+mn-lt" charset="0"/>
                      </a:endParaRPr>
                    </a:p>
                  </a:txBody>
                  <a:tcPr marL="91440" marR="91440" marT="45720" marB="45720" anchor="ctr">
                    <a:lnL w="9525" cap="flat" cmpd="sng" algn="ctr">
                      <a:solidFill>
                        <a:srgbClr val="C9DDE0"/>
                      </a:solidFill>
                      <a:prstDash val="solid"/>
                      <a:round/>
                      <a:headEnd type="none" w="med" len="med"/>
                      <a:tailEnd type="none" w="med" len="med"/>
                    </a:lnL>
                    <a:lnR w="9525" cap="flat" cmpd="sng" algn="ctr">
                      <a:solidFill>
                        <a:srgbClr val="C9DDE0"/>
                      </a:solidFill>
                      <a:prstDash val="solid"/>
                      <a:round/>
                      <a:headEnd type="none" w="med" len="med"/>
                      <a:tailEnd type="none" w="med" len="med"/>
                    </a:lnR>
                    <a:lnT w="9525" cap="flat" cmpd="sng" algn="ctr">
                      <a:solidFill>
                        <a:srgbClr val="C9DDE0"/>
                      </a:solidFill>
                      <a:prstDash val="solid"/>
                      <a:round/>
                      <a:headEnd type="none" w="med" len="med"/>
                      <a:tailEnd type="none" w="med" len="med"/>
                    </a:lnT>
                    <a:lnB w="9525" cap="flat" cmpd="sng" algn="ctr">
                      <a:solidFill>
                        <a:srgbClr val="C9DDE0"/>
                      </a:solidFill>
                      <a:prstDash val="solid"/>
                      <a:round/>
                      <a:headEnd type="none" w="med" len="med"/>
                      <a:tailEnd type="none" w="med" len="med"/>
                    </a:lnB>
                  </a:tcPr>
                </a:tc>
                <a:tc>
                  <a:txBody>
                    <a:bodyPr/>
                    <a:lstStyle/>
                    <a:p>
                      <a:pPr indent="0" marL="0">
                        <a:buNone/>
                      </a:pPr>
                      <a:r>
                        <a:rPr lang="en-US" sz="1400" dirty="0">
                          <a:solidFill>
                            <a:srgbClr val="1B2A30"/>
                          </a:solidFill>
                          <a:latin typeface="+mn-lt" pitchFamily="34" charset="0"/>
                          <a:ea typeface="+mn-lt" pitchFamily="34" charset="-122"/>
                          <a:cs typeface="+mn-lt" pitchFamily="34" charset="-120"/>
                        </a:rPr>
                        <a:t>өте алыс жер</a:t>
                      </a:r>
                      <a:endParaRPr lang="en-US" sz="1400" dirty="0">
                        <a:latin typeface="+mn-lt" charset="0"/>
                        <a:ea typeface="+mn-lt" charset="0"/>
                        <a:cs typeface="+mn-lt" charset="0"/>
                      </a:endParaRPr>
                    </a:p>
                  </a:txBody>
                  <a:tcPr marL="91440" marR="91440" marT="45720" marB="45720" anchor="ctr">
                    <a:lnL w="9525" cap="flat" cmpd="sng" algn="ctr">
                      <a:solidFill>
                        <a:srgbClr val="C9DDE0"/>
                      </a:solidFill>
                      <a:prstDash val="solid"/>
                      <a:round/>
                      <a:headEnd type="none" w="med" len="med"/>
                      <a:tailEnd type="none" w="med" len="med"/>
                    </a:lnL>
                    <a:lnR w="9525" cap="flat" cmpd="sng" algn="ctr">
                      <a:solidFill>
                        <a:srgbClr val="C9DDE0"/>
                      </a:solidFill>
                      <a:prstDash val="solid"/>
                      <a:round/>
                      <a:headEnd type="none" w="med" len="med"/>
                      <a:tailEnd type="none" w="med" len="med"/>
                    </a:lnR>
                    <a:lnT w="9525" cap="flat" cmpd="sng" algn="ctr">
                      <a:solidFill>
                        <a:srgbClr val="C9DDE0"/>
                      </a:solidFill>
                      <a:prstDash val="solid"/>
                      <a:round/>
                      <a:headEnd type="none" w="med" len="med"/>
                      <a:tailEnd type="none" w="med" len="med"/>
                    </a:lnT>
                    <a:lnB w="9525" cap="flat" cmpd="sng" algn="ctr">
                      <a:solidFill>
                        <a:srgbClr val="C9DDE0"/>
                      </a:solidFill>
                      <a:prstDash val="solid"/>
                      <a:round/>
                      <a:headEnd type="none" w="med" len="med"/>
                      <a:tailEnd type="none" w="med" len="med"/>
                    </a:lnB>
                  </a:tcPr>
                </a:tc>
                <a:tc>
                  <a:txBody>
                    <a:bodyPr/>
                    <a:lstStyle/>
                    <a:p>
                      <a:pPr algn="ctr" indent="0" marL="0">
                        <a:buNone/>
                      </a:pPr>
                      <a:r>
                        <a:rPr lang="en-US" sz="1400" b="1" dirty="0">
                          <a:solidFill>
                            <a:srgbClr val="2E8B57"/>
                          </a:solidFill>
                          <a:latin typeface="+mn-lt" pitchFamily="34" charset="0"/>
                          <a:ea typeface="+mn-lt" pitchFamily="34" charset="-122"/>
                          <a:cs typeface="+mn-lt" pitchFamily="34" charset="-120"/>
                        </a:rPr>
                        <a:t>2</a:t>
                      </a:r>
                      <a:endParaRPr lang="en-US" sz="1400" dirty="0">
                        <a:latin typeface="+mn-lt" charset="0"/>
                        <a:ea typeface="+mn-lt" charset="0"/>
                        <a:cs typeface="+mn-lt" charset="0"/>
                      </a:endParaRPr>
                    </a:p>
                  </a:txBody>
                  <a:tcPr marL="91440" marR="91440" marT="45720" marB="45720" anchor="ctr">
                    <a:lnL w="9525" cap="flat" cmpd="sng" algn="ctr">
                      <a:solidFill>
                        <a:srgbClr val="C9DDE0"/>
                      </a:solidFill>
                      <a:prstDash val="solid"/>
                      <a:round/>
                      <a:headEnd type="none" w="med" len="med"/>
                      <a:tailEnd type="none" w="med" len="med"/>
                    </a:lnL>
                    <a:lnR w="9525" cap="flat" cmpd="sng" algn="ctr">
                      <a:solidFill>
                        <a:srgbClr val="C9DDE0"/>
                      </a:solidFill>
                      <a:prstDash val="solid"/>
                      <a:round/>
                      <a:headEnd type="none" w="med" len="med"/>
                      <a:tailEnd type="none" w="med" len="med"/>
                    </a:lnR>
                    <a:lnT w="9525" cap="flat" cmpd="sng" algn="ctr">
                      <a:solidFill>
                        <a:srgbClr val="C9DDE0"/>
                      </a:solidFill>
                      <a:prstDash val="solid"/>
                      <a:round/>
                      <a:headEnd type="none" w="med" len="med"/>
                      <a:tailEnd type="none" w="med" len="med"/>
                    </a:lnT>
                    <a:lnB w="9525" cap="flat" cmpd="sng" algn="ctr">
                      <a:solidFill>
                        <a:srgbClr val="C9DDE0"/>
                      </a:solidFill>
                      <a:prstDash val="solid"/>
                      <a:round/>
                      <a:headEnd type="none" w="med" len="med"/>
                      <a:tailEnd type="none" w="med" len="med"/>
                    </a:lnB>
                  </a:tcPr>
                </a:tc>
                <a:tc>
                  <a:txBody>
                    <a:bodyPr/>
                    <a:lstStyle/>
                    <a:p>
                      <a:pPr algn="ctr" indent="0" marL="0">
                        <a:buNone/>
                      </a:pPr>
                      <a:r>
                        <a:rPr lang="en-US" sz="1400" b="1" dirty="0">
                          <a:solidFill>
                            <a:srgbClr val="2E8B57"/>
                          </a:solidFill>
                          <a:latin typeface="+mn-lt" pitchFamily="34" charset="0"/>
                          <a:ea typeface="+mn-lt" pitchFamily="34" charset="-122"/>
                          <a:cs typeface="+mn-lt" pitchFamily="34" charset="-120"/>
                        </a:rPr>
                        <a:t>2</a:t>
                      </a:r>
                      <a:endParaRPr lang="en-US" sz="1400" dirty="0">
                        <a:latin typeface="+mn-lt" charset="0"/>
                        <a:ea typeface="+mn-lt" charset="0"/>
                        <a:cs typeface="+mn-lt" charset="0"/>
                      </a:endParaRPr>
                    </a:p>
                  </a:txBody>
                  <a:tcPr marL="91440" marR="91440" marT="45720" marB="45720" anchor="ctr">
                    <a:lnL w="9525" cap="flat" cmpd="sng" algn="ctr">
                      <a:solidFill>
                        <a:srgbClr val="C9DDE0"/>
                      </a:solidFill>
                      <a:prstDash val="solid"/>
                      <a:round/>
                      <a:headEnd type="none" w="med" len="med"/>
                      <a:tailEnd type="none" w="med" len="med"/>
                    </a:lnL>
                    <a:lnR w="9525" cap="flat" cmpd="sng" algn="ctr">
                      <a:solidFill>
                        <a:srgbClr val="C9DDE0"/>
                      </a:solidFill>
                      <a:prstDash val="solid"/>
                      <a:round/>
                      <a:headEnd type="none" w="med" len="med"/>
                      <a:tailEnd type="none" w="med" len="med"/>
                    </a:lnR>
                    <a:lnT w="9525" cap="flat" cmpd="sng" algn="ctr">
                      <a:solidFill>
                        <a:srgbClr val="C9DDE0"/>
                      </a:solidFill>
                      <a:prstDash val="solid"/>
                      <a:round/>
                      <a:headEnd type="none" w="med" len="med"/>
                      <a:tailEnd type="none" w="med" len="med"/>
                    </a:lnT>
                    <a:lnB w="9525" cap="flat" cmpd="sng" algn="ctr">
                      <a:solidFill>
                        <a:srgbClr val="C9DDE0"/>
                      </a:solidFill>
                      <a:prstDash val="solid"/>
                      <a:round/>
                      <a:headEnd type="none" w="med" len="med"/>
                      <a:tailEnd type="none" w="med" len="med"/>
                    </a:lnB>
                  </a:tcPr>
                </a:tc>
                <a:tc>
                  <a:txBody>
                    <a:bodyPr/>
                    <a:lstStyle/>
                    <a:p>
                      <a:pPr algn="ctr" indent="0" marL="0">
                        <a:buNone/>
                      </a:pPr>
                      <a:r>
                        <a:rPr lang="en-US" sz="1400" b="1" dirty="0">
                          <a:solidFill>
                            <a:srgbClr val="2E8B57"/>
                          </a:solidFill>
                          <a:latin typeface="+mn-lt" pitchFamily="34" charset="0"/>
                          <a:ea typeface="+mn-lt" pitchFamily="34" charset="-122"/>
                          <a:cs typeface="+mn-lt" pitchFamily="34" charset="-120"/>
                        </a:rPr>
                        <a:t>2</a:t>
                      </a:r>
                      <a:endParaRPr lang="en-US" sz="1400" dirty="0">
                        <a:latin typeface="+mn-lt" charset="0"/>
                        <a:ea typeface="+mn-lt" charset="0"/>
                        <a:cs typeface="+mn-lt" charset="0"/>
                      </a:endParaRPr>
                    </a:p>
                  </a:txBody>
                  <a:tcPr marL="91440" marR="91440" marT="45720" marB="45720" anchor="ctr">
                    <a:lnL w="9525" cap="flat" cmpd="sng" algn="ctr">
                      <a:solidFill>
                        <a:srgbClr val="C9DDE0"/>
                      </a:solidFill>
                      <a:prstDash val="solid"/>
                      <a:round/>
                      <a:headEnd type="none" w="med" len="med"/>
                      <a:tailEnd type="none" w="med" len="med"/>
                    </a:lnL>
                    <a:lnR w="9525" cap="flat" cmpd="sng" algn="ctr">
                      <a:solidFill>
                        <a:srgbClr val="C9DDE0"/>
                      </a:solidFill>
                      <a:prstDash val="solid"/>
                      <a:round/>
                      <a:headEnd type="none" w="med" len="med"/>
                      <a:tailEnd type="none" w="med" len="med"/>
                    </a:lnR>
                    <a:lnT w="9525" cap="flat" cmpd="sng" algn="ctr">
                      <a:solidFill>
                        <a:srgbClr val="C9DDE0"/>
                      </a:solidFill>
                      <a:prstDash val="solid"/>
                      <a:round/>
                      <a:headEnd type="none" w="med" len="med"/>
                      <a:tailEnd type="none" w="med" len="med"/>
                    </a:lnT>
                    <a:lnB w="9525" cap="flat" cmpd="sng" algn="ctr">
                      <a:solidFill>
                        <a:srgbClr val="C9DDE0"/>
                      </a:solidFill>
                      <a:prstDash val="solid"/>
                      <a:round/>
                      <a:headEnd type="none" w="med" len="med"/>
                      <a:tailEnd type="none" w="med" len="med"/>
                    </a:lnB>
                  </a:tcPr>
                </a:tc>
              </a:tr>
              <a:tr h="429768">
                <a:tc>
                  <a:txBody>
                    <a:bodyPr/>
                    <a:lstStyle/>
                    <a:p>
                      <a:pPr indent="0" marL="0">
                        <a:buNone/>
                      </a:pPr>
                      <a:r>
                        <a:rPr lang="en-US" sz="1400" dirty="0">
                          <a:solidFill>
                            <a:srgbClr val="1B2A30"/>
                          </a:solidFill>
                          <a:latin typeface="+mn-lt" pitchFamily="34" charset="0"/>
                          <a:ea typeface="+mn-lt" pitchFamily="34" charset="-122"/>
                          <a:cs typeface="+mn-lt" pitchFamily="34" charset="-120"/>
                        </a:rPr>
                        <a:t>Айдарынан жел есу</a:t>
                      </a:r>
                      <a:endParaRPr lang="en-US" sz="1400" dirty="0">
                        <a:latin typeface="+mn-lt" charset="0"/>
                        <a:ea typeface="+mn-lt" charset="0"/>
                        <a:cs typeface="+mn-lt" charset="0"/>
                      </a:endParaRPr>
                    </a:p>
                  </a:txBody>
                  <a:tcPr marL="91440" marR="91440" marT="45720" marB="45720" anchor="ctr">
                    <a:lnL w="9525" cap="flat" cmpd="sng" algn="ctr">
                      <a:solidFill>
                        <a:srgbClr val="C9DDE0"/>
                      </a:solidFill>
                      <a:prstDash val="solid"/>
                      <a:round/>
                      <a:headEnd type="none" w="med" len="med"/>
                      <a:tailEnd type="none" w="med" len="med"/>
                    </a:lnL>
                    <a:lnR w="9525" cap="flat" cmpd="sng" algn="ctr">
                      <a:solidFill>
                        <a:srgbClr val="C9DDE0"/>
                      </a:solidFill>
                      <a:prstDash val="solid"/>
                      <a:round/>
                      <a:headEnd type="none" w="med" len="med"/>
                      <a:tailEnd type="none" w="med" len="med"/>
                    </a:lnR>
                    <a:lnT w="9525" cap="flat" cmpd="sng" algn="ctr">
                      <a:solidFill>
                        <a:srgbClr val="C9DDE0"/>
                      </a:solidFill>
                      <a:prstDash val="solid"/>
                      <a:round/>
                      <a:headEnd type="none" w="med" len="med"/>
                      <a:tailEnd type="none" w="med" len="med"/>
                    </a:lnT>
                    <a:lnB w="9525" cap="flat" cmpd="sng" algn="ctr">
                      <a:solidFill>
                        <a:srgbClr val="C9DDE0"/>
                      </a:solidFill>
                      <a:prstDash val="solid"/>
                      <a:round/>
                      <a:headEnd type="none" w="med" len="med"/>
                      <a:tailEnd type="none" w="med" len="med"/>
                    </a:lnB>
                  </a:tcPr>
                </a:tc>
                <a:tc>
                  <a:txBody>
                    <a:bodyPr/>
                    <a:lstStyle/>
                    <a:p>
                      <a:pPr indent="0" marL="0">
                        <a:buNone/>
                      </a:pPr>
                      <a:r>
                        <a:rPr lang="en-US" sz="1400" dirty="0">
                          <a:solidFill>
                            <a:srgbClr val="1B2A30"/>
                          </a:solidFill>
                          <a:latin typeface="+mn-lt" pitchFamily="34" charset="0"/>
                          <a:ea typeface="+mn-lt" pitchFamily="34" charset="-122"/>
                          <a:cs typeface="+mn-lt" pitchFamily="34" charset="-120"/>
                        </a:rPr>
                        <a:t>асқақтап, дәурен сүру</a:t>
                      </a:r>
                      <a:endParaRPr lang="en-US" sz="1400" dirty="0">
                        <a:latin typeface="+mn-lt" charset="0"/>
                        <a:ea typeface="+mn-lt" charset="0"/>
                        <a:cs typeface="+mn-lt" charset="0"/>
                      </a:endParaRPr>
                    </a:p>
                  </a:txBody>
                  <a:tcPr marL="91440" marR="91440" marT="45720" marB="45720" anchor="ctr">
                    <a:lnL w="9525" cap="flat" cmpd="sng" algn="ctr">
                      <a:solidFill>
                        <a:srgbClr val="C9DDE0"/>
                      </a:solidFill>
                      <a:prstDash val="solid"/>
                      <a:round/>
                      <a:headEnd type="none" w="med" len="med"/>
                      <a:tailEnd type="none" w="med" len="med"/>
                    </a:lnL>
                    <a:lnR w="9525" cap="flat" cmpd="sng" algn="ctr">
                      <a:solidFill>
                        <a:srgbClr val="C9DDE0"/>
                      </a:solidFill>
                      <a:prstDash val="solid"/>
                      <a:round/>
                      <a:headEnd type="none" w="med" len="med"/>
                      <a:tailEnd type="none" w="med" len="med"/>
                    </a:lnR>
                    <a:lnT w="9525" cap="flat" cmpd="sng" algn="ctr">
                      <a:solidFill>
                        <a:srgbClr val="C9DDE0"/>
                      </a:solidFill>
                      <a:prstDash val="solid"/>
                      <a:round/>
                      <a:headEnd type="none" w="med" len="med"/>
                      <a:tailEnd type="none" w="med" len="med"/>
                    </a:lnT>
                    <a:lnB w="9525" cap="flat" cmpd="sng" algn="ctr">
                      <a:solidFill>
                        <a:srgbClr val="C9DDE0"/>
                      </a:solidFill>
                      <a:prstDash val="solid"/>
                      <a:round/>
                      <a:headEnd type="none" w="med" len="med"/>
                      <a:tailEnd type="none" w="med" len="med"/>
                    </a:lnB>
                  </a:tcPr>
                </a:tc>
                <a:tc>
                  <a:txBody>
                    <a:bodyPr/>
                    <a:lstStyle/>
                    <a:p>
                      <a:pPr algn="ctr" indent="0" marL="0">
                        <a:buNone/>
                      </a:pPr>
                      <a:r>
                        <a:rPr lang="en-US" sz="1400" b="1" dirty="0">
                          <a:solidFill>
                            <a:srgbClr val="2E8B57"/>
                          </a:solidFill>
                          <a:latin typeface="+mn-lt" pitchFamily="34" charset="0"/>
                          <a:ea typeface="+mn-lt" pitchFamily="34" charset="-122"/>
                          <a:cs typeface="+mn-lt" pitchFamily="34" charset="-120"/>
                        </a:rPr>
                        <a:t>2</a:t>
                      </a:r>
                      <a:endParaRPr lang="en-US" sz="1400" dirty="0">
                        <a:latin typeface="+mn-lt" charset="0"/>
                        <a:ea typeface="+mn-lt" charset="0"/>
                        <a:cs typeface="+mn-lt" charset="0"/>
                      </a:endParaRPr>
                    </a:p>
                  </a:txBody>
                  <a:tcPr marL="91440" marR="91440" marT="45720" marB="45720" anchor="ctr">
                    <a:lnL w="9525" cap="flat" cmpd="sng" algn="ctr">
                      <a:solidFill>
                        <a:srgbClr val="C9DDE0"/>
                      </a:solidFill>
                      <a:prstDash val="solid"/>
                      <a:round/>
                      <a:headEnd type="none" w="med" len="med"/>
                      <a:tailEnd type="none" w="med" len="med"/>
                    </a:lnL>
                    <a:lnR w="9525" cap="flat" cmpd="sng" algn="ctr">
                      <a:solidFill>
                        <a:srgbClr val="C9DDE0"/>
                      </a:solidFill>
                      <a:prstDash val="solid"/>
                      <a:round/>
                      <a:headEnd type="none" w="med" len="med"/>
                      <a:tailEnd type="none" w="med" len="med"/>
                    </a:lnR>
                    <a:lnT w="9525" cap="flat" cmpd="sng" algn="ctr">
                      <a:solidFill>
                        <a:srgbClr val="C9DDE0"/>
                      </a:solidFill>
                      <a:prstDash val="solid"/>
                      <a:round/>
                      <a:headEnd type="none" w="med" len="med"/>
                      <a:tailEnd type="none" w="med" len="med"/>
                    </a:lnT>
                    <a:lnB w="9525" cap="flat" cmpd="sng" algn="ctr">
                      <a:solidFill>
                        <a:srgbClr val="C9DDE0"/>
                      </a:solidFill>
                      <a:prstDash val="solid"/>
                      <a:round/>
                      <a:headEnd type="none" w="med" len="med"/>
                      <a:tailEnd type="none" w="med" len="med"/>
                    </a:lnB>
                  </a:tcPr>
                </a:tc>
                <a:tc>
                  <a:txBody>
                    <a:bodyPr/>
                    <a:lstStyle/>
                    <a:p>
                      <a:pPr algn="ctr" indent="0" marL="0">
                        <a:buNone/>
                      </a:pPr>
                      <a:r>
                        <a:rPr lang="en-US" sz="1400" b="1" dirty="0">
                          <a:solidFill>
                            <a:srgbClr val="D64545"/>
                          </a:solidFill>
                          <a:latin typeface="+mn-lt" pitchFamily="34" charset="0"/>
                          <a:ea typeface="+mn-lt" pitchFamily="34" charset="-122"/>
                          <a:cs typeface="+mn-lt" pitchFamily="34" charset="-120"/>
                        </a:rPr>
                        <a:t>0</a:t>
                      </a:r>
                      <a:endParaRPr lang="en-US" sz="1400" dirty="0">
                        <a:latin typeface="+mn-lt" charset="0"/>
                        <a:ea typeface="+mn-lt" charset="0"/>
                        <a:cs typeface="+mn-lt" charset="0"/>
                      </a:endParaRPr>
                    </a:p>
                  </a:txBody>
                  <a:tcPr marL="91440" marR="91440" marT="45720" marB="45720" anchor="ctr">
                    <a:lnL w="9525" cap="flat" cmpd="sng" algn="ctr">
                      <a:solidFill>
                        <a:srgbClr val="C9DDE0"/>
                      </a:solidFill>
                      <a:prstDash val="solid"/>
                      <a:round/>
                      <a:headEnd type="none" w="med" len="med"/>
                      <a:tailEnd type="none" w="med" len="med"/>
                    </a:lnL>
                    <a:lnR w="9525" cap="flat" cmpd="sng" algn="ctr">
                      <a:solidFill>
                        <a:srgbClr val="C9DDE0"/>
                      </a:solidFill>
                      <a:prstDash val="solid"/>
                      <a:round/>
                      <a:headEnd type="none" w="med" len="med"/>
                      <a:tailEnd type="none" w="med" len="med"/>
                    </a:lnR>
                    <a:lnT w="9525" cap="flat" cmpd="sng" algn="ctr">
                      <a:solidFill>
                        <a:srgbClr val="C9DDE0"/>
                      </a:solidFill>
                      <a:prstDash val="solid"/>
                      <a:round/>
                      <a:headEnd type="none" w="med" len="med"/>
                      <a:tailEnd type="none" w="med" len="med"/>
                    </a:lnT>
                    <a:lnB w="9525" cap="flat" cmpd="sng" algn="ctr">
                      <a:solidFill>
                        <a:srgbClr val="C9DDE0"/>
                      </a:solidFill>
                      <a:prstDash val="solid"/>
                      <a:round/>
                      <a:headEnd type="none" w="med" len="med"/>
                      <a:tailEnd type="none" w="med" len="med"/>
                    </a:lnB>
                  </a:tcPr>
                </a:tc>
                <a:tc>
                  <a:txBody>
                    <a:bodyPr/>
                    <a:lstStyle/>
                    <a:p>
                      <a:pPr algn="ctr" indent="0" marL="0">
                        <a:buNone/>
                      </a:pPr>
                      <a:r>
                        <a:rPr lang="en-US" sz="1400" b="1" dirty="0">
                          <a:solidFill>
                            <a:srgbClr val="2E8B57"/>
                          </a:solidFill>
                          <a:latin typeface="+mn-lt" pitchFamily="34" charset="0"/>
                          <a:ea typeface="+mn-lt" pitchFamily="34" charset="-122"/>
                          <a:cs typeface="+mn-lt" pitchFamily="34" charset="-120"/>
                        </a:rPr>
                        <a:t>2</a:t>
                      </a:r>
                      <a:endParaRPr lang="en-US" sz="1400" dirty="0">
                        <a:latin typeface="+mn-lt" charset="0"/>
                        <a:ea typeface="+mn-lt" charset="0"/>
                        <a:cs typeface="+mn-lt" charset="0"/>
                      </a:endParaRPr>
                    </a:p>
                  </a:txBody>
                  <a:tcPr marL="91440" marR="91440" marT="45720" marB="45720" anchor="ctr">
                    <a:lnL w="9525" cap="flat" cmpd="sng" algn="ctr">
                      <a:solidFill>
                        <a:srgbClr val="C9DDE0"/>
                      </a:solidFill>
                      <a:prstDash val="solid"/>
                      <a:round/>
                      <a:headEnd type="none" w="med" len="med"/>
                      <a:tailEnd type="none" w="med" len="med"/>
                    </a:lnL>
                    <a:lnR w="9525" cap="flat" cmpd="sng" algn="ctr">
                      <a:solidFill>
                        <a:srgbClr val="C9DDE0"/>
                      </a:solidFill>
                      <a:prstDash val="solid"/>
                      <a:round/>
                      <a:headEnd type="none" w="med" len="med"/>
                      <a:tailEnd type="none" w="med" len="med"/>
                    </a:lnR>
                    <a:lnT w="9525" cap="flat" cmpd="sng" algn="ctr">
                      <a:solidFill>
                        <a:srgbClr val="C9DDE0"/>
                      </a:solidFill>
                      <a:prstDash val="solid"/>
                      <a:round/>
                      <a:headEnd type="none" w="med" len="med"/>
                      <a:tailEnd type="none" w="med" len="med"/>
                    </a:lnT>
                    <a:lnB w="9525" cap="flat" cmpd="sng" algn="ctr">
                      <a:solidFill>
                        <a:srgbClr val="C9DDE0"/>
                      </a:solidFill>
                      <a:prstDash val="solid"/>
                      <a:round/>
                      <a:headEnd type="none" w="med" len="med"/>
                      <a:tailEnd type="none" w="med" len="med"/>
                    </a:lnB>
                  </a:tcPr>
                </a:tc>
              </a:tr>
              <a:tr h="429768">
                <a:tc>
                  <a:txBody>
                    <a:bodyPr/>
                    <a:lstStyle/>
                    <a:p>
                      <a:pPr indent="0" marL="0">
                        <a:buNone/>
                      </a:pPr>
                      <a:r>
                        <a:rPr lang="en-US" sz="1400" dirty="0">
                          <a:solidFill>
                            <a:srgbClr val="1B2A30"/>
                          </a:solidFill>
                          <a:latin typeface="+mn-lt" pitchFamily="34" charset="0"/>
                          <a:ea typeface="+mn-lt" pitchFamily="34" charset="-122"/>
                          <a:cs typeface="+mn-lt" pitchFamily="34" charset="-120"/>
                        </a:rPr>
                        <a:t>Қара есекке теріс мінгізу</a:t>
                      </a:r>
                      <a:endParaRPr lang="en-US" sz="1400" dirty="0">
                        <a:latin typeface="+mn-lt" charset="0"/>
                        <a:ea typeface="+mn-lt" charset="0"/>
                        <a:cs typeface="+mn-lt" charset="0"/>
                      </a:endParaRPr>
                    </a:p>
                  </a:txBody>
                  <a:tcPr marL="91440" marR="91440" marT="45720" marB="45720" anchor="ctr">
                    <a:lnL w="9525" cap="flat" cmpd="sng" algn="ctr">
                      <a:solidFill>
                        <a:srgbClr val="C9DDE0"/>
                      </a:solidFill>
                      <a:prstDash val="solid"/>
                      <a:round/>
                      <a:headEnd type="none" w="med" len="med"/>
                      <a:tailEnd type="none" w="med" len="med"/>
                    </a:lnL>
                    <a:lnR w="9525" cap="flat" cmpd="sng" algn="ctr">
                      <a:solidFill>
                        <a:srgbClr val="C9DDE0"/>
                      </a:solidFill>
                      <a:prstDash val="solid"/>
                      <a:round/>
                      <a:headEnd type="none" w="med" len="med"/>
                      <a:tailEnd type="none" w="med" len="med"/>
                    </a:lnR>
                    <a:lnT w="9525" cap="flat" cmpd="sng" algn="ctr">
                      <a:solidFill>
                        <a:srgbClr val="C9DDE0"/>
                      </a:solidFill>
                      <a:prstDash val="solid"/>
                      <a:round/>
                      <a:headEnd type="none" w="med" len="med"/>
                      <a:tailEnd type="none" w="med" len="med"/>
                    </a:lnT>
                    <a:lnB w="9525" cap="flat" cmpd="sng" algn="ctr">
                      <a:solidFill>
                        <a:srgbClr val="C9DDE0"/>
                      </a:solidFill>
                      <a:prstDash val="solid"/>
                      <a:round/>
                      <a:headEnd type="none" w="med" len="med"/>
                      <a:tailEnd type="none" w="med" len="med"/>
                    </a:lnB>
                  </a:tcPr>
                </a:tc>
                <a:tc>
                  <a:txBody>
                    <a:bodyPr/>
                    <a:lstStyle/>
                    <a:p>
                      <a:pPr indent="0" marL="0">
                        <a:buNone/>
                      </a:pPr>
                      <a:r>
                        <a:rPr lang="en-US" sz="1400" dirty="0">
                          <a:solidFill>
                            <a:srgbClr val="1B2A30"/>
                          </a:solidFill>
                          <a:latin typeface="+mn-lt" pitchFamily="34" charset="0"/>
                          <a:ea typeface="+mn-lt" pitchFamily="34" charset="-122"/>
                          <a:cs typeface="+mn-lt" pitchFamily="34" charset="-120"/>
                        </a:rPr>
                        <a:t>масқаралау, ел алдында ұятқа қалдыру</a:t>
                      </a:r>
                      <a:endParaRPr lang="en-US" sz="1400" dirty="0">
                        <a:latin typeface="+mn-lt" charset="0"/>
                        <a:ea typeface="+mn-lt" charset="0"/>
                        <a:cs typeface="+mn-lt" charset="0"/>
                      </a:endParaRPr>
                    </a:p>
                  </a:txBody>
                  <a:tcPr marL="91440" marR="91440" marT="45720" marB="45720" anchor="ctr">
                    <a:lnL w="9525" cap="flat" cmpd="sng" algn="ctr">
                      <a:solidFill>
                        <a:srgbClr val="C9DDE0"/>
                      </a:solidFill>
                      <a:prstDash val="solid"/>
                      <a:round/>
                      <a:headEnd type="none" w="med" len="med"/>
                      <a:tailEnd type="none" w="med" len="med"/>
                    </a:lnL>
                    <a:lnR w="9525" cap="flat" cmpd="sng" algn="ctr">
                      <a:solidFill>
                        <a:srgbClr val="C9DDE0"/>
                      </a:solidFill>
                      <a:prstDash val="solid"/>
                      <a:round/>
                      <a:headEnd type="none" w="med" len="med"/>
                      <a:tailEnd type="none" w="med" len="med"/>
                    </a:lnR>
                    <a:lnT w="9525" cap="flat" cmpd="sng" algn="ctr">
                      <a:solidFill>
                        <a:srgbClr val="C9DDE0"/>
                      </a:solidFill>
                      <a:prstDash val="solid"/>
                      <a:round/>
                      <a:headEnd type="none" w="med" len="med"/>
                      <a:tailEnd type="none" w="med" len="med"/>
                    </a:lnT>
                    <a:lnB w="9525" cap="flat" cmpd="sng" algn="ctr">
                      <a:solidFill>
                        <a:srgbClr val="C9DDE0"/>
                      </a:solidFill>
                      <a:prstDash val="solid"/>
                      <a:round/>
                      <a:headEnd type="none" w="med" len="med"/>
                      <a:tailEnd type="none" w="med" len="med"/>
                    </a:lnB>
                  </a:tcPr>
                </a:tc>
                <a:tc>
                  <a:txBody>
                    <a:bodyPr/>
                    <a:lstStyle/>
                    <a:p>
                      <a:pPr algn="ctr" indent="0" marL="0">
                        <a:buNone/>
                      </a:pPr>
                      <a:r>
                        <a:rPr lang="en-US" sz="1400" b="1" dirty="0">
                          <a:solidFill>
                            <a:srgbClr val="2E8B57"/>
                          </a:solidFill>
                          <a:latin typeface="+mn-lt" pitchFamily="34" charset="0"/>
                          <a:ea typeface="+mn-lt" pitchFamily="34" charset="-122"/>
                          <a:cs typeface="+mn-lt" pitchFamily="34" charset="-120"/>
                        </a:rPr>
                        <a:t>2</a:t>
                      </a:r>
                      <a:endParaRPr lang="en-US" sz="1400" dirty="0">
                        <a:latin typeface="+mn-lt" charset="0"/>
                        <a:ea typeface="+mn-lt" charset="0"/>
                        <a:cs typeface="+mn-lt" charset="0"/>
                      </a:endParaRPr>
                    </a:p>
                  </a:txBody>
                  <a:tcPr marL="91440" marR="91440" marT="45720" marB="45720" anchor="ctr">
                    <a:lnL w="9525" cap="flat" cmpd="sng" algn="ctr">
                      <a:solidFill>
                        <a:srgbClr val="C9DDE0"/>
                      </a:solidFill>
                      <a:prstDash val="solid"/>
                      <a:round/>
                      <a:headEnd type="none" w="med" len="med"/>
                      <a:tailEnd type="none" w="med" len="med"/>
                    </a:lnL>
                    <a:lnR w="9525" cap="flat" cmpd="sng" algn="ctr">
                      <a:solidFill>
                        <a:srgbClr val="C9DDE0"/>
                      </a:solidFill>
                      <a:prstDash val="solid"/>
                      <a:round/>
                      <a:headEnd type="none" w="med" len="med"/>
                      <a:tailEnd type="none" w="med" len="med"/>
                    </a:lnR>
                    <a:lnT w="9525" cap="flat" cmpd="sng" algn="ctr">
                      <a:solidFill>
                        <a:srgbClr val="C9DDE0"/>
                      </a:solidFill>
                      <a:prstDash val="solid"/>
                      <a:round/>
                      <a:headEnd type="none" w="med" len="med"/>
                      <a:tailEnd type="none" w="med" len="med"/>
                    </a:lnT>
                    <a:lnB w="9525" cap="flat" cmpd="sng" algn="ctr">
                      <a:solidFill>
                        <a:srgbClr val="C9DDE0"/>
                      </a:solidFill>
                      <a:prstDash val="solid"/>
                      <a:round/>
                      <a:headEnd type="none" w="med" len="med"/>
                      <a:tailEnd type="none" w="med" len="med"/>
                    </a:lnB>
                  </a:tcPr>
                </a:tc>
                <a:tc>
                  <a:txBody>
                    <a:bodyPr/>
                    <a:lstStyle/>
                    <a:p>
                      <a:pPr algn="ctr" indent="0" marL="0">
                        <a:buNone/>
                      </a:pPr>
                      <a:r>
                        <a:rPr lang="en-US" sz="1400" b="1" dirty="0">
                          <a:solidFill>
                            <a:srgbClr val="2E8B57"/>
                          </a:solidFill>
                          <a:latin typeface="+mn-lt" pitchFamily="34" charset="0"/>
                          <a:ea typeface="+mn-lt" pitchFamily="34" charset="-122"/>
                          <a:cs typeface="+mn-lt" pitchFamily="34" charset="-120"/>
                        </a:rPr>
                        <a:t>2</a:t>
                      </a:r>
                      <a:endParaRPr lang="en-US" sz="1400" dirty="0">
                        <a:latin typeface="+mn-lt" charset="0"/>
                        <a:ea typeface="+mn-lt" charset="0"/>
                        <a:cs typeface="+mn-lt" charset="0"/>
                      </a:endParaRPr>
                    </a:p>
                  </a:txBody>
                  <a:tcPr marL="91440" marR="91440" marT="45720" marB="45720" anchor="ctr">
                    <a:lnL w="9525" cap="flat" cmpd="sng" algn="ctr">
                      <a:solidFill>
                        <a:srgbClr val="C9DDE0"/>
                      </a:solidFill>
                      <a:prstDash val="solid"/>
                      <a:round/>
                      <a:headEnd type="none" w="med" len="med"/>
                      <a:tailEnd type="none" w="med" len="med"/>
                    </a:lnL>
                    <a:lnR w="9525" cap="flat" cmpd="sng" algn="ctr">
                      <a:solidFill>
                        <a:srgbClr val="C9DDE0"/>
                      </a:solidFill>
                      <a:prstDash val="solid"/>
                      <a:round/>
                      <a:headEnd type="none" w="med" len="med"/>
                      <a:tailEnd type="none" w="med" len="med"/>
                    </a:lnR>
                    <a:lnT w="9525" cap="flat" cmpd="sng" algn="ctr">
                      <a:solidFill>
                        <a:srgbClr val="C9DDE0"/>
                      </a:solidFill>
                      <a:prstDash val="solid"/>
                      <a:round/>
                      <a:headEnd type="none" w="med" len="med"/>
                      <a:tailEnd type="none" w="med" len="med"/>
                    </a:lnT>
                    <a:lnB w="9525" cap="flat" cmpd="sng" algn="ctr">
                      <a:solidFill>
                        <a:srgbClr val="C9DDE0"/>
                      </a:solidFill>
                      <a:prstDash val="solid"/>
                      <a:round/>
                      <a:headEnd type="none" w="med" len="med"/>
                      <a:tailEnd type="none" w="med" len="med"/>
                    </a:lnB>
                  </a:tcPr>
                </a:tc>
                <a:tc>
                  <a:txBody>
                    <a:bodyPr/>
                    <a:lstStyle/>
                    <a:p>
                      <a:pPr algn="ctr" indent="0" marL="0">
                        <a:buNone/>
                      </a:pPr>
                      <a:r>
                        <a:rPr lang="en-US" sz="1400" b="1" dirty="0">
                          <a:solidFill>
                            <a:srgbClr val="2E8B57"/>
                          </a:solidFill>
                          <a:latin typeface="+mn-lt" pitchFamily="34" charset="0"/>
                          <a:ea typeface="+mn-lt" pitchFamily="34" charset="-122"/>
                          <a:cs typeface="+mn-lt" pitchFamily="34" charset="-120"/>
                        </a:rPr>
                        <a:t>2</a:t>
                      </a:r>
                      <a:endParaRPr lang="en-US" sz="1400" dirty="0">
                        <a:latin typeface="+mn-lt" charset="0"/>
                        <a:ea typeface="+mn-lt" charset="0"/>
                        <a:cs typeface="+mn-lt" charset="0"/>
                      </a:endParaRPr>
                    </a:p>
                  </a:txBody>
                  <a:tcPr marL="91440" marR="91440" marT="45720" marB="45720" anchor="ctr">
                    <a:lnL w="9525" cap="flat" cmpd="sng" algn="ctr">
                      <a:solidFill>
                        <a:srgbClr val="C9DDE0"/>
                      </a:solidFill>
                      <a:prstDash val="solid"/>
                      <a:round/>
                      <a:headEnd type="none" w="med" len="med"/>
                      <a:tailEnd type="none" w="med" len="med"/>
                    </a:lnL>
                    <a:lnR w="9525" cap="flat" cmpd="sng" algn="ctr">
                      <a:solidFill>
                        <a:srgbClr val="C9DDE0"/>
                      </a:solidFill>
                      <a:prstDash val="solid"/>
                      <a:round/>
                      <a:headEnd type="none" w="med" len="med"/>
                      <a:tailEnd type="none" w="med" len="med"/>
                    </a:lnR>
                    <a:lnT w="9525" cap="flat" cmpd="sng" algn="ctr">
                      <a:solidFill>
                        <a:srgbClr val="C9DDE0"/>
                      </a:solidFill>
                      <a:prstDash val="solid"/>
                      <a:round/>
                      <a:headEnd type="none" w="med" len="med"/>
                      <a:tailEnd type="none" w="med" len="med"/>
                    </a:lnT>
                    <a:lnB w="9525" cap="flat" cmpd="sng" algn="ctr">
                      <a:solidFill>
                        <a:srgbClr val="C9DDE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Zerde ZhI frazeologizm">
  <a:themeElements>
    <a:clrScheme name="Zerde ZhI frazeologizm">
      <a:dk1>
        <a:srgbClr val="1B2A30"/>
      </a:dk1>
      <a:lt1>
        <a:srgbClr val="FFFFFF"/>
      </a:lt1>
      <a:dk2>
        <a:srgbClr val="0B3C49"/>
      </a:dk2>
      <a:lt2>
        <a:srgbClr val="EAF5F6"/>
      </a:lt2>
      <a:accent1>
        <a:srgbClr val="00A3B4"/>
      </a:accent1>
      <a:accent2>
        <a:srgbClr val="E8A900"/>
      </a:accent2>
      <a:accent3>
        <a:srgbClr val="D64545"/>
      </a:accent3>
      <a:accent4>
        <a:srgbClr val="2E8B57"/>
      </a:accent4>
      <a:accent5>
        <a:srgbClr val="5B6B73"/>
      </a:accent5>
      <a:accent6>
        <a:srgbClr val="7A5195"/>
      </a:accent6>
      <a:hlink>
        <a:srgbClr val="00A3B4"/>
      </a:hlink>
      <a:folHlink>
        <a:srgbClr val="7A5195"/>
      </a:folHlink>
    </a:clrScheme>
    <a:fontScheme name="Zerde ZhI frazeologizm">
      <a:majorFont>
        <a:latin typeface="Times New Roman"/>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ЖИ қазақтың тұрақты тіркестерін қалай түсіндіреді?</dc:title>
  <dc:subject>PptxGenJS Presentation</dc:subject>
  <dc:creator>PptxGenJS</dc:creator>
  <cp:lastModifiedBy>PptxGenJS</cp:lastModifiedBy>
  <cp:revision>1</cp:revision>
  <dcterms:created xsi:type="dcterms:W3CDTF">2026-10-03T04:30:45Z</dcterms:created>
  <dcterms:modified xsi:type="dcterms:W3CDTF">2026-10-03T04:30:45Z</dcterms:modified>
</cp:coreProperties>
</file>