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Абай</c:v>
                </c:pt>
              </c:strCache>
            </c:strRef>
          </c:tx>
          <c:spPr>
            <a:solidFill>
              <a:srgbClr val="2F5D8A"/>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Sheet1!$A$2:$A$8</c:f>
              <c:multiLvlStrCache>
                <c:ptCount val="7"/>
                <c:lvl>
                  <c:pt idx="0">
                    <c:v>Білім, ақыл</c:v>
                  </c:pt>
                  <c:pt idx="1">
                    <c:v>Ар, адалдық</c:v>
                  </c:pt>
                  <c:pt idx="2">
                    <c:v>Мейірім</c:v>
                  </c:pt>
                  <c:pt idx="3">
                    <c:v>Еңбек, қайрат</c:v>
                  </c:pt>
                  <c:pt idx="4">
                    <c:v>Өзіне есеп беру</c:v>
                  </c:pt>
                  <c:pt idx="5">
                    <c:v>Достық, қоғам</c:v>
                  </c:pt>
                  <c:pt idx="6">
                    <c:v>Жаман әдеттен сақтану</c:v>
                  </c:pt>
                </c:lvl>
              </c:multiLvlStrCache>
            </c:multiLvlStrRef>
          </c:cat>
          <c:val>
            <c:numRef>
              <c:f>Sheet1!$B$2:$B$8</c:f>
              <c:numCache>
                <c:formatCode>General</c:formatCode>
                <c:ptCount val="7"/>
                <c:pt idx="0">
                  <c:v>9</c:v>
                </c:pt>
                <c:pt idx="1">
                  <c:v>2</c:v>
                </c:pt>
                <c:pt idx="2">
                  <c:v>2</c:v>
                </c:pt>
                <c:pt idx="3">
                  <c:v>6</c:v>
                </c:pt>
                <c:pt idx="4">
                  <c:v>3</c:v>
                </c:pt>
                <c:pt idx="5">
                  <c:v>3</c:v>
                </c:pt>
                <c:pt idx="6">
                  <c:v>3</c:v>
                </c:pt>
              </c:numCache>
            </c:numRef>
          </c:val>
        </c:ser>
        <c:ser>
          <c:idx val="1"/>
          <c:order val="1"/>
          <c:tx>
            <c:strRef>
              <c:f>Sheet1!$C$1</c:f>
              <c:strCache>
                <c:ptCount val="1"/>
                <c:pt idx="0">
                  <c:v>Пушкин</c:v>
                </c:pt>
              </c:strCache>
            </c:strRef>
          </c:tx>
          <c:spPr>
            <a:solidFill>
              <a:srgbClr val="C8932E"/>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Sheet1!$A$2:$A$8</c:f>
              <c:multiLvlStrCache>
                <c:ptCount val="7"/>
                <c:lvl>
                  <c:pt idx="0">
                    <c:v>Білім, ақыл</c:v>
                  </c:pt>
                  <c:pt idx="1">
                    <c:v>Ар, адалдық</c:v>
                  </c:pt>
                  <c:pt idx="2">
                    <c:v>Мейірім</c:v>
                  </c:pt>
                  <c:pt idx="3">
                    <c:v>Еңбек, қайрат</c:v>
                  </c:pt>
                  <c:pt idx="4">
                    <c:v>Өзіне есеп беру</c:v>
                  </c:pt>
                  <c:pt idx="5">
                    <c:v>Достық, қоғам</c:v>
                  </c:pt>
                  <c:pt idx="6">
                    <c:v>Жаман әдеттен сақтану</c:v>
                  </c:pt>
                </c:lvl>
              </c:multiLvlStrCache>
            </c:multiLvlStrRef>
          </c:cat>
          <c:val>
            <c:numRef>
              <c:f>Sheet1!$C$2:$C$8</c:f>
              <c:numCache>
                <c:formatCode>General</c:formatCode>
                <c:ptCount val="7"/>
                <c:pt idx="0">
                  <c:v>1</c:v>
                </c:pt>
                <c:pt idx="1">
                  <c:v>6</c:v>
                </c:pt>
                <c:pt idx="2">
                  <c:v>5</c:v>
                </c:pt>
                <c:pt idx="3">
                  <c:v>3</c:v>
                </c:pt>
                <c:pt idx="4">
                  <c:v>4</c:v>
                </c:pt>
                <c:pt idx="5">
                  <c:v>4</c:v>
                </c:pt>
                <c:pt idx="6">
                  <c:v>6</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majorUnit val="2"/>
      </c:valAx>
      <c:spPr>
        <a:noFill/>
        <a:ln>
          <a:noFill/>
        </a:ln>
        <a:effectLst/>
      </c:spPr>
    </c:plotArea>
    <c:legend>
      <c:legendPos val="t"/>
      <c:overlay val="0"/>
      <c:txPr>
        <a:bodyPr/>
        <a:lstStyle/>
        <a:p>
          <a:pPr>
            <a:defRPr sz="1200">
              <a:solidFill>
                <a:srgbClr val="1F293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Құрметті әділқазылар алқасы! Менің жобамның тақырыбы – «Абай мен Пушкин шығармаларындағы жас ұрпақ тәрбиесі және оның қазіргі қоғамдағы маңызы». Мен екі ұлы ақынның тәрбиелік ойын бүгінгі жасөспірім күнделікті қолдана алатын нақты құралға айналдыруға тырыстым.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Бүгінгі оқушы адалдықтың, мейірімнің жақсы қасиет екенін жақсы біледі. Бірақ бақылау жұмысында көшіруге, чаттағы қорлауға немесе достардың қысымына тап болғанда, қандай қадам жасау керегін бірден таба алмайды. Психологияда мұны моральдық білім мен әрекет арасындағы алшақтық деп атайды. Сондықтан классиктердің тәрбиелік ойын бүгінгі шешімдер тіліне аудару маңызды.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Зерттеу мәселесі: екі ақынның тәрбиелік идеяларын жай ұқсастықтарды санамалаумен шектемей, жасөспірім қолдана алатын нақты алгоритмге қалай айналдыруға болады? Мақсатым – екі ақынның ортақ және дара ұстанымдарын анықтап, солардың негізінде тәрбие моделін ұсыну. Болжамым: егер ұстанымдар қадамдық алгоритм түрінде берілсе, оқушы оларды нақты әрекетке жиірек айналдырады.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Осы мақсатқа жету үшін бес міндет қойдым. Алдымен ғылыми әдебиетке шолу жасадым. Содан кейін екі ақынның 22 шығармасынан корпус құрып, жеті кодтан тұратын талдау жүйесін әзірледім. Үшіншіден, ақындардың ұстанымдарын салыстырдым. Төртіншіден, модель мен алгоритм құрастырдым. Соңында оны нақты жағдаяттарға қолданып, сыныпта сынап көрдім.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Зерттеу бес кезеңнен тұрды. Абайдан 11, Пушкиннен 11 мәтін бірлігін таңдап алдым. Әр мәтінді жеті код бойынша талдадым: білім, ар, мейірім, еңбек, өзіне есеп беру, қоғам және жаман әдеттен сақтану. Кодтаудың объективтілігі үшін нұсқаулық жасадым, ал матрицаны жетекшім тәуелсіз тексерді. Пушкин шығармаларын түпнұсқада оқып, үзінділерді өзім аудардым.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Абайдың тәрбие туралы ойын төрт ұстанымға топтастырдым. Біріншісі – адам білімді болып тумайды, оны еңбекпен табады. Екіншісі – білім мақтан үшін емес, адамгершілік үшін керек. Үшіншісі – толық адам ақыл, қайрат және жүректің бірлігінен туады. Төртіншісі – адам өзінен өзі есеп алып отыруы керек. Абай ақыл-кеңесті тура айтады: бес дұшпаннан қаш, бес асыл іске ұмтыл.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Пушкин тәрбиелік ойын басқаша жеткізеді: ол ақыл айтпай, кейіпкерді таңдау алдына қояды. «Капитан қызында» Гринёв ар-намысын сақтайды, ал Швабрин ақылды болса да, арын сатады. Бұл – білімнің өзі адамгершілікке кепілдік бермейтінін көрсетеді. Пушкин мейірімді, еңбекқорлықты, берген сөзге адалдықты және достықты да кейіпкерлері арқылы көрсетеді.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Кодтау нәтижесі диаграммада көрсетілген. Біріншіден, жеті кодтың барлығы екі ақында да кездеседі, яғни олардың тәрбие туралы түсінігі ортақ. Екіншіден, екпін әр түрлі: Абайда білім мен еңбек басым, ал Пушкинде ар-намыс, мейірім және жаман мінездің салдары жиі көрінеді. Ең маңызды нәтиже: екі ақынды бірге алғанда әр құндылық біркелкі қамтылады, яғни олар бір-бірін толықтырады.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Салыстыру нәтижесінде екі ақынның ортақ ұстанымы – адамгершілік білімнен жоғары екені анықталды. Абайда ғылым билікті жүрекке береді, ал Пушкинде ақылды, бірақ арсыз Швабрин жеңіліс табады. Айырмашылық тәсілде: Абай не істеу керегін айтады, Пушкин таңдаудың қалай жасалатынын көрсетеді. Осы екеуін біріктіру – менің моделімнің негізі.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Зерттеу барысында қызық сәйкестік таптым: американдық ғалым Томас Ликона мінезді жақсылықты білу, қалау және істеу деп сипаттайды. Бұл дәл Абайдың ақыл, жүрек және қайрат үштігі. Осының негізінде үш деңгейлі модель құрдым: бірінші деңгей – құндылықтар, екінші – шешім алгоритмі, үшінші – нақты өмірлік жағдаяттар.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Жобаның басты нәтижесі – «ТОҚТА» алгоритмі. Бұл сөз бес қадамның бас әріптерінен құралған және өзі бірінші қадамды еске салады. Т – тоқта, асықпа. О – ойлан: қай құндылық сынға түсіп тұр? Қ – қайтарымын көр: салдары өзіңе, өзгеге, ертеңіңе қандай? Т – таңда да, істе: «егер... онда мен...» деп нақты жоспар құр. А – артынан есеп ал, Абай айтқандай. Әр қадам Абай мен Пушкиннің мәтіндеріне және психология ғылымына негізделген.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Алгоритмді төрт жағдаятқа қолдандым. Мысалы, көшіріп жазу кезінде оқушы телефонды сөмкесіне салып, түсінбеген тапсырманы кейін мұғалімнен сұрайды. Чаттағы қорлауда – жәбірленушіні қолдап, ересекке айтады. Топ қысымында – бас тартып, балама ұсынады. Ал жасанды интеллектті дайын мәтін үшін емес, жоспар құру үшін ғана пайдаланады. Әр шешімнің артында Абай мен Пушкиннің нақты ойы тұр.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[БҰЛ СЛАЙДТЫ АПРОБАЦИЯДАН КЕЙІН ТОЛТЫРЫҢЫЗ.] Модельді сыныпта екі сабақ көлемінде сынап көрдім. Оқушылар үш жағдаятқа сабаққа дейін және кейін жазбаша жауап берді. Жауаптарды 0-ден 2-ге дейінгі шкаламен бағаладым: 2 балл – құндылықты атап қана қоймай, нақты әрекет ұсынған жауап. Нәтижесінде ... [нақты сандарды айтыңыз].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Қорытындылай келе: екі ақынның тәрбиелік өрісі ортақ, ал айырмашылық тәсілде. Осының негізінде «Ар – Ақыл – Жүрек» моделі мен «ТОҚТА» алгоритмі ұсынылды. Жұмыс нәтижелерін әдебиет сабақтарында, сынып сағаттарында, психолог тренингтерінде және отбасында қолдануға болады. Болашақта зерттеуді бақылау тобы бар экспериментпен жалғастырғым келеді.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Абай айтқандай, адамның адамшылығы істі бастауынан білінеді. Менің алгоритмім де дұрыс шешімнің дәл осы алғашқы қадамына арналған. Назарларыңызға рахмет! Сұрақтарыңызға жауап беруге дайынмын.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365760"/>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«Дарын» ғылыми жобалар конкурсы  ·  Секция: Қазақ әдебиеті</a:t>
            </a:r>
            <a:endParaRPr lang="en-US" sz="1400" dirty="0"/>
          </a:p>
        </p:txBody>
      </p:sp>
      <p:sp>
        <p:nvSpPr>
          <p:cNvPr id="3" name="Text 1"/>
          <p:cNvSpPr txBox="1"/>
          <p:nvPr/>
        </p:nvSpPr>
        <p:spPr>
          <a:xfrm>
            <a:off x="731520" y="1371600"/>
            <a:ext cx="7498080" cy="2377440"/>
          </a:xfrm>
          <a:prstGeom prst="rect">
            <a:avLst/>
          </a:prstGeom>
          <a:noFill/>
          <a:ln/>
        </p:spPr>
        <p:txBody>
          <a:bodyPr wrap="square" lIns="0" tIns="0" rIns="0" bIns="0" rtlCol="0" anchor="t"/>
          <a:lstStyle/>
          <a:p>
            <a:pPr indent="0" marL="0">
              <a:buNone/>
            </a:pPr>
            <a:r>
              <a:rPr lang="en-US" sz="3800" b="1" dirty="0">
                <a:solidFill>
                  <a:srgbClr val="FFFFFF"/>
                </a:solidFill>
                <a:latin typeface="Times New Roman" pitchFamily="34" charset="0"/>
                <a:ea typeface="Times New Roman" pitchFamily="34" charset="-122"/>
                <a:cs typeface="Times New Roman" pitchFamily="34" charset="-120"/>
              </a:rPr>
              <a:t>Абай мен Пушкин шығармаларындағы жас ұрпақ тәрбиесі және оның қазіргі қоғамдағы маңызы</a:t>
            </a:r>
            <a:endParaRPr lang="en-US" sz="3800" dirty="0"/>
          </a:p>
        </p:txBody>
      </p:sp>
      <p:sp>
        <p:nvSpPr>
          <p:cNvPr id="4" name="Text 2"/>
          <p:cNvSpPr txBox="1"/>
          <p:nvPr/>
        </p:nvSpPr>
        <p:spPr>
          <a:xfrm>
            <a:off x="731520" y="3840480"/>
            <a:ext cx="7498080" cy="457200"/>
          </a:xfrm>
          <a:prstGeom prst="rect">
            <a:avLst/>
          </a:prstGeom>
          <a:noFill/>
          <a:ln/>
        </p:spPr>
        <p:txBody>
          <a:bodyPr wrap="square" lIns="0" tIns="0" rIns="0" bIns="0" rtlCol="0" anchor="ctr"/>
          <a:lstStyle/>
          <a:p>
            <a:pPr indent="0" marL="0">
              <a:buNone/>
            </a:pPr>
            <a:r>
              <a:rPr lang="en-US" sz="1700" i="1" dirty="0">
                <a:solidFill>
                  <a:srgbClr val="C8932E"/>
                </a:solidFill>
                <a:latin typeface="Arial" pitchFamily="34" charset="0"/>
                <a:ea typeface="Arial" pitchFamily="34" charset="-122"/>
                <a:cs typeface="Arial" pitchFamily="34" charset="-120"/>
              </a:rPr>
              <a:t>Ұлы классиктердің тәрбиелік ойын жасөспірімнің шешім тіліне аудару</a:t>
            </a:r>
            <a:endParaRPr lang="en-US" sz="1700" dirty="0"/>
          </a:p>
        </p:txBody>
      </p:sp>
      <p:sp>
        <p:nvSpPr>
          <p:cNvPr id="5" name="Text 3"/>
          <p:cNvSpPr txBox="1"/>
          <p:nvPr/>
        </p:nvSpPr>
        <p:spPr>
          <a:xfrm>
            <a:off x="731520" y="4846320"/>
            <a:ext cx="7498080" cy="118872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Arial" pitchFamily="34" charset="0"/>
                <a:ea typeface="Arial" pitchFamily="34" charset="-122"/>
                <a:cs typeface="Arial" pitchFamily="34" charset="-120"/>
              </a:rPr>
              <a:t>Орындаған: </a:t>
            </a:r>
            <a:pPr indent="0" marL="0">
              <a:spcAft>
                <a:spcPts val="400"/>
              </a:spcAft>
              <a:buNone/>
            </a:pPr>
            <a:r>
              <a:rPr lang="en-US" sz="1500" dirty="0">
                <a:solidFill>
                  <a:srgbClr val="1F2937"/>
                </a:solidFill>
                <a:highlight>
                  <a:srgbClr val="FFFF00"/>
                </a:highlight>
                <a:latin typeface="Arial" pitchFamily="34" charset="0"/>
                <a:ea typeface="Arial" pitchFamily="34" charset="-122"/>
                <a:cs typeface="Arial" pitchFamily="34" charset="-120"/>
              </a:rPr>
              <a:t>[Оқушының аты-жөні], [__] сынып</a:t>
            </a:r>
            <a:pPr indent="0" marL="0">
              <a:spcAft>
                <a:spcPts val="400"/>
              </a:spcAft>
              <a:buNone/>
            </a:pPr>
            <a:endParaRPr lang="en-US" sz="1500" dirty="0"/>
          </a:p>
          <a:p>
            <a:pPr indent="0" marL="0">
              <a:spcAft>
                <a:spcPts val="400"/>
              </a:spcAft>
              <a:buNone/>
            </a:pPr>
            <a:r>
              <a:rPr lang="en-US" sz="1500" b="1" dirty="0">
                <a:solidFill>
                  <a:srgbClr val="FFFFFF"/>
                </a:solidFill>
                <a:latin typeface="Arial" pitchFamily="34" charset="0"/>
                <a:ea typeface="Arial" pitchFamily="34" charset="-122"/>
                <a:cs typeface="Arial" pitchFamily="34" charset="-120"/>
              </a:rPr>
              <a:t>Жетекшісі: </a:t>
            </a:r>
            <a:pPr indent="0" marL="0">
              <a:spcAft>
                <a:spcPts val="400"/>
              </a:spcAft>
              <a:buNone/>
            </a:pPr>
            <a:r>
              <a:rPr lang="en-US" sz="1500" dirty="0">
                <a:solidFill>
                  <a:srgbClr val="1F2937"/>
                </a:solidFill>
                <a:highlight>
                  <a:srgbClr val="FFFF00"/>
                </a:highlight>
                <a:latin typeface="Arial" pitchFamily="34" charset="0"/>
                <a:ea typeface="Arial" pitchFamily="34" charset="-122"/>
                <a:cs typeface="Arial" pitchFamily="34" charset="-120"/>
              </a:rPr>
              <a:t>[Аты-жөні, лауазымы]</a:t>
            </a:r>
            <a:pPr indent="0" marL="0">
              <a:spcAft>
                <a:spcPts val="400"/>
              </a:spcAft>
              <a:buNone/>
            </a:pPr>
            <a:endParaRPr lang="en-US" sz="1500" dirty="0"/>
          </a:p>
          <a:p>
            <a:pPr indent="0" marL="0">
              <a:spcAft>
                <a:spcPts val="400"/>
              </a:spcAft>
              <a:buNone/>
            </a:pPr>
            <a:r>
              <a:rPr lang="en-US" sz="1500" dirty="0">
                <a:solidFill>
                  <a:srgbClr val="1F2937"/>
                </a:solidFill>
                <a:highlight>
                  <a:srgbClr val="FFFF00"/>
                </a:highlight>
                <a:latin typeface="Arial" pitchFamily="34" charset="0"/>
                <a:ea typeface="Arial" pitchFamily="34" charset="-122"/>
                <a:cs typeface="Arial" pitchFamily="34" charset="-120"/>
              </a:rPr>
              <a:t>[Мектеп атауы], [Қала] – 2026</a:t>
            </a:r>
            <a:endParaRPr lang="en-US" sz="1500" dirty="0"/>
          </a:p>
        </p:txBody>
      </p:sp>
      <p:sp>
        <p:nvSpPr>
          <p:cNvPr id="6" name="Shape 4"/>
          <p:cNvSpPr/>
          <p:nvPr/>
        </p:nvSpPr>
        <p:spPr>
          <a:xfrm>
            <a:off x="9692640" y="1097280"/>
            <a:ext cx="822960" cy="822960"/>
          </a:xfrm>
          <a:prstGeom prst="ellipse">
            <a:avLst/>
          </a:prstGeom>
          <a:solidFill>
            <a:srgbClr val="2F5D8A"/>
          </a:solidFill>
          <a:ln w="19050">
            <a:solidFill>
              <a:srgbClr val="FFFFFF"/>
            </a:solidFill>
            <a:prstDash val="solid"/>
          </a:ln>
        </p:spPr>
      </p:sp>
      <p:sp>
        <p:nvSpPr>
          <p:cNvPr id="7" name="Text 5"/>
          <p:cNvSpPr txBox="1"/>
          <p:nvPr/>
        </p:nvSpPr>
        <p:spPr>
          <a:xfrm>
            <a:off x="9692640" y="109728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Т</a:t>
            </a:r>
            <a:endParaRPr lang="en-US" sz="3000" dirty="0"/>
          </a:p>
        </p:txBody>
      </p:sp>
      <p:sp>
        <p:nvSpPr>
          <p:cNvPr id="8" name="Shape 6"/>
          <p:cNvSpPr/>
          <p:nvPr/>
        </p:nvSpPr>
        <p:spPr>
          <a:xfrm>
            <a:off x="9692640" y="2084832"/>
            <a:ext cx="822960" cy="822960"/>
          </a:xfrm>
          <a:prstGeom prst="ellipse">
            <a:avLst/>
          </a:prstGeom>
          <a:solidFill>
            <a:srgbClr val="2F5D8A"/>
          </a:solidFill>
          <a:ln w="19050">
            <a:solidFill>
              <a:srgbClr val="FFFFFF"/>
            </a:solidFill>
            <a:prstDash val="solid"/>
          </a:ln>
        </p:spPr>
      </p:sp>
      <p:sp>
        <p:nvSpPr>
          <p:cNvPr id="9" name="Text 7"/>
          <p:cNvSpPr txBox="1"/>
          <p:nvPr/>
        </p:nvSpPr>
        <p:spPr>
          <a:xfrm>
            <a:off x="9692640" y="2084832"/>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О</a:t>
            </a:r>
            <a:endParaRPr lang="en-US" sz="3000" dirty="0"/>
          </a:p>
        </p:txBody>
      </p:sp>
      <p:sp>
        <p:nvSpPr>
          <p:cNvPr id="10" name="Shape 8"/>
          <p:cNvSpPr/>
          <p:nvPr/>
        </p:nvSpPr>
        <p:spPr>
          <a:xfrm>
            <a:off x="9692640" y="3072384"/>
            <a:ext cx="822960" cy="822960"/>
          </a:xfrm>
          <a:prstGeom prst="ellipse">
            <a:avLst/>
          </a:prstGeom>
          <a:solidFill>
            <a:srgbClr val="C8932E"/>
          </a:solidFill>
          <a:ln w="19050">
            <a:solidFill>
              <a:srgbClr val="FFFFFF"/>
            </a:solidFill>
            <a:prstDash val="solid"/>
          </a:ln>
        </p:spPr>
      </p:sp>
      <p:sp>
        <p:nvSpPr>
          <p:cNvPr id="11" name="Text 9"/>
          <p:cNvSpPr txBox="1"/>
          <p:nvPr/>
        </p:nvSpPr>
        <p:spPr>
          <a:xfrm>
            <a:off x="9692640" y="3072384"/>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Қ</a:t>
            </a:r>
            <a:endParaRPr lang="en-US" sz="3000" dirty="0"/>
          </a:p>
        </p:txBody>
      </p:sp>
      <p:sp>
        <p:nvSpPr>
          <p:cNvPr id="12" name="Shape 10"/>
          <p:cNvSpPr/>
          <p:nvPr/>
        </p:nvSpPr>
        <p:spPr>
          <a:xfrm>
            <a:off x="9692640" y="4059936"/>
            <a:ext cx="822960" cy="822960"/>
          </a:xfrm>
          <a:prstGeom prst="ellipse">
            <a:avLst/>
          </a:prstGeom>
          <a:solidFill>
            <a:srgbClr val="2F7D5B"/>
          </a:solidFill>
          <a:ln w="19050">
            <a:solidFill>
              <a:srgbClr val="FFFFFF"/>
            </a:solidFill>
            <a:prstDash val="solid"/>
          </a:ln>
        </p:spPr>
      </p:sp>
      <p:sp>
        <p:nvSpPr>
          <p:cNvPr id="13" name="Text 11"/>
          <p:cNvSpPr txBox="1"/>
          <p:nvPr/>
        </p:nvSpPr>
        <p:spPr>
          <a:xfrm>
            <a:off x="9692640" y="4059936"/>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Т</a:t>
            </a:r>
            <a:endParaRPr lang="en-US" sz="3000" dirty="0"/>
          </a:p>
        </p:txBody>
      </p:sp>
      <p:sp>
        <p:nvSpPr>
          <p:cNvPr id="14" name="Shape 12"/>
          <p:cNvSpPr/>
          <p:nvPr/>
        </p:nvSpPr>
        <p:spPr>
          <a:xfrm>
            <a:off x="9692640" y="5047488"/>
            <a:ext cx="822960" cy="822960"/>
          </a:xfrm>
          <a:prstGeom prst="ellipse">
            <a:avLst/>
          </a:prstGeom>
          <a:solidFill>
            <a:srgbClr val="2F7D5B"/>
          </a:solidFill>
          <a:ln w="19050">
            <a:solidFill>
              <a:srgbClr val="FFFFFF"/>
            </a:solidFill>
            <a:prstDash val="solid"/>
          </a:ln>
        </p:spPr>
      </p:sp>
      <p:sp>
        <p:nvSpPr>
          <p:cNvPr id="15" name="Text 13"/>
          <p:cNvSpPr txBox="1"/>
          <p:nvPr/>
        </p:nvSpPr>
        <p:spPr>
          <a:xfrm>
            <a:off x="9692640" y="5047488"/>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А</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Тақырыптың өзектілігі</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Жасөспірімнің басты қиындығы – ақпараттың аздығы емес, құндылықты әрекетке айналдыра алмау</a:t>
            </a:r>
            <a:endParaRPr lang="en-US" sz="1500" dirty="0"/>
          </a:p>
        </p:txBody>
      </p:sp>
      <p:sp>
        <p:nvSpPr>
          <p:cNvPr id="4" name="Shape 2"/>
          <p:cNvSpPr/>
          <p:nvPr/>
        </p:nvSpPr>
        <p:spPr>
          <a:xfrm>
            <a:off x="548640" y="1737360"/>
            <a:ext cx="4754880" cy="4206240"/>
          </a:xfrm>
          <a:prstGeom prst="roundRect">
            <a:avLst>
              <a:gd name="adj" fmla="val 2609"/>
            </a:avLst>
          </a:prstGeom>
          <a:solidFill>
            <a:srgbClr val="1F3A5F"/>
          </a:solidFill>
          <a:ln w="12700">
            <a:solidFill>
              <a:srgbClr val="1F3A5F"/>
            </a:solidFill>
            <a:prstDash val="solid"/>
          </a:ln>
        </p:spPr>
      </p:sp>
      <p:sp>
        <p:nvSpPr>
          <p:cNvPr id="5" name="Text 3"/>
          <p:cNvSpPr txBox="1"/>
          <p:nvPr/>
        </p:nvSpPr>
        <p:spPr>
          <a:xfrm>
            <a:off x="822960" y="2011680"/>
            <a:ext cx="4206240" cy="1280160"/>
          </a:xfrm>
          <a:prstGeom prst="rect">
            <a:avLst/>
          </a:prstGeom>
          <a:noFill/>
          <a:ln/>
        </p:spPr>
        <p:txBody>
          <a:bodyPr wrap="square" lIns="0" tIns="0" rIns="0" bIns="0" rtlCol="0" anchor="t"/>
          <a:lstStyle/>
          <a:p>
            <a:pPr indent="0" marL="0">
              <a:buNone/>
            </a:pPr>
            <a:r>
              <a:rPr lang="en-US" sz="2600" i="1" dirty="0">
                <a:solidFill>
                  <a:srgbClr val="FFFFFF"/>
                </a:solidFill>
                <a:latin typeface="Times New Roman" pitchFamily="34" charset="0"/>
                <a:ea typeface="Times New Roman" pitchFamily="34" charset="-122"/>
                <a:cs typeface="Times New Roman" pitchFamily="34" charset="-120"/>
              </a:rPr>
              <a:t>«Адал болу керек екенін білемін...»</a:t>
            </a:r>
            <a:endParaRPr lang="en-US" sz="2600" dirty="0"/>
          </a:p>
        </p:txBody>
      </p:sp>
      <p:sp>
        <p:nvSpPr>
          <p:cNvPr id="6" name="Text 4"/>
          <p:cNvSpPr txBox="1"/>
          <p:nvPr/>
        </p:nvSpPr>
        <p:spPr>
          <a:xfrm>
            <a:off x="822960" y="3291840"/>
            <a:ext cx="4206240" cy="914400"/>
          </a:xfrm>
          <a:prstGeom prst="rect">
            <a:avLst/>
          </a:prstGeom>
          <a:noFill/>
          <a:ln/>
        </p:spPr>
        <p:txBody>
          <a:bodyPr wrap="square" lIns="0" tIns="0" rIns="0" bIns="0" rtlCol="0" anchor="t"/>
          <a:lstStyle/>
          <a:p>
            <a:pPr indent="0" marL="0">
              <a:buNone/>
            </a:pPr>
            <a:r>
              <a:rPr lang="en-US" sz="2000" dirty="0">
                <a:solidFill>
                  <a:srgbClr val="CADCFC"/>
                </a:solidFill>
                <a:latin typeface="Times New Roman" pitchFamily="34" charset="0"/>
                <a:ea typeface="Times New Roman" pitchFamily="34" charset="-122"/>
                <a:cs typeface="Times New Roman" pitchFamily="34" charset="-120"/>
              </a:rPr>
              <a:t>...бірақ қиын сәтте не істеу керегін бірден таба алмаймын.</a:t>
            </a:r>
            <a:endParaRPr lang="en-US" sz="2000" dirty="0"/>
          </a:p>
        </p:txBody>
      </p:sp>
      <p:sp>
        <p:nvSpPr>
          <p:cNvPr id="7" name="Text 5"/>
          <p:cNvSpPr txBox="1"/>
          <p:nvPr/>
        </p:nvSpPr>
        <p:spPr>
          <a:xfrm>
            <a:off x="822960" y="4572000"/>
            <a:ext cx="4206240" cy="109728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Психологияда бұл «моральдық білім мен әрекет арасындағы алшақтық» деп аталады (A. Blasi, 1980).</a:t>
            </a:r>
            <a:endParaRPr lang="en-US" sz="1300" dirty="0"/>
          </a:p>
        </p:txBody>
      </p:sp>
      <p:sp>
        <p:nvSpPr>
          <p:cNvPr id="8" name="Shape 6"/>
          <p:cNvSpPr/>
          <p:nvPr/>
        </p:nvSpPr>
        <p:spPr>
          <a:xfrm>
            <a:off x="5852160" y="1783080"/>
            <a:ext cx="914400" cy="914400"/>
          </a:xfrm>
          <a:prstGeom prst="ellipse">
            <a:avLst/>
          </a:prstGeom>
          <a:solidFill>
            <a:srgbClr val="C8932E"/>
          </a:solidFill>
          <a:ln w="12700">
            <a:solidFill>
              <a:srgbClr val="C8932E"/>
            </a:solidFill>
            <a:prstDash val="solid"/>
          </a:ln>
        </p:spPr>
      </p:sp>
      <p:pic>
        <p:nvPicPr>
          <p:cNvPr id="9" name="Image 0" descr="preencoded.png">    </p:cNvPr>
          <p:cNvPicPr>
            <a:picLocks noChangeAspect="1"/>
          </p:cNvPicPr>
          <p:nvPr/>
        </p:nvPicPr>
        <p:blipFill>
          <a:blip r:embed="rId1"/>
          <a:stretch>
            <a:fillRect/>
          </a:stretch>
        </p:blipFill>
        <p:spPr>
          <a:xfrm>
            <a:off x="6080760" y="2011680"/>
            <a:ext cx="457200" cy="457200"/>
          </a:xfrm>
          <a:prstGeom prst="rect">
            <a:avLst/>
          </a:prstGeom>
        </p:spPr>
      </p:pic>
      <p:sp>
        <p:nvSpPr>
          <p:cNvPr id="10" name="Text 7"/>
          <p:cNvSpPr txBox="1"/>
          <p:nvPr/>
        </p:nvSpPr>
        <p:spPr>
          <a:xfrm>
            <a:off x="7040880" y="1801368"/>
            <a:ext cx="4572000" cy="411480"/>
          </a:xfrm>
          <a:prstGeom prst="rect">
            <a:avLst/>
          </a:prstGeom>
          <a:noFill/>
          <a:ln/>
        </p:spPr>
        <p:txBody>
          <a:bodyPr wrap="square" lIns="0" tIns="0" rIns="0" bIns="0" rtlCol="0" anchor="ctr"/>
          <a:lstStyle/>
          <a:p>
            <a:pPr indent="0" marL="0">
              <a:buNone/>
            </a:pPr>
            <a:r>
              <a:rPr lang="en-US" sz="1900" b="1" dirty="0">
                <a:solidFill>
                  <a:srgbClr val="1F2937"/>
                </a:solidFill>
                <a:latin typeface="Arial" pitchFamily="34" charset="0"/>
                <a:ea typeface="Arial" pitchFamily="34" charset="-122"/>
                <a:cs typeface="Arial" pitchFamily="34" charset="-120"/>
              </a:rPr>
              <a:t>Көшіріп жазу</a:t>
            </a:r>
            <a:endParaRPr lang="en-US" sz="1900" dirty="0"/>
          </a:p>
        </p:txBody>
      </p:sp>
      <p:sp>
        <p:nvSpPr>
          <p:cNvPr id="11" name="Text 8"/>
          <p:cNvSpPr txBox="1"/>
          <p:nvPr/>
        </p:nvSpPr>
        <p:spPr>
          <a:xfrm>
            <a:off x="7040880" y="2240280"/>
            <a:ext cx="4572000" cy="411480"/>
          </a:xfrm>
          <a:prstGeom prst="rect">
            <a:avLst/>
          </a:prstGeom>
          <a:noFill/>
          <a:ln/>
        </p:spPr>
        <p:txBody>
          <a:bodyPr wrap="square" lIns="0" tIns="0" rIns="0" bIns="0" rtlCol="0" anchor="ctr"/>
          <a:lstStyle/>
          <a:p>
            <a:pPr indent="0" marL="0">
              <a:buNone/>
            </a:pPr>
            <a:r>
              <a:rPr lang="en-US" sz="1500" dirty="0">
                <a:solidFill>
                  <a:srgbClr val="5B6472"/>
                </a:solidFill>
                <a:latin typeface="Arial" pitchFamily="34" charset="0"/>
                <a:ea typeface="Arial" pitchFamily="34" charset="-122"/>
                <a:cs typeface="Arial" pitchFamily="34" charset="-120"/>
              </a:rPr>
              <a:t>Бақылау жұмысында досың дайын жауапты жіберді</a:t>
            </a:r>
            <a:endParaRPr lang="en-US" sz="1500" dirty="0"/>
          </a:p>
        </p:txBody>
      </p:sp>
      <p:sp>
        <p:nvSpPr>
          <p:cNvPr id="12" name="Shape 9"/>
          <p:cNvSpPr/>
          <p:nvPr/>
        </p:nvSpPr>
        <p:spPr>
          <a:xfrm>
            <a:off x="5852160" y="3200400"/>
            <a:ext cx="914400" cy="914400"/>
          </a:xfrm>
          <a:prstGeom prst="ellipse">
            <a:avLst/>
          </a:prstGeom>
          <a:solidFill>
            <a:srgbClr val="C8932E"/>
          </a:solidFill>
          <a:ln w="12700">
            <a:solidFill>
              <a:srgbClr val="C8932E"/>
            </a:solidFill>
            <a:prstDash val="solid"/>
          </a:ln>
        </p:spPr>
      </p:sp>
      <p:pic>
        <p:nvPicPr>
          <p:cNvPr id="13" name="Image 1" descr="preencoded.png">    </p:cNvPr>
          <p:cNvPicPr>
            <a:picLocks noChangeAspect="1"/>
          </p:cNvPicPr>
          <p:nvPr/>
        </p:nvPicPr>
        <p:blipFill>
          <a:blip r:embed="rId2"/>
          <a:stretch>
            <a:fillRect/>
          </a:stretch>
        </p:blipFill>
        <p:spPr>
          <a:xfrm>
            <a:off x="6080760" y="3429000"/>
            <a:ext cx="457200" cy="457200"/>
          </a:xfrm>
          <a:prstGeom prst="rect">
            <a:avLst/>
          </a:prstGeom>
        </p:spPr>
      </p:pic>
      <p:sp>
        <p:nvSpPr>
          <p:cNvPr id="14" name="Text 10"/>
          <p:cNvSpPr txBox="1"/>
          <p:nvPr/>
        </p:nvSpPr>
        <p:spPr>
          <a:xfrm>
            <a:off x="7040880" y="3218688"/>
            <a:ext cx="4572000" cy="411480"/>
          </a:xfrm>
          <a:prstGeom prst="rect">
            <a:avLst/>
          </a:prstGeom>
          <a:noFill/>
          <a:ln/>
        </p:spPr>
        <p:txBody>
          <a:bodyPr wrap="square" lIns="0" tIns="0" rIns="0" bIns="0" rtlCol="0" anchor="ctr"/>
          <a:lstStyle/>
          <a:p>
            <a:pPr indent="0" marL="0">
              <a:buNone/>
            </a:pPr>
            <a:r>
              <a:rPr lang="en-US" sz="1900" b="1" dirty="0">
                <a:solidFill>
                  <a:srgbClr val="1F2937"/>
                </a:solidFill>
                <a:latin typeface="Arial" pitchFamily="34" charset="0"/>
                <a:ea typeface="Arial" pitchFamily="34" charset="-122"/>
                <a:cs typeface="Arial" pitchFamily="34" charset="-120"/>
              </a:rPr>
              <a:t>Желідегі қорлау</a:t>
            </a:r>
            <a:endParaRPr lang="en-US" sz="1900" dirty="0"/>
          </a:p>
        </p:txBody>
      </p:sp>
      <p:sp>
        <p:nvSpPr>
          <p:cNvPr id="15" name="Text 11"/>
          <p:cNvSpPr txBox="1"/>
          <p:nvPr/>
        </p:nvSpPr>
        <p:spPr>
          <a:xfrm>
            <a:off x="7040880" y="3657600"/>
            <a:ext cx="4572000" cy="411480"/>
          </a:xfrm>
          <a:prstGeom prst="rect">
            <a:avLst/>
          </a:prstGeom>
          <a:noFill/>
          <a:ln/>
        </p:spPr>
        <p:txBody>
          <a:bodyPr wrap="square" lIns="0" tIns="0" rIns="0" bIns="0" rtlCol="0" anchor="ctr"/>
          <a:lstStyle/>
          <a:p>
            <a:pPr indent="0" marL="0">
              <a:buNone/>
            </a:pPr>
            <a:r>
              <a:rPr lang="en-US" sz="1500" dirty="0">
                <a:solidFill>
                  <a:srgbClr val="5B6472"/>
                </a:solidFill>
                <a:latin typeface="Arial" pitchFamily="34" charset="0"/>
                <a:ea typeface="Arial" pitchFamily="34" charset="-122"/>
                <a:cs typeface="Arial" pitchFamily="34" charset="-120"/>
              </a:rPr>
              <a:t>Чатта сыныптасты келеке етіп жатыр</a:t>
            </a:r>
            <a:endParaRPr lang="en-US" sz="1500" dirty="0"/>
          </a:p>
        </p:txBody>
      </p:sp>
      <p:sp>
        <p:nvSpPr>
          <p:cNvPr id="16" name="Shape 12"/>
          <p:cNvSpPr/>
          <p:nvPr/>
        </p:nvSpPr>
        <p:spPr>
          <a:xfrm>
            <a:off x="5852160" y="4617720"/>
            <a:ext cx="914400" cy="914400"/>
          </a:xfrm>
          <a:prstGeom prst="ellipse">
            <a:avLst/>
          </a:prstGeom>
          <a:solidFill>
            <a:srgbClr val="C8932E"/>
          </a:solidFill>
          <a:ln w="12700">
            <a:solidFill>
              <a:srgbClr val="C8932E"/>
            </a:solidFill>
            <a:prstDash val="solid"/>
          </a:ln>
        </p:spPr>
      </p:sp>
      <p:pic>
        <p:nvPicPr>
          <p:cNvPr id="17" name="Image 2" descr="preencoded.png">    </p:cNvPr>
          <p:cNvPicPr>
            <a:picLocks noChangeAspect="1"/>
          </p:cNvPicPr>
          <p:nvPr/>
        </p:nvPicPr>
        <p:blipFill>
          <a:blip r:embed="rId3"/>
          <a:stretch>
            <a:fillRect/>
          </a:stretch>
        </p:blipFill>
        <p:spPr>
          <a:xfrm>
            <a:off x="6080760" y="4846320"/>
            <a:ext cx="457200" cy="457200"/>
          </a:xfrm>
          <a:prstGeom prst="rect">
            <a:avLst/>
          </a:prstGeom>
        </p:spPr>
      </p:pic>
      <p:sp>
        <p:nvSpPr>
          <p:cNvPr id="18" name="Text 13"/>
          <p:cNvSpPr txBox="1"/>
          <p:nvPr/>
        </p:nvSpPr>
        <p:spPr>
          <a:xfrm>
            <a:off x="7040880" y="4636008"/>
            <a:ext cx="4572000" cy="411480"/>
          </a:xfrm>
          <a:prstGeom prst="rect">
            <a:avLst/>
          </a:prstGeom>
          <a:noFill/>
          <a:ln/>
        </p:spPr>
        <p:txBody>
          <a:bodyPr wrap="square" lIns="0" tIns="0" rIns="0" bIns="0" rtlCol="0" anchor="ctr"/>
          <a:lstStyle/>
          <a:p>
            <a:pPr indent="0" marL="0">
              <a:buNone/>
            </a:pPr>
            <a:r>
              <a:rPr lang="en-US" sz="1900" b="1" dirty="0">
                <a:solidFill>
                  <a:srgbClr val="1F2937"/>
                </a:solidFill>
                <a:latin typeface="Arial" pitchFamily="34" charset="0"/>
                <a:ea typeface="Arial" pitchFamily="34" charset="-122"/>
                <a:cs typeface="Arial" pitchFamily="34" charset="-120"/>
              </a:rPr>
              <a:t>Топ қысымы</a:t>
            </a:r>
            <a:endParaRPr lang="en-US" sz="1900" dirty="0"/>
          </a:p>
        </p:txBody>
      </p:sp>
      <p:sp>
        <p:nvSpPr>
          <p:cNvPr id="19" name="Text 14"/>
          <p:cNvSpPr txBox="1"/>
          <p:nvPr/>
        </p:nvSpPr>
        <p:spPr>
          <a:xfrm>
            <a:off x="7040880" y="5074920"/>
            <a:ext cx="4572000" cy="411480"/>
          </a:xfrm>
          <a:prstGeom prst="rect">
            <a:avLst/>
          </a:prstGeom>
          <a:noFill/>
          <a:ln/>
        </p:spPr>
        <p:txBody>
          <a:bodyPr wrap="square" lIns="0" tIns="0" rIns="0" bIns="0" rtlCol="0" anchor="ctr"/>
          <a:lstStyle/>
          <a:p>
            <a:pPr indent="0" marL="0">
              <a:buNone/>
            </a:pPr>
            <a:r>
              <a:rPr lang="en-US" sz="1500" dirty="0">
                <a:solidFill>
                  <a:srgbClr val="5B6472"/>
                </a:solidFill>
                <a:latin typeface="Arial" pitchFamily="34" charset="0"/>
                <a:ea typeface="Arial" pitchFamily="34" charset="-122"/>
                <a:cs typeface="Arial" pitchFamily="34" charset="-120"/>
              </a:rPr>
              <a:t>«Бәрі кетіп жатыр, сен неге қорқасың?»</a:t>
            </a:r>
            <a:endParaRPr lang="en-US" sz="1500" dirty="0"/>
          </a:p>
        </p:txBody>
      </p:sp>
      <p:sp>
        <p:nvSpPr>
          <p:cNvPr id="20" name="Text 15"/>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Зерттеу мәселесі, мақсаты және болжамы</a:t>
            </a:r>
            <a:endParaRPr lang="en-US" sz="3400" dirty="0"/>
          </a:p>
        </p:txBody>
      </p:sp>
      <p:sp>
        <p:nvSpPr>
          <p:cNvPr id="3" name="Shape 1"/>
          <p:cNvSpPr/>
          <p:nvPr/>
        </p:nvSpPr>
        <p:spPr>
          <a:xfrm>
            <a:off x="548640" y="1463040"/>
            <a:ext cx="3474720" cy="4480560"/>
          </a:xfrm>
          <a:prstGeom prst="roundRect">
            <a:avLst>
              <a:gd name="adj" fmla="val 3158"/>
            </a:avLst>
          </a:prstGeom>
          <a:solidFill>
            <a:srgbClr val="EEF3F8"/>
          </a:solidFill>
          <a:ln w="12700">
            <a:solidFill>
              <a:srgbClr val="EEF3F8"/>
            </a:solidFill>
            <a:prstDash val="solid"/>
          </a:ln>
        </p:spPr>
      </p:sp>
      <p:sp>
        <p:nvSpPr>
          <p:cNvPr id="4" name="Shape 2"/>
          <p:cNvSpPr/>
          <p:nvPr/>
        </p:nvSpPr>
        <p:spPr>
          <a:xfrm>
            <a:off x="868680" y="1783080"/>
            <a:ext cx="822960" cy="822960"/>
          </a:xfrm>
          <a:prstGeom prst="ellipse">
            <a:avLst/>
          </a:prstGeom>
          <a:solidFill>
            <a:srgbClr val="2F5D8A"/>
          </a:solidFill>
          <a:ln w="12700">
            <a:solidFill>
              <a:srgbClr val="2F5D8A"/>
            </a:solidFill>
            <a:prstDash val="solid"/>
          </a:ln>
        </p:spPr>
      </p:sp>
      <p:pic>
        <p:nvPicPr>
          <p:cNvPr id="5" name="Image 0" descr="preencoded.png">    </p:cNvPr>
          <p:cNvPicPr>
            <a:picLocks noChangeAspect="1"/>
          </p:cNvPicPr>
          <p:nvPr/>
        </p:nvPicPr>
        <p:blipFill>
          <a:blip r:embed="rId1"/>
          <a:stretch>
            <a:fillRect/>
          </a:stretch>
        </p:blipFill>
        <p:spPr>
          <a:xfrm>
            <a:off x="1074420" y="1988820"/>
            <a:ext cx="411480" cy="411480"/>
          </a:xfrm>
          <a:prstGeom prst="rect">
            <a:avLst/>
          </a:prstGeom>
        </p:spPr>
      </p:pic>
      <p:sp>
        <p:nvSpPr>
          <p:cNvPr id="6" name="Text 3"/>
          <p:cNvSpPr txBox="1"/>
          <p:nvPr/>
        </p:nvSpPr>
        <p:spPr>
          <a:xfrm>
            <a:off x="868680" y="2788920"/>
            <a:ext cx="2834640" cy="502920"/>
          </a:xfrm>
          <a:prstGeom prst="rect">
            <a:avLst/>
          </a:prstGeom>
          <a:noFill/>
          <a:ln/>
        </p:spPr>
        <p:txBody>
          <a:bodyPr wrap="square" lIns="0" tIns="0" rIns="0" bIns="0" rtlCol="0" anchor="ctr"/>
          <a:lstStyle/>
          <a:p>
            <a:pPr indent="0" marL="0">
              <a:buNone/>
            </a:pPr>
            <a:r>
              <a:rPr lang="en-US" sz="2400" b="1" dirty="0">
                <a:solidFill>
                  <a:srgbClr val="2F5D8A"/>
                </a:solidFill>
                <a:latin typeface="Times New Roman" pitchFamily="34" charset="0"/>
                <a:ea typeface="Times New Roman" pitchFamily="34" charset="-122"/>
                <a:cs typeface="Times New Roman" pitchFamily="34" charset="-120"/>
              </a:rPr>
              <a:t>Мәселе</a:t>
            </a:r>
            <a:endParaRPr lang="en-US" sz="2400" dirty="0"/>
          </a:p>
        </p:txBody>
      </p:sp>
      <p:sp>
        <p:nvSpPr>
          <p:cNvPr id="7" name="Text 4"/>
          <p:cNvSpPr txBox="1"/>
          <p:nvPr/>
        </p:nvSpPr>
        <p:spPr>
          <a:xfrm>
            <a:off x="868680" y="3429000"/>
            <a:ext cx="2834640" cy="2377440"/>
          </a:xfrm>
          <a:prstGeom prst="rect">
            <a:avLst/>
          </a:prstGeom>
          <a:noFill/>
          <a:ln/>
        </p:spPr>
        <p:txBody>
          <a:bodyPr wrap="square" lIns="0" tIns="0" rIns="0" bIns="0" rtlCol="0" anchor="t"/>
          <a:lstStyle/>
          <a:p>
            <a:pPr indent="0" marL="0">
              <a:buNone/>
            </a:pPr>
            <a:r>
              <a:rPr lang="en-US" sz="1800" dirty="0">
                <a:solidFill>
                  <a:srgbClr val="1F2937"/>
                </a:solidFill>
                <a:latin typeface="Arial" pitchFamily="34" charset="0"/>
                <a:ea typeface="Arial" pitchFamily="34" charset="-122"/>
                <a:cs typeface="Arial" pitchFamily="34" charset="-120"/>
              </a:rPr>
              <a:t>Абай мен Пушкиннің тәрбиелік идеяларын қазіргі жасөспірім қолдана алатын ықшам шешім алгоритміне қалай айналдыруға болады?</a:t>
            </a:r>
            <a:endParaRPr lang="en-US" sz="1800" dirty="0"/>
          </a:p>
        </p:txBody>
      </p:sp>
      <p:sp>
        <p:nvSpPr>
          <p:cNvPr id="8" name="Shape 5"/>
          <p:cNvSpPr/>
          <p:nvPr/>
        </p:nvSpPr>
        <p:spPr>
          <a:xfrm>
            <a:off x="4297680" y="1463040"/>
            <a:ext cx="3474720" cy="4480560"/>
          </a:xfrm>
          <a:prstGeom prst="roundRect">
            <a:avLst>
              <a:gd name="adj" fmla="val 3158"/>
            </a:avLst>
          </a:prstGeom>
          <a:solidFill>
            <a:srgbClr val="FBF1DE"/>
          </a:solidFill>
          <a:ln w="12700">
            <a:solidFill>
              <a:srgbClr val="FBF1DE"/>
            </a:solidFill>
            <a:prstDash val="solid"/>
          </a:ln>
        </p:spPr>
      </p:sp>
      <p:sp>
        <p:nvSpPr>
          <p:cNvPr id="9" name="Shape 6"/>
          <p:cNvSpPr/>
          <p:nvPr/>
        </p:nvSpPr>
        <p:spPr>
          <a:xfrm>
            <a:off x="4617720" y="1783080"/>
            <a:ext cx="822960" cy="822960"/>
          </a:xfrm>
          <a:prstGeom prst="ellipse">
            <a:avLst/>
          </a:prstGeom>
          <a:solidFill>
            <a:srgbClr val="C8932E"/>
          </a:solidFill>
          <a:ln w="12700">
            <a:solidFill>
              <a:srgbClr val="C8932E"/>
            </a:solidFill>
            <a:prstDash val="solid"/>
          </a:ln>
        </p:spPr>
      </p:sp>
      <p:pic>
        <p:nvPicPr>
          <p:cNvPr id="10" name="Image 1" descr="preencoded.png">    </p:cNvPr>
          <p:cNvPicPr>
            <a:picLocks noChangeAspect="1"/>
          </p:cNvPicPr>
          <p:nvPr/>
        </p:nvPicPr>
        <p:blipFill>
          <a:blip r:embed="rId2"/>
          <a:stretch>
            <a:fillRect/>
          </a:stretch>
        </p:blipFill>
        <p:spPr>
          <a:xfrm>
            <a:off x="4823460" y="1988820"/>
            <a:ext cx="411480" cy="411480"/>
          </a:xfrm>
          <a:prstGeom prst="rect">
            <a:avLst/>
          </a:prstGeom>
        </p:spPr>
      </p:pic>
      <p:sp>
        <p:nvSpPr>
          <p:cNvPr id="11" name="Text 7"/>
          <p:cNvSpPr txBox="1"/>
          <p:nvPr/>
        </p:nvSpPr>
        <p:spPr>
          <a:xfrm>
            <a:off x="4617720" y="2788920"/>
            <a:ext cx="2834640" cy="502920"/>
          </a:xfrm>
          <a:prstGeom prst="rect">
            <a:avLst/>
          </a:prstGeom>
          <a:noFill/>
          <a:ln/>
        </p:spPr>
        <p:txBody>
          <a:bodyPr wrap="square" lIns="0" tIns="0" rIns="0" bIns="0" rtlCol="0" anchor="ctr"/>
          <a:lstStyle/>
          <a:p>
            <a:pPr indent="0" marL="0">
              <a:buNone/>
            </a:pPr>
            <a:r>
              <a:rPr lang="en-US" sz="2400" b="1" dirty="0">
                <a:solidFill>
                  <a:srgbClr val="C8932E"/>
                </a:solidFill>
                <a:latin typeface="Times New Roman" pitchFamily="34" charset="0"/>
                <a:ea typeface="Times New Roman" pitchFamily="34" charset="-122"/>
                <a:cs typeface="Times New Roman" pitchFamily="34" charset="-120"/>
              </a:rPr>
              <a:t>Мақсат</a:t>
            </a:r>
            <a:endParaRPr lang="en-US" sz="2400" dirty="0"/>
          </a:p>
        </p:txBody>
      </p:sp>
      <p:sp>
        <p:nvSpPr>
          <p:cNvPr id="12" name="Text 8"/>
          <p:cNvSpPr txBox="1"/>
          <p:nvPr/>
        </p:nvSpPr>
        <p:spPr>
          <a:xfrm>
            <a:off x="4617720" y="3429000"/>
            <a:ext cx="2834640" cy="2377440"/>
          </a:xfrm>
          <a:prstGeom prst="rect">
            <a:avLst/>
          </a:prstGeom>
          <a:noFill/>
          <a:ln/>
        </p:spPr>
        <p:txBody>
          <a:bodyPr wrap="square" lIns="0" tIns="0" rIns="0" bIns="0" rtlCol="0" anchor="t"/>
          <a:lstStyle/>
          <a:p>
            <a:pPr indent="0" marL="0">
              <a:buNone/>
            </a:pPr>
            <a:r>
              <a:rPr lang="en-US" sz="1800" dirty="0">
                <a:solidFill>
                  <a:srgbClr val="1F2937"/>
                </a:solidFill>
                <a:latin typeface="Arial" pitchFamily="34" charset="0"/>
                <a:ea typeface="Arial" pitchFamily="34" charset="-122"/>
                <a:cs typeface="Arial" pitchFamily="34" charset="-120"/>
              </a:rPr>
              <a:t>Екі ақынның ортақ және дара тәрбиелік ұстанымдарын мәтіндік талдау арқылы анықтап, солардың негізінде практикалық тәрбие моделін ұсыну</a:t>
            </a:r>
            <a:endParaRPr lang="en-US" sz="1800" dirty="0"/>
          </a:p>
        </p:txBody>
      </p:sp>
      <p:sp>
        <p:nvSpPr>
          <p:cNvPr id="13" name="Shape 9"/>
          <p:cNvSpPr/>
          <p:nvPr/>
        </p:nvSpPr>
        <p:spPr>
          <a:xfrm>
            <a:off x="8046720" y="1463040"/>
            <a:ext cx="3474720" cy="4480560"/>
          </a:xfrm>
          <a:prstGeom prst="roundRect">
            <a:avLst>
              <a:gd name="adj" fmla="val 3158"/>
            </a:avLst>
          </a:prstGeom>
          <a:solidFill>
            <a:srgbClr val="E3F1EA"/>
          </a:solidFill>
          <a:ln w="12700">
            <a:solidFill>
              <a:srgbClr val="E3F1EA"/>
            </a:solidFill>
            <a:prstDash val="solid"/>
          </a:ln>
        </p:spPr>
      </p:sp>
      <p:sp>
        <p:nvSpPr>
          <p:cNvPr id="14" name="Shape 10"/>
          <p:cNvSpPr/>
          <p:nvPr/>
        </p:nvSpPr>
        <p:spPr>
          <a:xfrm>
            <a:off x="8366760" y="1783080"/>
            <a:ext cx="822960" cy="822960"/>
          </a:xfrm>
          <a:prstGeom prst="ellipse">
            <a:avLst/>
          </a:prstGeom>
          <a:solidFill>
            <a:srgbClr val="2F7D5B"/>
          </a:solidFill>
          <a:ln w="12700">
            <a:solidFill>
              <a:srgbClr val="2F7D5B"/>
            </a:solidFill>
            <a:prstDash val="solid"/>
          </a:ln>
        </p:spPr>
      </p:sp>
      <p:pic>
        <p:nvPicPr>
          <p:cNvPr id="15" name="Image 2" descr="preencoded.png">    </p:cNvPr>
          <p:cNvPicPr>
            <a:picLocks noChangeAspect="1"/>
          </p:cNvPicPr>
          <p:nvPr/>
        </p:nvPicPr>
        <p:blipFill>
          <a:blip r:embed="rId3"/>
          <a:stretch>
            <a:fillRect/>
          </a:stretch>
        </p:blipFill>
        <p:spPr>
          <a:xfrm>
            <a:off x="8572500" y="1988820"/>
            <a:ext cx="411480" cy="411480"/>
          </a:xfrm>
          <a:prstGeom prst="rect">
            <a:avLst/>
          </a:prstGeom>
        </p:spPr>
      </p:pic>
      <p:sp>
        <p:nvSpPr>
          <p:cNvPr id="16" name="Text 11"/>
          <p:cNvSpPr txBox="1"/>
          <p:nvPr/>
        </p:nvSpPr>
        <p:spPr>
          <a:xfrm>
            <a:off x="8366760" y="2788920"/>
            <a:ext cx="2834640" cy="502920"/>
          </a:xfrm>
          <a:prstGeom prst="rect">
            <a:avLst/>
          </a:prstGeom>
          <a:noFill/>
          <a:ln/>
        </p:spPr>
        <p:txBody>
          <a:bodyPr wrap="square" lIns="0" tIns="0" rIns="0" bIns="0" rtlCol="0" anchor="ctr"/>
          <a:lstStyle/>
          <a:p>
            <a:pPr indent="0" marL="0">
              <a:buNone/>
            </a:pPr>
            <a:r>
              <a:rPr lang="en-US" sz="2400" b="1" dirty="0">
                <a:solidFill>
                  <a:srgbClr val="2F7D5B"/>
                </a:solidFill>
                <a:latin typeface="Times New Roman" pitchFamily="34" charset="0"/>
                <a:ea typeface="Times New Roman" pitchFamily="34" charset="-122"/>
                <a:cs typeface="Times New Roman" pitchFamily="34" charset="-120"/>
              </a:rPr>
              <a:t>Болжам</a:t>
            </a:r>
            <a:endParaRPr lang="en-US" sz="2400" dirty="0"/>
          </a:p>
        </p:txBody>
      </p:sp>
      <p:sp>
        <p:nvSpPr>
          <p:cNvPr id="17" name="Text 12"/>
          <p:cNvSpPr txBox="1"/>
          <p:nvPr/>
        </p:nvSpPr>
        <p:spPr>
          <a:xfrm>
            <a:off x="8366760" y="3429000"/>
            <a:ext cx="2834640" cy="2377440"/>
          </a:xfrm>
          <a:prstGeom prst="rect">
            <a:avLst/>
          </a:prstGeom>
          <a:noFill/>
          <a:ln/>
        </p:spPr>
        <p:txBody>
          <a:bodyPr wrap="square" lIns="0" tIns="0" rIns="0" bIns="0" rtlCol="0" anchor="t"/>
          <a:lstStyle/>
          <a:p>
            <a:pPr indent="0" marL="0">
              <a:buNone/>
            </a:pPr>
            <a:r>
              <a:rPr lang="en-US" sz="1800" dirty="0">
                <a:solidFill>
                  <a:srgbClr val="1F2937"/>
                </a:solidFill>
                <a:latin typeface="Arial" pitchFamily="34" charset="0"/>
                <a:ea typeface="Arial" pitchFamily="34" charset="-122"/>
                <a:cs typeface="Arial" pitchFamily="34" charset="-120"/>
              </a:rPr>
              <a:t>Егер ұстанымдар жалпы үндеу емес, қадамдық алгоритм түрінде берілсе, жасөспірім құндылықты нақты әрекетке жиірек айналдырады</a:t>
            </a:r>
            <a:endParaRPr lang="en-US" sz="1800" dirty="0"/>
          </a:p>
        </p:txBody>
      </p:sp>
      <p:sp>
        <p:nvSpPr>
          <p:cNvPr id="18" name="Text 13"/>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Зерттеу міндеттері</a:t>
            </a:r>
            <a:endParaRPr lang="en-US" sz="3400" dirty="0"/>
          </a:p>
        </p:txBody>
      </p:sp>
      <p:sp>
        <p:nvSpPr>
          <p:cNvPr id="3" name="Shape 1"/>
          <p:cNvSpPr/>
          <p:nvPr/>
        </p:nvSpPr>
        <p:spPr>
          <a:xfrm>
            <a:off x="731520" y="1463040"/>
            <a:ext cx="640080" cy="640080"/>
          </a:xfrm>
          <a:prstGeom prst="ellipse">
            <a:avLst/>
          </a:prstGeom>
          <a:solidFill>
            <a:srgbClr val="1F3A5F"/>
          </a:solidFill>
          <a:ln w="12700">
            <a:solidFill>
              <a:srgbClr val="1F3A5F"/>
            </a:solidFill>
            <a:prstDash val="solid"/>
          </a:ln>
        </p:spPr>
      </p:sp>
      <p:sp>
        <p:nvSpPr>
          <p:cNvPr id="4" name="Text 2"/>
          <p:cNvSpPr txBox="1"/>
          <p:nvPr/>
        </p:nvSpPr>
        <p:spPr>
          <a:xfrm>
            <a:off x="731520" y="1463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5" name="Text 3"/>
          <p:cNvSpPr txBox="1"/>
          <p:nvPr/>
        </p:nvSpPr>
        <p:spPr>
          <a:xfrm>
            <a:off x="1645920" y="1463040"/>
            <a:ext cx="9875520" cy="6400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Абайтану, пушкинтану және тәрбие психологиясы бойынша ғылыми әдебиетке шолу жасау</a:t>
            </a:r>
            <a:endParaRPr lang="en-US" sz="1800" dirty="0"/>
          </a:p>
        </p:txBody>
      </p:sp>
      <p:sp>
        <p:nvSpPr>
          <p:cNvPr id="6" name="Shape 4"/>
          <p:cNvSpPr/>
          <p:nvPr/>
        </p:nvSpPr>
        <p:spPr>
          <a:xfrm>
            <a:off x="731520" y="2377440"/>
            <a:ext cx="640080" cy="640080"/>
          </a:xfrm>
          <a:prstGeom prst="ellipse">
            <a:avLst/>
          </a:prstGeom>
          <a:solidFill>
            <a:srgbClr val="1F3A5F"/>
          </a:solidFill>
          <a:ln w="12700">
            <a:solidFill>
              <a:srgbClr val="1F3A5F"/>
            </a:solidFill>
            <a:prstDash val="solid"/>
          </a:ln>
        </p:spPr>
      </p:sp>
      <p:sp>
        <p:nvSpPr>
          <p:cNvPr id="7" name="Text 5"/>
          <p:cNvSpPr txBox="1"/>
          <p:nvPr/>
        </p:nvSpPr>
        <p:spPr>
          <a:xfrm>
            <a:off x="731520" y="23774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 6"/>
          <p:cNvSpPr txBox="1"/>
          <p:nvPr/>
        </p:nvSpPr>
        <p:spPr>
          <a:xfrm>
            <a:off x="1645920" y="2377440"/>
            <a:ext cx="9875520" cy="6400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22 мәтін бірлігінен корпус құрып, 7 кодтан тұратын талдау жүйесін әзірлеу</a:t>
            </a:r>
            <a:endParaRPr lang="en-US" sz="1800" dirty="0"/>
          </a:p>
        </p:txBody>
      </p:sp>
      <p:sp>
        <p:nvSpPr>
          <p:cNvPr id="9" name="Shape 7"/>
          <p:cNvSpPr/>
          <p:nvPr/>
        </p:nvSpPr>
        <p:spPr>
          <a:xfrm>
            <a:off x="731520" y="3291840"/>
            <a:ext cx="640080" cy="640080"/>
          </a:xfrm>
          <a:prstGeom prst="ellipse">
            <a:avLst/>
          </a:prstGeom>
          <a:solidFill>
            <a:srgbClr val="1F3A5F"/>
          </a:solidFill>
          <a:ln w="12700">
            <a:solidFill>
              <a:srgbClr val="1F3A5F"/>
            </a:solidFill>
            <a:prstDash val="solid"/>
          </a:ln>
        </p:spPr>
      </p:sp>
      <p:sp>
        <p:nvSpPr>
          <p:cNvPr id="10" name="Text 8"/>
          <p:cNvSpPr txBox="1"/>
          <p:nvPr/>
        </p:nvSpPr>
        <p:spPr>
          <a:xfrm>
            <a:off x="731520"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1" name="Text 9"/>
          <p:cNvSpPr txBox="1"/>
          <p:nvPr/>
        </p:nvSpPr>
        <p:spPr>
          <a:xfrm>
            <a:off x="1645920" y="3291840"/>
            <a:ext cx="9875520" cy="6400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Екі ақынның ортақ және дара тәрбиелік ұстанымдарын салыстыру</a:t>
            </a:r>
            <a:endParaRPr lang="en-US" sz="1800" dirty="0"/>
          </a:p>
        </p:txBody>
      </p:sp>
      <p:sp>
        <p:nvSpPr>
          <p:cNvPr id="12" name="Shape 10"/>
          <p:cNvSpPr/>
          <p:nvPr/>
        </p:nvSpPr>
        <p:spPr>
          <a:xfrm>
            <a:off x="731520" y="4206240"/>
            <a:ext cx="640080" cy="640080"/>
          </a:xfrm>
          <a:prstGeom prst="ellipse">
            <a:avLst/>
          </a:prstGeom>
          <a:solidFill>
            <a:srgbClr val="C8932E"/>
          </a:solidFill>
          <a:ln w="12700">
            <a:solidFill>
              <a:srgbClr val="C8932E"/>
            </a:solidFill>
            <a:prstDash val="solid"/>
          </a:ln>
        </p:spPr>
      </p:sp>
      <p:sp>
        <p:nvSpPr>
          <p:cNvPr id="13" name="Text 11"/>
          <p:cNvSpPr txBox="1"/>
          <p:nvPr/>
        </p:nvSpPr>
        <p:spPr>
          <a:xfrm>
            <a:off x="731520" y="4206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4" name="Text 12"/>
          <p:cNvSpPr txBox="1"/>
          <p:nvPr/>
        </p:nvSpPr>
        <p:spPr>
          <a:xfrm>
            <a:off x="1645920" y="4206240"/>
            <a:ext cx="9875520" cy="6400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«Ар – Ақыл – Жүрек» моделін және «ТОҚТА» алгоритмін құрастыру</a:t>
            </a:r>
            <a:endParaRPr lang="en-US" sz="1800" dirty="0"/>
          </a:p>
        </p:txBody>
      </p:sp>
      <p:sp>
        <p:nvSpPr>
          <p:cNvPr id="15" name="Shape 13"/>
          <p:cNvSpPr/>
          <p:nvPr/>
        </p:nvSpPr>
        <p:spPr>
          <a:xfrm>
            <a:off x="731520" y="5120640"/>
            <a:ext cx="640080" cy="640080"/>
          </a:xfrm>
          <a:prstGeom prst="ellipse">
            <a:avLst/>
          </a:prstGeom>
          <a:solidFill>
            <a:srgbClr val="C8932E"/>
          </a:solidFill>
          <a:ln w="12700">
            <a:solidFill>
              <a:srgbClr val="C8932E"/>
            </a:solidFill>
            <a:prstDash val="solid"/>
          </a:ln>
        </p:spPr>
      </p:sp>
      <p:sp>
        <p:nvSpPr>
          <p:cNvPr id="16" name="Text 14"/>
          <p:cNvSpPr txBox="1"/>
          <p:nvPr/>
        </p:nvSpPr>
        <p:spPr>
          <a:xfrm>
            <a:off x="731520" y="5120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5</a:t>
            </a:r>
            <a:endParaRPr lang="en-US" sz="2200" dirty="0"/>
          </a:p>
        </p:txBody>
      </p:sp>
      <p:sp>
        <p:nvSpPr>
          <p:cNvPr id="17" name="Text 15"/>
          <p:cNvSpPr txBox="1"/>
          <p:nvPr/>
        </p:nvSpPr>
        <p:spPr>
          <a:xfrm>
            <a:off x="1645920" y="5120640"/>
            <a:ext cx="9875520" cy="6400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Модельді жағдаяттарға қолданып, пилоттық апробация өткізу</a:t>
            </a:r>
            <a:endParaRPr lang="en-US" sz="1800" dirty="0"/>
          </a:p>
        </p:txBody>
      </p:sp>
      <p:sp>
        <p:nvSpPr>
          <p:cNvPr id="18" name="Text 16"/>
          <p:cNvSpPr txBox="1"/>
          <p:nvPr/>
        </p:nvSpPr>
        <p:spPr>
          <a:xfrm>
            <a:off x="731520" y="6080760"/>
            <a:ext cx="10789920" cy="365760"/>
          </a:xfrm>
          <a:prstGeom prst="rect">
            <a:avLst/>
          </a:prstGeom>
          <a:noFill/>
          <a:ln/>
        </p:spPr>
        <p:txBody>
          <a:bodyPr wrap="square" lIns="0" tIns="0" rIns="0" bIns="0" rtlCol="0" anchor="ctr"/>
          <a:lstStyle/>
          <a:p>
            <a:pPr indent="0" marL="0">
              <a:buNone/>
            </a:pPr>
            <a:r>
              <a:rPr lang="en-US" sz="1300" i="1" dirty="0">
                <a:solidFill>
                  <a:srgbClr val="5B6472"/>
                </a:solidFill>
                <a:latin typeface="Arial" pitchFamily="34" charset="0"/>
                <a:ea typeface="Arial" pitchFamily="34" charset="-122"/>
                <a:cs typeface="Arial" pitchFamily="34" charset="-120"/>
              </a:rPr>
              <a:t>Әдістер: әдебиетті талдау · салыстырмалы-типологиялық талдау · контент-талдау (кодтау) · герменевтика · модельдеу · сауалнама</a:t>
            </a:r>
            <a:endParaRPr lang="en-US" sz="1300" dirty="0"/>
          </a:p>
        </p:txBody>
      </p:sp>
      <p:sp>
        <p:nvSpPr>
          <p:cNvPr id="19" name="Text 1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Зерттеу әдістемесі</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Бес кезең: мәселе → корпус → кодтау → модель → апробация</a:t>
            </a:r>
            <a:endParaRPr lang="en-US" sz="1500" dirty="0"/>
          </a:p>
        </p:txBody>
      </p:sp>
      <p:pic>
        <p:nvPicPr>
          <p:cNvPr id="4" name="Image 0" descr="/tmp/claude-0/-home-user-jjjjj/5c345b07-f23e-529f-872e-93d373118406/scratchpad/figs/fig1.png">    </p:cNvPr>
          <p:cNvPicPr>
            <a:picLocks noChangeAspect="1"/>
          </p:cNvPicPr>
          <p:nvPr/>
        </p:nvPicPr>
        <p:blipFill>
          <a:blip r:embed="rId1"/>
          <a:stretch>
            <a:fillRect/>
          </a:stretch>
        </p:blipFill>
        <p:spPr>
          <a:xfrm>
            <a:off x="548640" y="1600200"/>
            <a:ext cx="6949440" cy="2221992"/>
          </a:xfrm>
          <a:prstGeom prst="rect">
            <a:avLst/>
          </a:prstGeom>
        </p:spPr>
      </p:pic>
      <p:sp>
        <p:nvSpPr>
          <p:cNvPr id="5" name="Shape 2"/>
          <p:cNvSpPr/>
          <p:nvPr/>
        </p:nvSpPr>
        <p:spPr>
          <a:xfrm>
            <a:off x="7955280" y="1554480"/>
            <a:ext cx="3657600" cy="1325880"/>
          </a:xfrm>
          <a:prstGeom prst="roundRect">
            <a:avLst>
              <a:gd name="adj" fmla="val 8276"/>
            </a:avLst>
          </a:prstGeom>
          <a:solidFill>
            <a:srgbClr val="EEF3F8"/>
          </a:solidFill>
          <a:ln w="12700">
            <a:solidFill>
              <a:srgbClr val="EEF3F8"/>
            </a:solidFill>
            <a:prstDash val="solid"/>
          </a:ln>
        </p:spPr>
      </p:sp>
      <p:sp>
        <p:nvSpPr>
          <p:cNvPr id="6" name="Text 3"/>
          <p:cNvSpPr txBox="1"/>
          <p:nvPr/>
        </p:nvSpPr>
        <p:spPr>
          <a:xfrm>
            <a:off x="8138160" y="1645920"/>
            <a:ext cx="1188720" cy="1143000"/>
          </a:xfrm>
          <a:prstGeom prst="rect">
            <a:avLst/>
          </a:prstGeom>
          <a:noFill/>
          <a:ln/>
        </p:spPr>
        <p:txBody>
          <a:bodyPr wrap="square" lIns="0" tIns="0" rIns="0" bIns="0" rtlCol="0" anchor="ctr"/>
          <a:lstStyle/>
          <a:p>
            <a:pPr indent="0" marL="0">
              <a:buNone/>
            </a:pPr>
            <a:r>
              <a:rPr lang="en-US" sz="4800" b="1" dirty="0">
                <a:solidFill>
                  <a:srgbClr val="1F3A5F"/>
                </a:solidFill>
                <a:latin typeface="Times New Roman" pitchFamily="34" charset="0"/>
                <a:ea typeface="Times New Roman" pitchFamily="34" charset="-122"/>
                <a:cs typeface="Times New Roman" pitchFamily="34" charset="-120"/>
              </a:rPr>
              <a:t>22</a:t>
            </a:r>
            <a:endParaRPr lang="en-US" sz="4800" dirty="0"/>
          </a:p>
        </p:txBody>
      </p:sp>
      <p:sp>
        <p:nvSpPr>
          <p:cNvPr id="7" name="Text 4"/>
          <p:cNvSpPr txBox="1"/>
          <p:nvPr/>
        </p:nvSpPr>
        <p:spPr>
          <a:xfrm>
            <a:off x="9326880" y="1691640"/>
            <a:ext cx="2194560" cy="10515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мәтін бірлігі</a:t>
            </a:r>
            <a:endParaRPr lang="en-US" sz="1600" dirty="0"/>
          </a:p>
          <a:p>
            <a:pPr indent="0" marL="0">
              <a:buNone/>
            </a:pPr>
            <a:r>
              <a:rPr lang="en-US" sz="1200" dirty="0">
                <a:solidFill>
                  <a:srgbClr val="5B6472"/>
                </a:solidFill>
                <a:latin typeface="Arial" pitchFamily="34" charset="0"/>
                <a:ea typeface="Arial" pitchFamily="34" charset="-122"/>
                <a:cs typeface="Arial" pitchFamily="34" charset="-120"/>
              </a:rPr>
              <a:t>Абайдан 11, Пушкиннен 11</a:t>
            </a:r>
            <a:endParaRPr lang="en-US" sz="1600" dirty="0"/>
          </a:p>
        </p:txBody>
      </p:sp>
      <p:sp>
        <p:nvSpPr>
          <p:cNvPr id="8" name="Shape 5"/>
          <p:cNvSpPr/>
          <p:nvPr/>
        </p:nvSpPr>
        <p:spPr>
          <a:xfrm>
            <a:off x="7955280" y="3063240"/>
            <a:ext cx="3657600" cy="1325880"/>
          </a:xfrm>
          <a:prstGeom prst="roundRect">
            <a:avLst>
              <a:gd name="adj" fmla="val 8276"/>
            </a:avLst>
          </a:prstGeom>
          <a:solidFill>
            <a:srgbClr val="FBF1DE"/>
          </a:solidFill>
          <a:ln w="12700">
            <a:solidFill>
              <a:srgbClr val="FBF1DE"/>
            </a:solidFill>
            <a:prstDash val="solid"/>
          </a:ln>
        </p:spPr>
      </p:sp>
      <p:sp>
        <p:nvSpPr>
          <p:cNvPr id="9" name="Text 6"/>
          <p:cNvSpPr txBox="1"/>
          <p:nvPr/>
        </p:nvSpPr>
        <p:spPr>
          <a:xfrm>
            <a:off x="8138160" y="3154680"/>
            <a:ext cx="1188720" cy="1143000"/>
          </a:xfrm>
          <a:prstGeom prst="rect">
            <a:avLst/>
          </a:prstGeom>
          <a:noFill/>
          <a:ln/>
        </p:spPr>
        <p:txBody>
          <a:bodyPr wrap="square" lIns="0" tIns="0" rIns="0" bIns="0" rtlCol="0" anchor="ctr"/>
          <a:lstStyle/>
          <a:p>
            <a:pPr indent="0" marL="0">
              <a:buNone/>
            </a:pPr>
            <a:r>
              <a:rPr lang="en-US" sz="4800" b="1" dirty="0">
                <a:solidFill>
                  <a:srgbClr val="C8932E"/>
                </a:solidFill>
                <a:latin typeface="Times New Roman" pitchFamily="34" charset="0"/>
                <a:ea typeface="Times New Roman" pitchFamily="34" charset="-122"/>
                <a:cs typeface="Times New Roman" pitchFamily="34" charset="-120"/>
              </a:rPr>
              <a:t>7</a:t>
            </a:r>
            <a:endParaRPr lang="en-US" sz="4800" dirty="0"/>
          </a:p>
        </p:txBody>
      </p:sp>
      <p:sp>
        <p:nvSpPr>
          <p:cNvPr id="10" name="Text 7"/>
          <p:cNvSpPr txBox="1"/>
          <p:nvPr/>
        </p:nvSpPr>
        <p:spPr>
          <a:xfrm>
            <a:off x="9326880" y="3200400"/>
            <a:ext cx="2194560" cy="10515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тақырыптық код</a:t>
            </a:r>
            <a:endParaRPr lang="en-US" sz="1600" dirty="0"/>
          </a:p>
          <a:p>
            <a:pPr indent="0" marL="0">
              <a:buNone/>
            </a:pPr>
            <a:r>
              <a:rPr lang="en-US" sz="1200" dirty="0">
                <a:solidFill>
                  <a:srgbClr val="5B6472"/>
                </a:solidFill>
                <a:latin typeface="Arial" pitchFamily="34" charset="0"/>
                <a:ea typeface="Arial" pitchFamily="34" charset="-122"/>
                <a:cs typeface="Arial" pitchFamily="34" charset="-120"/>
              </a:rPr>
              <a:t>білім, ар, мейірім, еңбек, рефлексия, қоғам, жаман әдет</a:t>
            </a:r>
            <a:endParaRPr lang="en-US" sz="1600" dirty="0"/>
          </a:p>
        </p:txBody>
      </p:sp>
      <p:sp>
        <p:nvSpPr>
          <p:cNvPr id="11" name="Shape 8"/>
          <p:cNvSpPr/>
          <p:nvPr/>
        </p:nvSpPr>
        <p:spPr>
          <a:xfrm>
            <a:off x="7955280" y="4572000"/>
            <a:ext cx="3657600" cy="1325880"/>
          </a:xfrm>
          <a:prstGeom prst="roundRect">
            <a:avLst>
              <a:gd name="adj" fmla="val 8276"/>
            </a:avLst>
          </a:prstGeom>
          <a:solidFill>
            <a:srgbClr val="EEF3F8"/>
          </a:solidFill>
          <a:ln w="12700">
            <a:solidFill>
              <a:srgbClr val="EEF3F8"/>
            </a:solidFill>
            <a:prstDash val="solid"/>
          </a:ln>
        </p:spPr>
      </p:sp>
      <p:sp>
        <p:nvSpPr>
          <p:cNvPr id="12" name="Text 9"/>
          <p:cNvSpPr txBox="1"/>
          <p:nvPr/>
        </p:nvSpPr>
        <p:spPr>
          <a:xfrm>
            <a:off x="8138160" y="4663440"/>
            <a:ext cx="1188720" cy="1143000"/>
          </a:xfrm>
          <a:prstGeom prst="rect">
            <a:avLst/>
          </a:prstGeom>
          <a:noFill/>
          <a:ln/>
        </p:spPr>
        <p:txBody>
          <a:bodyPr wrap="square" lIns="0" tIns="0" rIns="0" bIns="0" rtlCol="0" anchor="ctr"/>
          <a:lstStyle/>
          <a:p>
            <a:pPr indent="0" marL="0">
              <a:buNone/>
            </a:pPr>
            <a:r>
              <a:rPr lang="en-US" sz="4800" b="1" dirty="0">
                <a:solidFill>
                  <a:srgbClr val="1F3A5F"/>
                </a:solidFill>
                <a:latin typeface="Times New Roman" pitchFamily="34" charset="0"/>
                <a:ea typeface="Times New Roman" pitchFamily="34" charset="-122"/>
                <a:cs typeface="Times New Roman" pitchFamily="34" charset="-120"/>
              </a:rPr>
              <a:t>26</a:t>
            </a:r>
            <a:endParaRPr lang="en-US" sz="4800" dirty="0"/>
          </a:p>
        </p:txBody>
      </p:sp>
      <p:sp>
        <p:nvSpPr>
          <p:cNvPr id="13" name="Text 10"/>
          <p:cNvSpPr txBox="1"/>
          <p:nvPr/>
        </p:nvSpPr>
        <p:spPr>
          <a:xfrm>
            <a:off x="9326880" y="4709160"/>
            <a:ext cx="2194560" cy="10515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ғылыми дереккөз</a:t>
            </a:r>
            <a:endParaRPr lang="en-US" sz="1600" dirty="0"/>
          </a:p>
          <a:p>
            <a:pPr indent="0" marL="0">
              <a:buNone/>
            </a:pPr>
            <a:r>
              <a:rPr lang="en-US" sz="1200" dirty="0">
                <a:solidFill>
                  <a:srgbClr val="5B6472"/>
                </a:solidFill>
                <a:latin typeface="Arial" pitchFamily="34" charset="0"/>
                <a:ea typeface="Arial" pitchFamily="34" charset="-122"/>
                <a:cs typeface="Arial" pitchFamily="34" charset="-120"/>
              </a:rPr>
              <a:t>қазақ, орыс, ағылшын тілдерінде</a:t>
            </a:r>
            <a:endParaRPr lang="en-US" sz="1600" dirty="0"/>
          </a:p>
        </p:txBody>
      </p:sp>
      <p:sp>
        <p:nvSpPr>
          <p:cNvPr id="14" name="Text 11"/>
          <p:cNvSpPr txBox="1"/>
          <p:nvPr/>
        </p:nvSpPr>
        <p:spPr>
          <a:xfrm>
            <a:off x="548640" y="4114800"/>
            <a:ext cx="6949440" cy="1737360"/>
          </a:xfrm>
          <a:prstGeom prst="rect">
            <a:avLst/>
          </a:prstGeom>
          <a:noFill/>
          <a:ln/>
        </p:spPr>
        <p:txBody>
          <a:bodyPr wrap="square" lIns="0" tIns="0" rIns="0" bIns="0" rtlCol="0" anchor="t"/>
          <a:lstStyle/>
          <a:p>
            <a:pPr indent="0" marL="0">
              <a:spcAft>
                <a:spcPts val="800"/>
              </a:spcAft>
              <a:buNone/>
            </a:pPr>
            <a:r>
              <a:rPr lang="en-US" sz="1500" b="1" dirty="0">
                <a:solidFill>
                  <a:srgbClr val="1F2937"/>
                </a:solidFill>
                <a:latin typeface="Arial" pitchFamily="34" charset="0"/>
                <a:ea typeface="Arial" pitchFamily="34" charset="-122"/>
                <a:cs typeface="Arial" pitchFamily="34" charset="-120"/>
              </a:rPr>
              <a:t>Кодтау: </a:t>
            </a:r>
            <a:pPr indent="0" marL="0">
              <a:spcAft>
                <a:spcPts val="800"/>
              </a:spcAft>
              <a:buNone/>
            </a:pPr>
            <a:r>
              <a:rPr lang="en-US" sz="1500" dirty="0">
                <a:solidFill>
                  <a:srgbClr val="1F2937"/>
                </a:solidFill>
                <a:latin typeface="Arial" pitchFamily="34" charset="0"/>
                <a:ea typeface="Arial" pitchFamily="34" charset="-122"/>
                <a:cs typeface="Arial" pitchFamily="34" charset="-120"/>
              </a:rPr>
              <a:t>әр мәтінге құндылық айқын көрінсе «+» қойылды; кодтау нұсқаулығы жасалып, матрицаны жетекші тәуелсіз тексерді.</a:t>
            </a:r>
            <a:endParaRPr lang="en-US" sz="1500" dirty="0"/>
          </a:p>
          <a:p>
            <a:pPr indent="0" marL="0">
              <a:spcAft>
                <a:spcPts val="800"/>
              </a:spcAft>
              <a:buNone/>
            </a:pPr>
            <a:r>
              <a:rPr lang="en-US" sz="1500" b="1" dirty="0">
                <a:solidFill>
                  <a:srgbClr val="1F2937"/>
                </a:solidFill>
                <a:latin typeface="Arial" pitchFamily="34" charset="0"/>
                <a:ea typeface="Arial" pitchFamily="34" charset="-122"/>
                <a:cs typeface="Arial" pitchFamily="34" charset="-120"/>
              </a:rPr>
              <a:t>Герменевтика (Х.-Г. Гадамер): </a:t>
            </a:r>
            <a:pPr indent="0" marL="0">
              <a:spcAft>
                <a:spcPts val="800"/>
              </a:spcAft>
              <a:buNone/>
            </a:pPr>
            <a:r>
              <a:rPr lang="en-US" sz="1500" dirty="0">
                <a:solidFill>
                  <a:srgbClr val="1F2937"/>
                </a:solidFill>
                <a:latin typeface="Arial" pitchFamily="34" charset="0"/>
                <a:ea typeface="Arial" pitchFamily="34" charset="-122"/>
                <a:cs typeface="Arial" pitchFamily="34" charset="-120"/>
              </a:rPr>
              <a:t>мәтінді түсіну – оны өз жағдайыңа қолданумен тығыз байланысты.</a:t>
            </a:r>
            <a:endParaRPr lang="en-US" sz="1500" dirty="0"/>
          </a:p>
        </p:txBody>
      </p:sp>
      <p:sp>
        <p:nvSpPr>
          <p:cNvPr id="15" name="Text 1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Абай: «Адам бол!»</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Тәрбие тәсілі – тура ақыл-кеңес, үндеу, тізім</a:t>
            </a:r>
            <a:endParaRPr lang="en-US" sz="1500" dirty="0"/>
          </a:p>
        </p:txBody>
      </p:sp>
      <p:sp>
        <p:nvSpPr>
          <p:cNvPr id="4" name="Shape 2"/>
          <p:cNvSpPr/>
          <p:nvPr/>
        </p:nvSpPr>
        <p:spPr>
          <a:xfrm>
            <a:off x="548640" y="1600200"/>
            <a:ext cx="4937760" cy="4480560"/>
          </a:xfrm>
          <a:prstGeom prst="roundRect">
            <a:avLst>
              <a:gd name="adj" fmla="val 2449"/>
            </a:avLst>
          </a:prstGeom>
          <a:solidFill>
            <a:srgbClr val="1F3A5F"/>
          </a:solidFill>
          <a:ln w="12700">
            <a:solidFill>
              <a:srgbClr val="1F3A5F"/>
            </a:solidFill>
            <a:prstDash val="solid"/>
          </a:ln>
        </p:spPr>
      </p:sp>
      <p:pic>
        <p:nvPicPr>
          <p:cNvPr id="5" name="Image 0" descr="preencoded.png">    </p:cNvPr>
          <p:cNvPicPr>
            <a:picLocks noChangeAspect="1"/>
          </p:cNvPicPr>
          <p:nvPr/>
        </p:nvPicPr>
        <p:blipFill>
          <a:blip r:embed="rId1"/>
          <a:stretch>
            <a:fillRect/>
          </a:stretch>
        </p:blipFill>
        <p:spPr>
          <a:xfrm>
            <a:off x="822960" y="1828800"/>
            <a:ext cx="457200" cy="457200"/>
          </a:xfrm>
          <a:prstGeom prst="rect">
            <a:avLst/>
          </a:prstGeom>
        </p:spPr>
      </p:pic>
      <p:sp>
        <p:nvSpPr>
          <p:cNvPr id="6" name="Text 3"/>
          <p:cNvSpPr txBox="1"/>
          <p:nvPr/>
        </p:nvSpPr>
        <p:spPr>
          <a:xfrm>
            <a:off x="822960" y="2377440"/>
            <a:ext cx="4480560" cy="3200400"/>
          </a:xfrm>
          <a:prstGeom prst="rect">
            <a:avLst/>
          </a:prstGeom>
          <a:noFill/>
          <a:ln/>
        </p:spPr>
        <p:txBody>
          <a:bodyPr wrap="square" lIns="0" tIns="0" rIns="0" bIns="0" rtlCol="0" anchor="t"/>
          <a:lstStyle/>
          <a:p>
            <a:pPr indent="0" marL="0">
              <a:buNone/>
            </a:pPr>
            <a:r>
              <a:rPr lang="en-US" sz="1600" i="1" dirty="0">
                <a:solidFill>
                  <a:srgbClr val="FFFFFF"/>
                </a:solidFill>
                <a:latin typeface="Times New Roman" pitchFamily="34" charset="0"/>
                <a:ea typeface="Times New Roman" pitchFamily="34" charset="-122"/>
                <a:cs typeface="Times New Roman" pitchFamily="34" charset="-120"/>
              </a:rPr>
              <a:t>Бес нәрседен қашық бол,</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Бес нәрсеге асық бол,</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Адам болам десеңіз...</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Өсек, өтірік, мақтаншақ,</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Еріншек, бекер мал шашпақ –</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Бес дұшпаның білсеңіз.</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Талап, еңбек, терең ой,</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Қанағат, рақым, ойлап қой –</a:t>
            </a:r>
            <a:endParaRPr lang="en-US" sz="1600" dirty="0"/>
          </a:p>
          <a:p>
            <a:pPr indent="0" marL="0">
              <a:buNone/>
            </a:pPr>
            <a:r>
              <a:rPr lang="en-US" sz="1600" i="1" dirty="0">
                <a:solidFill>
                  <a:srgbClr val="FFFFFF"/>
                </a:solidFill>
                <a:latin typeface="Times New Roman" pitchFamily="34" charset="0"/>
                <a:ea typeface="Times New Roman" pitchFamily="34" charset="-122"/>
                <a:cs typeface="Times New Roman" pitchFamily="34" charset="-120"/>
              </a:rPr>
              <a:t>Бес асыл іс, көнсеңіз.</a:t>
            </a:r>
            <a:endParaRPr lang="en-US" sz="1600" dirty="0"/>
          </a:p>
        </p:txBody>
      </p:sp>
      <p:sp>
        <p:nvSpPr>
          <p:cNvPr id="7" name="Text 4"/>
          <p:cNvSpPr txBox="1"/>
          <p:nvPr/>
        </p:nvSpPr>
        <p:spPr>
          <a:xfrm>
            <a:off x="822960" y="5577840"/>
            <a:ext cx="4480560" cy="365760"/>
          </a:xfrm>
          <a:prstGeom prst="rect">
            <a:avLst/>
          </a:prstGeom>
          <a:noFill/>
          <a:ln/>
        </p:spPr>
        <p:txBody>
          <a:bodyPr wrap="square" lIns="0" tIns="0" rIns="0" bIns="0" rtlCol="0" anchor="ctr"/>
          <a:lstStyle/>
          <a:p>
            <a:pPr indent="0" marL="0">
              <a:buNone/>
            </a:pPr>
            <a:r>
              <a:rPr lang="en-US" sz="1300" dirty="0">
                <a:solidFill>
                  <a:srgbClr val="C8932E"/>
                </a:solidFill>
                <a:latin typeface="Arial" pitchFamily="34" charset="0"/>
                <a:ea typeface="Arial" pitchFamily="34" charset="-122"/>
                <a:cs typeface="Arial" pitchFamily="34" charset="-120"/>
              </a:rPr>
              <a:t>«Ғылым таппай мақтанба»</a:t>
            </a:r>
            <a:endParaRPr lang="en-US" sz="1300" dirty="0"/>
          </a:p>
        </p:txBody>
      </p:sp>
      <p:sp>
        <p:nvSpPr>
          <p:cNvPr id="8" name="Shape 5"/>
          <p:cNvSpPr/>
          <p:nvPr/>
        </p:nvSpPr>
        <p:spPr>
          <a:xfrm>
            <a:off x="5943600" y="1645920"/>
            <a:ext cx="731520" cy="731520"/>
          </a:xfrm>
          <a:prstGeom prst="ellipse">
            <a:avLst/>
          </a:prstGeom>
          <a:solidFill>
            <a:srgbClr val="2F5D8A"/>
          </a:solidFill>
          <a:ln w="12700">
            <a:solidFill>
              <a:srgbClr val="2F5D8A"/>
            </a:solidFill>
            <a:prstDash val="solid"/>
          </a:ln>
        </p:spPr>
      </p:sp>
      <p:pic>
        <p:nvPicPr>
          <p:cNvPr id="9" name="Image 1" descr="preencoded.png">    </p:cNvPr>
          <p:cNvPicPr>
            <a:picLocks noChangeAspect="1"/>
          </p:cNvPicPr>
          <p:nvPr/>
        </p:nvPicPr>
        <p:blipFill>
          <a:blip r:embed="rId2"/>
          <a:stretch>
            <a:fillRect/>
          </a:stretch>
        </p:blipFill>
        <p:spPr>
          <a:xfrm>
            <a:off x="6126480" y="1828800"/>
            <a:ext cx="365760" cy="365760"/>
          </a:xfrm>
          <a:prstGeom prst="rect">
            <a:avLst/>
          </a:prstGeom>
        </p:spPr>
      </p:pic>
      <p:sp>
        <p:nvSpPr>
          <p:cNvPr id="10" name="Text 6"/>
          <p:cNvSpPr txBox="1"/>
          <p:nvPr/>
        </p:nvSpPr>
        <p:spPr>
          <a:xfrm>
            <a:off x="6858000" y="1645920"/>
            <a:ext cx="475488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Адам білімді болып тумайды</a:t>
            </a:r>
            <a:endParaRPr lang="en-US" sz="1700" dirty="0"/>
          </a:p>
        </p:txBody>
      </p:sp>
      <p:sp>
        <p:nvSpPr>
          <p:cNvPr id="11" name="Text 7"/>
          <p:cNvSpPr txBox="1"/>
          <p:nvPr/>
        </p:nvSpPr>
        <p:spPr>
          <a:xfrm>
            <a:off x="6858000" y="2029968"/>
            <a:ext cx="475488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Білім еңбекпен, «жан құмарымен» табылады (19, 7-қара сөз)</a:t>
            </a:r>
            <a:endParaRPr lang="en-US" sz="1300" dirty="0"/>
          </a:p>
        </p:txBody>
      </p:sp>
      <p:sp>
        <p:nvSpPr>
          <p:cNvPr id="12" name="Shape 8"/>
          <p:cNvSpPr/>
          <p:nvPr/>
        </p:nvSpPr>
        <p:spPr>
          <a:xfrm>
            <a:off x="5943600" y="2761488"/>
            <a:ext cx="731520" cy="731520"/>
          </a:xfrm>
          <a:prstGeom prst="ellipse">
            <a:avLst/>
          </a:prstGeom>
          <a:solidFill>
            <a:srgbClr val="2F5D8A"/>
          </a:solidFill>
          <a:ln w="12700">
            <a:solidFill>
              <a:srgbClr val="2F5D8A"/>
            </a:solidFill>
            <a:prstDash val="solid"/>
          </a:ln>
        </p:spPr>
      </p:sp>
      <p:pic>
        <p:nvPicPr>
          <p:cNvPr id="13" name="Image 2" descr="preencoded.png">    </p:cNvPr>
          <p:cNvPicPr>
            <a:picLocks noChangeAspect="1"/>
          </p:cNvPicPr>
          <p:nvPr/>
        </p:nvPicPr>
        <p:blipFill>
          <a:blip r:embed="rId3"/>
          <a:stretch>
            <a:fillRect/>
          </a:stretch>
        </p:blipFill>
        <p:spPr>
          <a:xfrm>
            <a:off x="6126480" y="2944368"/>
            <a:ext cx="365760" cy="365760"/>
          </a:xfrm>
          <a:prstGeom prst="rect">
            <a:avLst/>
          </a:prstGeom>
        </p:spPr>
      </p:pic>
      <p:sp>
        <p:nvSpPr>
          <p:cNvPr id="14" name="Text 9"/>
          <p:cNvSpPr txBox="1"/>
          <p:nvPr/>
        </p:nvSpPr>
        <p:spPr>
          <a:xfrm>
            <a:off x="6858000" y="2761488"/>
            <a:ext cx="475488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Білім мақтан үшін емес</a:t>
            </a:r>
            <a:endParaRPr lang="en-US" sz="1700" dirty="0"/>
          </a:p>
        </p:txBody>
      </p:sp>
      <p:sp>
        <p:nvSpPr>
          <p:cNvPr id="15" name="Text 10"/>
          <p:cNvSpPr txBox="1"/>
          <p:nvPr/>
        </p:nvSpPr>
        <p:spPr>
          <a:xfrm>
            <a:off x="6858000" y="3145536"/>
            <a:ext cx="475488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Білімді оның өзі үшін сүю керек (32-қара сөз)</a:t>
            </a:r>
            <a:endParaRPr lang="en-US" sz="1300" dirty="0"/>
          </a:p>
        </p:txBody>
      </p:sp>
      <p:sp>
        <p:nvSpPr>
          <p:cNvPr id="16" name="Shape 11"/>
          <p:cNvSpPr/>
          <p:nvPr/>
        </p:nvSpPr>
        <p:spPr>
          <a:xfrm>
            <a:off x="5943600" y="3877056"/>
            <a:ext cx="731520" cy="731520"/>
          </a:xfrm>
          <a:prstGeom prst="ellipse">
            <a:avLst/>
          </a:prstGeom>
          <a:solidFill>
            <a:srgbClr val="2F5D8A"/>
          </a:solidFill>
          <a:ln w="12700">
            <a:solidFill>
              <a:srgbClr val="2F5D8A"/>
            </a:solidFill>
            <a:prstDash val="solid"/>
          </a:ln>
        </p:spPr>
      </p:sp>
      <p:pic>
        <p:nvPicPr>
          <p:cNvPr id="17" name="Image 3" descr="preencoded.png">    </p:cNvPr>
          <p:cNvPicPr>
            <a:picLocks noChangeAspect="1"/>
          </p:cNvPicPr>
          <p:nvPr/>
        </p:nvPicPr>
        <p:blipFill>
          <a:blip r:embed="rId4"/>
          <a:stretch>
            <a:fillRect/>
          </a:stretch>
        </p:blipFill>
        <p:spPr>
          <a:xfrm>
            <a:off x="6126480" y="4059936"/>
            <a:ext cx="365760" cy="365760"/>
          </a:xfrm>
          <a:prstGeom prst="rect">
            <a:avLst/>
          </a:prstGeom>
        </p:spPr>
      </p:pic>
      <p:sp>
        <p:nvSpPr>
          <p:cNvPr id="18" name="Text 12"/>
          <p:cNvSpPr txBox="1"/>
          <p:nvPr/>
        </p:nvSpPr>
        <p:spPr>
          <a:xfrm>
            <a:off x="6858000" y="3877056"/>
            <a:ext cx="475488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Толық адам</a:t>
            </a:r>
            <a:endParaRPr lang="en-US" sz="1700" dirty="0"/>
          </a:p>
        </p:txBody>
      </p:sp>
      <p:sp>
        <p:nvSpPr>
          <p:cNvPr id="19" name="Text 13"/>
          <p:cNvSpPr txBox="1"/>
          <p:nvPr/>
        </p:nvSpPr>
        <p:spPr>
          <a:xfrm>
            <a:off x="6858000" y="4261104"/>
            <a:ext cx="475488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Ақыл, қайрат, жүрек бірлігі; билік – жүректе (17-қара сөз)</a:t>
            </a:r>
            <a:endParaRPr lang="en-US" sz="1300" dirty="0"/>
          </a:p>
        </p:txBody>
      </p:sp>
      <p:sp>
        <p:nvSpPr>
          <p:cNvPr id="20" name="Shape 14"/>
          <p:cNvSpPr/>
          <p:nvPr/>
        </p:nvSpPr>
        <p:spPr>
          <a:xfrm>
            <a:off x="5943600" y="4992624"/>
            <a:ext cx="731520" cy="731520"/>
          </a:xfrm>
          <a:prstGeom prst="ellipse">
            <a:avLst/>
          </a:prstGeom>
          <a:solidFill>
            <a:srgbClr val="2F5D8A"/>
          </a:solidFill>
          <a:ln w="12700">
            <a:solidFill>
              <a:srgbClr val="2F5D8A"/>
            </a:solidFill>
            <a:prstDash val="solid"/>
          </a:ln>
        </p:spPr>
      </p:sp>
      <p:pic>
        <p:nvPicPr>
          <p:cNvPr id="21" name="Image 4" descr="preencoded.png">    </p:cNvPr>
          <p:cNvPicPr>
            <a:picLocks noChangeAspect="1"/>
          </p:cNvPicPr>
          <p:nvPr/>
        </p:nvPicPr>
        <p:blipFill>
          <a:blip r:embed="rId5"/>
          <a:stretch>
            <a:fillRect/>
          </a:stretch>
        </p:blipFill>
        <p:spPr>
          <a:xfrm>
            <a:off x="6126480" y="5175504"/>
            <a:ext cx="365760" cy="365760"/>
          </a:xfrm>
          <a:prstGeom prst="rect">
            <a:avLst/>
          </a:prstGeom>
        </p:spPr>
      </p:pic>
      <p:sp>
        <p:nvSpPr>
          <p:cNvPr id="22" name="Text 15"/>
          <p:cNvSpPr txBox="1"/>
          <p:nvPr/>
        </p:nvSpPr>
        <p:spPr>
          <a:xfrm>
            <a:off x="6858000" y="4992624"/>
            <a:ext cx="475488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Өзіңнен өзің есеп ал</a:t>
            </a:r>
            <a:endParaRPr lang="en-US" sz="1700" dirty="0"/>
          </a:p>
        </p:txBody>
      </p:sp>
      <p:sp>
        <p:nvSpPr>
          <p:cNvPr id="23" name="Text 16"/>
          <p:cNvSpPr txBox="1"/>
          <p:nvPr/>
        </p:nvSpPr>
        <p:spPr>
          <a:xfrm>
            <a:off x="6858000" y="5376672"/>
            <a:ext cx="475488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Күнде, аптада, айда бір рет (15-қара сөз)</a:t>
            </a:r>
            <a:endParaRPr lang="en-US" sz="1300" dirty="0"/>
          </a:p>
        </p:txBody>
      </p:sp>
      <p:sp>
        <p:nvSpPr>
          <p:cNvPr id="24" name="Text 1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Пушкин: «Береги честь смолоду»</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Тәрбие тәсілі – көркем үлгі, кейіпкердің таңдауы</a:t>
            </a:r>
            <a:endParaRPr lang="en-US" sz="1500" dirty="0"/>
          </a:p>
        </p:txBody>
      </p:sp>
      <p:sp>
        <p:nvSpPr>
          <p:cNvPr id="4" name="Shape 2"/>
          <p:cNvSpPr/>
          <p:nvPr/>
        </p:nvSpPr>
        <p:spPr>
          <a:xfrm>
            <a:off x="548640" y="1645920"/>
            <a:ext cx="731520" cy="731520"/>
          </a:xfrm>
          <a:prstGeom prst="ellipse">
            <a:avLst/>
          </a:prstGeom>
          <a:solidFill>
            <a:srgbClr val="C8932E"/>
          </a:solidFill>
          <a:ln w="12700">
            <a:solidFill>
              <a:srgbClr val="C8932E"/>
            </a:solidFill>
            <a:prstDash val="solid"/>
          </a:ln>
        </p:spPr>
      </p:sp>
      <p:pic>
        <p:nvPicPr>
          <p:cNvPr id="5" name="Image 0" descr="preencoded.png">    </p:cNvPr>
          <p:cNvPicPr>
            <a:picLocks noChangeAspect="1"/>
          </p:cNvPicPr>
          <p:nvPr/>
        </p:nvPicPr>
        <p:blipFill>
          <a:blip r:embed="rId1"/>
          <a:stretch>
            <a:fillRect/>
          </a:stretch>
        </p:blipFill>
        <p:spPr>
          <a:xfrm>
            <a:off x="731520" y="1828800"/>
            <a:ext cx="365760" cy="365760"/>
          </a:xfrm>
          <a:prstGeom prst="rect">
            <a:avLst/>
          </a:prstGeom>
        </p:spPr>
      </p:pic>
      <p:sp>
        <p:nvSpPr>
          <p:cNvPr id="6" name="Text 3"/>
          <p:cNvSpPr txBox="1"/>
          <p:nvPr/>
        </p:nvSpPr>
        <p:spPr>
          <a:xfrm>
            <a:off x="1463040" y="1645920"/>
            <a:ext cx="484632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Ар-намысты жастан сақта</a:t>
            </a:r>
            <a:endParaRPr lang="en-US" sz="1700" dirty="0"/>
          </a:p>
        </p:txBody>
      </p:sp>
      <p:sp>
        <p:nvSpPr>
          <p:cNvPr id="7" name="Text 4"/>
          <p:cNvSpPr txBox="1"/>
          <p:nvPr/>
        </p:nvSpPr>
        <p:spPr>
          <a:xfrm>
            <a:off x="1463040" y="2029968"/>
            <a:ext cx="484632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Гринёв ант бұзбайды, Швабрин – ақылды, бірақ арсыз («Капитанская дочка»)</a:t>
            </a:r>
            <a:endParaRPr lang="en-US" sz="1300" dirty="0"/>
          </a:p>
        </p:txBody>
      </p:sp>
      <p:sp>
        <p:nvSpPr>
          <p:cNvPr id="8" name="Shape 5"/>
          <p:cNvSpPr/>
          <p:nvPr/>
        </p:nvSpPr>
        <p:spPr>
          <a:xfrm>
            <a:off x="548640" y="2761488"/>
            <a:ext cx="731520" cy="731520"/>
          </a:xfrm>
          <a:prstGeom prst="ellipse">
            <a:avLst/>
          </a:prstGeom>
          <a:solidFill>
            <a:srgbClr val="C8932E"/>
          </a:solidFill>
          <a:ln w="12700">
            <a:solidFill>
              <a:srgbClr val="C8932E"/>
            </a:solidFill>
            <a:prstDash val="solid"/>
          </a:ln>
        </p:spPr>
      </p:sp>
      <p:pic>
        <p:nvPicPr>
          <p:cNvPr id="9" name="Image 1" descr="preencoded.png">    </p:cNvPr>
          <p:cNvPicPr>
            <a:picLocks noChangeAspect="1"/>
          </p:cNvPicPr>
          <p:nvPr/>
        </p:nvPicPr>
        <p:blipFill>
          <a:blip r:embed="rId2"/>
          <a:stretch>
            <a:fillRect/>
          </a:stretch>
        </p:blipFill>
        <p:spPr>
          <a:xfrm>
            <a:off x="731520" y="2944368"/>
            <a:ext cx="365760" cy="365760"/>
          </a:xfrm>
          <a:prstGeom prst="rect">
            <a:avLst/>
          </a:prstGeom>
        </p:spPr>
      </p:pic>
      <p:sp>
        <p:nvSpPr>
          <p:cNvPr id="10" name="Text 6"/>
          <p:cNvSpPr txBox="1"/>
          <p:nvPr/>
        </p:nvSpPr>
        <p:spPr>
          <a:xfrm>
            <a:off x="1463040" y="2761488"/>
            <a:ext cx="484632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Мейірім қайтады</a:t>
            </a:r>
            <a:endParaRPr lang="en-US" sz="1700" dirty="0"/>
          </a:p>
        </p:txBody>
      </p:sp>
      <p:sp>
        <p:nvSpPr>
          <p:cNvPr id="11" name="Text 7"/>
          <p:cNvSpPr txBox="1"/>
          <p:nvPr/>
        </p:nvSpPr>
        <p:spPr>
          <a:xfrm>
            <a:off x="1463040" y="3145536"/>
            <a:ext cx="484632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Қоян тон эпизоды; «милость к падшим» («Я памятник...»)</a:t>
            </a:r>
            <a:endParaRPr lang="en-US" sz="1300" dirty="0"/>
          </a:p>
        </p:txBody>
      </p:sp>
      <p:sp>
        <p:nvSpPr>
          <p:cNvPr id="12" name="Shape 8"/>
          <p:cNvSpPr/>
          <p:nvPr/>
        </p:nvSpPr>
        <p:spPr>
          <a:xfrm>
            <a:off x="548640" y="3877056"/>
            <a:ext cx="731520" cy="731520"/>
          </a:xfrm>
          <a:prstGeom prst="ellipse">
            <a:avLst/>
          </a:prstGeom>
          <a:solidFill>
            <a:srgbClr val="C8932E"/>
          </a:solidFill>
          <a:ln w="12700">
            <a:solidFill>
              <a:srgbClr val="C8932E"/>
            </a:solidFill>
            <a:prstDash val="solid"/>
          </a:ln>
        </p:spPr>
      </p:sp>
      <p:pic>
        <p:nvPicPr>
          <p:cNvPr id="13" name="Image 2" descr="preencoded.png">    </p:cNvPr>
          <p:cNvPicPr>
            <a:picLocks noChangeAspect="1"/>
          </p:cNvPicPr>
          <p:nvPr/>
        </p:nvPicPr>
        <p:blipFill>
          <a:blip r:embed="rId3"/>
          <a:stretch>
            <a:fillRect/>
          </a:stretch>
        </p:blipFill>
        <p:spPr>
          <a:xfrm>
            <a:off x="731520" y="4059936"/>
            <a:ext cx="365760" cy="365760"/>
          </a:xfrm>
          <a:prstGeom prst="rect">
            <a:avLst/>
          </a:prstGeom>
        </p:spPr>
      </p:pic>
      <p:sp>
        <p:nvSpPr>
          <p:cNvPr id="14" name="Text 9"/>
          <p:cNvSpPr txBox="1"/>
          <p:nvPr/>
        </p:nvSpPr>
        <p:spPr>
          <a:xfrm>
            <a:off x="1463040" y="3877056"/>
            <a:ext cx="484632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Үстірт білім мен еріншектік</a:t>
            </a:r>
            <a:endParaRPr lang="en-US" sz="1700" dirty="0"/>
          </a:p>
        </p:txBody>
      </p:sp>
      <p:sp>
        <p:nvSpPr>
          <p:cNvPr id="15" name="Text 10"/>
          <p:cNvSpPr txBox="1"/>
          <p:nvPr/>
        </p:nvSpPr>
        <p:spPr>
          <a:xfrm>
            <a:off x="1463040" y="4261104"/>
            <a:ext cx="484632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«Мы все учились понемногу / Чему-нибудь и как-нибудь» (Онегин)</a:t>
            </a:r>
            <a:endParaRPr lang="en-US" sz="1300" dirty="0"/>
          </a:p>
        </p:txBody>
      </p:sp>
      <p:sp>
        <p:nvSpPr>
          <p:cNvPr id="16" name="Shape 11"/>
          <p:cNvSpPr/>
          <p:nvPr/>
        </p:nvSpPr>
        <p:spPr>
          <a:xfrm>
            <a:off x="548640" y="4992624"/>
            <a:ext cx="731520" cy="731520"/>
          </a:xfrm>
          <a:prstGeom prst="ellipse">
            <a:avLst/>
          </a:prstGeom>
          <a:solidFill>
            <a:srgbClr val="C8932E"/>
          </a:solidFill>
          <a:ln w="12700">
            <a:solidFill>
              <a:srgbClr val="C8932E"/>
            </a:solidFill>
            <a:prstDash val="solid"/>
          </a:ln>
        </p:spPr>
      </p:sp>
      <p:pic>
        <p:nvPicPr>
          <p:cNvPr id="17" name="Image 3" descr="preencoded.png">    </p:cNvPr>
          <p:cNvPicPr>
            <a:picLocks noChangeAspect="1"/>
          </p:cNvPicPr>
          <p:nvPr/>
        </p:nvPicPr>
        <p:blipFill>
          <a:blip r:embed="rId4"/>
          <a:stretch>
            <a:fillRect/>
          </a:stretch>
        </p:blipFill>
        <p:spPr>
          <a:xfrm>
            <a:off x="731520" y="5175504"/>
            <a:ext cx="365760" cy="365760"/>
          </a:xfrm>
          <a:prstGeom prst="rect">
            <a:avLst/>
          </a:prstGeom>
        </p:spPr>
      </p:pic>
      <p:sp>
        <p:nvSpPr>
          <p:cNvPr id="18" name="Text 12"/>
          <p:cNvSpPr txBox="1"/>
          <p:nvPr/>
        </p:nvSpPr>
        <p:spPr>
          <a:xfrm>
            <a:off x="1463040" y="4992624"/>
            <a:ext cx="4846320" cy="36576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Берген сөзге адалдық, достық</a:t>
            </a:r>
            <a:endParaRPr lang="en-US" sz="1700" dirty="0"/>
          </a:p>
        </p:txBody>
      </p:sp>
      <p:sp>
        <p:nvSpPr>
          <p:cNvPr id="19" name="Text 13"/>
          <p:cNvSpPr txBox="1"/>
          <p:nvPr/>
        </p:nvSpPr>
        <p:spPr>
          <a:xfrm>
            <a:off x="1463040" y="5376672"/>
            <a:ext cx="4846320" cy="457200"/>
          </a:xfrm>
          <a:prstGeom prst="rect">
            <a:avLst/>
          </a:prstGeom>
          <a:noFill/>
          <a:ln/>
        </p:spPr>
        <p:txBody>
          <a:bodyPr wrap="square" lIns="0" tIns="0" rIns="0" bIns="0" rtlCol="0" anchor="ctr"/>
          <a:lstStyle/>
          <a:p>
            <a:pPr indent="0" marL="0">
              <a:buNone/>
            </a:pPr>
            <a:r>
              <a:rPr lang="en-US" sz="1300" dirty="0">
                <a:solidFill>
                  <a:srgbClr val="5B6472"/>
                </a:solidFill>
                <a:latin typeface="Arial" pitchFamily="34" charset="0"/>
                <a:ea typeface="Arial" pitchFamily="34" charset="-122"/>
                <a:cs typeface="Arial" pitchFamily="34" charset="-120"/>
              </a:rPr>
              <a:t>Татьяна; «Друзья мои, прекрасен наш союз!»</a:t>
            </a:r>
            <a:endParaRPr lang="en-US" sz="1300" dirty="0"/>
          </a:p>
        </p:txBody>
      </p:sp>
      <p:sp>
        <p:nvSpPr>
          <p:cNvPr id="20" name="Shape 14"/>
          <p:cNvSpPr/>
          <p:nvPr/>
        </p:nvSpPr>
        <p:spPr>
          <a:xfrm>
            <a:off x="6675120" y="1600200"/>
            <a:ext cx="4937760" cy="4480560"/>
          </a:xfrm>
          <a:prstGeom prst="roundRect">
            <a:avLst>
              <a:gd name="adj" fmla="val 2449"/>
            </a:avLst>
          </a:prstGeom>
          <a:solidFill>
            <a:srgbClr val="FBF1DE"/>
          </a:solidFill>
          <a:ln w="12700">
            <a:solidFill>
              <a:srgbClr val="FBF1DE"/>
            </a:solidFill>
            <a:prstDash val="solid"/>
          </a:ln>
        </p:spPr>
      </p:sp>
      <p:pic>
        <p:nvPicPr>
          <p:cNvPr id="21" name="Image 4" descr="preencoded.png">    </p:cNvPr>
          <p:cNvPicPr>
            <a:picLocks noChangeAspect="1"/>
          </p:cNvPicPr>
          <p:nvPr/>
        </p:nvPicPr>
        <p:blipFill>
          <a:blip r:embed="rId5"/>
          <a:stretch>
            <a:fillRect/>
          </a:stretch>
        </p:blipFill>
        <p:spPr>
          <a:xfrm>
            <a:off x="6949440" y="1828800"/>
            <a:ext cx="457200" cy="457200"/>
          </a:xfrm>
          <a:prstGeom prst="rect">
            <a:avLst/>
          </a:prstGeom>
        </p:spPr>
      </p:pic>
      <p:sp>
        <p:nvSpPr>
          <p:cNvPr id="22" name="Text 15"/>
          <p:cNvSpPr txBox="1"/>
          <p:nvPr/>
        </p:nvSpPr>
        <p:spPr>
          <a:xfrm>
            <a:off x="6949440" y="2377440"/>
            <a:ext cx="4480560" cy="1828800"/>
          </a:xfrm>
          <a:prstGeom prst="rect">
            <a:avLst/>
          </a:prstGeom>
          <a:noFill/>
          <a:ln/>
        </p:spPr>
        <p:txBody>
          <a:bodyPr wrap="square" lIns="0" tIns="0" rIns="0" bIns="0" rtlCol="0" anchor="t"/>
          <a:lstStyle/>
          <a:p>
            <a:pPr indent="0" marL="0">
              <a:buNone/>
            </a:pPr>
            <a:r>
              <a:rPr lang="en-US" sz="1600" i="1" dirty="0">
                <a:solidFill>
                  <a:srgbClr val="1F2937"/>
                </a:solidFill>
                <a:latin typeface="Times New Roman" pitchFamily="34" charset="0"/>
                <a:ea typeface="Times New Roman" pitchFamily="34" charset="-122"/>
                <a:cs typeface="Times New Roman" pitchFamily="34" charset="-120"/>
              </a:rPr>
              <a:t>И долго буду тем любезен я народу,</a:t>
            </a:r>
            <a:endParaRPr lang="en-US" sz="1600" dirty="0"/>
          </a:p>
          <a:p>
            <a:pPr indent="0" marL="0">
              <a:buNone/>
            </a:pPr>
            <a:r>
              <a:rPr lang="en-US" sz="1600" i="1" dirty="0">
                <a:solidFill>
                  <a:srgbClr val="1F2937"/>
                </a:solidFill>
                <a:latin typeface="Times New Roman" pitchFamily="34" charset="0"/>
                <a:ea typeface="Times New Roman" pitchFamily="34" charset="-122"/>
                <a:cs typeface="Times New Roman" pitchFamily="34" charset="-120"/>
              </a:rPr>
              <a:t>Что чувства добрые я лирой пробуждал,</a:t>
            </a:r>
            <a:endParaRPr lang="en-US" sz="1600" dirty="0"/>
          </a:p>
          <a:p>
            <a:pPr indent="0" marL="0">
              <a:buNone/>
            </a:pPr>
            <a:r>
              <a:rPr lang="en-US" sz="1600" i="1" dirty="0">
                <a:solidFill>
                  <a:srgbClr val="1F2937"/>
                </a:solidFill>
                <a:latin typeface="Times New Roman" pitchFamily="34" charset="0"/>
                <a:ea typeface="Times New Roman" pitchFamily="34" charset="-122"/>
                <a:cs typeface="Times New Roman" pitchFamily="34" charset="-120"/>
              </a:rPr>
              <a:t>Что в мой жестокий век восславил я свободу</a:t>
            </a:r>
            <a:endParaRPr lang="en-US" sz="1600" dirty="0"/>
          </a:p>
          <a:p>
            <a:pPr indent="0" marL="0">
              <a:buNone/>
            </a:pPr>
            <a:r>
              <a:rPr lang="en-US" sz="1600" i="1" dirty="0">
                <a:solidFill>
                  <a:srgbClr val="1F2937"/>
                </a:solidFill>
                <a:latin typeface="Times New Roman" pitchFamily="34" charset="0"/>
                <a:ea typeface="Times New Roman" pitchFamily="34" charset="-122"/>
                <a:cs typeface="Times New Roman" pitchFamily="34" charset="-120"/>
              </a:rPr>
              <a:t>И милость к падшим призывал.</a:t>
            </a:r>
            <a:endParaRPr lang="en-US" sz="1600" dirty="0"/>
          </a:p>
        </p:txBody>
      </p:sp>
      <p:sp>
        <p:nvSpPr>
          <p:cNvPr id="23" name="Text 16"/>
          <p:cNvSpPr txBox="1"/>
          <p:nvPr/>
        </p:nvSpPr>
        <p:spPr>
          <a:xfrm>
            <a:off x="6949440" y="4343400"/>
            <a:ext cx="4480560" cy="14630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Аудармасы: «Халқыма сол үшін жақын боламын: ізгі сезімдерді ояттым, қатал ғасырымда еркіндікті жырладым және құлағандарға рақым етуге шақырдым».</a:t>
            </a:r>
            <a:endParaRPr lang="en-US" sz="1300" dirty="0"/>
          </a:p>
        </p:txBody>
      </p:sp>
      <p:sp>
        <p:nvSpPr>
          <p:cNvPr id="24" name="Text 1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Нәтиже 1: кодтар қалай бөлінді?</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Код кездескен мәтін бірліктерінің саны (әр ақыннан 11 мәтін)</a:t>
            </a:r>
            <a:endParaRPr lang="en-US" sz="1500" dirty="0"/>
          </a:p>
        </p:txBody>
      </p:sp>
      <p:graphicFrame>
        <p:nvGraphicFramePr>
          <p:cNvPr id="4" name="Chart 0" descr=""/>
          <p:cNvGraphicFramePr/>
          <p:nvPr/>
        </p:nvGraphicFramePr>
        <p:xfrm>
          <a:off x="457200" y="155448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03920" y="1719072"/>
            <a:ext cx="256032" cy="256032"/>
          </a:xfrm>
          <a:prstGeom prst="ellipse">
            <a:avLst/>
          </a:prstGeom>
          <a:solidFill>
            <a:srgbClr val="1F3A5F"/>
          </a:solidFill>
          <a:ln w="12700">
            <a:solidFill>
              <a:srgbClr val="1F3A5F"/>
            </a:solidFill>
            <a:prstDash val="solid"/>
          </a:ln>
        </p:spPr>
      </p:sp>
      <p:sp>
        <p:nvSpPr>
          <p:cNvPr id="6" name="Text 3"/>
          <p:cNvSpPr txBox="1"/>
          <p:nvPr/>
        </p:nvSpPr>
        <p:spPr>
          <a:xfrm>
            <a:off x="8915400" y="1645920"/>
            <a:ext cx="2834640" cy="457200"/>
          </a:xfrm>
          <a:prstGeom prst="rect">
            <a:avLst/>
          </a:prstGeom>
          <a:noFill/>
          <a:ln/>
        </p:spPr>
        <p:txBody>
          <a:bodyPr wrap="square" lIns="0" tIns="0" rIns="0" bIns="0" rtlCol="0" anchor="t"/>
          <a:lstStyle/>
          <a:p>
            <a:pPr indent="0" marL="0">
              <a:buNone/>
            </a:pPr>
            <a:r>
              <a:rPr lang="en-US" sz="1500" b="1" dirty="0">
                <a:solidFill>
                  <a:srgbClr val="1F2937"/>
                </a:solidFill>
                <a:latin typeface="Arial" pitchFamily="34" charset="0"/>
                <a:ea typeface="Arial" pitchFamily="34" charset="-122"/>
                <a:cs typeface="Arial" pitchFamily="34" charset="-120"/>
              </a:rPr>
              <a:t>Жеті кодтың бәрі екі ақында да бар</a:t>
            </a:r>
            <a:endParaRPr lang="en-US" sz="1500" dirty="0"/>
          </a:p>
        </p:txBody>
      </p:sp>
      <p:sp>
        <p:nvSpPr>
          <p:cNvPr id="7" name="Text 4"/>
          <p:cNvSpPr txBox="1"/>
          <p:nvPr/>
        </p:nvSpPr>
        <p:spPr>
          <a:xfrm>
            <a:off x="8915400" y="2148840"/>
            <a:ext cx="2834640" cy="45720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Тәрбиелік мазмұн өрісі ортақ</a:t>
            </a:r>
            <a:endParaRPr lang="en-US" sz="1200" dirty="0"/>
          </a:p>
        </p:txBody>
      </p:sp>
      <p:sp>
        <p:nvSpPr>
          <p:cNvPr id="8" name="Shape 5"/>
          <p:cNvSpPr/>
          <p:nvPr/>
        </p:nvSpPr>
        <p:spPr>
          <a:xfrm>
            <a:off x="8503920" y="2834640"/>
            <a:ext cx="256032" cy="256032"/>
          </a:xfrm>
          <a:prstGeom prst="ellipse">
            <a:avLst/>
          </a:prstGeom>
          <a:solidFill>
            <a:srgbClr val="2F5D8A"/>
          </a:solidFill>
          <a:ln w="12700">
            <a:solidFill>
              <a:srgbClr val="2F5D8A"/>
            </a:solidFill>
            <a:prstDash val="solid"/>
          </a:ln>
        </p:spPr>
      </p:sp>
      <p:sp>
        <p:nvSpPr>
          <p:cNvPr id="9" name="Text 6"/>
          <p:cNvSpPr txBox="1"/>
          <p:nvPr/>
        </p:nvSpPr>
        <p:spPr>
          <a:xfrm>
            <a:off x="8915400" y="2761488"/>
            <a:ext cx="2834640" cy="457200"/>
          </a:xfrm>
          <a:prstGeom prst="rect">
            <a:avLst/>
          </a:prstGeom>
          <a:noFill/>
          <a:ln/>
        </p:spPr>
        <p:txBody>
          <a:bodyPr wrap="square" lIns="0" tIns="0" rIns="0" bIns="0" rtlCol="0" anchor="t"/>
          <a:lstStyle/>
          <a:p>
            <a:pPr indent="0" marL="0">
              <a:buNone/>
            </a:pPr>
            <a:r>
              <a:rPr lang="en-US" sz="1500" b="1" dirty="0">
                <a:solidFill>
                  <a:srgbClr val="1F2937"/>
                </a:solidFill>
                <a:latin typeface="Arial" pitchFamily="34" charset="0"/>
                <a:ea typeface="Arial" pitchFamily="34" charset="-122"/>
                <a:cs typeface="Arial" pitchFamily="34" charset="-120"/>
              </a:rPr>
              <a:t>Абайда: білім (9) және еңбек (6)</a:t>
            </a:r>
            <a:endParaRPr lang="en-US" sz="1500" dirty="0"/>
          </a:p>
        </p:txBody>
      </p:sp>
      <p:sp>
        <p:nvSpPr>
          <p:cNvPr id="10" name="Text 7"/>
          <p:cNvSpPr txBox="1"/>
          <p:nvPr/>
        </p:nvSpPr>
        <p:spPr>
          <a:xfrm>
            <a:off x="8915400" y="3264408"/>
            <a:ext cx="2834640" cy="45720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Тәрбиенің бастауы – білім мен ақыл</a:t>
            </a:r>
            <a:endParaRPr lang="en-US" sz="1200" dirty="0"/>
          </a:p>
        </p:txBody>
      </p:sp>
      <p:sp>
        <p:nvSpPr>
          <p:cNvPr id="11" name="Shape 8"/>
          <p:cNvSpPr/>
          <p:nvPr/>
        </p:nvSpPr>
        <p:spPr>
          <a:xfrm>
            <a:off x="8503920" y="3950208"/>
            <a:ext cx="256032" cy="256032"/>
          </a:xfrm>
          <a:prstGeom prst="ellipse">
            <a:avLst/>
          </a:prstGeom>
          <a:solidFill>
            <a:srgbClr val="C8932E"/>
          </a:solidFill>
          <a:ln w="12700">
            <a:solidFill>
              <a:srgbClr val="C8932E"/>
            </a:solidFill>
            <a:prstDash val="solid"/>
          </a:ln>
        </p:spPr>
      </p:sp>
      <p:sp>
        <p:nvSpPr>
          <p:cNvPr id="12" name="Text 9"/>
          <p:cNvSpPr txBox="1"/>
          <p:nvPr/>
        </p:nvSpPr>
        <p:spPr>
          <a:xfrm>
            <a:off x="8915400" y="3877056"/>
            <a:ext cx="2834640" cy="457200"/>
          </a:xfrm>
          <a:prstGeom prst="rect">
            <a:avLst/>
          </a:prstGeom>
          <a:noFill/>
          <a:ln/>
        </p:spPr>
        <p:txBody>
          <a:bodyPr wrap="square" lIns="0" tIns="0" rIns="0" bIns="0" rtlCol="0" anchor="t"/>
          <a:lstStyle/>
          <a:p>
            <a:pPr indent="0" marL="0">
              <a:buNone/>
            </a:pPr>
            <a:r>
              <a:rPr lang="en-US" sz="1500" b="1" dirty="0">
                <a:solidFill>
                  <a:srgbClr val="1F2937"/>
                </a:solidFill>
                <a:latin typeface="Arial" pitchFamily="34" charset="0"/>
                <a:ea typeface="Arial" pitchFamily="34" charset="-122"/>
                <a:cs typeface="Arial" pitchFamily="34" charset="-120"/>
              </a:rPr>
              <a:t>Пушкинде: ар (6), жаман әдет (6), мейірім (5)</a:t>
            </a:r>
            <a:endParaRPr lang="en-US" sz="1500" dirty="0"/>
          </a:p>
        </p:txBody>
      </p:sp>
      <p:sp>
        <p:nvSpPr>
          <p:cNvPr id="13" name="Text 10"/>
          <p:cNvSpPr txBox="1"/>
          <p:nvPr/>
        </p:nvSpPr>
        <p:spPr>
          <a:xfrm>
            <a:off x="8915400" y="4379976"/>
            <a:ext cx="2834640" cy="45720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Тәрбиенің бастауы – ар мен ізгі сезім</a:t>
            </a:r>
            <a:endParaRPr lang="en-US" sz="1200" dirty="0"/>
          </a:p>
        </p:txBody>
      </p:sp>
      <p:sp>
        <p:nvSpPr>
          <p:cNvPr id="14" name="Shape 11"/>
          <p:cNvSpPr/>
          <p:nvPr/>
        </p:nvSpPr>
        <p:spPr>
          <a:xfrm>
            <a:off x="8503920" y="5065776"/>
            <a:ext cx="256032" cy="256032"/>
          </a:xfrm>
          <a:prstGeom prst="ellipse">
            <a:avLst/>
          </a:prstGeom>
          <a:solidFill>
            <a:srgbClr val="2F7D5B"/>
          </a:solidFill>
          <a:ln w="12700">
            <a:solidFill>
              <a:srgbClr val="2F7D5B"/>
            </a:solidFill>
            <a:prstDash val="solid"/>
          </a:ln>
        </p:spPr>
      </p:sp>
      <p:sp>
        <p:nvSpPr>
          <p:cNvPr id="15" name="Text 12"/>
          <p:cNvSpPr txBox="1"/>
          <p:nvPr/>
        </p:nvSpPr>
        <p:spPr>
          <a:xfrm>
            <a:off x="8915400" y="4992624"/>
            <a:ext cx="2834640" cy="457200"/>
          </a:xfrm>
          <a:prstGeom prst="rect">
            <a:avLst/>
          </a:prstGeom>
          <a:noFill/>
          <a:ln/>
        </p:spPr>
        <p:txBody>
          <a:bodyPr wrap="square" lIns="0" tIns="0" rIns="0" bIns="0" rtlCol="0" anchor="t"/>
          <a:lstStyle/>
          <a:p>
            <a:pPr indent="0" marL="0">
              <a:buNone/>
            </a:pPr>
            <a:r>
              <a:rPr lang="en-US" sz="1500" b="1" dirty="0">
                <a:solidFill>
                  <a:srgbClr val="1F2937"/>
                </a:solidFill>
                <a:latin typeface="Arial" pitchFamily="34" charset="0"/>
                <a:ea typeface="Arial" pitchFamily="34" charset="-122"/>
                <a:cs typeface="Arial" pitchFamily="34" charset="-120"/>
              </a:rPr>
              <a:t>Бірге алғанда әр код 7–10 мәтінде</a:t>
            </a:r>
            <a:endParaRPr lang="en-US" sz="1500" dirty="0"/>
          </a:p>
        </p:txBody>
      </p:sp>
      <p:sp>
        <p:nvSpPr>
          <p:cNvPr id="16" name="Text 13"/>
          <p:cNvSpPr txBox="1"/>
          <p:nvPr/>
        </p:nvSpPr>
        <p:spPr>
          <a:xfrm>
            <a:off x="8915400" y="5495544"/>
            <a:ext cx="2834640" cy="45720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Екі ақын бір-бірін толықтырады</a:t>
            </a:r>
            <a:endParaRPr lang="en-US" sz="1200" dirty="0"/>
          </a:p>
        </p:txBody>
      </p:sp>
      <p:sp>
        <p:nvSpPr>
          <p:cNvPr id="17" name="Text 14"/>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Нәтиже 2: ортақ және дара белгілер</a:t>
            </a:r>
            <a:endParaRPr lang="en-US" sz="3400" dirty="0"/>
          </a:p>
        </p:txBody>
      </p:sp>
      <p:sp>
        <p:nvSpPr>
          <p:cNvPr id="3" name="Shape 1"/>
          <p:cNvSpPr/>
          <p:nvPr/>
        </p:nvSpPr>
        <p:spPr>
          <a:xfrm>
            <a:off x="548640" y="1371600"/>
            <a:ext cx="3474720" cy="4023360"/>
          </a:xfrm>
          <a:prstGeom prst="roundRect">
            <a:avLst>
              <a:gd name="adj" fmla="val 3158"/>
            </a:avLst>
          </a:prstGeom>
          <a:solidFill>
            <a:srgbClr val="EEF3F8"/>
          </a:solidFill>
          <a:ln w="12700">
            <a:solidFill>
              <a:srgbClr val="EEF3F8"/>
            </a:solidFill>
            <a:prstDash val="solid"/>
          </a:ln>
        </p:spPr>
      </p:sp>
      <p:sp>
        <p:nvSpPr>
          <p:cNvPr id="4" name="Text 2"/>
          <p:cNvSpPr txBox="1"/>
          <p:nvPr/>
        </p:nvSpPr>
        <p:spPr>
          <a:xfrm>
            <a:off x="822960" y="1554480"/>
            <a:ext cx="2926080" cy="502920"/>
          </a:xfrm>
          <a:prstGeom prst="rect">
            <a:avLst/>
          </a:prstGeom>
          <a:noFill/>
          <a:ln/>
        </p:spPr>
        <p:txBody>
          <a:bodyPr wrap="square" lIns="0" tIns="0" rIns="0" bIns="0" rtlCol="0" anchor="ctr"/>
          <a:lstStyle/>
          <a:p>
            <a:pPr indent="0" marL="0">
              <a:buNone/>
            </a:pPr>
            <a:r>
              <a:rPr lang="en-US" sz="2400" b="1" dirty="0">
                <a:solidFill>
                  <a:srgbClr val="2F5D8A"/>
                </a:solidFill>
                <a:latin typeface="Times New Roman" pitchFamily="34" charset="0"/>
                <a:ea typeface="Times New Roman" pitchFamily="34" charset="-122"/>
                <a:cs typeface="Times New Roman" pitchFamily="34" charset="-120"/>
              </a:rPr>
              <a:t>АБАЙ</a:t>
            </a:r>
            <a:endParaRPr lang="en-US" sz="2400" dirty="0"/>
          </a:p>
        </p:txBody>
      </p:sp>
      <p:sp>
        <p:nvSpPr>
          <p:cNvPr id="5" name="Text 3"/>
          <p:cNvSpPr txBox="1"/>
          <p:nvPr/>
        </p:nvSpPr>
        <p:spPr>
          <a:xfrm>
            <a:off x="822960" y="219456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«Толық адам»: ақыл – қайрат – жүрек</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Бес дұшпан / бес асыл іс</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Тура үндеу, ақыл-кеңес</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«Не істеу керек» дейді</a:t>
            </a:r>
            <a:endParaRPr lang="en-US" sz="1600" dirty="0"/>
          </a:p>
        </p:txBody>
      </p:sp>
      <p:sp>
        <p:nvSpPr>
          <p:cNvPr id="6" name="Shape 4"/>
          <p:cNvSpPr/>
          <p:nvPr/>
        </p:nvSpPr>
        <p:spPr>
          <a:xfrm>
            <a:off x="4297680" y="1371600"/>
            <a:ext cx="3474720" cy="4023360"/>
          </a:xfrm>
          <a:prstGeom prst="roundRect">
            <a:avLst>
              <a:gd name="adj" fmla="val 3158"/>
            </a:avLst>
          </a:prstGeom>
          <a:solidFill>
            <a:srgbClr val="DCE4EE"/>
          </a:solidFill>
          <a:ln w="12700">
            <a:solidFill>
              <a:srgbClr val="DCE4EE"/>
            </a:solidFill>
            <a:prstDash val="solid"/>
          </a:ln>
        </p:spPr>
      </p:sp>
      <p:sp>
        <p:nvSpPr>
          <p:cNvPr id="7" name="Text 5"/>
          <p:cNvSpPr txBox="1"/>
          <p:nvPr/>
        </p:nvSpPr>
        <p:spPr>
          <a:xfrm>
            <a:off x="4572000" y="1554480"/>
            <a:ext cx="2926080" cy="502920"/>
          </a:xfrm>
          <a:prstGeom prst="rect">
            <a:avLst/>
          </a:prstGeom>
          <a:noFill/>
          <a:ln/>
        </p:spPr>
        <p:txBody>
          <a:bodyPr wrap="square" lIns="0" tIns="0" rIns="0" bIns="0" rtlCol="0" anchor="ctr"/>
          <a:lstStyle/>
          <a:p>
            <a:pPr indent="0" marL="0">
              <a:buNone/>
            </a:pPr>
            <a:r>
              <a:rPr lang="en-US" sz="2400" b="1" dirty="0">
                <a:solidFill>
                  <a:srgbClr val="1F3A5F"/>
                </a:solidFill>
                <a:latin typeface="Times New Roman" pitchFamily="34" charset="0"/>
                <a:ea typeface="Times New Roman" pitchFamily="34" charset="-122"/>
                <a:cs typeface="Times New Roman" pitchFamily="34" charset="-120"/>
              </a:rPr>
              <a:t>ОРТАҚ</a:t>
            </a:r>
            <a:endParaRPr lang="en-US" sz="2400" dirty="0"/>
          </a:p>
        </p:txBody>
      </p:sp>
      <p:sp>
        <p:nvSpPr>
          <p:cNvPr id="8" name="Text 6"/>
          <p:cNvSpPr txBox="1"/>
          <p:nvPr/>
        </p:nvSpPr>
        <p:spPr>
          <a:xfrm>
            <a:off x="4572000" y="219456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Адамгершілік білімнен жоғары</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Жастық – мінез қалыптасар кезең</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Адалдық, еңбек, мейірім</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Өзіне есеп беру</a:t>
            </a:r>
            <a:endParaRPr lang="en-US" sz="1600" dirty="0"/>
          </a:p>
        </p:txBody>
      </p:sp>
      <p:sp>
        <p:nvSpPr>
          <p:cNvPr id="9" name="Shape 7"/>
          <p:cNvSpPr/>
          <p:nvPr/>
        </p:nvSpPr>
        <p:spPr>
          <a:xfrm>
            <a:off x="8046720" y="1371600"/>
            <a:ext cx="3474720" cy="4023360"/>
          </a:xfrm>
          <a:prstGeom prst="roundRect">
            <a:avLst>
              <a:gd name="adj" fmla="val 3158"/>
            </a:avLst>
          </a:prstGeom>
          <a:solidFill>
            <a:srgbClr val="FBF1DE"/>
          </a:solidFill>
          <a:ln w="12700">
            <a:solidFill>
              <a:srgbClr val="FBF1DE"/>
            </a:solidFill>
            <a:prstDash val="solid"/>
          </a:ln>
        </p:spPr>
      </p:sp>
      <p:sp>
        <p:nvSpPr>
          <p:cNvPr id="10" name="Text 8"/>
          <p:cNvSpPr txBox="1"/>
          <p:nvPr/>
        </p:nvSpPr>
        <p:spPr>
          <a:xfrm>
            <a:off x="8321040" y="1554480"/>
            <a:ext cx="2926080" cy="502920"/>
          </a:xfrm>
          <a:prstGeom prst="rect">
            <a:avLst/>
          </a:prstGeom>
          <a:noFill/>
          <a:ln/>
        </p:spPr>
        <p:txBody>
          <a:bodyPr wrap="square" lIns="0" tIns="0" rIns="0" bIns="0" rtlCol="0" anchor="ctr"/>
          <a:lstStyle/>
          <a:p>
            <a:pPr indent="0" marL="0">
              <a:buNone/>
            </a:pPr>
            <a:r>
              <a:rPr lang="en-US" sz="2400" b="1" dirty="0">
                <a:solidFill>
                  <a:srgbClr val="C8932E"/>
                </a:solidFill>
                <a:latin typeface="Times New Roman" pitchFamily="34" charset="0"/>
                <a:ea typeface="Times New Roman" pitchFamily="34" charset="-122"/>
                <a:cs typeface="Times New Roman" pitchFamily="34" charset="-120"/>
              </a:rPr>
              <a:t>ПУШКИН</a:t>
            </a:r>
            <a:endParaRPr lang="en-US" sz="2400" dirty="0"/>
          </a:p>
        </p:txBody>
      </p:sp>
      <p:sp>
        <p:nvSpPr>
          <p:cNvPr id="11" name="Text 9"/>
          <p:cNvSpPr txBox="1"/>
          <p:nvPr/>
        </p:nvSpPr>
        <p:spPr>
          <a:xfrm>
            <a:off x="8321040" y="219456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«Береги честь смолоду»</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Кейіпкер таңдауы арқылы үлгі</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«Милость к падшим»</a:t>
            </a:r>
            <a:endParaRPr lang="en-US" sz="1600" dirty="0"/>
          </a:p>
          <a:p>
            <a:pPr marL="342900" indent="-342900">
              <a:spcAft>
                <a:spcPts val="1000"/>
              </a:spcAft>
              <a:buSzPct val="100000"/>
              <a:buChar char="•"/>
            </a:pPr>
            <a:r>
              <a:rPr lang="en-US" sz="1600" dirty="0">
                <a:solidFill>
                  <a:srgbClr val="1F2937"/>
                </a:solidFill>
                <a:latin typeface="Arial" pitchFamily="34" charset="0"/>
                <a:ea typeface="Arial" pitchFamily="34" charset="-122"/>
                <a:cs typeface="Arial" pitchFamily="34" charset="-120"/>
              </a:rPr>
              <a:t>«Таңдау қалай жасалады» көрсетеді</a:t>
            </a:r>
            <a:endParaRPr lang="en-US" sz="1600" dirty="0"/>
          </a:p>
        </p:txBody>
      </p:sp>
      <p:sp>
        <p:nvSpPr>
          <p:cNvPr id="12" name="Shape 10"/>
          <p:cNvSpPr/>
          <p:nvPr/>
        </p:nvSpPr>
        <p:spPr>
          <a:xfrm>
            <a:off x="548640" y="5577840"/>
            <a:ext cx="11064240" cy="822960"/>
          </a:xfrm>
          <a:prstGeom prst="roundRect">
            <a:avLst>
              <a:gd name="adj" fmla="val 13333"/>
            </a:avLst>
          </a:prstGeom>
          <a:solidFill>
            <a:srgbClr val="1F3A5F"/>
          </a:solidFill>
          <a:ln w="12700">
            <a:solidFill>
              <a:srgbClr val="1F3A5F"/>
            </a:solidFill>
            <a:prstDash val="solid"/>
          </a:ln>
        </p:spPr>
      </p:sp>
      <p:sp>
        <p:nvSpPr>
          <p:cNvPr id="13" name="Text 11"/>
          <p:cNvSpPr txBox="1"/>
          <p:nvPr/>
        </p:nvSpPr>
        <p:spPr>
          <a:xfrm>
            <a:off x="822960" y="5577840"/>
            <a:ext cx="10515600" cy="822960"/>
          </a:xfrm>
          <a:prstGeom prst="rect">
            <a:avLst/>
          </a:prstGeom>
          <a:noFill/>
          <a:ln/>
        </p:spPr>
        <p:txBody>
          <a:bodyPr wrap="square" lIns="0" tIns="0" rIns="0" bIns="0" rtlCol="0" anchor="ctr"/>
          <a:lstStyle/>
          <a:p>
            <a:pPr indent="0" marL="0">
              <a:buNone/>
            </a:pPr>
            <a:r>
              <a:rPr lang="en-US" sz="1800" b="1" dirty="0">
                <a:solidFill>
                  <a:srgbClr val="C8932E"/>
                </a:solidFill>
                <a:latin typeface="Arial" pitchFamily="34" charset="0"/>
                <a:ea typeface="Arial" pitchFamily="34" charset="-122"/>
                <a:cs typeface="Arial" pitchFamily="34" charset="-120"/>
              </a:rPr>
              <a:t>Қорытынды идея:  </a:t>
            </a:r>
            <a:pPr indent="0" marL="0">
              <a:buNone/>
            </a:pPr>
            <a:r>
              <a:rPr lang="en-US" sz="1800" dirty="0">
                <a:solidFill>
                  <a:srgbClr val="FFFFFF"/>
                </a:solidFill>
                <a:latin typeface="Arial" pitchFamily="34" charset="0"/>
                <a:ea typeface="Arial" pitchFamily="34" charset="-122"/>
                <a:cs typeface="Arial" pitchFamily="34" charset="-120"/>
              </a:rPr>
              <a:t>ереже (Абай) + үлгі (Пушкин) = жасөспірімге арналған тәрбие моделінің негізі</a:t>
            </a:r>
            <a:endParaRPr lang="en-US" sz="1800" dirty="0"/>
          </a:p>
        </p:txBody>
      </p:sp>
      <p:sp>
        <p:nvSpPr>
          <p:cNvPr id="14" name="Text 1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«Ар – Ақыл – Жүрек» тәрбие моделі</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Абайдың үштігі қазіргі мінез тәрбиесі теориясымен үндеседі (T. Lickona, 1991)</a:t>
            </a:r>
            <a:endParaRPr lang="en-US" sz="1500" dirty="0"/>
          </a:p>
        </p:txBody>
      </p:sp>
      <p:sp>
        <p:nvSpPr>
          <p:cNvPr id="4" name="Shape 2"/>
          <p:cNvSpPr/>
          <p:nvPr/>
        </p:nvSpPr>
        <p:spPr>
          <a:xfrm>
            <a:off x="640080" y="1645920"/>
            <a:ext cx="1005840" cy="1005840"/>
          </a:xfrm>
          <a:prstGeom prst="ellipse">
            <a:avLst/>
          </a:prstGeom>
          <a:solidFill>
            <a:srgbClr val="2F5D8A"/>
          </a:solidFill>
          <a:ln w="12700">
            <a:solidFill>
              <a:srgbClr val="2F5D8A"/>
            </a:solidFill>
            <a:prstDash val="solid"/>
          </a:ln>
        </p:spPr>
      </p:sp>
      <p:pic>
        <p:nvPicPr>
          <p:cNvPr id="5" name="Image 0" descr="preencoded.png">    </p:cNvPr>
          <p:cNvPicPr>
            <a:picLocks noChangeAspect="1"/>
          </p:cNvPicPr>
          <p:nvPr/>
        </p:nvPicPr>
        <p:blipFill>
          <a:blip r:embed="rId1"/>
          <a:stretch>
            <a:fillRect/>
          </a:stretch>
        </p:blipFill>
        <p:spPr>
          <a:xfrm>
            <a:off x="891540" y="1897380"/>
            <a:ext cx="502920" cy="502920"/>
          </a:xfrm>
          <a:prstGeom prst="rect">
            <a:avLst/>
          </a:prstGeom>
        </p:spPr>
      </p:pic>
      <p:sp>
        <p:nvSpPr>
          <p:cNvPr id="6" name="Text 3"/>
          <p:cNvSpPr txBox="1"/>
          <p:nvPr/>
        </p:nvSpPr>
        <p:spPr>
          <a:xfrm>
            <a:off x="1828800" y="1691640"/>
            <a:ext cx="2377440" cy="457200"/>
          </a:xfrm>
          <a:prstGeom prst="rect">
            <a:avLst/>
          </a:prstGeom>
          <a:noFill/>
          <a:ln/>
        </p:spPr>
        <p:txBody>
          <a:bodyPr wrap="square" lIns="0" tIns="0" rIns="0" bIns="0" rtlCol="0" anchor="ctr"/>
          <a:lstStyle/>
          <a:p>
            <a:pPr indent="0" marL="0">
              <a:buNone/>
            </a:pPr>
            <a:r>
              <a:rPr lang="en-US" sz="2200" b="1" dirty="0">
                <a:solidFill>
                  <a:srgbClr val="2F5D8A"/>
                </a:solidFill>
                <a:latin typeface="Times New Roman" pitchFamily="34" charset="0"/>
                <a:ea typeface="Times New Roman" pitchFamily="34" charset="-122"/>
                <a:cs typeface="Times New Roman" pitchFamily="34" charset="-120"/>
              </a:rPr>
              <a:t>АҚЫЛ</a:t>
            </a:r>
            <a:endParaRPr lang="en-US" sz="2200" dirty="0"/>
          </a:p>
        </p:txBody>
      </p:sp>
      <p:sp>
        <p:nvSpPr>
          <p:cNvPr id="7" name="Text 4"/>
          <p:cNvSpPr txBox="1"/>
          <p:nvPr/>
        </p:nvSpPr>
        <p:spPr>
          <a:xfrm>
            <a:off x="1828800" y="2148840"/>
            <a:ext cx="2560320" cy="41148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 жақсылықты білу</a:t>
            </a:r>
            <a:endParaRPr lang="en-US" sz="1500" dirty="0"/>
          </a:p>
        </p:txBody>
      </p:sp>
      <p:sp>
        <p:nvSpPr>
          <p:cNvPr id="8" name="Shape 5"/>
          <p:cNvSpPr/>
          <p:nvPr/>
        </p:nvSpPr>
        <p:spPr>
          <a:xfrm>
            <a:off x="640080" y="3108960"/>
            <a:ext cx="1005840" cy="1005840"/>
          </a:xfrm>
          <a:prstGeom prst="ellipse">
            <a:avLst/>
          </a:prstGeom>
          <a:solidFill>
            <a:srgbClr val="C8932E"/>
          </a:solidFill>
          <a:ln w="12700">
            <a:solidFill>
              <a:srgbClr val="C8932E"/>
            </a:solidFill>
            <a:prstDash val="solid"/>
          </a:ln>
        </p:spPr>
      </p:sp>
      <p:pic>
        <p:nvPicPr>
          <p:cNvPr id="9" name="Image 1" descr="preencoded.png">    </p:cNvPr>
          <p:cNvPicPr>
            <a:picLocks noChangeAspect="1"/>
          </p:cNvPicPr>
          <p:nvPr/>
        </p:nvPicPr>
        <p:blipFill>
          <a:blip r:embed="rId2"/>
          <a:stretch>
            <a:fillRect/>
          </a:stretch>
        </p:blipFill>
        <p:spPr>
          <a:xfrm>
            <a:off x="891540" y="3360420"/>
            <a:ext cx="502920" cy="502920"/>
          </a:xfrm>
          <a:prstGeom prst="rect">
            <a:avLst/>
          </a:prstGeom>
        </p:spPr>
      </p:pic>
      <p:sp>
        <p:nvSpPr>
          <p:cNvPr id="10" name="Text 6"/>
          <p:cNvSpPr txBox="1"/>
          <p:nvPr/>
        </p:nvSpPr>
        <p:spPr>
          <a:xfrm>
            <a:off x="1828800" y="3154680"/>
            <a:ext cx="2377440" cy="457200"/>
          </a:xfrm>
          <a:prstGeom prst="rect">
            <a:avLst/>
          </a:prstGeom>
          <a:noFill/>
          <a:ln/>
        </p:spPr>
        <p:txBody>
          <a:bodyPr wrap="square" lIns="0" tIns="0" rIns="0" bIns="0" rtlCol="0" anchor="ctr"/>
          <a:lstStyle/>
          <a:p>
            <a:pPr indent="0" marL="0">
              <a:buNone/>
            </a:pPr>
            <a:r>
              <a:rPr lang="en-US" sz="2200" b="1" dirty="0">
                <a:solidFill>
                  <a:srgbClr val="C8932E"/>
                </a:solidFill>
                <a:latin typeface="Times New Roman" pitchFamily="34" charset="0"/>
                <a:ea typeface="Times New Roman" pitchFamily="34" charset="-122"/>
                <a:cs typeface="Times New Roman" pitchFamily="34" charset="-120"/>
              </a:rPr>
              <a:t>ЖҮРЕК</a:t>
            </a:r>
            <a:endParaRPr lang="en-US" sz="2200" dirty="0"/>
          </a:p>
        </p:txBody>
      </p:sp>
      <p:sp>
        <p:nvSpPr>
          <p:cNvPr id="11" name="Text 7"/>
          <p:cNvSpPr txBox="1"/>
          <p:nvPr/>
        </p:nvSpPr>
        <p:spPr>
          <a:xfrm>
            <a:off x="1828800" y="3611880"/>
            <a:ext cx="2560320" cy="41148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 жақсылықты қалау</a:t>
            </a:r>
            <a:endParaRPr lang="en-US" sz="1500" dirty="0"/>
          </a:p>
        </p:txBody>
      </p:sp>
      <p:sp>
        <p:nvSpPr>
          <p:cNvPr id="12" name="Shape 8"/>
          <p:cNvSpPr/>
          <p:nvPr/>
        </p:nvSpPr>
        <p:spPr>
          <a:xfrm>
            <a:off x="640080" y="4572000"/>
            <a:ext cx="1005840" cy="1005840"/>
          </a:xfrm>
          <a:prstGeom prst="ellipse">
            <a:avLst/>
          </a:prstGeom>
          <a:solidFill>
            <a:srgbClr val="2F7D5B"/>
          </a:solidFill>
          <a:ln w="12700">
            <a:solidFill>
              <a:srgbClr val="2F7D5B"/>
            </a:solidFill>
            <a:prstDash val="solid"/>
          </a:ln>
        </p:spPr>
      </p:sp>
      <p:pic>
        <p:nvPicPr>
          <p:cNvPr id="13" name="Image 2" descr="preencoded.png">    </p:cNvPr>
          <p:cNvPicPr>
            <a:picLocks noChangeAspect="1"/>
          </p:cNvPicPr>
          <p:nvPr/>
        </p:nvPicPr>
        <p:blipFill>
          <a:blip r:embed="rId3"/>
          <a:stretch>
            <a:fillRect/>
          </a:stretch>
        </p:blipFill>
        <p:spPr>
          <a:xfrm>
            <a:off x="891540" y="4823460"/>
            <a:ext cx="502920" cy="502920"/>
          </a:xfrm>
          <a:prstGeom prst="rect">
            <a:avLst/>
          </a:prstGeom>
        </p:spPr>
      </p:pic>
      <p:sp>
        <p:nvSpPr>
          <p:cNvPr id="14" name="Text 9"/>
          <p:cNvSpPr txBox="1"/>
          <p:nvPr/>
        </p:nvSpPr>
        <p:spPr>
          <a:xfrm>
            <a:off x="1828800" y="4617720"/>
            <a:ext cx="2377440" cy="457200"/>
          </a:xfrm>
          <a:prstGeom prst="rect">
            <a:avLst/>
          </a:prstGeom>
          <a:noFill/>
          <a:ln/>
        </p:spPr>
        <p:txBody>
          <a:bodyPr wrap="square" lIns="0" tIns="0" rIns="0" bIns="0" rtlCol="0" anchor="ctr"/>
          <a:lstStyle/>
          <a:p>
            <a:pPr indent="0" marL="0">
              <a:buNone/>
            </a:pPr>
            <a:r>
              <a:rPr lang="en-US" sz="2200" b="1" dirty="0">
                <a:solidFill>
                  <a:srgbClr val="2F7D5B"/>
                </a:solidFill>
                <a:latin typeface="Times New Roman" pitchFamily="34" charset="0"/>
                <a:ea typeface="Times New Roman" pitchFamily="34" charset="-122"/>
                <a:cs typeface="Times New Roman" pitchFamily="34" charset="-120"/>
              </a:rPr>
              <a:t>ҚАЙРАТ</a:t>
            </a:r>
            <a:endParaRPr lang="en-US" sz="2200" dirty="0"/>
          </a:p>
        </p:txBody>
      </p:sp>
      <p:sp>
        <p:nvSpPr>
          <p:cNvPr id="15" name="Text 10"/>
          <p:cNvSpPr txBox="1"/>
          <p:nvPr/>
        </p:nvSpPr>
        <p:spPr>
          <a:xfrm>
            <a:off x="1828800" y="5074920"/>
            <a:ext cx="2560320" cy="41148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 жақсылықты істеу</a:t>
            </a:r>
            <a:endParaRPr lang="en-US" sz="1500" dirty="0"/>
          </a:p>
        </p:txBody>
      </p:sp>
      <p:sp>
        <p:nvSpPr>
          <p:cNvPr id="16" name="Shape 11"/>
          <p:cNvSpPr/>
          <p:nvPr/>
        </p:nvSpPr>
        <p:spPr>
          <a:xfrm>
            <a:off x="4846320" y="1645920"/>
            <a:ext cx="6766560" cy="1188720"/>
          </a:xfrm>
          <a:prstGeom prst="roundRect">
            <a:avLst>
              <a:gd name="adj" fmla="val 9231"/>
            </a:avLst>
          </a:prstGeom>
          <a:solidFill>
            <a:srgbClr val="EEF3F8"/>
          </a:solidFill>
          <a:ln w="12700">
            <a:solidFill>
              <a:srgbClr val="EEF3F8"/>
            </a:solidFill>
            <a:prstDash val="solid"/>
          </a:ln>
        </p:spPr>
      </p:sp>
      <p:sp>
        <p:nvSpPr>
          <p:cNvPr id="17" name="Text 12"/>
          <p:cNvSpPr txBox="1"/>
          <p:nvPr/>
        </p:nvSpPr>
        <p:spPr>
          <a:xfrm>
            <a:off x="5120640" y="1783080"/>
            <a:ext cx="6309360" cy="411480"/>
          </a:xfrm>
          <a:prstGeom prst="rect">
            <a:avLst/>
          </a:prstGeom>
          <a:noFill/>
          <a:ln/>
        </p:spPr>
        <p:txBody>
          <a:bodyPr wrap="square" lIns="0" tIns="0" rIns="0" bIns="0" rtlCol="0" anchor="ctr"/>
          <a:lstStyle/>
          <a:p>
            <a:pPr indent="0" marL="0">
              <a:buNone/>
            </a:pPr>
            <a:r>
              <a:rPr lang="en-US" sz="1800" b="1" dirty="0">
                <a:solidFill>
                  <a:srgbClr val="2F5D8A"/>
                </a:solidFill>
                <a:latin typeface="Arial" pitchFamily="34" charset="0"/>
                <a:ea typeface="Arial" pitchFamily="34" charset="-122"/>
                <a:cs typeface="Arial" pitchFamily="34" charset="-120"/>
              </a:rPr>
              <a:t>1-деңгей. Құндылық өзегі</a:t>
            </a:r>
            <a:endParaRPr lang="en-US" sz="1800" dirty="0"/>
          </a:p>
        </p:txBody>
      </p:sp>
      <p:sp>
        <p:nvSpPr>
          <p:cNvPr id="18" name="Text 13"/>
          <p:cNvSpPr txBox="1"/>
          <p:nvPr/>
        </p:nvSpPr>
        <p:spPr>
          <a:xfrm>
            <a:off x="5120640" y="2240280"/>
            <a:ext cx="6309360" cy="45720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Абай: ақыл, қайрат, жүрек; бес асыл іс  ·  Пушкин: ар, мейірім, достық</a:t>
            </a:r>
            <a:endParaRPr lang="en-US" sz="1400" dirty="0"/>
          </a:p>
        </p:txBody>
      </p:sp>
      <p:sp>
        <p:nvSpPr>
          <p:cNvPr id="19" name="Shape 14"/>
          <p:cNvSpPr/>
          <p:nvPr/>
        </p:nvSpPr>
        <p:spPr>
          <a:xfrm>
            <a:off x="8046720" y="2852928"/>
            <a:ext cx="365760" cy="237744"/>
          </a:xfrm>
          <a:prstGeom prst="downArrow">
            <a:avLst/>
          </a:prstGeom>
          <a:solidFill>
            <a:srgbClr val="9CA3AF"/>
          </a:solidFill>
          <a:ln w="12700">
            <a:solidFill>
              <a:srgbClr val="9CA3AF"/>
            </a:solidFill>
            <a:prstDash val="solid"/>
          </a:ln>
        </p:spPr>
      </p:sp>
      <p:sp>
        <p:nvSpPr>
          <p:cNvPr id="20" name="Shape 15"/>
          <p:cNvSpPr/>
          <p:nvPr/>
        </p:nvSpPr>
        <p:spPr>
          <a:xfrm>
            <a:off x="4846320" y="3108960"/>
            <a:ext cx="6766560" cy="1188720"/>
          </a:xfrm>
          <a:prstGeom prst="roundRect">
            <a:avLst>
              <a:gd name="adj" fmla="val 9231"/>
            </a:avLst>
          </a:prstGeom>
          <a:solidFill>
            <a:srgbClr val="FBF1DE"/>
          </a:solidFill>
          <a:ln w="12700">
            <a:solidFill>
              <a:srgbClr val="FBF1DE"/>
            </a:solidFill>
            <a:prstDash val="solid"/>
          </a:ln>
        </p:spPr>
      </p:sp>
      <p:sp>
        <p:nvSpPr>
          <p:cNvPr id="21" name="Text 16"/>
          <p:cNvSpPr txBox="1"/>
          <p:nvPr/>
        </p:nvSpPr>
        <p:spPr>
          <a:xfrm>
            <a:off x="5120640" y="3246120"/>
            <a:ext cx="6309360" cy="411480"/>
          </a:xfrm>
          <a:prstGeom prst="rect">
            <a:avLst/>
          </a:prstGeom>
          <a:noFill/>
          <a:ln/>
        </p:spPr>
        <p:txBody>
          <a:bodyPr wrap="square" lIns="0" tIns="0" rIns="0" bIns="0" rtlCol="0" anchor="ctr"/>
          <a:lstStyle/>
          <a:p>
            <a:pPr indent="0" marL="0">
              <a:buNone/>
            </a:pPr>
            <a:r>
              <a:rPr lang="en-US" sz="1800" b="1" dirty="0">
                <a:solidFill>
                  <a:srgbClr val="C8932E"/>
                </a:solidFill>
                <a:latin typeface="Arial" pitchFamily="34" charset="0"/>
                <a:ea typeface="Arial" pitchFamily="34" charset="-122"/>
                <a:cs typeface="Arial" pitchFamily="34" charset="-120"/>
              </a:rPr>
              <a:t>2-деңгей. Шешім алгоритмі «ТОҚТА»</a:t>
            </a:r>
            <a:endParaRPr lang="en-US" sz="1800" dirty="0"/>
          </a:p>
        </p:txBody>
      </p:sp>
      <p:sp>
        <p:nvSpPr>
          <p:cNvPr id="22" name="Text 17"/>
          <p:cNvSpPr txBox="1"/>
          <p:nvPr/>
        </p:nvSpPr>
        <p:spPr>
          <a:xfrm>
            <a:off x="5120640" y="3703320"/>
            <a:ext cx="6309360" cy="45720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Құндылықты әрекетке айналдыратын «көпір» – бес қадам</a:t>
            </a:r>
            <a:endParaRPr lang="en-US" sz="1400" dirty="0"/>
          </a:p>
        </p:txBody>
      </p:sp>
      <p:sp>
        <p:nvSpPr>
          <p:cNvPr id="23" name="Shape 18"/>
          <p:cNvSpPr/>
          <p:nvPr/>
        </p:nvSpPr>
        <p:spPr>
          <a:xfrm>
            <a:off x="8046720" y="4315968"/>
            <a:ext cx="365760" cy="237744"/>
          </a:xfrm>
          <a:prstGeom prst="downArrow">
            <a:avLst/>
          </a:prstGeom>
          <a:solidFill>
            <a:srgbClr val="9CA3AF"/>
          </a:solidFill>
          <a:ln w="12700">
            <a:solidFill>
              <a:srgbClr val="9CA3AF"/>
            </a:solidFill>
            <a:prstDash val="solid"/>
          </a:ln>
        </p:spPr>
      </p:sp>
      <p:sp>
        <p:nvSpPr>
          <p:cNvPr id="24" name="Shape 19"/>
          <p:cNvSpPr/>
          <p:nvPr/>
        </p:nvSpPr>
        <p:spPr>
          <a:xfrm>
            <a:off x="4846320" y="4572000"/>
            <a:ext cx="6766560" cy="1188720"/>
          </a:xfrm>
          <a:prstGeom prst="roundRect">
            <a:avLst>
              <a:gd name="adj" fmla="val 9231"/>
            </a:avLst>
          </a:prstGeom>
          <a:solidFill>
            <a:srgbClr val="E3F1EA"/>
          </a:solidFill>
          <a:ln w="12700">
            <a:solidFill>
              <a:srgbClr val="E3F1EA"/>
            </a:solidFill>
            <a:prstDash val="solid"/>
          </a:ln>
        </p:spPr>
      </p:sp>
      <p:sp>
        <p:nvSpPr>
          <p:cNvPr id="25" name="Text 20"/>
          <p:cNvSpPr txBox="1"/>
          <p:nvPr/>
        </p:nvSpPr>
        <p:spPr>
          <a:xfrm>
            <a:off x="5120640" y="4709160"/>
            <a:ext cx="6309360" cy="411480"/>
          </a:xfrm>
          <a:prstGeom prst="rect">
            <a:avLst/>
          </a:prstGeom>
          <a:noFill/>
          <a:ln/>
        </p:spPr>
        <p:txBody>
          <a:bodyPr wrap="square" lIns="0" tIns="0" rIns="0" bIns="0" rtlCol="0" anchor="ctr"/>
          <a:lstStyle/>
          <a:p>
            <a:pPr indent="0" marL="0">
              <a:buNone/>
            </a:pPr>
            <a:r>
              <a:rPr lang="en-US" sz="1800" b="1" dirty="0">
                <a:solidFill>
                  <a:srgbClr val="2F7D5B"/>
                </a:solidFill>
                <a:latin typeface="Arial" pitchFamily="34" charset="0"/>
                <a:ea typeface="Arial" pitchFamily="34" charset="-122"/>
                <a:cs typeface="Arial" pitchFamily="34" charset="-120"/>
              </a:rPr>
              <a:t>3-деңгей. Нақты жағдаят</a:t>
            </a:r>
            <a:endParaRPr lang="en-US" sz="1800" dirty="0"/>
          </a:p>
        </p:txBody>
      </p:sp>
      <p:sp>
        <p:nvSpPr>
          <p:cNvPr id="26" name="Text 21"/>
          <p:cNvSpPr txBox="1"/>
          <p:nvPr/>
        </p:nvSpPr>
        <p:spPr>
          <a:xfrm>
            <a:off x="5120640" y="5166360"/>
            <a:ext cx="6309360" cy="45720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Көшіріп жазу  ·  Желідегі қорлау  ·  Топ қысымы  ·  Жасанды интеллект</a:t>
            </a:r>
            <a:endParaRPr lang="en-US" sz="1400" dirty="0"/>
          </a:p>
        </p:txBody>
      </p:sp>
      <p:sp>
        <p:nvSpPr>
          <p:cNvPr id="27" name="Text 2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Times New Roman" pitchFamily="34" charset="0"/>
                <a:ea typeface="Times New Roman" pitchFamily="34" charset="-122"/>
                <a:cs typeface="Times New Roman" pitchFamily="34" charset="-120"/>
              </a:rPr>
              <a:t>«ТОҚТА» шешім алгоритмі</a:t>
            </a:r>
            <a:endParaRPr lang="en-US" sz="3400" dirty="0"/>
          </a:p>
        </p:txBody>
      </p:sp>
      <p:sp>
        <p:nvSpPr>
          <p:cNvPr id="3" name="Text 1"/>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i="1" dirty="0">
                <a:solidFill>
                  <a:srgbClr val="CADCFC"/>
                </a:solidFill>
                <a:latin typeface="Arial" pitchFamily="34" charset="0"/>
                <a:ea typeface="Arial" pitchFamily="34" charset="-122"/>
                <a:cs typeface="Arial" pitchFamily="34" charset="-120"/>
              </a:rPr>
              <a:t>Қиын сәтте ең алдымен – тоқта. Бес қадам жадта оңай сақталады.</a:t>
            </a:r>
            <a:endParaRPr lang="en-US" sz="1500" dirty="0"/>
          </a:p>
        </p:txBody>
      </p:sp>
      <p:sp>
        <p:nvSpPr>
          <p:cNvPr id="4" name="Shape 2"/>
          <p:cNvSpPr/>
          <p:nvPr/>
        </p:nvSpPr>
        <p:spPr>
          <a:xfrm>
            <a:off x="548640" y="1737360"/>
            <a:ext cx="2057400" cy="4480560"/>
          </a:xfrm>
          <a:prstGeom prst="roundRect">
            <a:avLst>
              <a:gd name="adj" fmla="val 5333"/>
            </a:avLst>
          </a:prstGeom>
          <a:solidFill>
            <a:srgbClr val="2A4A73"/>
          </a:solidFill>
          <a:ln w="12700">
            <a:solidFill>
              <a:srgbClr val="2A4A73"/>
            </a:solidFill>
            <a:prstDash val="solid"/>
          </a:ln>
        </p:spPr>
      </p:sp>
      <p:sp>
        <p:nvSpPr>
          <p:cNvPr id="5" name="Shape 3"/>
          <p:cNvSpPr/>
          <p:nvPr/>
        </p:nvSpPr>
        <p:spPr>
          <a:xfrm>
            <a:off x="1115568" y="1965960"/>
            <a:ext cx="914400" cy="914400"/>
          </a:xfrm>
          <a:prstGeom prst="ellipse">
            <a:avLst/>
          </a:prstGeom>
          <a:solidFill>
            <a:srgbClr val="2F5D8A"/>
          </a:solidFill>
          <a:ln w="19050">
            <a:solidFill>
              <a:srgbClr val="FFFFFF"/>
            </a:solidFill>
            <a:prstDash val="solid"/>
          </a:ln>
        </p:spPr>
      </p:sp>
      <p:sp>
        <p:nvSpPr>
          <p:cNvPr id="6" name="Text 4"/>
          <p:cNvSpPr txBox="1"/>
          <p:nvPr/>
        </p:nvSpPr>
        <p:spPr>
          <a:xfrm>
            <a:off x="1115568" y="196596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Т</a:t>
            </a:r>
            <a:endParaRPr lang="en-US" sz="3400" dirty="0"/>
          </a:p>
        </p:txBody>
      </p:sp>
      <p:sp>
        <p:nvSpPr>
          <p:cNvPr id="7" name="Text 5"/>
          <p:cNvSpPr txBox="1"/>
          <p:nvPr/>
        </p:nvSpPr>
        <p:spPr>
          <a:xfrm>
            <a:off x="685800" y="3063240"/>
            <a:ext cx="17830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Тоқта</a:t>
            </a:r>
            <a:endParaRPr lang="en-US" sz="1700" dirty="0"/>
          </a:p>
        </p:txBody>
      </p:sp>
      <p:sp>
        <p:nvSpPr>
          <p:cNvPr id="8" name="Text 6"/>
          <p:cNvSpPr txBox="1"/>
          <p:nvPr/>
        </p:nvSpPr>
        <p:spPr>
          <a:xfrm>
            <a:off x="685800" y="3840480"/>
            <a:ext cx="1783080" cy="118872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10 рет дем ал, бірден жауап берме</a:t>
            </a:r>
            <a:endParaRPr lang="en-US" sz="1400" dirty="0"/>
          </a:p>
        </p:txBody>
      </p:sp>
      <p:sp>
        <p:nvSpPr>
          <p:cNvPr id="9" name="Text 7"/>
          <p:cNvSpPr txBox="1"/>
          <p:nvPr/>
        </p:nvSpPr>
        <p:spPr>
          <a:xfrm>
            <a:off x="685800" y="5120640"/>
            <a:ext cx="1783080" cy="914400"/>
          </a:xfrm>
          <a:prstGeom prst="rect">
            <a:avLst/>
          </a:prstGeom>
          <a:noFill/>
          <a:ln/>
        </p:spPr>
        <p:txBody>
          <a:bodyPr wrap="square" lIns="0" tIns="0" rIns="0" bIns="0" rtlCol="0" anchor="t"/>
          <a:lstStyle/>
          <a:p>
            <a:pPr algn="ctr" indent="0" marL="0">
              <a:buNone/>
            </a:pPr>
            <a:r>
              <a:rPr lang="en-US" sz="1200" i="1" dirty="0">
                <a:solidFill>
                  <a:srgbClr val="C8932E"/>
                </a:solidFill>
                <a:latin typeface="Arial" pitchFamily="34" charset="0"/>
                <a:ea typeface="Arial" pitchFamily="34" charset="-122"/>
                <a:cs typeface="Arial" pitchFamily="34" charset="-120"/>
              </a:rPr>
              <a:t>«Ақырын жүріп, анық бас» – Абай</a:t>
            </a:r>
            <a:endParaRPr lang="en-US" sz="1200" dirty="0"/>
          </a:p>
        </p:txBody>
      </p:sp>
      <p:sp>
        <p:nvSpPr>
          <p:cNvPr id="10" name="Shape 8"/>
          <p:cNvSpPr/>
          <p:nvPr/>
        </p:nvSpPr>
        <p:spPr>
          <a:xfrm>
            <a:off x="2816352" y="1737360"/>
            <a:ext cx="2057400" cy="4480560"/>
          </a:xfrm>
          <a:prstGeom prst="roundRect">
            <a:avLst>
              <a:gd name="adj" fmla="val 5333"/>
            </a:avLst>
          </a:prstGeom>
          <a:solidFill>
            <a:srgbClr val="2A4A73"/>
          </a:solidFill>
          <a:ln w="12700">
            <a:solidFill>
              <a:srgbClr val="2A4A73"/>
            </a:solidFill>
            <a:prstDash val="solid"/>
          </a:ln>
        </p:spPr>
      </p:sp>
      <p:sp>
        <p:nvSpPr>
          <p:cNvPr id="11" name="Shape 9"/>
          <p:cNvSpPr/>
          <p:nvPr/>
        </p:nvSpPr>
        <p:spPr>
          <a:xfrm>
            <a:off x="3383280" y="1965960"/>
            <a:ext cx="914400" cy="914400"/>
          </a:xfrm>
          <a:prstGeom prst="ellipse">
            <a:avLst/>
          </a:prstGeom>
          <a:solidFill>
            <a:srgbClr val="2F5D8A"/>
          </a:solidFill>
          <a:ln w="19050">
            <a:solidFill>
              <a:srgbClr val="FFFFFF"/>
            </a:solidFill>
            <a:prstDash val="solid"/>
          </a:ln>
        </p:spPr>
      </p:sp>
      <p:sp>
        <p:nvSpPr>
          <p:cNvPr id="12" name="Text 10"/>
          <p:cNvSpPr txBox="1"/>
          <p:nvPr/>
        </p:nvSpPr>
        <p:spPr>
          <a:xfrm>
            <a:off x="3383280" y="196596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О</a:t>
            </a:r>
            <a:endParaRPr lang="en-US" sz="3400" dirty="0"/>
          </a:p>
        </p:txBody>
      </p:sp>
      <p:sp>
        <p:nvSpPr>
          <p:cNvPr id="13" name="Text 11"/>
          <p:cNvSpPr txBox="1"/>
          <p:nvPr/>
        </p:nvSpPr>
        <p:spPr>
          <a:xfrm>
            <a:off x="2953512" y="3063240"/>
            <a:ext cx="17830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Ойлан</a:t>
            </a:r>
            <a:endParaRPr lang="en-US" sz="1700" dirty="0"/>
          </a:p>
        </p:txBody>
      </p:sp>
      <p:sp>
        <p:nvSpPr>
          <p:cNvPr id="14" name="Text 12"/>
          <p:cNvSpPr txBox="1"/>
          <p:nvPr/>
        </p:nvSpPr>
        <p:spPr>
          <a:xfrm>
            <a:off x="2953512" y="3840480"/>
            <a:ext cx="1783080" cy="118872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Қай құндылық сынға түсті?</a:t>
            </a:r>
            <a:endParaRPr lang="en-US" sz="1400" dirty="0"/>
          </a:p>
        </p:txBody>
      </p:sp>
      <p:sp>
        <p:nvSpPr>
          <p:cNvPr id="15" name="Text 13"/>
          <p:cNvSpPr txBox="1"/>
          <p:nvPr/>
        </p:nvSpPr>
        <p:spPr>
          <a:xfrm>
            <a:off x="2953512" y="5120640"/>
            <a:ext cx="1783080" cy="914400"/>
          </a:xfrm>
          <a:prstGeom prst="rect">
            <a:avLst/>
          </a:prstGeom>
          <a:noFill/>
          <a:ln/>
        </p:spPr>
        <p:txBody>
          <a:bodyPr wrap="square" lIns="0" tIns="0" rIns="0" bIns="0" rtlCol="0" anchor="t"/>
          <a:lstStyle/>
          <a:p>
            <a:pPr algn="ctr" indent="0" marL="0">
              <a:buNone/>
            </a:pPr>
            <a:r>
              <a:rPr lang="en-US" sz="1200" i="1" dirty="0">
                <a:solidFill>
                  <a:srgbClr val="C8932E"/>
                </a:solidFill>
                <a:latin typeface="Arial" pitchFamily="34" charset="0"/>
                <a:ea typeface="Arial" pitchFamily="34" charset="-122"/>
                <a:cs typeface="Arial" pitchFamily="34" charset="-120"/>
              </a:rPr>
              <a:t>Бес асыл іс, «честь»</a:t>
            </a:r>
            <a:endParaRPr lang="en-US" sz="1200" dirty="0"/>
          </a:p>
        </p:txBody>
      </p:sp>
      <p:sp>
        <p:nvSpPr>
          <p:cNvPr id="16" name="Shape 14"/>
          <p:cNvSpPr/>
          <p:nvPr/>
        </p:nvSpPr>
        <p:spPr>
          <a:xfrm>
            <a:off x="5084064" y="1737360"/>
            <a:ext cx="2057400" cy="4480560"/>
          </a:xfrm>
          <a:prstGeom prst="roundRect">
            <a:avLst>
              <a:gd name="adj" fmla="val 5333"/>
            </a:avLst>
          </a:prstGeom>
          <a:solidFill>
            <a:srgbClr val="2A4A73"/>
          </a:solidFill>
          <a:ln w="12700">
            <a:solidFill>
              <a:srgbClr val="2A4A73"/>
            </a:solidFill>
            <a:prstDash val="solid"/>
          </a:ln>
        </p:spPr>
      </p:sp>
      <p:sp>
        <p:nvSpPr>
          <p:cNvPr id="17" name="Shape 15"/>
          <p:cNvSpPr/>
          <p:nvPr/>
        </p:nvSpPr>
        <p:spPr>
          <a:xfrm>
            <a:off x="5650992" y="1965960"/>
            <a:ext cx="914400" cy="914400"/>
          </a:xfrm>
          <a:prstGeom prst="ellipse">
            <a:avLst/>
          </a:prstGeom>
          <a:solidFill>
            <a:srgbClr val="C8932E"/>
          </a:solidFill>
          <a:ln w="19050">
            <a:solidFill>
              <a:srgbClr val="FFFFFF"/>
            </a:solidFill>
            <a:prstDash val="solid"/>
          </a:ln>
        </p:spPr>
      </p:sp>
      <p:sp>
        <p:nvSpPr>
          <p:cNvPr id="18" name="Text 16"/>
          <p:cNvSpPr txBox="1"/>
          <p:nvPr/>
        </p:nvSpPr>
        <p:spPr>
          <a:xfrm>
            <a:off x="5650992" y="196596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Қ</a:t>
            </a:r>
            <a:endParaRPr lang="en-US" sz="3400" dirty="0"/>
          </a:p>
        </p:txBody>
      </p:sp>
      <p:sp>
        <p:nvSpPr>
          <p:cNvPr id="19" name="Text 17"/>
          <p:cNvSpPr txBox="1"/>
          <p:nvPr/>
        </p:nvSpPr>
        <p:spPr>
          <a:xfrm>
            <a:off x="5221224" y="3063240"/>
            <a:ext cx="17830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Қайтарымын көр</a:t>
            </a:r>
            <a:endParaRPr lang="en-US" sz="1700" dirty="0"/>
          </a:p>
        </p:txBody>
      </p:sp>
      <p:sp>
        <p:nvSpPr>
          <p:cNvPr id="20" name="Text 18"/>
          <p:cNvSpPr txBox="1"/>
          <p:nvPr/>
        </p:nvSpPr>
        <p:spPr>
          <a:xfrm>
            <a:off x="5221224" y="3840480"/>
            <a:ext cx="1783080" cy="118872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Салдары: өзіме, өзгеге, ертеңіме</a:t>
            </a:r>
            <a:endParaRPr lang="en-US" sz="1400" dirty="0"/>
          </a:p>
        </p:txBody>
      </p:sp>
      <p:sp>
        <p:nvSpPr>
          <p:cNvPr id="21" name="Text 19"/>
          <p:cNvSpPr txBox="1"/>
          <p:nvPr/>
        </p:nvSpPr>
        <p:spPr>
          <a:xfrm>
            <a:off x="5221224" y="5120640"/>
            <a:ext cx="1783080" cy="914400"/>
          </a:xfrm>
          <a:prstGeom prst="rect">
            <a:avLst/>
          </a:prstGeom>
          <a:noFill/>
          <a:ln/>
        </p:spPr>
        <p:txBody>
          <a:bodyPr wrap="square" lIns="0" tIns="0" rIns="0" bIns="0" rtlCol="0" anchor="t"/>
          <a:lstStyle/>
          <a:p>
            <a:pPr algn="ctr" indent="0" marL="0">
              <a:buNone/>
            </a:pPr>
            <a:r>
              <a:rPr lang="en-US" sz="1200" i="1" dirty="0">
                <a:solidFill>
                  <a:srgbClr val="C8932E"/>
                </a:solidFill>
                <a:latin typeface="Arial" pitchFamily="34" charset="0"/>
                <a:ea typeface="Arial" pitchFamily="34" charset="-122"/>
                <a:cs typeface="Arial" pitchFamily="34" charset="-120"/>
              </a:rPr>
              <a:t>Гринёв пе, Швабрин бе?</a:t>
            </a:r>
            <a:endParaRPr lang="en-US" sz="1200" dirty="0"/>
          </a:p>
        </p:txBody>
      </p:sp>
      <p:sp>
        <p:nvSpPr>
          <p:cNvPr id="22" name="Shape 20"/>
          <p:cNvSpPr/>
          <p:nvPr/>
        </p:nvSpPr>
        <p:spPr>
          <a:xfrm>
            <a:off x="7351776" y="1737360"/>
            <a:ext cx="2057400" cy="4480560"/>
          </a:xfrm>
          <a:prstGeom prst="roundRect">
            <a:avLst>
              <a:gd name="adj" fmla="val 5333"/>
            </a:avLst>
          </a:prstGeom>
          <a:solidFill>
            <a:srgbClr val="2A4A73"/>
          </a:solidFill>
          <a:ln w="12700">
            <a:solidFill>
              <a:srgbClr val="2A4A73"/>
            </a:solidFill>
            <a:prstDash val="solid"/>
          </a:ln>
        </p:spPr>
      </p:sp>
      <p:sp>
        <p:nvSpPr>
          <p:cNvPr id="23" name="Shape 21"/>
          <p:cNvSpPr/>
          <p:nvPr/>
        </p:nvSpPr>
        <p:spPr>
          <a:xfrm>
            <a:off x="7918704" y="1965960"/>
            <a:ext cx="914400" cy="914400"/>
          </a:xfrm>
          <a:prstGeom prst="ellipse">
            <a:avLst/>
          </a:prstGeom>
          <a:solidFill>
            <a:srgbClr val="2F7D5B"/>
          </a:solidFill>
          <a:ln w="19050">
            <a:solidFill>
              <a:srgbClr val="FFFFFF"/>
            </a:solidFill>
            <a:prstDash val="solid"/>
          </a:ln>
        </p:spPr>
      </p:sp>
      <p:sp>
        <p:nvSpPr>
          <p:cNvPr id="24" name="Text 22"/>
          <p:cNvSpPr txBox="1"/>
          <p:nvPr/>
        </p:nvSpPr>
        <p:spPr>
          <a:xfrm>
            <a:off x="7918704" y="196596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Т</a:t>
            </a:r>
            <a:endParaRPr lang="en-US" sz="3400" dirty="0"/>
          </a:p>
        </p:txBody>
      </p:sp>
      <p:sp>
        <p:nvSpPr>
          <p:cNvPr id="25" name="Text 23"/>
          <p:cNvSpPr txBox="1"/>
          <p:nvPr/>
        </p:nvSpPr>
        <p:spPr>
          <a:xfrm>
            <a:off x="7488936" y="3063240"/>
            <a:ext cx="17830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Таңда да, істе</a:t>
            </a:r>
            <a:endParaRPr lang="en-US" sz="1700" dirty="0"/>
          </a:p>
        </p:txBody>
      </p:sp>
      <p:sp>
        <p:nvSpPr>
          <p:cNvPr id="26" name="Text 24"/>
          <p:cNvSpPr txBox="1"/>
          <p:nvPr/>
        </p:nvSpPr>
        <p:spPr>
          <a:xfrm>
            <a:off x="7488936" y="3840480"/>
            <a:ext cx="1783080" cy="118872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«Егер ..., онда мен ...»</a:t>
            </a:r>
            <a:endParaRPr lang="en-US" sz="1400" dirty="0"/>
          </a:p>
        </p:txBody>
      </p:sp>
      <p:sp>
        <p:nvSpPr>
          <p:cNvPr id="27" name="Text 25"/>
          <p:cNvSpPr txBox="1"/>
          <p:nvPr/>
        </p:nvSpPr>
        <p:spPr>
          <a:xfrm>
            <a:off x="7488936" y="5120640"/>
            <a:ext cx="1783080" cy="914400"/>
          </a:xfrm>
          <a:prstGeom prst="rect">
            <a:avLst/>
          </a:prstGeom>
          <a:noFill/>
          <a:ln/>
        </p:spPr>
        <p:txBody>
          <a:bodyPr wrap="square" lIns="0" tIns="0" rIns="0" bIns="0" rtlCol="0" anchor="t"/>
          <a:lstStyle/>
          <a:p>
            <a:pPr algn="ctr" indent="0" marL="0">
              <a:buNone/>
            </a:pPr>
            <a:r>
              <a:rPr lang="en-US" sz="1200" i="1" dirty="0">
                <a:solidFill>
                  <a:srgbClr val="C8932E"/>
                </a:solidFill>
                <a:latin typeface="Arial" pitchFamily="34" charset="0"/>
                <a:ea typeface="Arial" pitchFamily="34" charset="-122"/>
                <a:cs typeface="Arial" pitchFamily="34" charset="-120"/>
              </a:rPr>
              <a:t>Абайдың «қайраты»</a:t>
            </a:r>
            <a:endParaRPr lang="en-US" sz="1200" dirty="0"/>
          </a:p>
        </p:txBody>
      </p:sp>
      <p:sp>
        <p:nvSpPr>
          <p:cNvPr id="28" name="Shape 26"/>
          <p:cNvSpPr/>
          <p:nvPr/>
        </p:nvSpPr>
        <p:spPr>
          <a:xfrm>
            <a:off x="9619488" y="1737360"/>
            <a:ext cx="2057400" cy="4480560"/>
          </a:xfrm>
          <a:prstGeom prst="roundRect">
            <a:avLst>
              <a:gd name="adj" fmla="val 5333"/>
            </a:avLst>
          </a:prstGeom>
          <a:solidFill>
            <a:srgbClr val="2A4A73"/>
          </a:solidFill>
          <a:ln w="12700">
            <a:solidFill>
              <a:srgbClr val="2A4A73"/>
            </a:solidFill>
            <a:prstDash val="solid"/>
          </a:ln>
        </p:spPr>
      </p:sp>
      <p:sp>
        <p:nvSpPr>
          <p:cNvPr id="29" name="Shape 27"/>
          <p:cNvSpPr/>
          <p:nvPr/>
        </p:nvSpPr>
        <p:spPr>
          <a:xfrm>
            <a:off x="10186416" y="1965960"/>
            <a:ext cx="914400" cy="914400"/>
          </a:xfrm>
          <a:prstGeom prst="ellipse">
            <a:avLst/>
          </a:prstGeom>
          <a:solidFill>
            <a:srgbClr val="2F7D5B"/>
          </a:solidFill>
          <a:ln w="19050">
            <a:solidFill>
              <a:srgbClr val="FFFFFF"/>
            </a:solidFill>
            <a:prstDash val="solid"/>
          </a:ln>
        </p:spPr>
      </p:sp>
      <p:sp>
        <p:nvSpPr>
          <p:cNvPr id="30" name="Text 28"/>
          <p:cNvSpPr txBox="1"/>
          <p:nvPr/>
        </p:nvSpPr>
        <p:spPr>
          <a:xfrm>
            <a:off x="10186416" y="196596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А</a:t>
            </a:r>
            <a:endParaRPr lang="en-US" sz="3400" dirty="0"/>
          </a:p>
        </p:txBody>
      </p:sp>
      <p:sp>
        <p:nvSpPr>
          <p:cNvPr id="31" name="Text 29"/>
          <p:cNvSpPr txBox="1"/>
          <p:nvPr/>
        </p:nvSpPr>
        <p:spPr>
          <a:xfrm>
            <a:off x="9756648" y="3063240"/>
            <a:ext cx="178308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Артынан есеп ал</a:t>
            </a:r>
            <a:endParaRPr lang="en-US" sz="1700" dirty="0"/>
          </a:p>
        </p:txBody>
      </p:sp>
      <p:sp>
        <p:nvSpPr>
          <p:cNvPr id="32" name="Text 30"/>
          <p:cNvSpPr txBox="1"/>
          <p:nvPr/>
        </p:nvSpPr>
        <p:spPr>
          <a:xfrm>
            <a:off x="9756648" y="3840480"/>
            <a:ext cx="1783080" cy="118872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Не істедім? Неге? Не өзгертемін?</a:t>
            </a:r>
            <a:endParaRPr lang="en-US" sz="1400" dirty="0"/>
          </a:p>
        </p:txBody>
      </p:sp>
      <p:sp>
        <p:nvSpPr>
          <p:cNvPr id="33" name="Text 31"/>
          <p:cNvSpPr txBox="1"/>
          <p:nvPr/>
        </p:nvSpPr>
        <p:spPr>
          <a:xfrm>
            <a:off x="9756648" y="5120640"/>
            <a:ext cx="1783080" cy="914400"/>
          </a:xfrm>
          <a:prstGeom prst="rect">
            <a:avLst/>
          </a:prstGeom>
          <a:noFill/>
          <a:ln/>
        </p:spPr>
        <p:txBody>
          <a:bodyPr wrap="square" lIns="0" tIns="0" rIns="0" bIns="0" rtlCol="0" anchor="t"/>
          <a:lstStyle/>
          <a:p>
            <a:pPr algn="ctr" indent="0" marL="0">
              <a:buNone/>
            </a:pPr>
            <a:r>
              <a:rPr lang="en-US" sz="1200" i="1" dirty="0">
                <a:solidFill>
                  <a:srgbClr val="C8932E"/>
                </a:solidFill>
                <a:latin typeface="Arial" pitchFamily="34" charset="0"/>
                <a:ea typeface="Arial" pitchFamily="34" charset="-122"/>
                <a:cs typeface="Arial" pitchFamily="34" charset="-120"/>
              </a:rPr>
              <a:t>«Өзіңнен өзің есеп ал» – 15-қара сөз</a:t>
            </a:r>
            <a:endParaRPr lang="en-US" sz="1200" dirty="0"/>
          </a:p>
        </p:txBody>
      </p:sp>
      <p:sp>
        <p:nvSpPr>
          <p:cNvPr id="34" name="Text 3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CADCF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Алгоритм іс жүзінде</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«Таңда да, істе» қадамындағы нақты шешімдер</a:t>
            </a:r>
            <a:endParaRPr lang="en-US" sz="1500" dirty="0"/>
          </a:p>
        </p:txBody>
      </p:sp>
      <p:sp>
        <p:nvSpPr>
          <p:cNvPr id="4" name="Shape 2"/>
          <p:cNvSpPr/>
          <p:nvPr/>
        </p:nvSpPr>
        <p:spPr>
          <a:xfrm>
            <a:off x="548640" y="1554480"/>
            <a:ext cx="2606040" cy="4572000"/>
          </a:xfrm>
          <a:prstGeom prst="roundRect">
            <a:avLst>
              <a:gd name="adj" fmla="val 4211"/>
            </a:avLst>
          </a:prstGeom>
          <a:solidFill>
            <a:srgbClr val="EEF3F8"/>
          </a:solidFill>
          <a:ln w="12700">
            <a:solidFill>
              <a:srgbClr val="EEF3F8"/>
            </a:solidFill>
            <a:prstDash val="solid"/>
          </a:ln>
        </p:spPr>
      </p:sp>
      <p:sp>
        <p:nvSpPr>
          <p:cNvPr id="5" name="Shape 3"/>
          <p:cNvSpPr/>
          <p:nvPr/>
        </p:nvSpPr>
        <p:spPr>
          <a:xfrm>
            <a:off x="1417320" y="1783080"/>
            <a:ext cx="868680" cy="868680"/>
          </a:xfrm>
          <a:prstGeom prst="ellipse">
            <a:avLst/>
          </a:prstGeom>
          <a:solidFill>
            <a:srgbClr val="2F5D8A"/>
          </a:solidFill>
          <a:ln w="12700">
            <a:solidFill>
              <a:srgbClr val="2F5D8A"/>
            </a:solidFill>
            <a:prstDash val="solid"/>
          </a:ln>
        </p:spPr>
      </p:sp>
      <p:pic>
        <p:nvPicPr>
          <p:cNvPr id="6" name="Image 0" descr="preencoded.png">    </p:cNvPr>
          <p:cNvPicPr>
            <a:picLocks noChangeAspect="1"/>
          </p:cNvPicPr>
          <p:nvPr/>
        </p:nvPicPr>
        <p:blipFill>
          <a:blip r:embed="rId1"/>
          <a:stretch>
            <a:fillRect/>
          </a:stretch>
        </p:blipFill>
        <p:spPr>
          <a:xfrm>
            <a:off x="1634490" y="2000250"/>
            <a:ext cx="434340" cy="434340"/>
          </a:xfrm>
          <a:prstGeom prst="rect">
            <a:avLst/>
          </a:prstGeom>
        </p:spPr>
      </p:pic>
      <p:sp>
        <p:nvSpPr>
          <p:cNvPr id="7" name="Text 4"/>
          <p:cNvSpPr txBox="1"/>
          <p:nvPr/>
        </p:nvSpPr>
        <p:spPr>
          <a:xfrm>
            <a:off x="731520" y="2788920"/>
            <a:ext cx="2240280" cy="457200"/>
          </a:xfrm>
          <a:prstGeom prst="rect">
            <a:avLst/>
          </a:prstGeom>
          <a:noFill/>
          <a:ln/>
        </p:spPr>
        <p:txBody>
          <a:bodyPr wrap="square" lIns="0" tIns="0" rIns="0" bIns="0" rtlCol="0" anchor="ctr"/>
          <a:lstStyle/>
          <a:p>
            <a:pPr algn="ctr" indent="0" marL="0">
              <a:buNone/>
            </a:pPr>
            <a:r>
              <a:rPr lang="en-US" sz="1700" b="1" dirty="0">
                <a:solidFill>
                  <a:srgbClr val="1F2937"/>
                </a:solidFill>
                <a:latin typeface="Arial" pitchFamily="34" charset="0"/>
                <a:ea typeface="Arial" pitchFamily="34" charset="-122"/>
                <a:cs typeface="Arial" pitchFamily="34" charset="-120"/>
              </a:rPr>
              <a:t>Көшіріп жазу</a:t>
            </a:r>
            <a:endParaRPr lang="en-US" sz="1700" dirty="0"/>
          </a:p>
        </p:txBody>
      </p:sp>
      <p:sp>
        <p:nvSpPr>
          <p:cNvPr id="8" name="Text 5"/>
          <p:cNvSpPr txBox="1"/>
          <p:nvPr/>
        </p:nvSpPr>
        <p:spPr>
          <a:xfrm>
            <a:off x="731520" y="3337560"/>
            <a:ext cx="2240280" cy="1920240"/>
          </a:xfrm>
          <a:prstGeom prst="rect">
            <a:avLst/>
          </a:prstGeom>
          <a:noFill/>
          <a:ln/>
        </p:spPr>
        <p:txBody>
          <a:bodyPr wrap="square" lIns="0" tIns="0" rIns="0" bIns="0" rtlCol="0" anchor="t"/>
          <a:lstStyle/>
          <a:p>
            <a:pPr algn="ctr" indent="0" marL="0">
              <a:buNone/>
            </a:pPr>
            <a:r>
              <a:rPr lang="en-US" sz="1500" i="1" dirty="0">
                <a:solidFill>
                  <a:srgbClr val="1F2937"/>
                </a:solidFill>
                <a:latin typeface="Times New Roman" pitchFamily="34" charset="0"/>
                <a:ea typeface="Times New Roman" pitchFamily="34" charset="-122"/>
                <a:cs typeface="Times New Roman" pitchFamily="34" charset="-120"/>
              </a:rPr>
              <a:t>«Телефонды сөмкеге саламын, түсінбегенімді сабақтан кейін мұғалімнен сұраймын»</a:t>
            </a:r>
            <a:endParaRPr lang="en-US" sz="1500" dirty="0"/>
          </a:p>
        </p:txBody>
      </p:sp>
      <p:sp>
        <p:nvSpPr>
          <p:cNvPr id="9" name="Text 6"/>
          <p:cNvSpPr txBox="1"/>
          <p:nvPr/>
        </p:nvSpPr>
        <p:spPr>
          <a:xfrm>
            <a:off x="731520" y="5349240"/>
            <a:ext cx="2240280" cy="5486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Абай: еріншек / еңбек</a:t>
            </a:r>
            <a:endParaRPr lang="en-US" sz="1200" dirty="0"/>
          </a:p>
        </p:txBody>
      </p:sp>
      <p:sp>
        <p:nvSpPr>
          <p:cNvPr id="10" name="Shape 7"/>
          <p:cNvSpPr/>
          <p:nvPr/>
        </p:nvSpPr>
        <p:spPr>
          <a:xfrm>
            <a:off x="3364992" y="1554480"/>
            <a:ext cx="2606040" cy="4572000"/>
          </a:xfrm>
          <a:prstGeom prst="roundRect">
            <a:avLst>
              <a:gd name="adj" fmla="val 4211"/>
            </a:avLst>
          </a:prstGeom>
          <a:solidFill>
            <a:srgbClr val="FBF1DE"/>
          </a:solidFill>
          <a:ln w="12700">
            <a:solidFill>
              <a:srgbClr val="FBF1DE"/>
            </a:solidFill>
            <a:prstDash val="solid"/>
          </a:ln>
        </p:spPr>
      </p:sp>
      <p:sp>
        <p:nvSpPr>
          <p:cNvPr id="11" name="Shape 8"/>
          <p:cNvSpPr/>
          <p:nvPr/>
        </p:nvSpPr>
        <p:spPr>
          <a:xfrm>
            <a:off x="4233672" y="1783080"/>
            <a:ext cx="868680" cy="868680"/>
          </a:xfrm>
          <a:prstGeom prst="ellipse">
            <a:avLst/>
          </a:prstGeom>
          <a:solidFill>
            <a:srgbClr val="C8932E"/>
          </a:solidFill>
          <a:ln w="12700">
            <a:solidFill>
              <a:srgbClr val="C8932E"/>
            </a:solidFill>
            <a:prstDash val="solid"/>
          </a:ln>
        </p:spPr>
      </p:sp>
      <p:pic>
        <p:nvPicPr>
          <p:cNvPr id="12" name="Image 1" descr="preencoded.png">    </p:cNvPr>
          <p:cNvPicPr>
            <a:picLocks noChangeAspect="1"/>
          </p:cNvPicPr>
          <p:nvPr/>
        </p:nvPicPr>
        <p:blipFill>
          <a:blip r:embed="rId2"/>
          <a:stretch>
            <a:fillRect/>
          </a:stretch>
        </p:blipFill>
        <p:spPr>
          <a:xfrm>
            <a:off x="4450842" y="2000250"/>
            <a:ext cx="434340" cy="434340"/>
          </a:xfrm>
          <a:prstGeom prst="rect">
            <a:avLst/>
          </a:prstGeom>
        </p:spPr>
      </p:pic>
      <p:sp>
        <p:nvSpPr>
          <p:cNvPr id="13" name="Text 9"/>
          <p:cNvSpPr txBox="1"/>
          <p:nvPr/>
        </p:nvSpPr>
        <p:spPr>
          <a:xfrm>
            <a:off x="3547872" y="2788920"/>
            <a:ext cx="2240280" cy="457200"/>
          </a:xfrm>
          <a:prstGeom prst="rect">
            <a:avLst/>
          </a:prstGeom>
          <a:noFill/>
          <a:ln/>
        </p:spPr>
        <p:txBody>
          <a:bodyPr wrap="square" lIns="0" tIns="0" rIns="0" bIns="0" rtlCol="0" anchor="ctr"/>
          <a:lstStyle/>
          <a:p>
            <a:pPr algn="ctr" indent="0" marL="0">
              <a:buNone/>
            </a:pPr>
            <a:r>
              <a:rPr lang="en-US" sz="1700" b="1" dirty="0">
                <a:solidFill>
                  <a:srgbClr val="1F2937"/>
                </a:solidFill>
                <a:latin typeface="Arial" pitchFamily="34" charset="0"/>
                <a:ea typeface="Arial" pitchFamily="34" charset="-122"/>
                <a:cs typeface="Arial" pitchFamily="34" charset="-120"/>
              </a:rPr>
              <a:t>Желідегі қорлау</a:t>
            </a:r>
            <a:endParaRPr lang="en-US" sz="1700" dirty="0"/>
          </a:p>
        </p:txBody>
      </p:sp>
      <p:sp>
        <p:nvSpPr>
          <p:cNvPr id="14" name="Text 10"/>
          <p:cNvSpPr txBox="1"/>
          <p:nvPr/>
        </p:nvSpPr>
        <p:spPr>
          <a:xfrm>
            <a:off x="3547872" y="3337560"/>
            <a:ext cx="2240280" cy="1920240"/>
          </a:xfrm>
          <a:prstGeom prst="rect">
            <a:avLst/>
          </a:prstGeom>
          <a:noFill/>
          <a:ln/>
        </p:spPr>
        <p:txBody>
          <a:bodyPr wrap="square" lIns="0" tIns="0" rIns="0" bIns="0" rtlCol="0" anchor="t"/>
          <a:lstStyle/>
          <a:p>
            <a:pPr algn="ctr" indent="0" marL="0">
              <a:buNone/>
            </a:pPr>
            <a:r>
              <a:rPr lang="en-US" sz="1500" i="1" dirty="0">
                <a:solidFill>
                  <a:srgbClr val="1F2937"/>
                </a:solidFill>
                <a:latin typeface="Times New Roman" pitchFamily="34" charset="0"/>
                <a:ea typeface="Times New Roman" pitchFamily="34" charset="-122"/>
                <a:cs typeface="Times New Roman" pitchFamily="34" charset="-120"/>
              </a:rPr>
              <a:t>«Жәбірленушіге қолдау хат жазамын және ересекке айтамын»</a:t>
            </a:r>
            <a:endParaRPr lang="en-US" sz="1500" dirty="0"/>
          </a:p>
        </p:txBody>
      </p:sp>
      <p:sp>
        <p:nvSpPr>
          <p:cNvPr id="15" name="Text 11"/>
          <p:cNvSpPr txBox="1"/>
          <p:nvPr/>
        </p:nvSpPr>
        <p:spPr>
          <a:xfrm>
            <a:off x="3547872" y="5349240"/>
            <a:ext cx="2240280" cy="5486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Пушкин: «милость к падшим»</a:t>
            </a:r>
            <a:endParaRPr lang="en-US" sz="1200" dirty="0"/>
          </a:p>
        </p:txBody>
      </p:sp>
      <p:sp>
        <p:nvSpPr>
          <p:cNvPr id="16" name="Shape 12"/>
          <p:cNvSpPr/>
          <p:nvPr/>
        </p:nvSpPr>
        <p:spPr>
          <a:xfrm>
            <a:off x="6181344" y="1554480"/>
            <a:ext cx="2606040" cy="4572000"/>
          </a:xfrm>
          <a:prstGeom prst="roundRect">
            <a:avLst>
              <a:gd name="adj" fmla="val 4211"/>
            </a:avLst>
          </a:prstGeom>
          <a:solidFill>
            <a:srgbClr val="EEF3F8"/>
          </a:solidFill>
          <a:ln w="12700">
            <a:solidFill>
              <a:srgbClr val="EEF3F8"/>
            </a:solidFill>
            <a:prstDash val="solid"/>
          </a:ln>
        </p:spPr>
      </p:sp>
      <p:sp>
        <p:nvSpPr>
          <p:cNvPr id="17" name="Shape 13"/>
          <p:cNvSpPr/>
          <p:nvPr/>
        </p:nvSpPr>
        <p:spPr>
          <a:xfrm>
            <a:off x="7050024" y="1783080"/>
            <a:ext cx="868680" cy="868680"/>
          </a:xfrm>
          <a:prstGeom prst="ellipse">
            <a:avLst/>
          </a:prstGeom>
          <a:solidFill>
            <a:srgbClr val="2F5D8A"/>
          </a:solidFill>
          <a:ln w="12700">
            <a:solidFill>
              <a:srgbClr val="2F5D8A"/>
            </a:solidFill>
            <a:prstDash val="solid"/>
          </a:ln>
        </p:spPr>
      </p:sp>
      <p:pic>
        <p:nvPicPr>
          <p:cNvPr id="18" name="Image 2" descr="preencoded.png">    </p:cNvPr>
          <p:cNvPicPr>
            <a:picLocks noChangeAspect="1"/>
          </p:cNvPicPr>
          <p:nvPr/>
        </p:nvPicPr>
        <p:blipFill>
          <a:blip r:embed="rId3"/>
          <a:stretch>
            <a:fillRect/>
          </a:stretch>
        </p:blipFill>
        <p:spPr>
          <a:xfrm>
            <a:off x="7267194" y="2000250"/>
            <a:ext cx="434340" cy="434340"/>
          </a:xfrm>
          <a:prstGeom prst="rect">
            <a:avLst/>
          </a:prstGeom>
        </p:spPr>
      </p:pic>
      <p:sp>
        <p:nvSpPr>
          <p:cNvPr id="19" name="Text 14"/>
          <p:cNvSpPr txBox="1"/>
          <p:nvPr/>
        </p:nvSpPr>
        <p:spPr>
          <a:xfrm>
            <a:off x="6364224" y="2788920"/>
            <a:ext cx="2240280" cy="457200"/>
          </a:xfrm>
          <a:prstGeom prst="rect">
            <a:avLst/>
          </a:prstGeom>
          <a:noFill/>
          <a:ln/>
        </p:spPr>
        <p:txBody>
          <a:bodyPr wrap="square" lIns="0" tIns="0" rIns="0" bIns="0" rtlCol="0" anchor="ctr"/>
          <a:lstStyle/>
          <a:p>
            <a:pPr algn="ctr" indent="0" marL="0">
              <a:buNone/>
            </a:pPr>
            <a:r>
              <a:rPr lang="en-US" sz="1700" b="1" dirty="0">
                <a:solidFill>
                  <a:srgbClr val="1F2937"/>
                </a:solidFill>
                <a:latin typeface="Arial" pitchFamily="34" charset="0"/>
                <a:ea typeface="Arial" pitchFamily="34" charset="-122"/>
                <a:cs typeface="Arial" pitchFamily="34" charset="-120"/>
              </a:rPr>
              <a:t>Топ қысымы</a:t>
            </a:r>
            <a:endParaRPr lang="en-US" sz="1700" dirty="0"/>
          </a:p>
        </p:txBody>
      </p:sp>
      <p:sp>
        <p:nvSpPr>
          <p:cNvPr id="20" name="Text 15"/>
          <p:cNvSpPr txBox="1"/>
          <p:nvPr/>
        </p:nvSpPr>
        <p:spPr>
          <a:xfrm>
            <a:off x="6364224" y="3337560"/>
            <a:ext cx="2240280" cy="1920240"/>
          </a:xfrm>
          <a:prstGeom prst="rect">
            <a:avLst/>
          </a:prstGeom>
          <a:noFill/>
          <a:ln/>
        </p:spPr>
        <p:txBody>
          <a:bodyPr wrap="square" lIns="0" tIns="0" rIns="0" bIns="0" rtlCol="0" anchor="t"/>
          <a:lstStyle/>
          <a:p>
            <a:pPr algn="ctr" indent="0" marL="0">
              <a:buNone/>
            </a:pPr>
            <a:r>
              <a:rPr lang="en-US" sz="1500" i="1" dirty="0">
                <a:solidFill>
                  <a:srgbClr val="1F2937"/>
                </a:solidFill>
                <a:latin typeface="Times New Roman" pitchFamily="34" charset="0"/>
                <a:ea typeface="Times New Roman" pitchFamily="34" charset="-122"/>
                <a:cs typeface="Times New Roman" pitchFamily="34" charset="-120"/>
              </a:rPr>
              <a:t>«Бармаймын, бірақ сабақтан кейін бірге барайық» деп балама ұсынамын</a:t>
            </a:r>
            <a:endParaRPr lang="en-US" sz="1500" dirty="0"/>
          </a:p>
        </p:txBody>
      </p:sp>
      <p:sp>
        <p:nvSpPr>
          <p:cNvPr id="21" name="Text 16"/>
          <p:cNvSpPr txBox="1"/>
          <p:nvPr/>
        </p:nvSpPr>
        <p:spPr>
          <a:xfrm>
            <a:off x="6364224" y="5349240"/>
            <a:ext cx="2240280" cy="5486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Пушкин: лицей достығы</a:t>
            </a:r>
            <a:endParaRPr lang="en-US" sz="1200" dirty="0"/>
          </a:p>
        </p:txBody>
      </p:sp>
      <p:sp>
        <p:nvSpPr>
          <p:cNvPr id="22" name="Shape 17"/>
          <p:cNvSpPr/>
          <p:nvPr/>
        </p:nvSpPr>
        <p:spPr>
          <a:xfrm>
            <a:off x="8997696" y="1554480"/>
            <a:ext cx="2606040" cy="4572000"/>
          </a:xfrm>
          <a:prstGeom prst="roundRect">
            <a:avLst>
              <a:gd name="adj" fmla="val 4211"/>
            </a:avLst>
          </a:prstGeom>
          <a:solidFill>
            <a:srgbClr val="FBF1DE"/>
          </a:solidFill>
          <a:ln w="12700">
            <a:solidFill>
              <a:srgbClr val="FBF1DE"/>
            </a:solidFill>
            <a:prstDash val="solid"/>
          </a:ln>
        </p:spPr>
      </p:sp>
      <p:sp>
        <p:nvSpPr>
          <p:cNvPr id="23" name="Shape 18"/>
          <p:cNvSpPr/>
          <p:nvPr/>
        </p:nvSpPr>
        <p:spPr>
          <a:xfrm>
            <a:off x="9866376" y="1783080"/>
            <a:ext cx="868680" cy="868680"/>
          </a:xfrm>
          <a:prstGeom prst="ellipse">
            <a:avLst/>
          </a:prstGeom>
          <a:solidFill>
            <a:srgbClr val="C8932E"/>
          </a:solidFill>
          <a:ln w="12700">
            <a:solidFill>
              <a:srgbClr val="C8932E"/>
            </a:solidFill>
            <a:prstDash val="solid"/>
          </a:ln>
        </p:spPr>
      </p:sp>
      <p:pic>
        <p:nvPicPr>
          <p:cNvPr id="24" name="Image 3" descr="preencoded.png">    </p:cNvPr>
          <p:cNvPicPr>
            <a:picLocks noChangeAspect="1"/>
          </p:cNvPicPr>
          <p:nvPr/>
        </p:nvPicPr>
        <p:blipFill>
          <a:blip r:embed="rId4"/>
          <a:stretch>
            <a:fillRect/>
          </a:stretch>
        </p:blipFill>
        <p:spPr>
          <a:xfrm>
            <a:off x="10083546" y="2000250"/>
            <a:ext cx="434340" cy="434340"/>
          </a:xfrm>
          <a:prstGeom prst="rect">
            <a:avLst/>
          </a:prstGeom>
        </p:spPr>
      </p:pic>
      <p:sp>
        <p:nvSpPr>
          <p:cNvPr id="25" name="Text 19"/>
          <p:cNvSpPr txBox="1"/>
          <p:nvPr/>
        </p:nvSpPr>
        <p:spPr>
          <a:xfrm>
            <a:off x="9180576" y="2788920"/>
            <a:ext cx="2240280" cy="457200"/>
          </a:xfrm>
          <a:prstGeom prst="rect">
            <a:avLst/>
          </a:prstGeom>
          <a:noFill/>
          <a:ln/>
        </p:spPr>
        <p:txBody>
          <a:bodyPr wrap="square" lIns="0" tIns="0" rIns="0" bIns="0" rtlCol="0" anchor="ctr"/>
          <a:lstStyle/>
          <a:p>
            <a:pPr algn="ctr" indent="0" marL="0">
              <a:buNone/>
            </a:pPr>
            <a:r>
              <a:rPr lang="en-US" sz="1700" b="1" dirty="0">
                <a:solidFill>
                  <a:srgbClr val="1F2937"/>
                </a:solidFill>
                <a:latin typeface="Arial" pitchFamily="34" charset="0"/>
                <a:ea typeface="Arial" pitchFamily="34" charset="-122"/>
                <a:cs typeface="Arial" pitchFamily="34" charset="-120"/>
              </a:rPr>
              <a:t>Жасанды интеллект</a:t>
            </a:r>
            <a:endParaRPr lang="en-US" sz="1700" dirty="0"/>
          </a:p>
        </p:txBody>
      </p:sp>
      <p:sp>
        <p:nvSpPr>
          <p:cNvPr id="26" name="Text 20"/>
          <p:cNvSpPr txBox="1"/>
          <p:nvPr/>
        </p:nvSpPr>
        <p:spPr>
          <a:xfrm>
            <a:off x="9180576" y="3337560"/>
            <a:ext cx="2240280" cy="1920240"/>
          </a:xfrm>
          <a:prstGeom prst="rect">
            <a:avLst/>
          </a:prstGeom>
          <a:noFill/>
          <a:ln/>
        </p:spPr>
        <p:txBody>
          <a:bodyPr wrap="square" lIns="0" tIns="0" rIns="0" bIns="0" rtlCol="0" anchor="t"/>
          <a:lstStyle/>
          <a:p>
            <a:pPr algn="ctr" indent="0" marL="0">
              <a:buNone/>
            </a:pPr>
            <a:r>
              <a:rPr lang="en-US" sz="1500" i="1" dirty="0">
                <a:solidFill>
                  <a:srgbClr val="1F2937"/>
                </a:solidFill>
                <a:latin typeface="Times New Roman" pitchFamily="34" charset="0"/>
                <a:ea typeface="Times New Roman" pitchFamily="34" charset="-122"/>
                <a:cs typeface="Times New Roman" pitchFamily="34" charset="-120"/>
              </a:rPr>
              <a:t>«ЖИ-ді дайын мәтін үшін емес, жоспар құруға ғана қолданамын»</a:t>
            </a:r>
            <a:endParaRPr lang="en-US" sz="1500" dirty="0"/>
          </a:p>
        </p:txBody>
      </p:sp>
      <p:sp>
        <p:nvSpPr>
          <p:cNvPr id="27" name="Text 21"/>
          <p:cNvSpPr txBox="1"/>
          <p:nvPr/>
        </p:nvSpPr>
        <p:spPr>
          <a:xfrm>
            <a:off x="9180576" y="5349240"/>
            <a:ext cx="2240280" cy="5486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Абай: талап, еңбек, терең ой</a:t>
            </a:r>
            <a:endParaRPr lang="en-US" sz="1200" dirty="0"/>
          </a:p>
        </p:txBody>
      </p:sp>
      <p:sp>
        <p:nvSpPr>
          <p:cNvPr id="28" name="Text 2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Пилоттық апробация</a:t>
            </a:r>
            <a:endParaRPr lang="en-US" sz="34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500" i="1" dirty="0">
                <a:solidFill>
                  <a:srgbClr val="5B6472"/>
                </a:solidFill>
                <a:latin typeface="Arial" pitchFamily="34" charset="0"/>
                <a:ea typeface="Arial" pitchFamily="34" charset="-122"/>
                <a:cs typeface="Arial" pitchFamily="34" charset="-120"/>
              </a:rPr>
              <a:t>Екі сабақ, дилеммалық жағдаяттар, 0–2 балдық шкала</a:t>
            </a:r>
            <a:endParaRPr lang="en-US" sz="1500" dirty="0"/>
          </a:p>
        </p:txBody>
      </p:sp>
      <p:sp>
        <p:nvSpPr>
          <p:cNvPr id="4" name="Shape 2"/>
          <p:cNvSpPr/>
          <p:nvPr/>
        </p:nvSpPr>
        <p:spPr>
          <a:xfrm>
            <a:off x="548640" y="1554480"/>
            <a:ext cx="3474720" cy="2194560"/>
          </a:xfrm>
          <a:prstGeom prst="roundRect">
            <a:avLst>
              <a:gd name="adj" fmla="val 5000"/>
            </a:avLst>
          </a:prstGeom>
          <a:solidFill>
            <a:srgbClr val="EEF3F8"/>
          </a:solidFill>
          <a:ln w="12700">
            <a:solidFill>
              <a:srgbClr val="EEF3F8"/>
            </a:solidFill>
            <a:prstDash val="solid"/>
          </a:ln>
        </p:spPr>
      </p:sp>
      <p:sp>
        <p:nvSpPr>
          <p:cNvPr id="5" name="Text 3"/>
          <p:cNvSpPr txBox="1"/>
          <p:nvPr/>
        </p:nvSpPr>
        <p:spPr>
          <a:xfrm>
            <a:off x="731520" y="1691640"/>
            <a:ext cx="3108960" cy="1005840"/>
          </a:xfrm>
          <a:prstGeom prst="rect">
            <a:avLst/>
          </a:prstGeom>
          <a:noFill/>
          <a:ln/>
        </p:spPr>
        <p:txBody>
          <a:bodyPr wrap="square" lIns="0" tIns="0" rIns="0" bIns="0" rtlCol="0" anchor="ctr"/>
          <a:lstStyle/>
          <a:p>
            <a:pPr algn="ctr" indent="0" marL="0">
              <a:buNone/>
            </a:pPr>
            <a:r>
              <a:rPr lang="en-US" sz="4000" b="1" dirty="0">
                <a:solidFill>
                  <a:srgbClr val="2F5D8A"/>
                </a:solidFill>
                <a:highlight>
                  <a:srgbClr val="FFFF00"/>
                </a:highlight>
                <a:latin typeface="Times New Roman" pitchFamily="34" charset="0"/>
                <a:ea typeface="Times New Roman" pitchFamily="34" charset="-122"/>
                <a:cs typeface="Times New Roman" pitchFamily="34" charset="-120"/>
              </a:rPr>
              <a:t>[__]</a:t>
            </a:r>
            <a:endParaRPr lang="en-US" sz="4000" dirty="0"/>
          </a:p>
        </p:txBody>
      </p:sp>
      <p:sp>
        <p:nvSpPr>
          <p:cNvPr id="6" name="Text 4"/>
          <p:cNvSpPr txBox="1"/>
          <p:nvPr/>
        </p:nvSpPr>
        <p:spPr>
          <a:xfrm>
            <a:off x="731520" y="2743200"/>
            <a:ext cx="3108960" cy="822960"/>
          </a:xfrm>
          <a:prstGeom prst="rect">
            <a:avLst/>
          </a:prstGeom>
          <a:noFill/>
          <a:ln/>
        </p:spPr>
        <p:txBody>
          <a:bodyPr wrap="square" lIns="0" tIns="0" rIns="0" bIns="0" rtlCol="0" anchor="t"/>
          <a:lstStyle/>
          <a:p>
            <a:pPr algn="ctr" indent="0" marL="0">
              <a:buNone/>
            </a:pPr>
            <a:r>
              <a:rPr lang="en-US" sz="1400" dirty="0">
                <a:solidFill>
                  <a:srgbClr val="5B6472"/>
                </a:solidFill>
                <a:latin typeface="Arial" pitchFamily="34" charset="0"/>
                <a:ea typeface="Arial" pitchFamily="34" charset="-122"/>
                <a:cs typeface="Arial" pitchFamily="34" charset="-120"/>
              </a:rPr>
              <a:t>оқушы қатысты</a:t>
            </a:r>
            <a:endParaRPr lang="en-US" sz="1400" dirty="0"/>
          </a:p>
        </p:txBody>
      </p:sp>
      <p:sp>
        <p:nvSpPr>
          <p:cNvPr id="7" name="Shape 5"/>
          <p:cNvSpPr/>
          <p:nvPr/>
        </p:nvSpPr>
        <p:spPr>
          <a:xfrm>
            <a:off x="4297680" y="1554480"/>
            <a:ext cx="3474720" cy="2194560"/>
          </a:xfrm>
          <a:prstGeom prst="roundRect">
            <a:avLst>
              <a:gd name="adj" fmla="val 5000"/>
            </a:avLst>
          </a:prstGeom>
          <a:solidFill>
            <a:srgbClr val="EEF3F8"/>
          </a:solidFill>
          <a:ln w="12700">
            <a:solidFill>
              <a:srgbClr val="EEF3F8"/>
            </a:solidFill>
            <a:prstDash val="solid"/>
          </a:ln>
        </p:spPr>
      </p:sp>
      <p:sp>
        <p:nvSpPr>
          <p:cNvPr id="8" name="Text 6"/>
          <p:cNvSpPr txBox="1"/>
          <p:nvPr/>
        </p:nvSpPr>
        <p:spPr>
          <a:xfrm>
            <a:off x="4480560" y="1691640"/>
            <a:ext cx="3108960" cy="1005840"/>
          </a:xfrm>
          <a:prstGeom prst="rect">
            <a:avLst/>
          </a:prstGeom>
          <a:noFill/>
          <a:ln/>
        </p:spPr>
        <p:txBody>
          <a:bodyPr wrap="square" lIns="0" tIns="0" rIns="0" bIns="0" rtlCol="0" anchor="ctr"/>
          <a:lstStyle/>
          <a:p>
            <a:pPr algn="ctr" indent="0" marL="0">
              <a:buNone/>
            </a:pPr>
            <a:r>
              <a:rPr lang="en-US" sz="4000" b="1" dirty="0">
                <a:solidFill>
                  <a:srgbClr val="C8932E"/>
                </a:solidFill>
                <a:highlight>
                  <a:srgbClr val="FFFF00"/>
                </a:highlight>
                <a:latin typeface="Times New Roman" pitchFamily="34" charset="0"/>
                <a:ea typeface="Times New Roman" pitchFamily="34" charset="-122"/>
                <a:cs typeface="Times New Roman" pitchFamily="34" charset="-120"/>
              </a:rPr>
              <a:t>[__] → [__]</a:t>
            </a:r>
            <a:endParaRPr lang="en-US" sz="4000" dirty="0"/>
          </a:p>
        </p:txBody>
      </p:sp>
      <p:sp>
        <p:nvSpPr>
          <p:cNvPr id="9" name="Text 7"/>
          <p:cNvSpPr txBox="1"/>
          <p:nvPr/>
        </p:nvSpPr>
        <p:spPr>
          <a:xfrm>
            <a:off x="4480560" y="2743200"/>
            <a:ext cx="3108960" cy="822960"/>
          </a:xfrm>
          <a:prstGeom prst="rect">
            <a:avLst/>
          </a:prstGeom>
          <a:noFill/>
          <a:ln/>
        </p:spPr>
        <p:txBody>
          <a:bodyPr wrap="square" lIns="0" tIns="0" rIns="0" bIns="0" rtlCol="0" anchor="t"/>
          <a:lstStyle/>
          <a:p>
            <a:pPr algn="ctr" indent="0" marL="0">
              <a:buNone/>
            </a:pPr>
            <a:r>
              <a:rPr lang="en-US" sz="1400" dirty="0">
                <a:solidFill>
                  <a:srgbClr val="5B6472"/>
                </a:solidFill>
                <a:latin typeface="Arial" pitchFamily="34" charset="0"/>
                <a:ea typeface="Arial" pitchFamily="34" charset="-122"/>
                <a:cs typeface="Arial" pitchFamily="34" charset="-120"/>
              </a:rPr>
              <a:t>орташа балл (0–2)</a:t>
            </a:r>
            <a:endParaRPr lang="en-US" sz="1400" dirty="0"/>
          </a:p>
          <a:p>
            <a:pPr algn="ctr" indent="0" marL="0">
              <a:buNone/>
            </a:pPr>
            <a:r>
              <a:rPr lang="en-US" sz="1400" dirty="0">
                <a:solidFill>
                  <a:srgbClr val="5B6472"/>
                </a:solidFill>
                <a:latin typeface="Arial" pitchFamily="34" charset="0"/>
                <a:ea typeface="Arial" pitchFamily="34" charset="-122"/>
                <a:cs typeface="Arial" pitchFamily="34" charset="-120"/>
              </a:rPr>
              <a:t>алдын ала → кейін</a:t>
            </a:r>
            <a:endParaRPr lang="en-US" sz="1400" dirty="0"/>
          </a:p>
        </p:txBody>
      </p:sp>
      <p:sp>
        <p:nvSpPr>
          <p:cNvPr id="10" name="Shape 8"/>
          <p:cNvSpPr/>
          <p:nvPr/>
        </p:nvSpPr>
        <p:spPr>
          <a:xfrm>
            <a:off x="8046720" y="1554480"/>
            <a:ext cx="3474720" cy="2194560"/>
          </a:xfrm>
          <a:prstGeom prst="roundRect">
            <a:avLst>
              <a:gd name="adj" fmla="val 5000"/>
            </a:avLst>
          </a:prstGeom>
          <a:solidFill>
            <a:srgbClr val="EEF3F8"/>
          </a:solidFill>
          <a:ln w="12700">
            <a:solidFill>
              <a:srgbClr val="EEF3F8"/>
            </a:solidFill>
            <a:prstDash val="solid"/>
          </a:ln>
        </p:spPr>
      </p:sp>
      <p:sp>
        <p:nvSpPr>
          <p:cNvPr id="11" name="Text 9"/>
          <p:cNvSpPr txBox="1"/>
          <p:nvPr/>
        </p:nvSpPr>
        <p:spPr>
          <a:xfrm>
            <a:off x="8229600" y="1691640"/>
            <a:ext cx="3108960" cy="1005840"/>
          </a:xfrm>
          <a:prstGeom prst="rect">
            <a:avLst/>
          </a:prstGeom>
          <a:noFill/>
          <a:ln/>
        </p:spPr>
        <p:txBody>
          <a:bodyPr wrap="square" lIns="0" tIns="0" rIns="0" bIns="0" rtlCol="0" anchor="ctr"/>
          <a:lstStyle/>
          <a:p>
            <a:pPr algn="ctr" indent="0" marL="0">
              <a:buNone/>
            </a:pPr>
            <a:r>
              <a:rPr lang="en-US" sz="4000" b="1" dirty="0">
                <a:solidFill>
                  <a:srgbClr val="2F7D5B"/>
                </a:solidFill>
                <a:highlight>
                  <a:srgbClr val="FFFF00"/>
                </a:highlight>
                <a:latin typeface="Times New Roman" pitchFamily="34" charset="0"/>
                <a:ea typeface="Times New Roman" pitchFamily="34" charset="-122"/>
                <a:cs typeface="Times New Roman" pitchFamily="34" charset="-120"/>
              </a:rPr>
              <a:t>[__] %</a:t>
            </a:r>
            <a:endParaRPr lang="en-US" sz="4000" dirty="0"/>
          </a:p>
        </p:txBody>
      </p:sp>
      <p:sp>
        <p:nvSpPr>
          <p:cNvPr id="12" name="Text 10"/>
          <p:cNvSpPr txBox="1"/>
          <p:nvPr/>
        </p:nvSpPr>
        <p:spPr>
          <a:xfrm>
            <a:off x="8229600" y="2743200"/>
            <a:ext cx="3108960" cy="822960"/>
          </a:xfrm>
          <a:prstGeom prst="rect">
            <a:avLst/>
          </a:prstGeom>
          <a:noFill/>
          <a:ln/>
        </p:spPr>
        <p:txBody>
          <a:bodyPr wrap="square" lIns="0" tIns="0" rIns="0" bIns="0" rtlCol="0" anchor="t"/>
          <a:lstStyle/>
          <a:p>
            <a:pPr algn="ctr" indent="0" marL="0">
              <a:buNone/>
            </a:pPr>
            <a:r>
              <a:rPr lang="en-US" sz="1400" dirty="0">
                <a:solidFill>
                  <a:srgbClr val="5B6472"/>
                </a:solidFill>
                <a:latin typeface="Arial" pitchFamily="34" charset="0"/>
                <a:ea typeface="Arial" pitchFamily="34" charset="-122"/>
                <a:cs typeface="Arial" pitchFamily="34" charset="-120"/>
              </a:rPr>
              <a:t>нақты әрекет ұсынған</a:t>
            </a:r>
            <a:endParaRPr lang="en-US" sz="1400" dirty="0"/>
          </a:p>
          <a:p>
            <a:pPr algn="ctr" indent="0" marL="0">
              <a:buNone/>
            </a:pPr>
            <a:r>
              <a:rPr lang="en-US" sz="1400" dirty="0">
                <a:solidFill>
                  <a:srgbClr val="5B6472"/>
                </a:solidFill>
                <a:latin typeface="Arial" pitchFamily="34" charset="0"/>
                <a:ea typeface="Arial" pitchFamily="34" charset="-122"/>
                <a:cs typeface="Arial" pitchFamily="34" charset="-120"/>
              </a:rPr>
              <a:t>жауаптар үлесі (кейін)</a:t>
            </a:r>
            <a:endParaRPr lang="en-US" sz="1400" dirty="0"/>
          </a:p>
        </p:txBody>
      </p:sp>
      <p:sp>
        <p:nvSpPr>
          <p:cNvPr id="13" name="Shape 11"/>
          <p:cNvSpPr/>
          <p:nvPr/>
        </p:nvSpPr>
        <p:spPr>
          <a:xfrm>
            <a:off x="731520" y="4114800"/>
            <a:ext cx="457200" cy="457200"/>
          </a:xfrm>
          <a:prstGeom prst="ellipse">
            <a:avLst/>
          </a:prstGeom>
          <a:solidFill>
            <a:srgbClr val="5B6472"/>
          </a:solidFill>
          <a:ln w="12700">
            <a:solidFill>
              <a:srgbClr val="5B6472"/>
            </a:solidFill>
            <a:prstDash val="solid"/>
          </a:ln>
        </p:spPr>
      </p:sp>
      <p:sp>
        <p:nvSpPr>
          <p:cNvPr id="14" name="Text 12"/>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15" name="Text 13"/>
          <p:cNvSpPr txBox="1"/>
          <p:nvPr/>
        </p:nvSpPr>
        <p:spPr>
          <a:xfrm>
            <a:off x="1371600" y="4114800"/>
            <a:ext cx="5486400" cy="45720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құндылық байқалмаған / зиянды әрекет</a:t>
            </a:r>
            <a:endParaRPr lang="en-US" sz="1500" dirty="0"/>
          </a:p>
        </p:txBody>
      </p:sp>
      <p:sp>
        <p:nvSpPr>
          <p:cNvPr id="16" name="Shape 14"/>
          <p:cNvSpPr/>
          <p:nvPr/>
        </p:nvSpPr>
        <p:spPr>
          <a:xfrm>
            <a:off x="731520" y="4754880"/>
            <a:ext cx="457200" cy="457200"/>
          </a:xfrm>
          <a:prstGeom prst="ellipse">
            <a:avLst/>
          </a:prstGeom>
          <a:solidFill>
            <a:srgbClr val="C8932E"/>
          </a:solidFill>
          <a:ln w="12700">
            <a:solidFill>
              <a:srgbClr val="C8932E"/>
            </a:solidFill>
            <a:prstDash val="solid"/>
          </a:ln>
        </p:spPr>
      </p:sp>
      <p:sp>
        <p:nvSpPr>
          <p:cNvPr id="17" name="Text 15"/>
          <p:cNvSpPr txBox="1"/>
          <p:nvPr/>
        </p:nvSpPr>
        <p:spPr>
          <a:xfrm>
            <a:off x="73152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8" name="Text 16"/>
          <p:cNvSpPr txBox="1"/>
          <p:nvPr/>
        </p:nvSpPr>
        <p:spPr>
          <a:xfrm>
            <a:off x="1371600" y="4754880"/>
            <a:ext cx="5486400" cy="45720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құндылық аталған, әрекет жоқ («адал болу керек»)</a:t>
            </a:r>
            <a:endParaRPr lang="en-US" sz="1500" dirty="0"/>
          </a:p>
        </p:txBody>
      </p:sp>
      <p:sp>
        <p:nvSpPr>
          <p:cNvPr id="19" name="Shape 17"/>
          <p:cNvSpPr/>
          <p:nvPr/>
        </p:nvSpPr>
        <p:spPr>
          <a:xfrm>
            <a:off x="731520" y="5394960"/>
            <a:ext cx="457200" cy="457200"/>
          </a:xfrm>
          <a:prstGeom prst="ellipse">
            <a:avLst/>
          </a:prstGeom>
          <a:solidFill>
            <a:srgbClr val="2F7D5B"/>
          </a:solidFill>
          <a:ln w="12700">
            <a:solidFill>
              <a:srgbClr val="2F7D5B"/>
            </a:solidFill>
            <a:prstDash val="solid"/>
          </a:ln>
        </p:spPr>
      </p:sp>
      <p:sp>
        <p:nvSpPr>
          <p:cNvPr id="20" name="Text 18"/>
          <p:cNvSpPr txBox="1"/>
          <p:nvPr/>
        </p:nvSpPr>
        <p:spPr>
          <a:xfrm>
            <a:off x="731520" y="5394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1" name="Text 19"/>
          <p:cNvSpPr txBox="1"/>
          <p:nvPr/>
        </p:nvSpPr>
        <p:spPr>
          <a:xfrm>
            <a:off x="1371600" y="5394960"/>
            <a:ext cx="5486400" cy="45720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құндылық + нақты орындалатын әрекет</a:t>
            </a:r>
            <a:endParaRPr lang="en-US" sz="1500" dirty="0"/>
          </a:p>
        </p:txBody>
      </p:sp>
      <p:sp>
        <p:nvSpPr>
          <p:cNvPr id="22" name="Shape 20"/>
          <p:cNvSpPr/>
          <p:nvPr/>
        </p:nvSpPr>
        <p:spPr>
          <a:xfrm>
            <a:off x="7315200" y="4023360"/>
            <a:ext cx="4297680" cy="2103120"/>
          </a:xfrm>
          <a:prstGeom prst="roundRect">
            <a:avLst>
              <a:gd name="adj" fmla="val 5217"/>
            </a:avLst>
          </a:prstGeom>
          <a:solidFill>
            <a:srgbClr val="FBF1DE"/>
          </a:solidFill>
          <a:ln w="12700">
            <a:solidFill>
              <a:srgbClr val="FBF1DE"/>
            </a:solidFill>
            <a:prstDash val="solid"/>
          </a:ln>
        </p:spPr>
      </p:sp>
      <p:sp>
        <p:nvSpPr>
          <p:cNvPr id="23" name="Text 21"/>
          <p:cNvSpPr txBox="1"/>
          <p:nvPr/>
        </p:nvSpPr>
        <p:spPr>
          <a:xfrm>
            <a:off x="7543800" y="4160520"/>
            <a:ext cx="3840480" cy="1828800"/>
          </a:xfrm>
          <a:prstGeom prst="rect">
            <a:avLst/>
          </a:prstGeom>
          <a:noFill/>
          <a:ln/>
        </p:spPr>
        <p:txBody>
          <a:bodyPr wrap="square" lIns="0" tIns="0" rIns="0" bIns="0" rtlCol="0" anchor="t"/>
          <a:lstStyle/>
          <a:p>
            <a:pPr indent="0" marL="0">
              <a:buNone/>
            </a:pPr>
            <a:r>
              <a:rPr lang="en-US" sz="1500" b="1" dirty="0">
                <a:solidFill>
                  <a:srgbClr val="1F2937"/>
                </a:solidFill>
                <a:latin typeface="Arial" pitchFamily="34" charset="0"/>
                <a:ea typeface="Arial" pitchFamily="34" charset="-122"/>
                <a:cs typeface="Arial" pitchFamily="34" charset="-120"/>
              </a:rPr>
              <a:t>Қорытынды: </a:t>
            </a:r>
            <a:pPr indent="0" marL="0">
              <a:buNone/>
            </a:pPr>
            <a:r>
              <a:rPr lang="en-US" sz="1500" dirty="0">
                <a:solidFill>
                  <a:srgbClr val="1F2937"/>
                </a:solidFill>
                <a:highlight>
                  <a:srgbClr val="FFFF00"/>
                </a:highlight>
                <a:latin typeface="Arial" pitchFamily="34" charset="0"/>
                <a:ea typeface="Arial" pitchFamily="34" charset="-122"/>
                <a:cs typeface="Arial" pitchFamily="34" charset="-120"/>
              </a:rPr>
              <a:t>[апробация нәтижесі бойынша 1–2 сөйлем жазыңыз]</a:t>
            </a:r>
            <a:endParaRPr lang="en-US" sz="1500" dirty="0"/>
          </a:p>
        </p:txBody>
      </p:sp>
      <p:sp>
        <p:nvSpPr>
          <p:cNvPr id="24" name="Text 2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400" b="1" dirty="0">
                <a:solidFill>
                  <a:srgbClr val="1F3A5F"/>
                </a:solidFill>
                <a:latin typeface="Times New Roman" pitchFamily="34" charset="0"/>
                <a:ea typeface="Times New Roman" pitchFamily="34" charset="-122"/>
                <a:cs typeface="Times New Roman" pitchFamily="34" charset="-120"/>
              </a:rPr>
              <a:t>Қорытынды және практикалық маңызы</a:t>
            </a:r>
            <a:endParaRPr lang="en-US" sz="3400" dirty="0"/>
          </a:p>
        </p:txBody>
      </p:sp>
      <p:sp>
        <p:nvSpPr>
          <p:cNvPr id="3" name="Shape 1"/>
          <p:cNvSpPr/>
          <p:nvPr/>
        </p:nvSpPr>
        <p:spPr>
          <a:xfrm>
            <a:off x="548640" y="1508760"/>
            <a:ext cx="548640" cy="548640"/>
          </a:xfrm>
          <a:prstGeom prst="ellipse">
            <a:avLst/>
          </a:prstGeom>
          <a:solidFill>
            <a:srgbClr val="1F3A5F"/>
          </a:solidFill>
          <a:ln w="12700">
            <a:solidFill>
              <a:srgbClr val="1F3A5F"/>
            </a:solidFill>
            <a:prstDash val="solid"/>
          </a:ln>
        </p:spPr>
      </p:sp>
      <p:sp>
        <p:nvSpPr>
          <p:cNvPr id="4" name="Text 2"/>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1</a:t>
            </a:r>
            <a:endParaRPr lang="en-US" sz="2000" dirty="0"/>
          </a:p>
        </p:txBody>
      </p:sp>
      <p:sp>
        <p:nvSpPr>
          <p:cNvPr id="5" name="Text 3"/>
          <p:cNvSpPr txBox="1"/>
          <p:nvPr/>
        </p:nvSpPr>
        <p:spPr>
          <a:xfrm>
            <a:off x="1325880" y="1463040"/>
            <a:ext cx="585216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Екі ақынның тәрбиелік мазмұн өрісі ортақ: жеті құндылықтың бәрі екеуінде де бар</a:t>
            </a:r>
            <a:endParaRPr lang="en-US" sz="1700" dirty="0"/>
          </a:p>
        </p:txBody>
      </p:sp>
      <p:sp>
        <p:nvSpPr>
          <p:cNvPr id="6" name="Shape 4"/>
          <p:cNvSpPr/>
          <p:nvPr/>
        </p:nvSpPr>
        <p:spPr>
          <a:xfrm>
            <a:off x="548640" y="2697480"/>
            <a:ext cx="548640" cy="548640"/>
          </a:xfrm>
          <a:prstGeom prst="ellipse">
            <a:avLst/>
          </a:prstGeom>
          <a:solidFill>
            <a:srgbClr val="1F3A5F"/>
          </a:solidFill>
          <a:ln w="12700">
            <a:solidFill>
              <a:srgbClr val="1F3A5F"/>
            </a:solidFill>
            <a:prstDash val="solid"/>
          </a:ln>
        </p:spPr>
      </p:sp>
      <p:sp>
        <p:nvSpPr>
          <p:cNvPr id="7" name="Text 5"/>
          <p:cNvSpPr txBox="1"/>
          <p:nvPr/>
        </p:nvSpPr>
        <p:spPr>
          <a:xfrm>
            <a:off x="548640" y="2697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2</a:t>
            </a:r>
            <a:endParaRPr lang="en-US" sz="2000" dirty="0"/>
          </a:p>
        </p:txBody>
      </p:sp>
      <p:sp>
        <p:nvSpPr>
          <p:cNvPr id="8" name="Text 6"/>
          <p:cNvSpPr txBox="1"/>
          <p:nvPr/>
        </p:nvSpPr>
        <p:spPr>
          <a:xfrm>
            <a:off x="1325880" y="2651760"/>
            <a:ext cx="585216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Айырмашылық тәсілде: Абай – ереже мен ақыл-кеңес, Пушкин – кейіпкердің таңдауы</a:t>
            </a:r>
            <a:endParaRPr lang="en-US" sz="1700" dirty="0"/>
          </a:p>
        </p:txBody>
      </p:sp>
      <p:sp>
        <p:nvSpPr>
          <p:cNvPr id="9" name="Shape 7"/>
          <p:cNvSpPr/>
          <p:nvPr/>
        </p:nvSpPr>
        <p:spPr>
          <a:xfrm>
            <a:off x="548640" y="3886200"/>
            <a:ext cx="548640" cy="548640"/>
          </a:xfrm>
          <a:prstGeom prst="ellipse">
            <a:avLst/>
          </a:prstGeom>
          <a:solidFill>
            <a:srgbClr val="1F3A5F"/>
          </a:solidFill>
          <a:ln w="12700">
            <a:solidFill>
              <a:srgbClr val="1F3A5F"/>
            </a:solidFill>
            <a:prstDash val="solid"/>
          </a:ln>
        </p:spPr>
      </p:sp>
      <p:sp>
        <p:nvSpPr>
          <p:cNvPr id="10" name="Text 8"/>
          <p:cNvSpPr txBox="1"/>
          <p:nvPr/>
        </p:nvSpPr>
        <p:spPr>
          <a:xfrm>
            <a:off x="548640" y="38862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3</a:t>
            </a:r>
            <a:endParaRPr lang="en-US" sz="2000" dirty="0"/>
          </a:p>
        </p:txBody>
      </p:sp>
      <p:sp>
        <p:nvSpPr>
          <p:cNvPr id="11" name="Text 9"/>
          <p:cNvSpPr txBox="1"/>
          <p:nvPr/>
        </p:nvSpPr>
        <p:spPr>
          <a:xfrm>
            <a:off x="1325880" y="3840480"/>
            <a:ext cx="585216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«Ар – Ақыл – Жүрек» моделі және бес қадамды «ТОҚТА» алгоритмі ұсынылды</a:t>
            </a:r>
            <a:endParaRPr lang="en-US" sz="1700" dirty="0"/>
          </a:p>
        </p:txBody>
      </p:sp>
      <p:sp>
        <p:nvSpPr>
          <p:cNvPr id="12" name="Shape 10"/>
          <p:cNvSpPr/>
          <p:nvPr/>
        </p:nvSpPr>
        <p:spPr>
          <a:xfrm>
            <a:off x="548640" y="5074920"/>
            <a:ext cx="548640" cy="548640"/>
          </a:xfrm>
          <a:prstGeom prst="ellipse">
            <a:avLst/>
          </a:prstGeom>
          <a:solidFill>
            <a:srgbClr val="1F3A5F"/>
          </a:solidFill>
          <a:ln w="12700">
            <a:solidFill>
              <a:srgbClr val="1F3A5F"/>
            </a:solidFill>
            <a:prstDash val="solid"/>
          </a:ln>
        </p:spPr>
      </p:sp>
      <p:sp>
        <p:nvSpPr>
          <p:cNvPr id="13" name="Text 11"/>
          <p:cNvSpPr txBox="1"/>
          <p:nvPr/>
        </p:nvSpPr>
        <p:spPr>
          <a:xfrm>
            <a:off x="548640" y="5074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4</a:t>
            </a:r>
            <a:endParaRPr lang="en-US" sz="2000" dirty="0"/>
          </a:p>
        </p:txBody>
      </p:sp>
      <p:sp>
        <p:nvSpPr>
          <p:cNvPr id="14" name="Text 12"/>
          <p:cNvSpPr txBox="1"/>
          <p:nvPr/>
        </p:nvSpPr>
        <p:spPr>
          <a:xfrm>
            <a:off x="1325880" y="5029200"/>
            <a:ext cx="585216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Алгоритм көшіру, кибербуллинг, топ қысымы және ЖИ жағдаяттарында қолданылды</a:t>
            </a:r>
            <a:endParaRPr lang="en-US" sz="1700" dirty="0"/>
          </a:p>
        </p:txBody>
      </p:sp>
      <p:sp>
        <p:nvSpPr>
          <p:cNvPr id="15" name="Shape 13"/>
          <p:cNvSpPr/>
          <p:nvPr/>
        </p:nvSpPr>
        <p:spPr>
          <a:xfrm>
            <a:off x="7589520" y="1371600"/>
            <a:ext cx="4023360" cy="4937760"/>
          </a:xfrm>
          <a:prstGeom prst="roundRect">
            <a:avLst>
              <a:gd name="adj" fmla="val 2727"/>
            </a:avLst>
          </a:prstGeom>
          <a:solidFill>
            <a:srgbClr val="E3F1EA"/>
          </a:solidFill>
          <a:ln w="12700">
            <a:solidFill>
              <a:srgbClr val="E3F1EA"/>
            </a:solidFill>
            <a:prstDash val="solid"/>
          </a:ln>
        </p:spPr>
      </p:sp>
      <p:sp>
        <p:nvSpPr>
          <p:cNvPr id="16" name="Text 14"/>
          <p:cNvSpPr txBox="1"/>
          <p:nvPr/>
        </p:nvSpPr>
        <p:spPr>
          <a:xfrm>
            <a:off x="7863840" y="1554480"/>
            <a:ext cx="3566160" cy="457200"/>
          </a:xfrm>
          <a:prstGeom prst="rect">
            <a:avLst/>
          </a:prstGeom>
          <a:noFill/>
          <a:ln/>
        </p:spPr>
        <p:txBody>
          <a:bodyPr wrap="square" lIns="0" tIns="0" rIns="0" bIns="0" rtlCol="0" anchor="ctr"/>
          <a:lstStyle/>
          <a:p>
            <a:pPr indent="0" marL="0">
              <a:buNone/>
            </a:pPr>
            <a:r>
              <a:rPr lang="en-US" sz="2000" b="1" dirty="0">
                <a:solidFill>
                  <a:srgbClr val="2F7D5B"/>
                </a:solidFill>
                <a:latin typeface="Times New Roman" pitchFamily="34" charset="0"/>
                <a:ea typeface="Times New Roman" pitchFamily="34" charset="-122"/>
                <a:cs typeface="Times New Roman" pitchFamily="34" charset="-120"/>
              </a:rPr>
              <a:t>Қайда қолдануға болады?</a:t>
            </a:r>
            <a:endParaRPr lang="en-US" sz="2000" dirty="0"/>
          </a:p>
        </p:txBody>
      </p:sp>
      <p:sp>
        <p:nvSpPr>
          <p:cNvPr id="17" name="Shape 15"/>
          <p:cNvSpPr/>
          <p:nvPr/>
        </p:nvSpPr>
        <p:spPr>
          <a:xfrm>
            <a:off x="7863840" y="2240280"/>
            <a:ext cx="548640" cy="548640"/>
          </a:xfrm>
          <a:prstGeom prst="ellipse">
            <a:avLst/>
          </a:prstGeom>
          <a:solidFill>
            <a:srgbClr val="2F7D5B"/>
          </a:solidFill>
          <a:ln w="12700">
            <a:solidFill>
              <a:srgbClr val="2F7D5B"/>
            </a:solidFill>
            <a:prstDash val="solid"/>
          </a:ln>
        </p:spPr>
      </p:sp>
      <p:pic>
        <p:nvPicPr>
          <p:cNvPr id="18" name="Image 0" descr="preencoded.png">    </p:cNvPr>
          <p:cNvPicPr>
            <a:picLocks noChangeAspect="1"/>
          </p:cNvPicPr>
          <p:nvPr/>
        </p:nvPicPr>
        <p:blipFill>
          <a:blip r:embed="rId1"/>
          <a:stretch>
            <a:fillRect/>
          </a:stretch>
        </p:blipFill>
        <p:spPr>
          <a:xfrm>
            <a:off x="8001000" y="2377440"/>
            <a:ext cx="274320" cy="274320"/>
          </a:xfrm>
          <a:prstGeom prst="rect">
            <a:avLst/>
          </a:prstGeom>
        </p:spPr>
      </p:pic>
      <p:sp>
        <p:nvSpPr>
          <p:cNvPr id="19" name="Text 16"/>
          <p:cNvSpPr txBox="1"/>
          <p:nvPr/>
        </p:nvSpPr>
        <p:spPr>
          <a:xfrm>
            <a:off x="8595360" y="2240280"/>
            <a:ext cx="2834640" cy="54864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Әдебиет сабақтары</a:t>
            </a:r>
            <a:endParaRPr lang="en-US" sz="1500" dirty="0"/>
          </a:p>
        </p:txBody>
      </p:sp>
      <p:sp>
        <p:nvSpPr>
          <p:cNvPr id="20" name="Shape 17"/>
          <p:cNvSpPr/>
          <p:nvPr/>
        </p:nvSpPr>
        <p:spPr>
          <a:xfrm>
            <a:off x="7863840" y="3044952"/>
            <a:ext cx="548640" cy="548640"/>
          </a:xfrm>
          <a:prstGeom prst="ellipse">
            <a:avLst/>
          </a:prstGeom>
          <a:solidFill>
            <a:srgbClr val="2F7D5B"/>
          </a:solidFill>
          <a:ln w="12700">
            <a:solidFill>
              <a:srgbClr val="2F7D5B"/>
            </a:solidFill>
            <a:prstDash val="solid"/>
          </a:ln>
        </p:spPr>
      </p:sp>
      <p:pic>
        <p:nvPicPr>
          <p:cNvPr id="21" name="Image 1" descr="preencoded.png">    </p:cNvPr>
          <p:cNvPicPr>
            <a:picLocks noChangeAspect="1"/>
          </p:cNvPicPr>
          <p:nvPr/>
        </p:nvPicPr>
        <p:blipFill>
          <a:blip r:embed="rId2"/>
          <a:stretch>
            <a:fillRect/>
          </a:stretch>
        </p:blipFill>
        <p:spPr>
          <a:xfrm>
            <a:off x="8001000" y="3182112"/>
            <a:ext cx="274320" cy="274320"/>
          </a:xfrm>
          <a:prstGeom prst="rect">
            <a:avLst/>
          </a:prstGeom>
        </p:spPr>
      </p:pic>
      <p:sp>
        <p:nvSpPr>
          <p:cNvPr id="22" name="Text 18"/>
          <p:cNvSpPr txBox="1"/>
          <p:nvPr/>
        </p:nvSpPr>
        <p:spPr>
          <a:xfrm>
            <a:off x="8595360" y="3044952"/>
            <a:ext cx="2834640" cy="54864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Сынып сағаттары</a:t>
            </a:r>
            <a:endParaRPr lang="en-US" sz="1500" dirty="0"/>
          </a:p>
        </p:txBody>
      </p:sp>
      <p:sp>
        <p:nvSpPr>
          <p:cNvPr id="23" name="Shape 19"/>
          <p:cNvSpPr/>
          <p:nvPr/>
        </p:nvSpPr>
        <p:spPr>
          <a:xfrm>
            <a:off x="7863840" y="3849624"/>
            <a:ext cx="548640" cy="548640"/>
          </a:xfrm>
          <a:prstGeom prst="ellipse">
            <a:avLst/>
          </a:prstGeom>
          <a:solidFill>
            <a:srgbClr val="2F7D5B"/>
          </a:solidFill>
          <a:ln w="12700">
            <a:solidFill>
              <a:srgbClr val="2F7D5B"/>
            </a:solidFill>
            <a:prstDash val="solid"/>
          </a:ln>
        </p:spPr>
      </p:sp>
      <p:pic>
        <p:nvPicPr>
          <p:cNvPr id="24" name="Image 2" descr="preencoded.png">    </p:cNvPr>
          <p:cNvPicPr>
            <a:picLocks noChangeAspect="1"/>
          </p:cNvPicPr>
          <p:nvPr/>
        </p:nvPicPr>
        <p:blipFill>
          <a:blip r:embed="rId3"/>
          <a:stretch>
            <a:fillRect/>
          </a:stretch>
        </p:blipFill>
        <p:spPr>
          <a:xfrm>
            <a:off x="8001000" y="3986784"/>
            <a:ext cx="274320" cy="274320"/>
          </a:xfrm>
          <a:prstGeom prst="rect">
            <a:avLst/>
          </a:prstGeom>
        </p:spPr>
      </p:pic>
      <p:sp>
        <p:nvSpPr>
          <p:cNvPr id="25" name="Text 20"/>
          <p:cNvSpPr txBox="1"/>
          <p:nvPr/>
        </p:nvSpPr>
        <p:spPr>
          <a:xfrm>
            <a:off x="8595360" y="3849624"/>
            <a:ext cx="2834640" cy="54864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Психолог тренингтері</a:t>
            </a:r>
            <a:endParaRPr lang="en-US" sz="1500" dirty="0"/>
          </a:p>
        </p:txBody>
      </p:sp>
      <p:sp>
        <p:nvSpPr>
          <p:cNvPr id="26" name="Shape 21"/>
          <p:cNvSpPr/>
          <p:nvPr/>
        </p:nvSpPr>
        <p:spPr>
          <a:xfrm>
            <a:off x="7863840" y="4654296"/>
            <a:ext cx="548640" cy="548640"/>
          </a:xfrm>
          <a:prstGeom prst="ellipse">
            <a:avLst/>
          </a:prstGeom>
          <a:solidFill>
            <a:srgbClr val="2F7D5B"/>
          </a:solidFill>
          <a:ln w="12700">
            <a:solidFill>
              <a:srgbClr val="2F7D5B"/>
            </a:solidFill>
            <a:prstDash val="solid"/>
          </a:ln>
        </p:spPr>
      </p:sp>
      <p:pic>
        <p:nvPicPr>
          <p:cNvPr id="27" name="Image 3" descr="preencoded.png">    </p:cNvPr>
          <p:cNvPicPr>
            <a:picLocks noChangeAspect="1"/>
          </p:cNvPicPr>
          <p:nvPr/>
        </p:nvPicPr>
        <p:blipFill>
          <a:blip r:embed="rId4"/>
          <a:stretch>
            <a:fillRect/>
          </a:stretch>
        </p:blipFill>
        <p:spPr>
          <a:xfrm>
            <a:off x="8001000" y="4791456"/>
            <a:ext cx="274320" cy="274320"/>
          </a:xfrm>
          <a:prstGeom prst="rect">
            <a:avLst/>
          </a:prstGeom>
        </p:spPr>
      </p:pic>
      <p:sp>
        <p:nvSpPr>
          <p:cNvPr id="28" name="Text 22"/>
          <p:cNvSpPr txBox="1"/>
          <p:nvPr/>
        </p:nvSpPr>
        <p:spPr>
          <a:xfrm>
            <a:off x="8595360" y="4654296"/>
            <a:ext cx="2834640" cy="54864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«ТОҚТА» жадынамасы</a:t>
            </a:r>
            <a:endParaRPr lang="en-US" sz="1500" dirty="0"/>
          </a:p>
        </p:txBody>
      </p:sp>
      <p:sp>
        <p:nvSpPr>
          <p:cNvPr id="29" name="Shape 23"/>
          <p:cNvSpPr/>
          <p:nvPr/>
        </p:nvSpPr>
        <p:spPr>
          <a:xfrm>
            <a:off x="7863840" y="5458968"/>
            <a:ext cx="548640" cy="548640"/>
          </a:xfrm>
          <a:prstGeom prst="ellipse">
            <a:avLst/>
          </a:prstGeom>
          <a:solidFill>
            <a:srgbClr val="2F7D5B"/>
          </a:solidFill>
          <a:ln w="12700">
            <a:solidFill>
              <a:srgbClr val="2F7D5B"/>
            </a:solidFill>
            <a:prstDash val="solid"/>
          </a:ln>
        </p:spPr>
      </p:sp>
      <p:pic>
        <p:nvPicPr>
          <p:cNvPr id="30" name="Image 4" descr="preencoded.png">    </p:cNvPr>
          <p:cNvPicPr>
            <a:picLocks noChangeAspect="1"/>
          </p:cNvPicPr>
          <p:nvPr/>
        </p:nvPicPr>
        <p:blipFill>
          <a:blip r:embed="rId5"/>
          <a:stretch>
            <a:fillRect/>
          </a:stretch>
        </p:blipFill>
        <p:spPr>
          <a:xfrm>
            <a:off x="8001000" y="5596128"/>
            <a:ext cx="274320" cy="274320"/>
          </a:xfrm>
          <a:prstGeom prst="rect">
            <a:avLst/>
          </a:prstGeom>
        </p:spPr>
      </p:pic>
      <p:sp>
        <p:nvSpPr>
          <p:cNvPr id="31" name="Text 24"/>
          <p:cNvSpPr txBox="1"/>
          <p:nvPr/>
        </p:nvSpPr>
        <p:spPr>
          <a:xfrm>
            <a:off x="8595360" y="5458968"/>
            <a:ext cx="2834640" cy="548640"/>
          </a:xfrm>
          <a:prstGeom prst="rect">
            <a:avLst/>
          </a:prstGeom>
          <a:noFill/>
          <a:ln/>
        </p:spPr>
        <p:txBody>
          <a:bodyPr wrap="square" lIns="0" tIns="0" rIns="0" bIns="0" rtlCol="0" anchor="ctr"/>
          <a:lstStyle/>
          <a:p>
            <a:pPr indent="0" marL="0">
              <a:buNone/>
            </a:pPr>
            <a:r>
              <a:rPr lang="en-US" sz="1500" dirty="0">
                <a:solidFill>
                  <a:srgbClr val="1F2937"/>
                </a:solidFill>
                <a:latin typeface="Arial" pitchFamily="34" charset="0"/>
                <a:ea typeface="Arial" pitchFamily="34" charset="-122"/>
                <a:cs typeface="Arial" pitchFamily="34" charset="-120"/>
              </a:rPr>
              <a:t>Отбасылық әңгіме</a:t>
            </a:r>
            <a:endParaRPr lang="en-US" sz="1500" dirty="0"/>
          </a:p>
        </p:txBody>
      </p:sp>
      <p:sp>
        <p:nvSpPr>
          <p:cNvPr id="32" name="Text 25"/>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100" dirty="0">
                <a:solidFill>
                  <a:srgbClr val="5B6472"/>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A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97280" y="1280160"/>
            <a:ext cx="731520" cy="731520"/>
          </a:xfrm>
          <a:prstGeom prst="rect">
            <a:avLst/>
          </a:prstGeom>
        </p:spPr>
      </p:pic>
      <p:sp>
        <p:nvSpPr>
          <p:cNvPr id="3" name="Text 0"/>
          <p:cNvSpPr txBox="1"/>
          <p:nvPr/>
        </p:nvSpPr>
        <p:spPr>
          <a:xfrm>
            <a:off x="1097280" y="2194560"/>
            <a:ext cx="9966960" cy="1645920"/>
          </a:xfrm>
          <a:prstGeom prst="rect">
            <a:avLst/>
          </a:prstGeom>
          <a:noFill/>
          <a:ln/>
        </p:spPr>
        <p:txBody>
          <a:bodyPr wrap="square" lIns="0" tIns="0" rIns="0" bIns="0" rtlCol="0" anchor="t"/>
          <a:lstStyle/>
          <a:p>
            <a:pPr indent="0" marL="0">
              <a:buNone/>
            </a:pPr>
            <a:r>
              <a:rPr lang="en-US" sz="3400" i="1" dirty="0">
                <a:solidFill>
                  <a:srgbClr val="FFFFFF"/>
                </a:solidFill>
                <a:latin typeface="Times New Roman" pitchFamily="34" charset="0"/>
                <a:ea typeface="Times New Roman" pitchFamily="34" charset="-122"/>
                <a:cs typeface="Times New Roman" pitchFamily="34" charset="-120"/>
              </a:rPr>
              <a:t>Адамның адамшылығы істі бастауынан білінеді, қалайша бітіруінен емес.</a:t>
            </a:r>
            <a:endParaRPr lang="en-US" sz="3400" dirty="0"/>
          </a:p>
        </p:txBody>
      </p:sp>
      <p:sp>
        <p:nvSpPr>
          <p:cNvPr id="4" name="Text 1"/>
          <p:cNvSpPr txBox="1"/>
          <p:nvPr/>
        </p:nvSpPr>
        <p:spPr>
          <a:xfrm>
            <a:off x="1097280" y="3840480"/>
            <a:ext cx="9966960" cy="457200"/>
          </a:xfrm>
          <a:prstGeom prst="rect">
            <a:avLst/>
          </a:prstGeom>
          <a:noFill/>
          <a:ln/>
        </p:spPr>
        <p:txBody>
          <a:bodyPr wrap="square" lIns="0" tIns="0" rIns="0" bIns="0" rtlCol="0" anchor="ctr"/>
          <a:lstStyle/>
          <a:p>
            <a:pPr indent="0" marL="0">
              <a:buNone/>
            </a:pPr>
            <a:r>
              <a:rPr lang="en-US" sz="1700" dirty="0">
                <a:solidFill>
                  <a:srgbClr val="C8932E"/>
                </a:solidFill>
                <a:latin typeface="Arial" pitchFamily="34" charset="0"/>
                <a:ea typeface="Arial" pitchFamily="34" charset="-122"/>
                <a:cs typeface="Arial" pitchFamily="34" charset="-120"/>
              </a:rPr>
              <a:t>Абай, 37-қара сөз</a:t>
            </a:r>
            <a:endParaRPr lang="en-US" sz="1700" dirty="0"/>
          </a:p>
        </p:txBody>
      </p:sp>
      <p:sp>
        <p:nvSpPr>
          <p:cNvPr id="5" name="Text 2"/>
          <p:cNvSpPr txBox="1"/>
          <p:nvPr/>
        </p:nvSpPr>
        <p:spPr>
          <a:xfrm>
            <a:off x="1097280" y="5120640"/>
            <a:ext cx="9966960" cy="731520"/>
          </a:xfrm>
          <a:prstGeom prst="rect">
            <a:avLst/>
          </a:prstGeom>
          <a:noFill/>
          <a:ln/>
        </p:spPr>
        <p:txBody>
          <a:bodyPr wrap="square" lIns="0" tIns="0" rIns="0" bIns="0" rtlCol="0" anchor="ctr"/>
          <a:lstStyle/>
          <a:p>
            <a:pPr indent="0" marL="0">
              <a:buNone/>
            </a:pPr>
            <a:r>
              <a:rPr lang="en-US" sz="3200" b="1" dirty="0">
                <a:solidFill>
                  <a:srgbClr val="FFFFFF"/>
                </a:solidFill>
                <a:latin typeface="Times New Roman" pitchFamily="34" charset="0"/>
                <a:ea typeface="Times New Roman" pitchFamily="34" charset="-122"/>
                <a:cs typeface="Times New Roman" pitchFamily="34" charset="-120"/>
              </a:rPr>
              <a:t>Назарларыңызға рахмет!</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Абай мен Пушкин шығармаларындағы жас ұрпақ тәрбиесі</dc:title>
  <dc:subject>PptxGenJS Presentation</dc:subject>
  <dc:creator>PptxGenJS</dc:creator>
  <cp:lastModifiedBy>PptxGenJS</cp:lastModifiedBy>
  <cp:revision>1</cp:revision>
  <dcterms:created xsi:type="dcterms:W3CDTF">2026-09-27T07:12:03Z</dcterms:created>
  <dcterms:modified xsi:type="dcterms:W3CDTF">2026-09-27T07:12:03Z</dcterms:modified>
</cp:coreProperties>
</file>