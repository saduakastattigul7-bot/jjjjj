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56627E"/>
                </a:solidFill>
                <a:latin typeface="Arial"/>
              </a:defRPr>
            </a:pPr>
            <a:r>
              <a:rPr sz="1600" b="0" i="0" u="none" strike="noStrike">
                <a:solidFill>
                  <a:srgbClr val="56627E"/>
                </a:solidFill>
                <a:latin typeface="Arial"/>
              </a:rPr>
              <a:t>Әріптердің ойын сөздігінде кездесу саны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Кездесу саны</c:v>
                </c:pt>
              </c:strCache>
            </c:strRef>
          </c:tx>
          <c:spPr>
            <a:solidFill>
              <a:srgbClr val="B828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D284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қ</c:v>
                  </c:pt>
                  <c:pt idx="1">
                    <c:v>і</c:v>
                  </c:pt>
                  <c:pt idx="2">
                    <c:v>ү</c:v>
                  </c:pt>
                  <c:pt idx="3">
                    <c:v>ғ</c:v>
                  </c:pt>
                  <c:pt idx="4">
                    <c:v>ә</c:v>
                  </c:pt>
                  <c:pt idx="5">
                    <c:v>ұ</c:v>
                  </c:pt>
                  <c:pt idx="6">
                    <c:v>ө</c:v>
                  </c:pt>
                  <c:pt idx="7">
                    <c:v>ң</c:v>
                  </c:pt>
                  <c:pt idx="8">
                    <c:v>һ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</c:v>
                </c:pt>
                <c:pt idx="1">
                  <c:v>17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D284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400" b="0" i="0" u="none" strike="noStrike">
                <a:solidFill>
                  <a:srgbClr val="1D2846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2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Сәлеметсіздер ме, құрметті қазылар алқасы! Менің жобамның тақырыбы – «Сөздер лабиринті: қазақ тілінен интерактивті ойын құрастыру».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Мен орыс тілінде оқитын сыныпта оқимын. Қазақ тілінде 9 ерекше әріп бар. Орыс тілінде олар жоқ. Сондықтан біз жиі қателесеміз: «қоян» орнына «коян» деп жазамыз. Сөздерді жай жаттау қызықсыз, ал ойын ойнау қызықты.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Менің зерттеу сұрағым: мен жасаған ойын сыныптастарыма қазақ сөздерін дұрыс жазуды үйренуге көмектесе ме? Болжамым: ойынды бір-екі апта ойнаса, тестте көбірек дұрыс жауап береді. Мақсатым – осындай ойын жасап, оны тексеру.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Алдымен сыныптастарыма сауалнама жүргіздім. Сосын оқулықтан 7 тақырып бойынша 70 сөз таңдадым. Дәптерге ойынның жоспарын сыздым.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Ойынды Claude Code деген жасанды интеллект көмегімен жасадым. Мен оған ережені сөзбен түсіндірдім, ол код жазды. Мен ойнап көріп, 3 қате таптым, оларды түзеттік. Менің ережем: шешімді адам қабылдайды, жасанды интеллект тек көмектеседі.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Қараңыздар: бұл – бота. Суретте қоян тұр. Мен «қ», «о», «я», «н» әріптерін ретімен жинаймын. Мұнда «к» әрпі – бұл қақпан! Оған бассам, ойын «Абай бол!» дейді. Сөз жиналғанда есік ашылады, мен жұлдыз аламын. (Осы жерде ноутбуктан ойынды көрсету, 1 минут.)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Мен ойындағы 70 сөзді талдадым. Олардың 52-сінде қазақ әрпі бар. «Қ» пен «і» ең жиі кездеседі. «Һ» әрпі бар сөз жоқ – бұл менің ойынымның кемшілігі.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Ойынды [__] сыныптасым ойнады. Бастапқы тестте орташа балл [__] болды, қорытынды тестте – [__]. Ең көп қате «[__]» әрпінде болды. (Нәтиже шыққан соң осы слайдты толтырыңыз; ойынның «Нәтижелер» бөлімінен алыңыз.)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Ойынды сабақта да, үйде де ойнауға болады. Оған интернет керек емес. Кемшілігі: «һ» әрпі бар сөз жоқ және аз оқушы қатысты. Келесі жолы жаңа сөздер мен дыбыс қосамын.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Мен зерттеу жүргізуді, жасанды интеллектке нақты тапсырма беруді және оның жұмысын тексеруді үйрендім. Назарларыңызға рахмет! (QR-кодты stend.js арқылы жасап, осы орынға қойыңыз.)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C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«Зерде» · Қазақ тілі және әдебиеті · Бастауыш буын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СӨЗДЕР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ЛАБИРИНТІ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2B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Қазақ тілінен интерактивті ойын құрастыру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86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Цифрлық жоба · 3-сынып (оқыту орыс тілінде)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2C3A6B"/>
          </a:solidFill>
          <a:ln w="15875">
            <a:solidFill>
              <a:srgbClr val="B9C6EE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Тіркеу коды (шифр)</a:t>
            </a:r>
            <a:endParaRPr lang="en-US" sz="1400" dirty="0"/>
          </a:p>
        </p:txBody>
      </p:sp>
      <p:pic>
        <p:nvPicPr>
          <p:cNvPr id="8" name="Image 0" descr="/home/user/jjjjj/sozder-labirinti/src/figs/s_ma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502920"/>
            <a:ext cx="3080084" cy="58521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Неге бұл тақырып?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Қазақ тілінде орыс тілінде жоқ 9 әріп бар. Біз оларды жиі шатастырамыз.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33272" cy="1234440"/>
          </a:xfrm>
          <a:prstGeom prst="roundRect">
            <a:avLst>
              <a:gd name="adj" fmla="val 10619"/>
            </a:avLst>
          </a:prstGeom>
          <a:solidFill>
            <a:srgbClr val="FBE3EF"/>
          </a:solidFill>
          <a:ln w="12700">
            <a:solidFill>
              <a:srgbClr val="FBE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1033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2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ә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56232" y="2103120"/>
            <a:ext cx="1033272" cy="1234440"/>
          </a:xfrm>
          <a:prstGeom prst="roundRect">
            <a:avLst>
              <a:gd name="adj" fmla="val 10619"/>
            </a:avLst>
          </a:prstGeom>
          <a:solidFill>
            <a:srgbClr val="FBE3EF"/>
          </a:solidFill>
          <a:ln w="12700">
            <a:solidFill>
              <a:srgbClr val="FBE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56232" y="2103120"/>
            <a:ext cx="1033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2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ғ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1856232" y="34747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г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72384" y="2103120"/>
            <a:ext cx="1033272" cy="1234440"/>
          </a:xfrm>
          <a:prstGeom prst="roundRect">
            <a:avLst>
              <a:gd name="adj" fmla="val 10619"/>
            </a:avLst>
          </a:prstGeom>
          <a:solidFill>
            <a:srgbClr val="FBE3EF"/>
          </a:solidFill>
          <a:ln w="12700">
            <a:solidFill>
              <a:srgbClr val="FBE3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72384" y="2103120"/>
            <a:ext cx="1033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2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қ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3072384" y="34747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288536" y="2103120"/>
            <a:ext cx="1033272" cy="1234440"/>
          </a:xfrm>
          <a:prstGeom prst="roundRect">
            <a:avLst>
              <a:gd name="adj" fmla="val 10619"/>
            </a:avLst>
          </a:prstGeom>
          <a:solidFill>
            <a:srgbClr val="FBE3EF"/>
          </a:solidFill>
          <a:ln w="12700">
            <a:solidFill>
              <a:srgbClr val="FBE3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88536" y="2103120"/>
            <a:ext cx="1033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2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ң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4288536" y="34747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н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04688" y="2103120"/>
            <a:ext cx="1033272" cy="1234440"/>
          </a:xfrm>
          <a:prstGeom prst="roundRect">
            <a:avLst>
              <a:gd name="adj" fmla="val 10619"/>
            </a:avLst>
          </a:prstGeom>
          <a:solidFill>
            <a:srgbClr val="FBE3EF"/>
          </a:solidFill>
          <a:ln w="12700">
            <a:solidFill>
              <a:srgbClr val="FBE3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04688" y="2103120"/>
            <a:ext cx="1033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2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ө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5504688" y="34747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о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20840" y="2103120"/>
            <a:ext cx="1033272" cy="1234440"/>
          </a:xfrm>
          <a:prstGeom prst="roundRect">
            <a:avLst>
              <a:gd name="adj" fmla="val 10619"/>
            </a:avLst>
          </a:prstGeom>
          <a:solidFill>
            <a:srgbClr val="FBE3EF"/>
          </a:solidFill>
          <a:ln w="12700">
            <a:solidFill>
              <a:srgbClr val="FBE3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2103120"/>
            <a:ext cx="1033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2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ұ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4747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у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936992" y="2103120"/>
            <a:ext cx="1033272" cy="1234440"/>
          </a:xfrm>
          <a:prstGeom prst="roundRect">
            <a:avLst>
              <a:gd name="adj" fmla="val 10619"/>
            </a:avLst>
          </a:prstGeom>
          <a:solidFill>
            <a:srgbClr val="FBE3EF"/>
          </a:solidFill>
          <a:ln w="12700">
            <a:solidFill>
              <a:srgbClr val="FBE3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36992" y="2103120"/>
            <a:ext cx="1033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2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ү</a:t>
            </a:r>
            <a:endParaRPr lang="en-US" sz="5400" dirty="0"/>
          </a:p>
        </p:txBody>
      </p:sp>
      <p:sp>
        <p:nvSpPr>
          <p:cNvPr id="24" name="Text 22"/>
          <p:cNvSpPr txBox="1"/>
          <p:nvPr/>
        </p:nvSpPr>
        <p:spPr>
          <a:xfrm>
            <a:off x="7936992" y="34747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у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153144" y="2103120"/>
            <a:ext cx="1033272" cy="1234440"/>
          </a:xfrm>
          <a:prstGeom prst="roundRect">
            <a:avLst>
              <a:gd name="adj" fmla="val 10619"/>
            </a:avLst>
          </a:prstGeom>
          <a:solidFill>
            <a:srgbClr val="FBE3EF"/>
          </a:solidFill>
          <a:ln w="12700">
            <a:solidFill>
              <a:srgbClr val="FBE3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53144" y="2103120"/>
            <a:ext cx="1033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2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һ</a:t>
            </a:r>
            <a:endParaRPr lang="en-US" sz="5400" dirty="0"/>
          </a:p>
        </p:txBody>
      </p:sp>
      <p:sp>
        <p:nvSpPr>
          <p:cNvPr id="27" name="Text 25"/>
          <p:cNvSpPr txBox="1"/>
          <p:nvPr/>
        </p:nvSpPr>
        <p:spPr>
          <a:xfrm>
            <a:off x="9153144" y="34747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х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369296" y="2103120"/>
            <a:ext cx="1033272" cy="1234440"/>
          </a:xfrm>
          <a:prstGeom prst="roundRect">
            <a:avLst>
              <a:gd name="adj" fmla="val 10619"/>
            </a:avLst>
          </a:prstGeom>
          <a:solidFill>
            <a:srgbClr val="FBE3EF"/>
          </a:solidFill>
          <a:ln w="12700">
            <a:solidFill>
              <a:srgbClr val="FBE3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69296" y="2103120"/>
            <a:ext cx="1033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2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</a:t>
            </a:r>
            <a:endParaRPr lang="en-US" sz="5400" dirty="0"/>
          </a:p>
        </p:txBody>
      </p:sp>
      <p:sp>
        <p:nvSpPr>
          <p:cNvPr id="30" name="Text 28"/>
          <p:cNvSpPr txBox="1"/>
          <p:nvPr/>
        </p:nvSpPr>
        <p:spPr>
          <a:xfrm>
            <a:off x="10369296" y="3474720"/>
            <a:ext cx="1033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и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40080" y="438912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4572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82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қоян</a:t>
            </a:r>
            <a:pPr indent="0" marL="0">
              <a:buNone/>
            </a:pPr>
            <a:r>
              <a:rPr lang="en-US" sz="3600" dirty="0">
                <a:solidFill>
                  <a:srgbClr val="566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емес  </a:t>
            </a:r>
            <a:pPr indent="0" marL="0">
              <a:buNone/>
            </a:pPr>
            <a:r>
              <a:rPr lang="en-US" sz="3600" strike="sngStrike" dirty="0">
                <a:solidFill>
                  <a:srgbClr val="566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коян</a:t>
            </a:r>
            <a:endParaRPr lang="en-US" sz="36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5394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Бір әріп – басқа сөз немесе қате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309360" y="4389120"/>
            <a:ext cx="5212080" cy="1645920"/>
          </a:xfrm>
          <a:prstGeom prst="roundRect">
            <a:avLst>
              <a:gd name="adj" fmla="val 6667"/>
            </a:avLst>
          </a:prstGeom>
          <a:solidFill>
            <a:srgbClr val="D3EEF4"/>
          </a:solidFill>
          <a:ln w="12700">
            <a:solidFill>
              <a:srgbClr val="D3EEF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0" y="4572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Сөзді жай жаттау – қызықсыз.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C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Ойын ойнау – қызықты!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Сұрақ, болжам, мақсат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D3EEF4"/>
          </a:solidFill>
          <a:ln w="12700">
            <a:solidFill>
              <a:srgbClr val="D3EE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828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Зерттеу сұрағы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4290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Менің ойыным сыныптастарыма қазақ сөздерін дұрыс жазуды үйренуге көмектесе ме?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1CF"/>
          </a:solidFill>
          <a:ln w="12700">
            <a:solidFill>
              <a:srgbClr val="FFF1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828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Болжам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4290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Ойынды 1–2 апта ойнаса, қорытынды тестте көбірек дұрыс жауап береді.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BE3EF"/>
          </a:solidFill>
          <a:ln w="12700">
            <a:solidFill>
              <a:srgbClr val="FBE3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1828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Мақсат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34290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Қазақ сөздерін үйренуге арналған лабиринт ойынын жасау және оны сыныптастарыммен тексеру.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істедім?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1737360"/>
            <a:ext cx="731520" cy="731520"/>
          </a:xfrm>
          <a:prstGeom prst="ellipse">
            <a:avLst/>
          </a:prstGeom>
          <a:solidFill>
            <a:srgbClr val="0080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965960" y="2103120"/>
            <a:ext cx="1143000" cy="0"/>
          </a:xfrm>
          <a:prstGeom prst="line">
            <a:avLst/>
          </a:prstGeom>
          <a:noFill/>
          <a:ln w="25400">
            <a:solidFill>
              <a:srgbClr val="B7C4CE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9436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Сауалнама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Сыныптастарға не қиын?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1737360"/>
            <a:ext cx="731520" cy="731520"/>
          </a:xfrm>
          <a:prstGeom prst="ellipse">
            <a:avLst/>
          </a:prstGeom>
          <a:solidFill>
            <a:srgbClr val="0080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840480" y="2103120"/>
            <a:ext cx="1143000" cy="0"/>
          </a:xfrm>
          <a:prstGeom prst="line">
            <a:avLst/>
          </a:prstGeom>
          <a:noFill/>
          <a:ln w="25400">
            <a:solidFill>
              <a:srgbClr val="B7C4CE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4688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сөз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тақырып, сөздікпен тексердім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92040" y="1737360"/>
            <a:ext cx="731520" cy="731520"/>
          </a:xfrm>
          <a:prstGeom prst="ellipse">
            <a:avLst/>
          </a:prstGeom>
          <a:solidFill>
            <a:srgbClr val="0080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715000" y="2103120"/>
            <a:ext cx="1143000" cy="0"/>
          </a:xfrm>
          <a:prstGeom prst="line">
            <a:avLst/>
          </a:prstGeom>
          <a:noFill/>
          <a:ln w="25400">
            <a:solidFill>
              <a:srgbClr val="B7C4CE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3434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Жоспар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Дәптерге лабиринт сыздым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66560" y="1737360"/>
            <a:ext cx="731520" cy="731520"/>
          </a:xfrm>
          <a:prstGeom prst="ellipse">
            <a:avLst/>
          </a:prstGeom>
          <a:solidFill>
            <a:srgbClr val="B828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589520" y="2103120"/>
            <a:ext cx="1143000" cy="0"/>
          </a:xfrm>
          <a:prstGeom prst="line">
            <a:avLst/>
          </a:prstGeom>
          <a:noFill/>
          <a:ln w="25400">
            <a:solidFill>
              <a:srgbClr val="B7C4CE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21792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Нұсқау бердім, ол код жазды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641080" y="1737360"/>
            <a:ext cx="731520" cy="731520"/>
          </a:xfrm>
          <a:prstGeom prst="ellipse">
            <a:avLst/>
          </a:prstGeom>
          <a:solidFill>
            <a:srgbClr val="0080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410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464040" y="2103120"/>
            <a:ext cx="1143000" cy="0"/>
          </a:xfrm>
          <a:prstGeom prst="line">
            <a:avLst/>
          </a:prstGeom>
          <a:noFill/>
          <a:ln w="25400">
            <a:solidFill>
              <a:srgbClr val="B7C4CE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09244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Сынақ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қате таптым, түзеттік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515600" y="1737360"/>
            <a:ext cx="731520" cy="731520"/>
          </a:xfrm>
          <a:prstGeom prst="ellipse">
            <a:avLst/>
          </a:prstGeom>
          <a:solidFill>
            <a:srgbClr val="0080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01268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Ойынға дейін және кейін</a:t>
            </a:r>
            <a:endParaRPr lang="en-US" sz="1500" dirty="0"/>
          </a:p>
        </p:txBody>
      </p:sp>
      <p:pic>
        <p:nvPicPr>
          <p:cNvPr id="32" name="Image 0" descr="/home/user/jjjjj/sozder-labirinti/src/figs/s_the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343400"/>
            <a:ext cx="1179095" cy="22402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33" name="Image 1" descr="/home/user/jjjjj/sozder-labirinti/src/figs/s_di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4343400"/>
            <a:ext cx="1179095" cy="22402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34" name="Shape 30"/>
          <p:cNvSpPr/>
          <p:nvPr/>
        </p:nvSpPr>
        <p:spPr>
          <a:xfrm>
            <a:off x="3931920" y="4572000"/>
            <a:ext cx="7589520" cy="1600200"/>
          </a:xfrm>
          <a:prstGeom prst="roundRect">
            <a:avLst>
              <a:gd name="adj" fmla="val 6857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206240" y="475488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Ойынның ережесі: суретке қарап, сөздің әріптерін лабиринттен ретімен жина. Сөз толық жиналғанда ғана шығу ашылады. Қатесіз өтсең – 3 жұлдыз.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Жасанды интеллектпен жұмыс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00809E"/>
          </a:solidFill>
          <a:ln w="12700">
            <a:solidFill>
              <a:srgbClr val="0080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ережені сөзбен түсіндірдім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2C3A6B"/>
          </a:solidFill>
          <a:ln w="12700">
            <a:solidFill>
              <a:srgbClr val="2C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JavaScript кодын жазды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B8286F"/>
          </a:solidFill>
          <a:ln w="12700">
            <a:solidFill>
              <a:srgbClr val="B828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074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ойнап көріп, қатені таптым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89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қайталау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FF1CF"/>
          </a:solidFill>
          <a:ln w="12700">
            <a:solidFill>
              <a:srgbClr val="FFF1C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645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«Шешімді адам қабылдайды – жасанды интеллект тек көмектеседі»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Ережелердің 4.10-тармағы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9776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Менің шешімім: идея, ереже, кейіпкер, 70 сөз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Сынақта 3 қате табылды, бәрі түзетілді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 пайдалану декларацияда ашық жазылған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«Сөздер лабиринті» ойыны</a:t>
            </a:r>
            <a:endParaRPr lang="en-US" sz="3600" dirty="0"/>
          </a:p>
        </p:txBody>
      </p:sp>
      <p:pic>
        <p:nvPicPr>
          <p:cNvPr id="3" name="Image 0" descr="/home/user/jjjjj/sozder-labirinti/src/figs/s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406316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731520" y="59893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Басты бет</a:t>
            </a:r>
            <a:endParaRPr lang="en-US" sz="1500" dirty="0"/>
          </a:p>
        </p:txBody>
      </p:sp>
      <p:pic>
        <p:nvPicPr>
          <p:cNvPr id="5" name="Image 1" descr="/home/user/jjjjj/sozder-labirinti/src/figs/s_ma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325880"/>
            <a:ext cx="2406316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3520440" y="59893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Лабиринт: «қоян»</a:t>
            </a:r>
            <a:endParaRPr lang="en-US" sz="1500" dirty="0"/>
          </a:p>
        </p:txBody>
      </p:sp>
      <p:pic>
        <p:nvPicPr>
          <p:cNvPr id="7" name="Image 2" descr="/home/user/jjjjj/sozder-labirinti/src/figs/s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2406316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6309360" y="59893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Сөз карточкасы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9144000" y="1371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8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0" name="Text 5"/>
          <p:cNvSpPr txBox="1"/>
          <p:nvPr/>
        </p:nvSpPr>
        <p:spPr>
          <a:xfrm>
            <a:off x="914400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тақырып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9144000" y="25603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8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4000" dirty="0"/>
          </a:p>
        </p:txBody>
      </p:sp>
      <p:sp>
        <p:nvSpPr>
          <p:cNvPr id="12" name="Text 7"/>
          <p:cNvSpPr txBox="1"/>
          <p:nvPr/>
        </p:nvSpPr>
        <p:spPr>
          <a:xfrm>
            <a:off x="914400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сөз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9144000" y="3749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8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4" name="Text 9"/>
          <p:cNvSpPr txBox="1"/>
          <p:nvPr/>
        </p:nvSpPr>
        <p:spPr>
          <a:xfrm>
            <a:off x="9144000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сұрағы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0" y="4937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8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КБ</a:t>
            </a:r>
            <a:endParaRPr lang="en-US" sz="40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0" y="5577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интернетсіз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сөздің 52-сінде қазақ әрпі бар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595360" y="146304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FBE3EF"/>
          </a:solidFill>
          <a:ln w="12700">
            <a:solidFill>
              <a:srgbClr val="FBE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7824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B828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2606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сөзде кемінде бір қазақ әрпі бар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595360" y="3840480"/>
            <a:ext cx="2926080" cy="2286000"/>
          </a:xfrm>
          <a:prstGeom prst="roundRect">
            <a:avLst>
              <a:gd name="adj" fmla="val 4800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0" y="402336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«һ» әрпі бар сөз жоқ – келесі нұсқада қосамын (айдаһар, гауһар).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Тексеру нәтижелері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[__] сыныптасым: бастапқы тест → [__] күн ойын → қорытынды тест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Бастапқы тест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[__] / 12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D3EEF4"/>
          </a:solidFill>
          <a:ln w="12700">
            <a:solidFill>
              <a:srgbClr val="D3EE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Қорытынды тест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080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[__] / 12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1CF"/>
          </a:solidFill>
          <a:ln w="12700">
            <a:solidFill>
              <a:srgbClr val="FFF1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Өзгеріс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[+__]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0881360" cy="1645920"/>
          </a:xfrm>
          <a:prstGeom prst="roundRect">
            <a:avLst>
              <a:gd name="adj" fmla="val 6667"/>
            </a:avLst>
          </a:prstGeom>
          <a:solidFill>
            <a:srgbClr val="FBE3EF"/>
          </a:solidFill>
          <a:ln w="12700">
            <a:solidFill>
              <a:srgbClr val="FBE3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6634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Ең көп қате: «[__]» әрпі (оның орнына «[__]» басылды). Болжам: [расталды / ішінара расталды / расталмады].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Қорытынды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D3EEF4"/>
          </a:solidFill>
          <a:ln w="12700">
            <a:solidFill>
              <a:srgbClr val="D3EE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шықты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Ойын жасалды: 7 тақырып, 70 сөз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Сабақта да, үйде де ойнауға болады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Мұғалім қай әріпте қате көп екенін көреді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Шектеулер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4688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 оқушы, қысқа уақыт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«һ» әрпі бар сөз жоқ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Қазақша дауыс көп құрылғыда жоқ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1CF"/>
          </a:solidFill>
          <a:ln w="12700">
            <a:solidFill>
              <a:srgbClr val="FFF1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Әрі қарай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688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«һ» әрпі бар сөздер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Мұғалімнің дауысымен жазба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D2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Сөйлем құрастыру деңгейі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 не үйрендім?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DC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Зерттеу сұрағын қоюды және тексеруді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DC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Жасанды интеллектке нақты тапсырма беруді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DC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Оның жұмысын тексеріп, қатесін табуды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46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B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Назарларыңызға рахмет!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503920" y="1463040"/>
            <a:ext cx="30175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0" y="146304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QR-код: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66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ойынға сілтеме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Ойынды ойнап көріңіз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Сөздер лабиринті</dc:title>
  <dc:subject>PptxGenJS Presentation</dc:subject>
  <dc:creator>PptxGenJS</dc:creator>
  <cp:lastModifiedBy>PptxGenJS</cp:lastModifiedBy>
  <cp:revision>1</cp:revision>
  <dcterms:created xsi:type="dcterms:W3CDTF">2026-09-27T13:42:14Z</dcterms:created>
  <dcterms:modified xsi:type="dcterms:W3CDTF">2026-09-27T13:42:14Z</dcterms:modified>
</cp:coreProperties>
</file>